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8982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collecting their homework answers on the board. They map onto shard key, hot shards and routing — do not tell them that yet.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confuse replication and sharding constantly. Say the distinction sentence twice, slowly.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matters — students think it is one or the other. Real clusters shard, then replicate each shard.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three or four suggestions on the board before revealing. Timestamp and city are the instructive wrong answers.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timestamp case is the classic interview answer. Make sure everyone can explain why monotonic keys are fatal.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visual students will remember. Point at S4 and say: you bought four machines and are using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here is subtle: the query does not contain the shard key, so no single shard can be chosen.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Lecture 4 tail amplification: a scatter-gather across 8 shards inherits the worst p99 of all eight.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centre of the lecture: sharding is hard because of joins and transactions, not syntax.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line is the bridge into Round 4. Pause on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split room. Both halves of the answer matter equally.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the myth explicitly: "SQL scales vertically, NoSQL horizontally" is an exam-hall slogan, not an engineering fact.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called polyglot persistence. Give them the term; it sounds impressive and it is genuinely the industry norm.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CampusEats arc here. The final line is the single most important thing they should take from the whole unit.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homework question IS the CAP theorem, phrased without naming it. They will have opinions before they have the label.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1097280"/>
            <a:ext cx="2377440" cy="457200"/>
          </a:xfrm>
          <a:prstGeom prst="roundRect">
            <a:avLst>
              <a:gd name="adj" fmla="val 44000"/>
            </a:avLst>
          </a:prstGeom>
          <a:solidFill>
            <a:srgbClr val="1D3D52"/>
          </a:solidFill>
          <a:ln/>
        </p:spPr>
        <p:txBody>
          <a:bodyPr/>
          <a:lstStyle/>
          <a:p>
            <a:endParaRPr lang="en-US"/>
          </a:p>
        </p:txBody>
      </p:sp>
      <p:sp>
        <p:nvSpPr>
          <p:cNvPr id="3" name="Text 1"/>
          <p:cNvSpPr/>
          <p:nvPr/>
        </p:nvSpPr>
        <p:spPr>
          <a:xfrm>
            <a:off x="822960" y="1097280"/>
            <a:ext cx="2377440" cy="457200"/>
          </a:xfrm>
          <a:prstGeom prst="rect">
            <a:avLst/>
          </a:prstGeom>
          <a:noFill/>
          <a:ln/>
        </p:spPr>
        <p:txBody>
          <a:bodyPr wrap="square" rtlCol="0" anchor="ctr"/>
          <a:lstStyle/>
          <a:p>
            <a:pPr marL="0" indent="0" algn="ctr">
              <a:buNone/>
            </a:pPr>
            <a:r>
              <a:rPr lang="en-US" sz="1300" b="1" kern="0" spc="200" dirty="0">
                <a:solidFill>
                  <a:srgbClr val="E8A33D"/>
                </a:solidFill>
                <a:latin typeface="Calibri" pitchFamily="34" charset="0"/>
                <a:ea typeface="Calibri" pitchFamily="34" charset="-122"/>
                <a:cs typeface="Calibri" pitchFamily="34" charset="-120"/>
              </a:rPr>
              <a:t>LECTURE 7</a:t>
            </a:r>
            <a:endParaRPr lang="en-US" sz="1300" dirty="0"/>
          </a:p>
        </p:txBody>
      </p:sp>
      <p:sp>
        <p:nvSpPr>
          <p:cNvPr id="4" name="Text 2"/>
          <p:cNvSpPr/>
          <p:nvPr/>
        </p:nvSpPr>
        <p:spPr>
          <a:xfrm>
            <a:off x="822960" y="1783080"/>
            <a:ext cx="9601200" cy="1828800"/>
          </a:xfrm>
          <a:prstGeom prst="rect">
            <a:avLst/>
          </a:prstGeom>
          <a:noFill/>
          <a:ln/>
        </p:spPr>
        <p:txBody>
          <a:bodyPr wrap="square" rtlCol="0" anchor="ctr"/>
          <a:lstStyle/>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Cutting the Data</a:t>
            </a:r>
            <a:endParaRPr lang="en-US" sz="4400" dirty="0"/>
          </a:p>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Into Pieces</a:t>
            </a:r>
            <a:endParaRPr lang="en-US" sz="4400" dirty="0"/>
          </a:p>
        </p:txBody>
      </p:sp>
      <p:sp>
        <p:nvSpPr>
          <p:cNvPr id="5" name="Text 3"/>
          <p:cNvSpPr/>
          <p:nvPr/>
        </p:nvSpPr>
        <p:spPr>
          <a:xfrm>
            <a:off x="822960" y="3794760"/>
            <a:ext cx="10241280" cy="1097280"/>
          </a:xfrm>
          <a:prstGeom prst="rect">
            <a:avLst/>
          </a:prstGeom>
          <a:noFill/>
          <a:ln/>
        </p:spPr>
        <p:txBody>
          <a:bodyPr wrap="square" rtlCol="0" anchor="ctr"/>
          <a:lstStyle/>
          <a:p>
            <a:pPr marL="0" indent="0">
              <a:lnSpc>
                <a:spcPts val="2800"/>
              </a:lnSpc>
              <a:buNone/>
            </a:pPr>
            <a:r>
              <a:rPr lang="en-US" sz="1800" dirty="0">
                <a:solidFill>
                  <a:srgbClr val="9AD1D4"/>
                </a:solidFill>
                <a:latin typeface="Calibri" pitchFamily="34" charset="0"/>
                <a:ea typeface="Calibri" pitchFamily="34" charset="-122"/>
                <a:cs typeface="Calibri" pitchFamily="34" charset="-120"/>
              </a:rPr>
              <a:t>Last lecture ended with 40,000 orders a second and nowhere to put them.</a:t>
            </a:r>
            <a:endParaRPr lang="en-US" sz="1800" dirty="0"/>
          </a:p>
          <a:p>
            <a:pPr marL="0" indent="0">
              <a:lnSpc>
                <a:spcPts val="2800"/>
              </a:lnSpc>
              <a:buNone/>
            </a:pPr>
            <a:r>
              <a:rPr lang="en-US" sz="1800" dirty="0">
                <a:solidFill>
                  <a:srgbClr val="9AD1D4"/>
                </a:solidFill>
                <a:latin typeface="Calibri" pitchFamily="34" charset="0"/>
                <a:ea typeface="Calibri" pitchFamily="34" charset="-122"/>
                <a:cs typeface="Calibri" pitchFamily="34" charset="-120"/>
              </a:rPr>
              <a:t>Today: sharding — the last resort, and why it is a last resort.</a:t>
            </a:r>
            <a:endParaRPr lang="en-US" sz="1800" dirty="0"/>
          </a:p>
        </p:txBody>
      </p:sp>
      <p:sp>
        <p:nvSpPr>
          <p:cNvPr id="6" name="Text 4"/>
          <p:cNvSpPr/>
          <p:nvPr/>
        </p:nvSpPr>
        <p:spPr>
          <a:xfrm>
            <a:off x="822960" y="5029200"/>
            <a:ext cx="10058400" cy="457200"/>
          </a:xfrm>
          <a:prstGeom prst="rect">
            <a:avLst/>
          </a:prstGeom>
          <a:noFill/>
          <a:ln/>
        </p:spPr>
        <p:txBody>
          <a:bodyPr wrap="square" lIns="0" tIns="0" rIns="0" bIns="0" rtlCol="0" anchor="ctr"/>
          <a:lstStyle/>
          <a:p>
            <a:pPr marL="0" indent="0">
              <a:buNone/>
            </a:pPr>
            <a:r>
              <a:rPr lang="en-US" sz="1500" i="1" dirty="0">
                <a:solidFill>
                  <a:srgbClr val="E8A33D"/>
                </a:solidFill>
                <a:latin typeface="Calibri" pitchFamily="34" charset="0"/>
                <a:ea typeface="Calibri" pitchFamily="34" charset="-122"/>
                <a:cs typeface="Calibri" pitchFamily="34" charset="-120"/>
              </a:rPr>
              <a:t>Four rounds. Bring the three answers you were asked to think about.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Where We Stopped</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Everything that scales reads has been used up</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CampusEats now has stateless servers, Redis, three read replicas and proper indexes. Reads are fast. On festival night, order placement still times out — and a fourth replica changes nothing.</a:t>
            </a:r>
            <a:endParaRPr lang="en-US" sz="1550" dirty="0"/>
          </a:p>
        </p:txBody>
      </p:sp>
      <p:sp>
        <p:nvSpPr>
          <p:cNvPr id="6" name="Shape 4"/>
          <p:cNvSpPr/>
          <p:nvPr/>
        </p:nvSpPr>
        <p:spPr>
          <a:xfrm>
            <a:off x="777240" y="2468880"/>
            <a:ext cx="5212080" cy="2286000"/>
          </a:xfrm>
          <a:prstGeom prst="roundRect">
            <a:avLst>
              <a:gd name="adj" fmla="val 2400"/>
            </a:avLst>
          </a:prstGeom>
          <a:solidFill>
            <a:srgbClr val="FDF0EE"/>
          </a:solidFill>
          <a:ln w="12700">
            <a:solidFill>
              <a:srgbClr val="E1E8ED"/>
            </a:solidFill>
            <a:prstDash val="solid"/>
          </a:ln>
        </p:spPr>
        <p:txBody>
          <a:bodyPr/>
          <a:lstStyle/>
          <a:p>
            <a:endParaRPr lang="en-US"/>
          </a:p>
        </p:txBody>
      </p:sp>
      <p:sp>
        <p:nvSpPr>
          <p:cNvPr id="7" name="Text 5"/>
          <p:cNvSpPr/>
          <p:nvPr/>
        </p:nvSpPr>
        <p:spPr>
          <a:xfrm>
            <a:off x="1033272" y="2651760"/>
            <a:ext cx="475488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What we already tried</a:t>
            </a:r>
            <a:endParaRPr lang="en-US" sz="1550" dirty="0"/>
          </a:p>
        </p:txBody>
      </p:sp>
      <p:sp>
        <p:nvSpPr>
          <p:cNvPr id="8" name="Text 6"/>
          <p:cNvSpPr/>
          <p:nvPr/>
        </p:nvSpPr>
        <p:spPr>
          <a:xfrm>
            <a:off x="1033272" y="304495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Cache — helps reads, not writes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Read replicas — every replica must apply every write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Indexes — actually make writes slower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 bigger machine — there is a biggest machine</a:t>
            </a:r>
            <a:endParaRPr lang="en-US" sz="1250" dirty="0"/>
          </a:p>
        </p:txBody>
      </p:sp>
      <p:sp>
        <p:nvSpPr>
          <p:cNvPr id="9" name="Shape 7"/>
          <p:cNvSpPr/>
          <p:nvPr/>
        </p:nvSpPr>
        <p:spPr>
          <a:xfrm>
            <a:off x="6172200" y="2468880"/>
            <a:ext cx="5212080" cy="2286000"/>
          </a:xfrm>
          <a:prstGeom prst="roundRect">
            <a:avLst>
              <a:gd name="adj" fmla="val 2400"/>
            </a:avLst>
          </a:prstGeom>
          <a:solidFill>
            <a:srgbClr val="F3EEF5"/>
          </a:solidFill>
          <a:ln w="12700">
            <a:solidFill>
              <a:srgbClr val="E1E8ED"/>
            </a:solidFill>
            <a:prstDash val="solid"/>
          </a:ln>
        </p:spPr>
        <p:txBody>
          <a:bodyPr/>
          <a:lstStyle/>
          <a:p>
            <a:endParaRPr lang="en-US"/>
          </a:p>
        </p:txBody>
      </p:sp>
      <p:sp>
        <p:nvSpPr>
          <p:cNvPr id="10" name="Text 8"/>
          <p:cNvSpPr/>
          <p:nvPr/>
        </p:nvSpPr>
        <p:spPr>
          <a:xfrm>
            <a:off x="6428232" y="2651760"/>
            <a:ext cx="4754880" cy="365760"/>
          </a:xfrm>
          <a:prstGeom prst="rect">
            <a:avLst/>
          </a:prstGeom>
          <a:noFill/>
          <a:ln/>
        </p:spPr>
        <p:txBody>
          <a:bodyPr wrap="square" lIns="0" tIns="0" rIns="0" bIns="0" rtlCol="0" anchor="ctr"/>
          <a:lstStyle/>
          <a:p>
            <a:pPr marL="0" indent="0">
              <a:buNone/>
            </a:pPr>
            <a:r>
              <a:rPr lang="en-US" sz="1550" b="1" dirty="0">
                <a:solidFill>
                  <a:srgbClr val="6B4E71"/>
                </a:solidFill>
                <a:latin typeface="Calibri" pitchFamily="34" charset="0"/>
                <a:ea typeface="Calibri" pitchFamily="34" charset="-122"/>
                <a:cs typeface="Calibri" pitchFamily="34" charset="-120"/>
              </a:rPr>
              <a:t>What is left</a:t>
            </a:r>
            <a:endParaRPr lang="en-US" sz="1550" dirty="0"/>
          </a:p>
        </p:txBody>
      </p:sp>
      <p:sp>
        <p:nvSpPr>
          <p:cNvPr id="11" name="Text 9"/>
          <p:cNvSpPr/>
          <p:nvPr/>
        </p:nvSpPr>
        <p:spPr>
          <a:xfrm>
            <a:off x="6428232" y="3044952"/>
            <a:ext cx="4754880" cy="15087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Stop storing all the data on one machine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Give each machine a slice of the rows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Each slice takes its own writes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This is sharding, also called partitioning</a:t>
            </a:r>
            <a:endParaRPr lang="en-US" sz="1250" dirty="0"/>
          </a:p>
        </p:txBody>
      </p:sp>
      <p:sp>
        <p:nvSpPr>
          <p:cNvPr id="12" name="Text 10"/>
          <p:cNvSpPr/>
          <p:nvPr/>
        </p:nvSpPr>
        <p:spPr>
          <a:xfrm>
            <a:off x="777240" y="4983480"/>
            <a:ext cx="10607040" cy="548640"/>
          </a:xfrm>
          <a:prstGeom prst="rect">
            <a:avLst/>
          </a:prstGeom>
          <a:noFill/>
          <a:ln/>
        </p:spPr>
        <p:txBody>
          <a:bodyPr wrap="square" lIns="0" tIns="0" rIns="0" bIns="0" rtlCol="0" anchor="ctr"/>
          <a:lstStyle/>
          <a:p>
            <a:pPr marL="0" indent="0">
              <a:lnSpc>
                <a:spcPts val="2100"/>
              </a:lnSpc>
              <a:buNone/>
            </a:pPr>
            <a:r>
              <a:rPr lang="en-US" sz="1500" b="1" dirty="0">
                <a:solidFill>
                  <a:srgbClr val="065A82"/>
                </a:solidFill>
                <a:latin typeface="Calibri" pitchFamily="34" charset="0"/>
                <a:ea typeface="Calibri" pitchFamily="34" charset="-122"/>
                <a:cs typeface="Calibri" pitchFamily="34" charset="-120"/>
              </a:rPr>
              <a:t>Replication makes copies of everything. Sharding makes each machine responsible for something different. That single sentence is the whole distinction.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Two Different Ideas, Often Confused</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Copies of everything, versus a slice of everything</a:t>
            </a:r>
            <a:endParaRPr lang="en-US" sz="1500" dirty="0"/>
          </a:p>
        </p:txBody>
      </p:sp>
      <p:sp>
        <p:nvSpPr>
          <p:cNvPr id="4" name="Shape 2"/>
          <p:cNvSpPr/>
          <p:nvPr/>
        </p:nvSpPr>
        <p:spPr>
          <a:xfrm>
            <a:off x="777240" y="1508760"/>
            <a:ext cx="5120640" cy="640080"/>
          </a:xfrm>
          <a:prstGeom prst="roundRect">
            <a:avLst>
              <a:gd name="adj" fmla="val 8571"/>
            </a:avLst>
          </a:prstGeom>
          <a:solidFill>
            <a:srgbClr val="1C7293"/>
          </a:solidFill>
          <a:ln/>
        </p:spPr>
        <p:txBody>
          <a:bodyPr/>
          <a:lstStyle/>
          <a:p>
            <a:endParaRPr lang="en-US"/>
          </a:p>
        </p:txBody>
      </p:sp>
      <p:sp>
        <p:nvSpPr>
          <p:cNvPr id="5" name="Text 3"/>
          <p:cNvSpPr/>
          <p:nvPr/>
        </p:nvSpPr>
        <p:spPr>
          <a:xfrm>
            <a:off x="777240" y="1508760"/>
            <a:ext cx="5120640" cy="6400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Replication — same data, many copies</a:t>
            </a:r>
            <a:endParaRPr lang="en-US" sz="1500" dirty="0"/>
          </a:p>
        </p:txBody>
      </p:sp>
      <p:sp>
        <p:nvSpPr>
          <p:cNvPr id="6" name="Shape 4"/>
          <p:cNvSpPr/>
          <p:nvPr/>
        </p:nvSpPr>
        <p:spPr>
          <a:xfrm>
            <a:off x="868680" y="2331720"/>
            <a:ext cx="1508760" cy="1554480"/>
          </a:xfrm>
          <a:prstGeom prst="roundRect">
            <a:avLst>
              <a:gd name="adj" fmla="val 3636"/>
            </a:avLst>
          </a:prstGeom>
          <a:solidFill>
            <a:srgbClr val="EEF6F7"/>
          </a:solidFill>
          <a:ln w="15240">
            <a:solidFill>
              <a:srgbClr val="1C7293"/>
            </a:solidFill>
            <a:prstDash val="solid"/>
          </a:ln>
        </p:spPr>
        <p:txBody>
          <a:bodyPr/>
          <a:lstStyle/>
          <a:p>
            <a:endParaRPr lang="en-US"/>
          </a:p>
        </p:txBody>
      </p:sp>
      <p:sp>
        <p:nvSpPr>
          <p:cNvPr id="7" name="Text 5"/>
          <p:cNvSpPr/>
          <p:nvPr/>
        </p:nvSpPr>
        <p:spPr>
          <a:xfrm>
            <a:off x="868680" y="2450592"/>
            <a:ext cx="1508760" cy="274320"/>
          </a:xfrm>
          <a:prstGeom prst="rect">
            <a:avLst/>
          </a:prstGeom>
          <a:noFill/>
          <a:ln/>
        </p:spPr>
        <p:txBody>
          <a:bodyPr wrap="square" lIns="0" tIns="0" rIns="0" bIns="0"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Machine 1</a:t>
            </a:r>
            <a:endParaRPr lang="en-US" sz="1100" dirty="0"/>
          </a:p>
        </p:txBody>
      </p:sp>
      <p:sp>
        <p:nvSpPr>
          <p:cNvPr id="8" name="Text 6"/>
          <p:cNvSpPr/>
          <p:nvPr/>
        </p:nvSpPr>
        <p:spPr>
          <a:xfrm>
            <a:off x="868680" y="2834640"/>
            <a:ext cx="1508760" cy="822960"/>
          </a:xfrm>
          <a:prstGeom prst="rect">
            <a:avLst/>
          </a:prstGeom>
          <a:noFill/>
          <a:ln/>
        </p:spPr>
        <p:txBody>
          <a:bodyPr wrap="square" lIns="0" tIns="0" rIns="0" bIns="0" rtlCol="0" anchor="ctr"/>
          <a:lstStyle/>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ALL rows</a:t>
            </a:r>
            <a:endParaRPr lang="en-US" sz="1150" dirty="0"/>
          </a:p>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1 – 50 M</a:t>
            </a:r>
            <a:endParaRPr lang="en-US" sz="1150" dirty="0"/>
          </a:p>
        </p:txBody>
      </p:sp>
      <p:sp>
        <p:nvSpPr>
          <p:cNvPr id="9" name="Shape 7"/>
          <p:cNvSpPr/>
          <p:nvPr/>
        </p:nvSpPr>
        <p:spPr>
          <a:xfrm>
            <a:off x="2560320" y="2331720"/>
            <a:ext cx="1508760" cy="1554480"/>
          </a:xfrm>
          <a:prstGeom prst="roundRect">
            <a:avLst>
              <a:gd name="adj" fmla="val 3636"/>
            </a:avLst>
          </a:prstGeom>
          <a:solidFill>
            <a:srgbClr val="EEF6F7"/>
          </a:solidFill>
          <a:ln w="15240">
            <a:solidFill>
              <a:srgbClr val="1C7293"/>
            </a:solidFill>
            <a:prstDash val="solid"/>
          </a:ln>
        </p:spPr>
        <p:txBody>
          <a:bodyPr/>
          <a:lstStyle/>
          <a:p>
            <a:endParaRPr lang="en-US"/>
          </a:p>
        </p:txBody>
      </p:sp>
      <p:sp>
        <p:nvSpPr>
          <p:cNvPr id="10" name="Text 8"/>
          <p:cNvSpPr/>
          <p:nvPr/>
        </p:nvSpPr>
        <p:spPr>
          <a:xfrm>
            <a:off x="2560320" y="2450592"/>
            <a:ext cx="1508760" cy="274320"/>
          </a:xfrm>
          <a:prstGeom prst="rect">
            <a:avLst/>
          </a:prstGeom>
          <a:noFill/>
          <a:ln/>
        </p:spPr>
        <p:txBody>
          <a:bodyPr wrap="square" lIns="0" tIns="0" rIns="0" bIns="0"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Machine 2</a:t>
            </a:r>
            <a:endParaRPr lang="en-US" sz="1100" dirty="0"/>
          </a:p>
        </p:txBody>
      </p:sp>
      <p:sp>
        <p:nvSpPr>
          <p:cNvPr id="11" name="Text 9"/>
          <p:cNvSpPr/>
          <p:nvPr/>
        </p:nvSpPr>
        <p:spPr>
          <a:xfrm>
            <a:off x="2560320" y="2834640"/>
            <a:ext cx="1508760" cy="822960"/>
          </a:xfrm>
          <a:prstGeom prst="rect">
            <a:avLst/>
          </a:prstGeom>
          <a:noFill/>
          <a:ln/>
        </p:spPr>
        <p:txBody>
          <a:bodyPr wrap="square" lIns="0" tIns="0" rIns="0" bIns="0" rtlCol="0" anchor="ctr"/>
          <a:lstStyle/>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ALL rows</a:t>
            </a:r>
            <a:endParaRPr lang="en-US" sz="1150" dirty="0"/>
          </a:p>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1 – 50 M</a:t>
            </a:r>
            <a:endParaRPr lang="en-US" sz="1150" dirty="0"/>
          </a:p>
        </p:txBody>
      </p:sp>
      <p:sp>
        <p:nvSpPr>
          <p:cNvPr id="12" name="Shape 10"/>
          <p:cNvSpPr/>
          <p:nvPr/>
        </p:nvSpPr>
        <p:spPr>
          <a:xfrm>
            <a:off x="4251960" y="2331720"/>
            <a:ext cx="1508760" cy="1554480"/>
          </a:xfrm>
          <a:prstGeom prst="roundRect">
            <a:avLst>
              <a:gd name="adj" fmla="val 3636"/>
            </a:avLst>
          </a:prstGeom>
          <a:solidFill>
            <a:srgbClr val="EEF6F7"/>
          </a:solidFill>
          <a:ln w="15240">
            <a:solidFill>
              <a:srgbClr val="1C7293"/>
            </a:solidFill>
            <a:prstDash val="solid"/>
          </a:ln>
        </p:spPr>
        <p:txBody>
          <a:bodyPr/>
          <a:lstStyle/>
          <a:p>
            <a:endParaRPr lang="en-US"/>
          </a:p>
        </p:txBody>
      </p:sp>
      <p:sp>
        <p:nvSpPr>
          <p:cNvPr id="13" name="Text 11"/>
          <p:cNvSpPr/>
          <p:nvPr/>
        </p:nvSpPr>
        <p:spPr>
          <a:xfrm>
            <a:off x="4251960" y="2450592"/>
            <a:ext cx="1508760" cy="274320"/>
          </a:xfrm>
          <a:prstGeom prst="rect">
            <a:avLst/>
          </a:prstGeom>
          <a:noFill/>
          <a:ln/>
        </p:spPr>
        <p:txBody>
          <a:bodyPr wrap="square" lIns="0" tIns="0" rIns="0" bIns="0" rtlCol="0" anchor="ctr"/>
          <a:lstStyle/>
          <a:p>
            <a:pPr marL="0" indent="0" algn="ctr">
              <a:buNone/>
            </a:pPr>
            <a:r>
              <a:rPr lang="en-US" sz="1100" b="1" dirty="0">
                <a:solidFill>
                  <a:srgbClr val="1C7293"/>
                </a:solidFill>
                <a:latin typeface="Calibri" pitchFamily="34" charset="0"/>
                <a:ea typeface="Calibri" pitchFamily="34" charset="-122"/>
                <a:cs typeface="Calibri" pitchFamily="34" charset="-120"/>
              </a:rPr>
              <a:t>Machine 3</a:t>
            </a:r>
            <a:endParaRPr lang="en-US" sz="1100" dirty="0"/>
          </a:p>
        </p:txBody>
      </p:sp>
      <p:sp>
        <p:nvSpPr>
          <p:cNvPr id="14" name="Text 12"/>
          <p:cNvSpPr/>
          <p:nvPr/>
        </p:nvSpPr>
        <p:spPr>
          <a:xfrm>
            <a:off x="4251960" y="2834640"/>
            <a:ext cx="1508760" cy="822960"/>
          </a:xfrm>
          <a:prstGeom prst="rect">
            <a:avLst/>
          </a:prstGeom>
          <a:noFill/>
          <a:ln/>
        </p:spPr>
        <p:txBody>
          <a:bodyPr wrap="square" lIns="0" tIns="0" rIns="0" bIns="0" rtlCol="0" anchor="ctr"/>
          <a:lstStyle/>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ALL rows</a:t>
            </a:r>
            <a:endParaRPr lang="en-US" sz="1150" dirty="0"/>
          </a:p>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1 – 50 M</a:t>
            </a:r>
            <a:endParaRPr lang="en-US" sz="1150" dirty="0"/>
          </a:p>
        </p:txBody>
      </p:sp>
      <p:sp>
        <p:nvSpPr>
          <p:cNvPr id="15" name="Shape 13"/>
          <p:cNvSpPr/>
          <p:nvPr/>
        </p:nvSpPr>
        <p:spPr>
          <a:xfrm>
            <a:off x="6263640" y="1508760"/>
            <a:ext cx="5120640" cy="640080"/>
          </a:xfrm>
          <a:prstGeom prst="roundRect">
            <a:avLst>
              <a:gd name="adj" fmla="val 8571"/>
            </a:avLst>
          </a:prstGeom>
          <a:solidFill>
            <a:srgbClr val="6B4E71"/>
          </a:solidFill>
          <a:ln/>
        </p:spPr>
        <p:txBody>
          <a:bodyPr/>
          <a:lstStyle/>
          <a:p>
            <a:endParaRPr lang="en-US"/>
          </a:p>
        </p:txBody>
      </p:sp>
      <p:sp>
        <p:nvSpPr>
          <p:cNvPr id="16" name="Text 14"/>
          <p:cNvSpPr/>
          <p:nvPr/>
        </p:nvSpPr>
        <p:spPr>
          <a:xfrm>
            <a:off x="6263640" y="1508760"/>
            <a:ext cx="5120640" cy="6400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Sharding — different data on each</a:t>
            </a:r>
            <a:endParaRPr lang="en-US" sz="1500" dirty="0"/>
          </a:p>
        </p:txBody>
      </p:sp>
      <p:sp>
        <p:nvSpPr>
          <p:cNvPr id="17" name="Shape 15"/>
          <p:cNvSpPr/>
          <p:nvPr/>
        </p:nvSpPr>
        <p:spPr>
          <a:xfrm>
            <a:off x="6355080" y="2331720"/>
            <a:ext cx="1508760" cy="1554480"/>
          </a:xfrm>
          <a:prstGeom prst="roundRect">
            <a:avLst>
              <a:gd name="adj" fmla="val 3636"/>
            </a:avLst>
          </a:prstGeom>
          <a:solidFill>
            <a:srgbClr val="F3EEF5"/>
          </a:solidFill>
          <a:ln w="15240">
            <a:solidFill>
              <a:srgbClr val="6B4E71"/>
            </a:solidFill>
            <a:prstDash val="solid"/>
          </a:ln>
        </p:spPr>
        <p:txBody>
          <a:bodyPr/>
          <a:lstStyle/>
          <a:p>
            <a:endParaRPr lang="en-US"/>
          </a:p>
        </p:txBody>
      </p:sp>
      <p:sp>
        <p:nvSpPr>
          <p:cNvPr id="18" name="Text 16"/>
          <p:cNvSpPr/>
          <p:nvPr/>
        </p:nvSpPr>
        <p:spPr>
          <a:xfrm>
            <a:off x="6355080" y="2450592"/>
            <a:ext cx="1508760" cy="274320"/>
          </a:xfrm>
          <a:prstGeom prst="rect">
            <a:avLst/>
          </a:prstGeom>
          <a:noFill/>
          <a:ln/>
        </p:spPr>
        <p:txBody>
          <a:bodyPr wrap="square" lIns="0" tIns="0" rIns="0" bIns="0" rtlCol="0" anchor="ctr"/>
          <a:lstStyle/>
          <a:p>
            <a:pPr marL="0" indent="0" algn="ctr">
              <a:buNone/>
            </a:pPr>
            <a:r>
              <a:rPr lang="en-US" sz="1100" b="1" dirty="0">
                <a:solidFill>
                  <a:srgbClr val="6B4E71"/>
                </a:solidFill>
                <a:latin typeface="Calibri" pitchFamily="34" charset="0"/>
                <a:ea typeface="Calibri" pitchFamily="34" charset="-122"/>
                <a:cs typeface="Calibri" pitchFamily="34" charset="-120"/>
              </a:rPr>
              <a:t>Shard 1</a:t>
            </a:r>
            <a:endParaRPr lang="en-US" sz="1100" dirty="0"/>
          </a:p>
        </p:txBody>
      </p:sp>
      <p:sp>
        <p:nvSpPr>
          <p:cNvPr id="19" name="Text 17"/>
          <p:cNvSpPr/>
          <p:nvPr/>
        </p:nvSpPr>
        <p:spPr>
          <a:xfrm>
            <a:off x="6355080" y="2834640"/>
            <a:ext cx="1508760" cy="822960"/>
          </a:xfrm>
          <a:prstGeom prst="rect">
            <a:avLst/>
          </a:prstGeom>
          <a:noFill/>
          <a:ln/>
        </p:spPr>
        <p:txBody>
          <a:bodyPr wrap="square" lIns="0" tIns="0" rIns="0" bIns="0" rtlCol="0" anchor="ctr"/>
          <a:lstStyle/>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Rows</a:t>
            </a:r>
            <a:endParaRPr lang="en-US" sz="1150" dirty="0"/>
          </a:p>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1 – 17 M</a:t>
            </a:r>
            <a:endParaRPr lang="en-US" sz="1150" dirty="0"/>
          </a:p>
        </p:txBody>
      </p:sp>
      <p:sp>
        <p:nvSpPr>
          <p:cNvPr id="20" name="Shape 18"/>
          <p:cNvSpPr/>
          <p:nvPr/>
        </p:nvSpPr>
        <p:spPr>
          <a:xfrm>
            <a:off x="8046720" y="2331720"/>
            <a:ext cx="1508760" cy="1554480"/>
          </a:xfrm>
          <a:prstGeom prst="roundRect">
            <a:avLst>
              <a:gd name="adj" fmla="val 3636"/>
            </a:avLst>
          </a:prstGeom>
          <a:solidFill>
            <a:srgbClr val="F3EEF5"/>
          </a:solidFill>
          <a:ln w="15240">
            <a:solidFill>
              <a:srgbClr val="6B4E71"/>
            </a:solidFill>
            <a:prstDash val="solid"/>
          </a:ln>
        </p:spPr>
        <p:txBody>
          <a:bodyPr/>
          <a:lstStyle/>
          <a:p>
            <a:endParaRPr lang="en-US"/>
          </a:p>
        </p:txBody>
      </p:sp>
      <p:sp>
        <p:nvSpPr>
          <p:cNvPr id="21" name="Text 19"/>
          <p:cNvSpPr/>
          <p:nvPr/>
        </p:nvSpPr>
        <p:spPr>
          <a:xfrm>
            <a:off x="8046720" y="2450592"/>
            <a:ext cx="1508760" cy="274320"/>
          </a:xfrm>
          <a:prstGeom prst="rect">
            <a:avLst/>
          </a:prstGeom>
          <a:noFill/>
          <a:ln/>
        </p:spPr>
        <p:txBody>
          <a:bodyPr wrap="square" lIns="0" tIns="0" rIns="0" bIns="0" rtlCol="0" anchor="ctr"/>
          <a:lstStyle/>
          <a:p>
            <a:pPr marL="0" indent="0" algn="ctr">
              <a:buNone/>
            </a:pPr>
            <a:r>
              <a:rPr lang="en-US" sz="1100" b="1" dirty="0">
                <a:solidFill>
                  <a:srgbClr val="6B4E71"/>
                </a:solidFill>
                <a:latin typeface="Calibri" pitchFamily="34" charset="0"/>
                <a:ea typeface="Calibri" pitchFamily="34" charset="-122"/>
                <a:cs typeface="Calibri" pitchFamily="34" charset="-120"/>
              </a:rPr>
              <a:t>Shard 2</a:t>
            </a:r>
            <a:endParaRPr lang="en-US" sz="1100" dirty="0"/>
          </a:p>
        </p:txBody>
      </p:sp>
      <p:sp>
        <p:nvSpPr>
          <p:cNvPr id="22" name="Text 20"/>
          <p:cNvSpPr/>
          <p:nvPr/>
        </p:nvSpPr>
        <p:spPr>
          <a:xfrm>
            <a:off x="8046720" y="2834640"/>
            <a:ext cx="1508760" cy="822960"/>
          </a:xfrm>
          <a:prstGeom prst="rect">
            <a:avLst/>
          </a:prstGeom>
          <a:noFill/>
          <a:ln/>
        </p:spPr>
        <p:txBody>
          <a:bodyPr wrap="square" lIns="0" tIns="0" rIns="0" bIns="0" rtlCol="0" anchor="ctr"/>
          <a:lstStyle/>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Rows</a:t>
            </a:r>
            <a:endParaRPr lang="en-US" sz="1150" dirty="0"/>
          </a:p>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17 – 34 M</a:t>
            </a:r>
            <a:endParaRPr lang="en-US" sz="1150" dirty="0"/>
          </a:p>
        </p:txBody>
      </p:sp>
      <p:sp>
        <p:nvSpPr>
          <p:cNvPr id="23" name="Shape 21"/>
          <p:cNvSpPr/>
          <p:nvPr/>
        </p:nvSpPr>
        <p:spPr>
          <a:xfrm>
            <a:off x="9738360" y="2331720"/>
            <a:ext cx="1508760" cy="1554480"/>
          </a:xfrm>
          <a:prstGeom prst="roundRect">
            <a:avLst>
              <a:gd name="adj" fmla="val 3636"/>
            </a:avLst>
          </a:prstGeom>
          <a:solidFill>
            <a:srgbClr val="F3EEF5"/>
          </a:solidFill>
          <a:ln w="15240">
            <a:solidFill>
              <a:srgbClr val="6B4E71"/>
            </a:solidFill>
            <a:prstDash val="solid"/>
          </a:ln>
        </p:spPr>
        <p:txBody>
          <a:bodyPr/>
          <a:lstStyle/>
          <a:p>
            <a:endParaRPr lang="en-US"/>
          </a:p>
        </p:txBody>
      </p:sp>
      <p:sp>
        <p:nvSpPr>
          <p:cNvPr id="24" name="Text 22"/>
          <p:cNvSpPr/>
          <p:nvPr/>
        </p:nvSpPr>
        <p:spPr>
          <a:xfrm>
            <a:off x="9738360" y="2450592"/>
            <a:ext cx="1508760" cy="274320"/>
          </a:xfrm>
          <a:prstGeom prst="rect">
            <a:avLst/>
          </a:prstGeom>
          <a:noFill/>
          <a:ln/>
        </p:spPr>
        <p:txBody>
          <a:bodyPr wrap="square" lIns="0" tIns="0" rIns="0" bIns="0" rtlCol="0" anchor="ctr"/>
          <a:lstStyle/>
          <a:p>
            <a:pPr marL="0" indent="0" algn="ctr">
              <a:buNone/>
            </a:pPr>
            <a:r>
              <a:rPr lang="en-US" sz="1100" b="1" dirty="0">
                <a:solidFill>
                  <a:srgbClr val="6B4E71"/>
                </a:solidFill>
                <a:latin typeface="Calibri" pitchFamily="34" charset="0"/>
                <a:ea typeface="Calibri" pitchFamily="34" charset="-122"/>
                <a:cs typeface="Calibri" pitchFamily="34" charset="-120"/>
              </a:rPr>
              <a:t>Shard 3</a:t>
            </a:r>
            <a:endParaRPr lang="en-US" sz="1100" dirty="0"/>
          </a:p>
        </p:txBody>
      </p:sp>
      <p:sp>
        <p:nvSpPr>
          <p:cNvPr id="25" name="Text 23"/>
          <p:cNvSpPr/>
          <p:nvPr/>
        </p:nvSpPr>
        <p:spPr>
          <a:xfrm>
            <a:off x="9738360" y="2834640"/>
            <a:ext cx="1508760" cy="822960"/>
          </a:xfrm>
          <a:prstGeom prst="rect">
            <a:avLst/>
          </a:prstGeom>
          <a:noFill/>
          <a:ln/>
        </p:spPr>
        <p:txBody>
          <a:bodyPr wrap="square" lIns="0" tIns="0" rIns="0" bIns="0" rtlCol="0" anchor="ctr"/>
          <a:lstStyle/>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Rows</a:t>
            </a:r>
            <a:endParaRPr lang="en-US" sz="1150" dirty="0"/>
          </a:p>
          <a:p>
            <a:pPr marL="0" indent="0" algn="ctr">
              <a:lnSpc>
                <a:spcPts val="1600"/>
              </a:lnSpc>
              <a:buNone/>
            </a:pPr>
            <a:r>
              <a:rPr lang="en-US" sz="1150" dirty="0">
                <a:solidFill>
                  <a:srgbClr val="1B2A33"/>
                </a:solidFill>
                <a:latin typeface="Calibri" pitchFamily="34" charset="0"/>
                <a:ea typeface="Calibri" pitchFamily="34" charset="-122"/>
                <a:cs typeface="Calibri" pitchFamily="34" charset="-120"/>
              </a:rPr>
              <a:t>34 – 50 M</a:t>
            </a:r>
            <a:endParaRPr lang="en-US" sz="1150" dirty="0"/>
          </a:p>
        </p:txBody>
      </p:sp>
      <p:sp>
        <p:nvSpPr>
          <p:cNvPr id="26" name="Shape 24"/>
          <p:cNvSpPr/>
          <p:nvPr/>
        </p:nvSpPr>
        <p:spPr>
          <a:xfrm>
            <a:off x="777240" y="4160520"/>
            <a:ext cx="10607040" cy="530352"/>
          </a:xfrm>
          <a:prstGeom prst="roundRect">
            <a:avLst>
              <a:gd name="adj" fmla="val 6897"/>
            </a:avLst>
          </a:prstGeom>
          <a:solidFill>
            <a:srgbClr val="FFFFFF"/>
          </a:solidFill>
          <a:ln w="12700">
            <a:solidFill>
              <a:srgbClr val="E1E8ED"/>
            </a:solidFill>
            <a:prstDash val="solid"/>
          </a:ln>
        </p:spPr>
        <p:txBody>
          <a:bodyPr/>
          <a:lstStyle/>
          <a:p>
            <a:endParaRPr lang="en-US"/>
          </a:p>
        </p:txBody>
      </p:sp>
      <p:sp>
        <p:nvSpPr>
          <p:cNvPr id="27" name="Text 25"/>
          <p:cNvSpPr/>
          <p:nvPr/>
        </p:nvSpPr>
        <p:spPr>
          <a:xfrm>
            <a:off x="1051560" y="4160520"/>
            <a:ext cx="2194560" cy="53035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Scales</a:t>
            </a:r>
            <a:endParaRPr lang="en-US" sz="1250" dirty="0"/>
          </a:p>
        </p:txBody>
      </p:sp>
      <p:sp>
        <p:nvSpPr>
          <p:cNvPr id="28" name="Text 26"/>
          <p:cNvSpPr/>
          <p:nvPr/>
        </p:nvSpPr>
        <p:spPr>
          <a:xfrm>
            <a:off x="3291840" y="4160520"/>
            <a:ext cx="3931920" cy="530352"/>
          </a:xfrm>
          <a:prstGeom prst="rect">
            <a:avLst/>
          </a:prstGeom>
          <a:noFill/>
          <a:ln/>
        </p:spPr>
        <p:txBody>
          <a:bodyPr wrap="square" lIns="0" tIns="0" rIns="0" bIns="0" rtlCol="0" anchor="ctr"/>
          <a:lstStyle/>
          <a:p>
            <a:pPr marL="0" indent="0">
              <a:buNone/>
            </a:pPr>
            <a:r>
              <a:rPr lang="en-US" sz="1250" dirty="0">
                <a:solidFill>
                  <a:srgbClr val="1C7293"/>
                </a:solidFill>
                <a:latin typeface="Calibri" pitchFamily="34" charset="0"/>
                <a:ea typeface="Calibri" pitchFamily="34" charset="-122"/>
                <a:cs typeface="Calibri" pitchFamily="34" charset="-120"/>
              </a:rPr>
              <a:t>Reads only</a:t>
            </a:r>
            <a:endParaRPr lang="en-US" sz="1250" dirty="0"/>
          </a:p>
        </p:txBody>
      </p:sp>
      <p:sp>
        <p:nvSpPr>
          <p:cNvPr id="29" name="Text 27"/>
          <p:cNvSpPr/>
          <p:nvPr/>
        </p:nvSpPr>
        <p:spPr>
          <a:xfrm>
            <a:off x="7315200" y="4160520"/>
            <a:ext cx="3840480" cy="530352"/>
          </a:xfrm>
          <a:prstGeom prst="rect">
            <a:avLst/>
          </a:prstGeom>
          <a:noFill/>
          <a:ln/>
        </p:spPr>
        <p:txBody>
          <a:bodyPr wrap="square" lIns="0" tIns="0" rIns="0" bIns="0" rtlCol="0" anchor="ctr"/>
          <a:lstStyle/>
          <a:p>
            <a:pPr marL="0" indent="0">
              <a:buNone/>
            </a:pPr>
            <a:r>
              <a:rPr lang="en-US" sz="1250" dirty="0">
                <a:solidFill>
                  <a:srgbClr val="6B4E71"/>
                </a:solidFill>
                <a:latin typeface="Calibri" pitchFamily="34" charset="0"/>
                <a:ea typeface="Calibri" pitchFamily="34" charset="-122"/>
                <a:cs typeface="Calibri" pitchFamily="34" charset="-120"/>
              </a:rPr>
              <a:t>Reads and writes</a:t>
            </a:r>
            <a:endParaRPr lang="en-US" sz="1250" dirty="0"/>
          </a:p>
        </p:txBody>
      </p:sp>
      <p:sp>
        <p:nvSpPr>
          <p:cNvPr id="30" name="Shape 28"/>
          <p:cNvSpPr/>
          <p:nvPr/>
        </p:nvSpPr>
        <p:spPr>
          <a:xfrm>
            <a:off x="777240" y="4782312"/>
            <a:ext cx="10607040" cy="530352"/>
          </a:xfrm>
          <a:prstGeom prst="roundRect">
            <a:avLst>
              <a:gd name="adj" fmla="val 6897"/>
            </a:avLst>
          </a:prstGeom>
          <a:solidFill>
            <a:srgbClr val="F4F7F9"/>
          </a:solidFill>
          <a:ln w="12700">
            <a:solidFill>
              <a:srgbClr val="E1E8ED"/>
            </a:solidFill>
            <a:prstDash val="solid"/>
          </a:ln>
        </p:spPr>
        <p:txBody>
          <a:bodyPr/>
          <a:lstStyle/>
          <a:p>
            <a:endParaRPr lang="en-US"/>
          </a:p>
        </p:txBody>
      </p:sp>
      <p:sp>
        <p:nvSpPr>
          <p:cNvPr id="31" name="Text 29"/>
          <p:cNvSpPr/>
          <p:nvPr/>
        </p:nvSpPr>
        <p:spPr>
          <a:xfrm>
            <a:off x="1051560" y="4782312"/>
            <a:ext cx="2194560" cy="53035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If one machine dies</a:t>
            </a:r>
            <a:endParaRPr lang="en-US" sz="1250" dirty="0"/>
          </a:p>
        </p:txBody>
      </p:sp>
      <p:sp>
        <p:nvSpPr>
          <p:cNvPr id="32" name="Text 30"/>
          <p:cNvSpPr/>
          <p:nvPr/>
        </p:nvSpPr>
        <p:spPr>
          <a:xfrm>
            <a:off x="3291840" y="4782312"/>
            <a:ext cx="3931920" cy="530352"/>
          </a:xfrm>
          <a:prstGeom prst="rect">
            <a:avLst/>
          </a:prstGeom>
          <a:noFill/>
          <a:ln/>
        </p:spPr>
        <p:txBody>
          <a:bodyPr wrap="square" lIns="0" tIns="0" rIns="0" bIns="0" rtlCol="0" anchor="ctr"/>
          <a:lstStyle/>
          <a:p>
            <a:pPr marL="0" indent="0">
              <a:buNone/>
            </a:pPr>
            <a:r>
              <a:rPr lang="en-US" sz="1250" dirty="0">
                <a:solidFill>
                  <a:srgbClr val="1C7293"/>
                </a:solidFill>
                <a:latin typeface="Calibri" pitchFamily="34" charset="0"/>
                <a:ea typeface="Calibri" pitchFamily="34" charset="-122"/>
                <a:cs typeface="Calibri" pitchFamily="34" charset="-120"/>
              </a:rPr>
              <a:t>Others still have everything</a:t>
            </a:r>
            <a:endParaRPr lang="en-US" sz="1250" dirty="0"/>
          </a:p>
        </p:txBody>
      </p:sp>
      <p:sp>
        <p:nvSpPr>
          <p:cNvPr id="33" name="Text 31"/>
          <p:cNvSpPr/>
          <p:nvPr/>
        </p:nvSpPr>
        <p:spPr>
          <a:xfrm>
            <a:off x="7315200" y="4782312"/>
            <a:ext cx="3840480" cy="530352"/>
          </a:xfrm>
          <a:prstGeom prst="rect">
            <a:avLst/>
          </a:prstGeom>
          <a:noFill/>
          <a:ln/>
        </p:spPr>
        <p:txBody>
          <a:bodyPr wrap="square" lIns="0" tIns="0" rIns="0" bIns="0" rtlCol="0" anchor="ctr"/>
          <a:lstStyle/>
          <a:p>
            <a:pPr marL="0" indent="0">
              <a:buNone/>
            </a:pPr>
            <a:r>
              <a:rPr lang="en-US" sz="1250" dirty="0">
                <a:solidFill>
                  <a:srgbClr val="6B4E71"/>
                </a:solidFill>
                <a:latin typeface="Calibri" pitchFamily="34" charset="0"/>
                <a:ea typeface="Calibri" pitchFamily="34" charset="-122"/>
                <a:cs typeface="Calibri" pitchFamily="34" charset="-120"/>
              </a:rPr>
              <a:t>That slice is unavailable</a:t>
            </a:r>
            <a:endParaRPr lang="en-US" sz="1250" dirty="0"/>
          </a:p>
        </p:txBody>
      </p:sp>
      <p:sp>
        <p:nvSpPr>
          <p:cNvPr id="34" name="Shape 32"/>
          <p:cNvSpPr/>
          <p:nvPr/>
        </p:nvSpPr>
        <p:spPr>
          <a:xfrm>
            <a:off x="777240" y="5404104"/>
            <a:ext cx="10607040" cy="530352"/>
          </a:xfrm>
          <a:prstGeom prst="roundRect">
            <a:avLst>
              <a:gd name="adj" fmla="val 6897"/>
            </a:avLst>
          </a:prstGeom>
          <a:solidFill>
            <a:srgbClr val="FFFFFF"/>
          </a:solidFill>
          <a:ln w="12700">
            <a:solidFill>
              <a:srgbClr val="E1E8ED"/>
            </a:solidFill>
            <a:prstDash val="solid"/>
          </a:ln>
        </p:spPr>
        <p:txBody>
          <a:bodyPr/>
          <a:lstStyle/>
          <a:p>
            <a:endParaRPr lang="en-US"/>
          </a:p>
        </p:txBody>
      </p:sp>
      <p:sp>
        <p:nvSpPr>
          <p:cNvPr id="35" name="Text 33"/>
          <p:cNvSpPr/>
          <p:nvPr/>
        </p:nvSpPr>
        <p:spPr>
          <a:xfrm>
            <a:off x="1051560" y="5404104"/>
            <a:ext cx="2194560" cy="53035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Complexity</a:t>
            </a:r>
            <a:endParaRPr lang="en-US" sz="1250" dirty="0"/>
          </a:p>
        </p:txBody>
      </p:sp>
      <p:sp>
        <p:nvSpPr>
          <p:cNvPr id="36" name="Text 34"/>
          <p:cNvSpPr/>
          <p:nvPr/>
        </p:nvSpPr>
        <p:spPr>
          <a:xfrm>
            <a:off x="3291840" y="5404104"/>
            <a:ext cx="3931920" cy="530352"/>
          </a:xfrm>
          <a:prstGeom prst="rect">
            <a:avLst/>
          </a:prstGeom>
          <a:noFill/>
          <a:ln/>
        </p:spPr>
        <p:txBody>
          <a:bodyPr wrap="square" lIns="0" tIns="0" rIns="0" bIns="0" rtlCol="0" anchor="ctr"/>
          <a:lstStyle/>
          <a:p>
            <a:pPr marL="0" indent="0">
              <a:buNone/>
            </a:pPr>
            <a:r>
              <a:rPr lang="en-US" sz="1250" dirty="0">
                <a:solidFill>
                  <a:srgbClr val="1C7293"/>
                </a:solidFill>
                <a:latin typeface="Calibri" pitchFamily="34" charset="0"/>
                <a:ea typeface="Calibri" pitchFamily="34" charset="-122"/>
                <a:cs typeface="Calibri" pitchFamily="34" charset="-120"/>
              </a:rPr>
              <a:t>Low — built into every database</a:t>
            </a:r>
            <a:endParaRPr lang="en-US" sz="1250" dirty="0"/>
          </a:p>
        </p:txBody>
      </p:sp>
      <p:sp>
        <p:nvSpPr>
          <p:cNvPr id="37" name="Text 35"/>
          <p:cNvSpPr/>
          <p:nvPr/>
        </p:nvSpPr>
        <p:spPr>
          <a:xfrm>
            <a:off x="7315200" y="5404104"/>
            <a:ext cx="3840480" cy="530352"/>
          </a:xfrm>
          <a:prstGeom prst="rect">
            <a:avLst/>
          </a:prstGeom>
          <a:noFill/>
          <a:ln/>
        </p:spPr>
        <p:txBody>
          <a:bodyPr wrap="square" lIns="0" tIns="0" rIns="0" bIns="0" rtlCol="0" anchor="ctr"/>
          <a:lstStyle/>
          <a:p>
            <a:pPr marL="0" indent="0">
              <a:buNone/>
            </a:pPr>
            <a:r>
              <a:rPr lang="en-US" sz="1250" dirty="0">
                <a:solidFill>
                  <a:srgbClr val="6B4E71"/>
                </a:solidFill>
                <a:latin typeface="Calibri" pitchFamily="34" charset="0"/>
                <a:ea typeface="Calibri" pitchFamily="34" charset="-122"/>
                <a:cs typeface="Calibri" pitchFamily="34" charset="-120"/>
              </a:rPr>
              <a:t>High — changes how you query</a:t>
            </a:r>
            <a:endParaRPr lang="en-US" sz="1250" dirty="0"/>
          </a:p>
        </p:txBody>
      </p:sp>
      <p:sp>
        <p:nvSpPr>
          <p:cNvPr id="38" name="Text 36"/>
          <p:cNvSpPr/>
          <p:nvPr/>
        </p:nvSpPr>
        <p:spPr>
          <a:xfrm>
            <a:off x="777240" y="6080760"/>
            <a:ext cx="10607040" cy="365760"/>
          </a:xfrm>
          <a:prstGeom prst="rect">
            <a:avLst/>
          </a:prstGeom>
          <a:noFill/>
          <a:ln/>
        </p:spPr>
        <p:txBody>
          <a:bodyPr wrap="square" lIns="0" tIns="0" rIns="0" bIns="0" rtlCol="0" anchor="ctr"/>
          <a:lstStyle/>
          <a:p>
            <a:pPr marL="0" indent="0">
              <a:buNone/>
            </a:pPr>
            <a:r>
              <a:rPr lang="en-US" sz="1350" b="1" i="1" dirty="0">
                <a:solidFill>
                  <a:srgbClr val="065A82"/>
                </a:solidFill>
                <a:latin typeface="Calibri" pitchFamily="34" charset="0"/>
                <a:ea typeface="Calibri" pitchFamily="34" charset="-122"/>
                <a:cs typeface="Calibri" pitchFamily="34" charset="-120"/>
              </a:rPr>
              <a:t>In practice you do both: each shard is itself replicated.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38328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38328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1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You agree to split the orders table across four machines. Every order has an order ID, a user ID, a restaurant ID, a city and a timestamp.</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Which column do you split on?</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And what happens if you choose badly?</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This was your homework. Defend your choice before you hear anyone else’s.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1 — The Shard Key</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One decision, and it is very hard to reverse</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The shard key decides which machine every row lives on. Get it right and the load spreads evenly and most queries touch one machine. Get it wrong and you have paid for four machines while using one.</a:t>
            </a:r>
            <a:endParaRPr lang="en-US" sz="1550" dirty="0"/>
          </a:p>
        </p:txBody>
      </p:sp>
      <p:sp>
        <p:nvSpPr>
          <p:cNvPr id="6" name="Shape 4"/>
          <p:cNvSpPr/>
          <p:nvPr/>
        </p:nvSpPr>
        <p:spPr>
          <a:xfrm>
            <a:off x="777240" y="2514600"/>
            <a:ext cx="10607040" cy="758952"/>
          </a:xfrm>
          <a:prstGeom prst="roundRect">
            <a:avLst>
              <a:gd name="adj" fmla="val 6024"/>
            </a:avLst>
          </a:prstGeom>
          <a:solidFill>
            <a:srgbClr val="FFFFFF"/>
          </a:solidFill>
          <a:ln w="12700">
            <a:solidFill>
              <a:srgbClr val="E1E8ED"/>
            </a:solidFill>
            <a:prstDash val="solid"/>
          </a:ln>
        </p:spPr>
        <p:txBody>
          <a:bodyPr/>
          <a:lstStyle/>
          <a:p>
            <a:endParaRPr lang="en-US"/>
          </a:p>
        </p:txBody>
      </p:sp>
      <p:sp>
        <p:nvSpPr>
          <p:cNvPr id="7" name="Text 5"/>
          <p:cNvSpPr/>
          <p:nvPr/>
        </p:nvSpPr>
        <p:spPr>
          <a:xfrm>
            <a:off x="1051560" y="2514600"/>
            <a:ext cx="2468880" cy="758952"/>
          </a:xfrm>
          <a:prstGeom prst="rect">
            <a:avLst/>
          </a:prstGeom>
          <a:noFill/>
          <a:ln/>
        </p:spPr>
        <p:txBody>
          <a:bodyPr wrap="square" lIns="0" tIns="0" rIns="0" bIns="0" rtlCol="0" anchor="ctr"/>
          <a:lstStyle/>
          <a:p>
            <a:pPr marL="0" indent="0">
              <a:buNone/>
            </a:pPr>
            <a:r>
              <a:rPr lang="en-US" sz="1350" b="1" dirty="0">
                <a:solidFill>
                  <a:srgbClr val="13293D"/>
                </a:solidFill>
                <a:latin typeface="Consolas" pitchFamily="34" charset="0"/>
                <a:ea typeface="Consolas" pitchFamily="34" charset="-122"/>
                <a:cs typeface="Consolas" pitchFamily="34" charset="-120"/>
              </a:rPr>
              <a:t>timestamp</a:t>
            </a:r>
            <a:endParaRPr lang="en-US" sz="1350" dirty="0"/>
          </a:p>
        </p:txBody>
      </p:sp>
      <p:sp>
        <p:nvSpPr>
          <p:cNvPr id="8" name="Text 6"/>
          <p:cNvSpPr/>
          <p:nvPr/>
        </p:nvSpPr>
        <p:spPr>
          <a:xfrm>
            <a:off x="3611880" y="2514600"/>
            <a:ext cx="585216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Every new order goes to the newest shard. Three machines idle, one on fire.</a:t>
            </a:r>
            <a:endParaRPr lang="en-US" sz="1250" dirty="0"/>
          </a:p>
        </p:txBody>
      </p:sp>
      <p:sp>
        <p:nvSpPr>
          <p:cNvPr id="9" name="Shape 7"/>
          <p:cNvSpPr/>
          <p:nvPr/>
        </p:nvSpPr>
        <p:spPr>
          <a:xfrm>
            <a:off x="9601200" y="2679192"/>
            <a:ext cx="1554480" cy="438912"/>
          </a:xfrm>
          <a:prstGeom prst="roundRect">
            <a:avLst>
              <a:gd name="adj" fmla="val 37500"/>
            </a:avLst>
          </a:prstGeom>
          <a:solidFill>
            <a:srgbClr val="A03A3A"/>
          </a:solidFill>
          <a:ln/>
        </p:spPr>
        <p:txBody>
          <a:bodyPr/>
          <a:lstStyle/>
          <a:p>
            <a:endParaRPr lang="en-US"/>
          </a:p>
        </p:txBody>
      </p:sp>
      <p:sp>
        <p:nvSpPr>
          <p:cNvPr id="10" name="Text 8"/>
          <p:cNvSpPr/>
          <p:nvPr/>
        </p:nvSpPr>
        <p:spPr>
          <a:xfrm>
            <a:off x="9601200" y="2679192"/>
            <a:ext cx="15544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Terrible</a:t>
            </a:r>
            <a:endParaRPr lang="en-US" sz="1150" dirty="0"/>
          </a:p>
        </p:txBody>
      </p:sp>
      <p:sp>
        <p:nvSpPr>
          <p:cNvPr id="11" name="Shape 9"/>
          <p:cNvSpPr/>
          <p:nvPr/>
        </p:nvSpPr>
        <p:spPr>
          <a:xfrm>
            <a:off x="777240" y="3383280"/>
            <a:ext cx="10607040" cy="758952"/>
          </a:xfrm>
          <a:prstGeom prst="roundRect">
            <a:avLst>
              <a:gd name="adj" fmla="val 6024"/>
            </a:avLst>
          </a:prstGeom>
          <a:solidFill>
            <a:srgbClr val="F4F7F9"/>
          </a:solidFill>
          <a:ln w="12700">
            <a:solidFill>
              <a:srgbClr val="E1E8ED"/>
            </a:solidFill>
            <a:prstDash val="solid"/>
          </a:ln>
        </p:spPr>
        <p:txBody>
          <a:bodyPr/>
          <a:lstStyle/>
          <a:p>
            <a:endParaRPr lang="en-US"/>
          </a:p>
        </p:txBody>
      </p:sp>
      <p:sp>
        <p:nvSpPr>
          <p:cNvPr id="12" name="Text 10"/>
          <p:cNvSpPr/>
          <p:nvPr/>
        </p:nvSpPr>
        <p:spPr>
          <a:xfrm>
            <a:off x="1051560" y="3383280"/>
            <a:ext cx="2468880" cy="758952"/>
          </a:xfrm>
          <a:prstGeom prst="rect">
            <a:avLst/>
          </a:prstGeom>
          <a:noFill/>
          <a:ln/>
        </p:spPr>
        <p:txBody>
          <a:bodyPr wrap="square" lIns="0" tIns="0" rIns="0" bIns="0" rtlCol="0" anchor="ctr"/>
          <a:lstStyle/>
          <a:p>
            <a:pPr marL="0" indent="0">
              <a:buNone/>
            </a:pPr>
            <a:r>
              <a:rPr lang="en-US" sz="1350" b="1" dirty="0">
                <a:solidFill>
                  <a:srgbClr val="13293D"/>
                </a:solidFill>
                <a:latin typeface="Consolas" pitchFamily="34" charset="0"/>
                <a:ea typeface="Consolas" pitchFamily="34" charset="-122"/>
                <a:cs typeface="Consolas" pitchFamily="34" charset="-120"/>
              </a:rPr>
              <a:t>city</a:t>
            </a:r>
            <a:endParaRPr lang="en-US" sz="1350" dirty="0"/>
          </a:p>
        </p:txBody>
      </p:sp>
      <p:sp>
        <p:nvSpPr>
          <p:cNvPr id="13" name="Text 11"/>
          <p:cNvSpPr/>
          <p:nvPr/>
        </p:nvSpPr>
        <p:spPr>
          <a:xfrm>
            <a:off x="3611880" y="3383280"/>
            <a:ext cx="585216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Delhi has 40% of orders. That shard melts while others sleep.</a:t>
            </a:r>
            <a:endParaRPr lang="en-US" sz="1250" dirty="0"/>
          </a:p>
        </p:txBody>
      </p:sp>
      <p:sp>
        <p:nvSpPr>
          <p:cNvPr id="14" name="Shape 12"/>
          <p:cNvSpPr/>
          <p:nvPr/>
        </p:nvSpPr>
        <p:spPr>
          <a:xfrm>
            <a:off x="9601200" y="3547872"/>
            <a:ext cx="1554480" cy="438912"/>
          </a:xfrm>
          <a:prstGeom prst="roundRect">
            <a:avLst>
              <a:gd name="adj" fmla="val 37500"/>
            </a:avLst>
          </a:prstGeom>
          <a:solidFill>
            <a:srgbClr val="A03A3A"/>
          </a:solidFill>
          <a:ln/>
        </p:spPr>
        <p:txBody>
          <a:bodyPr/>
          <a:lstStyle/>
          <a:p>
            <a:endParaRPr lang="en-US"/>
          </a:p>
        </p:txBody>
      </p:sp>
      <p:sp>
        <p:nvSpPr>
          <p:cNvPr id="15" name="Text 13"/>
          <p:cNvSpPr/>
          <p:nvPr/>
        </p:nvSpPr>
        <p:spPr>
          <a:xfrm>
            <a:off x="9601200" y="3547872"/>
            <a:ext cx="15544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Uneven</a:t>
            </a:r>
            <a:endParaRPr lang="en-US" sz="1150" dirty="0"/>
          </a:p>
        </p:txBody>
      </p:sp>
      <p:sp>
        <p:nvSpPr>
          <p:cNvPr id="16" name="Shape 14"/>
          <p:cNvSpPr/>
          <p:nvPr/>
        </p:nvSpPr>
        <p:spPr>
          <a:xfrm>
            <a:off x="777240" y="4251960"/>
            <a:ext cx="10607040" cy="758952"/>
          </a:xfrm>
          <a:prstGeom prst="roundRect">
            <a:avLst>
              <a:gd name="adj" fmla="val 6024"/>
            </a:avLst>
          </a:prstGeom>
          <a:solidFill>
            <a:srgbClr val="FFFFFF"/>
          </a:solidFill>
          <a:ln w="12700">
            <a:solidFill>
              <a:srgbClr val="E1E8ED"/>
            </a:solidFill>
            <a:prstDash val="solid"/>
          </a:ln>
        </p:spPr>
        <p:txBody>
          <a:bodyPr/>
          <a:lstStyle/>
          <a:p>
            <a:endParaRPr lang="en-US"/>
          </a:p>
        </p:txBody>
      </p:sp>
      <p:sp>
        <p:nvSpPr>
          <p:cNvPr id="17" name="Text 15"/>
          <p:cNvSpPr/>
          <p:nvPr/>
        </p:nvSpPr>
        <p:spPr>
          <a:xfrm>
            <a:off x="1051560" y="4251960"/>
            <a:ext cx="2468880" cy="758952"/>
          </a:xfrm>
          <a:prstGeom prst="rect">
            <a:avLst/>
          </a:prstGeom>
          <a:noFill/>
          <a:ln/>
        </p:spPr>
        <p:txBody>
          <a:bodyPr wrap="square" lIns="0" tIns="0" rIns="0" bIns="0" rtlCol="0" anchor="ctr"/>
          <a:lstStyle/>
          <a:p>
            <a:pPr marL="0" indent="0">
              <a:buNone/>
            </a:pPr>
            <a:r>
              <a:rPr lang="en-US" sz="1350" b="1" dirty="0">
                <a:solidFill>
                  <a:srgbClr val="13293D"/>
                </a:solidFill>
                <a:latin typeface="Consolas" pitchFamily="34" charset="0"/>
                <a:ea typeface="Consolas" pitchFamily="34" charset="-122"/>
                <a:cs typeface="Consolas" pitchFamily="34" charset="-120"/>
              </a:rPr>
              <a:t>restaurant_id</a:t>
            </a:r>
            <a:endParaRPr lang="en-US" sz="1350" dirty="0"/>
          </a:p>
        </p:txBody>
      </p:sp>
      <p:sp>
        <p:nvSpPr>
          <p:cNvPr id="18" name="Text 16"/>
          <p:cNvSpPr/>
          <p:nvPr/>
        </p:nvSpPr>
        <p:spPr>
          <a:xfrm>
            <a:off x="3611880" y="4251960"/>
            <a:ext cx="585216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One viral restaurant on festival night overloads its shard.</a:t>
            </a:r>
            <a:endParaRPr lang="en-US" sz="1250" dirty="0"/>
          </a:p>
        </p:txBody>
      </p:sp>
      <p:sp>
        <p:nvSpPr>
          <p:cNvPr id="19" name="Shape 17"/>
          <p:cNvSpPr/>
          <p:nvPr/>
        </p:nvSpPr>
        <p:spPr>
          <a:xfrm>
            <a:off x="9601200" y="4416552"/>
            <a:ext cx="1554480" cy="438912"/>
          </a:xfrm>
          <a:prstGeom prst="roundRect">
            <a:avLst>
              <a:gd name="adj" fmla="val 37500"/>
            </a:avLst>
          </a:prstGeom>
          <a:solidFill>
            <a:srgbClr val="E8A33D"/>
          </a:solidFill>
          <a:ln/>
        </p:spPr>
        <p:txBody>
          <a:bodyPr/>
          <a:lstStyle/>
          <a:p>
            <a:endParaRPr lang="en-US"/>
          </a:p>
        </p:txBody>
      </p:sp>
      <p:sp>
        <p:nvSpPr>
          <p:cNvPr id="20" name="Text 18"/>
          <p:cNvSpPr/>
          <p:nvPr/>
        </p:nvSpPr>
        <p:spPr>
          <a:xfrm>
            <a:off x="9601200" y="4416552"/>
            <a:ext cx="15544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Risky</a:t>
            </a:r>
            <a:endParaRPr lang="en-US" sz="1150" dirty="0"/>
          </a:p>
        </p:txBody>
      </p:sp>
      <p:sp>
        <p:nvSpPr>
          <p:cNvPr id="21" name="Shape 19"/>
          <p:cNvSpPr/>
          <p:nvPr/>
        </p:nvSpPr>
        <p:spPr>
          <a:xfrm>
            <a:off x="777240" y="5120640"/>
            <a:ext cx="10607040" cy="758952"/>
          </a:xfrm>
          <a:prstGeom prst="roundRect">
            <a:avLst>
              <a:gd name="adj" fmla="val 6024"/>
            </a:avLst>
          </a:prstGeom>
          <a:solidFill>
            <a:srgbClr val="EAF5EF"/>
          </a:solidFill>
          <a:ln w="17780">
            <a:solidFill>
              <a:srgbClr val="2E7D5B"/>
            </a:solidFill>
            <a:prstDash val="solid"/>
          </a:ln>
        </p:spPr>
        <p:txBody>
          <a:bodyPr/>
          <a:lstStyle/>
          <a:p>
            <a:endParaRPr lang="en-US"/>
          </a:p>
        </p:txBody>
      </p:sp>
      <p:sp>
        <p:nvSpPr>
          <p:cNvPr id="22" name="Text 20"/>
          <p:cNvSpPr/>
          <p:nvPr/>
        </p:nvSpPr>
        <p:spPr>
          <a:xfrm>
            <a:off x="1051560" y="5120640"/>
            <a:ext cx="2468880" cy="758952"/>
          </a:xfrm>
          <a:prstGeom prst="rect">
            <a:avLst/>
          </a:prstGeom>
          <a:noFill/>
          <a:ln/>
        </p:spPr>
        <p:txBody>
          <a:bodyPr wrap="square" lIns="0" tIns="0" rIns="0" bIns="0" rtlCol="0" anchor="ctr"/>
          <a:lstStyle/>
          <a:p>
            <a:pPr marL="0" indent="0">
              <a:buNone/>
            </a:pPr>
            <a:r>
              <a:rPr lang="en-US" sz="1350" b="1" dirty="0">
                <a:solidFill>
                  <a:srgbClr val="13293D"/>
                </a:solidFill>
                <a:latin typeface="Consolas" pitchFamily="34" charset="0"/>
                <a:ea typeface="Consolas" pitchFamily="34" charset="-122"/>
                <a:cs typeface="Consolas" pitchFamily="34" charset="-120"/>
              </a:rPr>
              <a:t>user_id (hashed)</a:t>
            </a:r>
            <a:endParaRPr lang="en-US" sz="1350" dirty="0"/>
          </a:p>
        </p:txBody>
      </p:sp>
      <p:sp>
        <p:nvSpPr>
          <p:cNvPr id="23" name="Text 21"/>
          <p:cNvSpPr/>
          <p:nvPr/>
        </p:nvSpPr>
        <p:spPr>
          <a:xfrm>
            <a:off x="3611880" y="5120640"/>
            <a:ext cx="5852160" cy="758952"/>
          </a:xfrm>
          <a:prstGeom prst="rect">
            <a:avLst/>
          </a:prstGeom>
          <a:noFill/>
          <a:ln/>
        </p:spPr>
        <p:txBody>
          <a:bodyPr wrap="square" lIns="0" tIns="0" rIns="0" bIns="0" rtlCol="0" anchor="ctr"/>
          <a:lstStyle/>
          <a:p>
            <a:pPr marL="0" indent="0">
              <a:buNone/>
            </a:pPr>
            <a:r>
              <a:rPr lang="en-US" sz="1250" dirty="0">
                <a:solidFill>
                  <a:srgbClr val="1B2A33"/>
                </a:solidFill>
                <a:latin typeface="Calibri" pitchFamily="34" charset="0"/>
                <a:ea typeface="Calibri" pitchFamily="34" charset="-122"/>
                <a:cs typeface="Calibri" pitchFamily="34" charset="-120"/>
              </a:rPr>
              <a:t>Users spread evenly, and a user’s orders sit together on one shard.</a:t>
            </a:r>
            <a:endParaRPr lang="en-US" sz="1250" dirty="0"/>
          </a:p>
        </p:txBody>
      </p:sp>
      <p:sp>
        <p:nvSpPr>
          <p:cNvPr id="24" name="Shape 22"/>
          <p:cNvSpPr/>
          <p:nvPr/>
        </p:nvSpPr>
        <p:spPr>
          <a:xfrm>
            <a:off x="9601200" y="5285232"/>
            <a:ext cx="1554480" cy="438912"/>
          </a:xfrm>
          <a:prstGeom prst="roundRect">
            <a:avLst>
              <a:gd name="adj" fmla="val 37500"/>
            </a:avLst>
          </a:prstGeom>
          <a:solidFill>
            <a:srgbClr val="2E7D5B"/>
          </a:solidFill>
          <a:ln/>
        </p:spPr>
        <p:txBody>
          <a:bodyPr/>
          <a:lstStyle/>
          <a:p>
            <a:endParaRPr lang="en-US"/>
          </a:p>
        </p:txBody>
      </p:sp>
      <p:sp>
        <p:nvSpPr>
          <p:cNvPr id="25" name="Text 23"/>
          <p:cNvSpPr/>
          <p:nvPr/>
        </p:nvSpPr>
        <p:spPr>
          <a:xfrm>
            <a:off x="9601200" y="5285232"/>
            <a:ext cx="1554480" cy="438912"/>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Good choice</a:t>
            </a:r>
            <a:endParaRPr lang="en-US" sz="1150" dirty="0"/>
          </a:p>
        </p:txBody>
      </p:sp>
      <p:sp>
        <p:nvSpPr>
          <p:cNvPr id="26" name="Text 24"/>
          <p:cNvSpPr/>
          <p:nvPr/>
        </p:nvSpPr>
        <p:spPr>
          <a:xfrm>
            <a:off x="777240" y="6035040"/>
            <a:ext cx="10607040" cy="411480"/>
          </a:xfrm>
          <a:prstGeom prst="rect">
            <a:avLst/>
          </a:prstGeom>
          <a:noFill/>
          <a:ln/>
        </p:spPr>
        <p:txBody>
          <a:bodyPr wrap="square" lIns="0" tIns="0" rIns="0" bIns="0" rtlCol="0" anchor="ctr"/>
          <a:lstStyle/>
          <a:p>
            <a:pPr marL="0" indent="0">
              <a:buNone/>
            </a:pPr>
            <a:r>
              <a:rPr lang="en-US" sz="1450" b="1" dirty="0">
                <a:solidFill>
                  <a:srgbClr val="065A82"/>
                </a:solidFill>
                <a:latin typeface="Calibri" pitchFamily="34" charset="0"/>
                <a:ea typeface="Calibri" pitchFamily="34" charset="-122"/>
                <a:cs typeface="Calibri" pitchFamily="34" charset="-120"/>
              </a:rPr>
              <a:t>Three properties of a good shard key: high variety, even distribution, and present in most of your queries.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The Hot Shard</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What "choosing badly" actually looks like</a:t>
            </a:r>
            <a:endParaRPr lang="en-US" sz="1500" dirty="0"/>
          </a:p>
        </p:txBody>
      </p:sp>
      <p:sp>
        <p:nvSpPr>
          <p:cNvPr id="4" name="Text 2"/>
          <p:cNvSpPr/>
          <p:nvPr/>
        </p:nvSpPr>
        <p:spPr>
          <a:xfrm>
            <a:off x="777240" y="1463040"/>
            <a:ext cx="5120640" cy="320040"/>
          </a:xfrm>
          <a:prstGeom prst="rect">
            <a:avLst/>
          </a:prstGeom>
          <a:noFill/>
          <a:ln/>
        </p:spPr>
        <p:txBody>
          <a:bodyPr wrap="square" lIns="0" tIns="0" rIns="0" bIns="0" rtlCol="0" anchor="ctr"/>
          <a:lstStyle/>
          <a:p>
            <a:pPr marL="0" indent="0">
              <a:buNone/>
            </a:pPr>
            <a:r>
              <a:rPr lang="en-US" sz="1450" b="1" dirty="0">
                <a:solidFill>
                  <a:srgbClr val="A03A3A"/>
                </a:solidFill>
                <a:latin typeface="Calibri" pitchFamily="34" charset="0"/>
                <a:ea typeface="Calibri" pitchFamily="34" charset="-122"/>
                <a:cs typeface="Calibri" pitchFamily="34" charset="-120"/>
              </a:rPr>
              <a:t>Sharded by timestamp</a:t>
            </a:r>
            <a:endParaRPr lang="en-US" sz="1450" dirty="0"/>
          </a:p>
        </p:txBody>
      </p:sp>
      <p:sp>
        <p:nvSpPr>
          <p:cNvPr id="5" name="Shape 3"/>
          <p:cNvSpPr/>
          <p:nvPr/>
        </p:nvSpPr>
        <p:spPr>
          <a:xfrm>
            <a:off x="777240" y="1874520"/>
            <a:ext cx="1143000" cy="1828800"/>
          </a:xfrm>
          <a:prstGeom prst="roundRect">
            <a:avLst>
              <a:gd name="adj" fmla="val 4800"/>
            </a:avLst>
          </a:prstGeom>
          <a:solidFill>
            <a:srgbClr val="E8EEF1"/>
          </a:solidFill>
          <a:ln w="15240">
            <a:solidFill>
              <a:srgbClr val="CFDBE1"/>
            </a:solidFill>
            <a:prstDash val="solid"/>
          </a:ln>
        </p:spPr>
        <p:txBody>
          <a:bodyPr/>
          <a:lstStyle/>
          <a:p>
            <a:endParaRPr lang="en-US"/>
          </a:p>
        </p:txBody>
      </p:sp>
      <p:sp>
        <p:nvSpPr>
          <p:cNvPr id="6" name="Text 4"/>
          <p:cNvSpPr/>
          <p:nvPr/>
        </p:nvSpPr>
        <p:spPr>
          <a:xfrm>
            <a:off x="777240" y="2011680"/>
            <a:ext cx="1143000" cy="274320"/>
          </a:xfrm>
          <a:prstGeom prst="rect">
            <a:avLst/>
          </a:prstGeom>
          <a:noFill/>
          <a:ln/>
        </p:spPr>
        <p:txBody>
          <a:bodyPr wrap="square" lIns="0" tIns="0" rIns="0" bIns="0" rtlCol="0" anchor="ctr"/>
          <a:lstStyle/>
          <a:p>
            <a:pPr marL="0" indent="0" algn="ctr">
              <a:buNone/>
            </a:pPr>
            <a:r>
              <a:rPr lang="en-US" sz="1200" b="1" dirty="0">
                <a:solidFill>
                  <a:srgbClr val="5A6B76"/>
                </a:solidFill>
                <a:latin typeface="Calibri" pitchFamily="34" charset="0"/>
                <a:ea typeface="Calibri" pitchFamily="34" charset="-122"/>
                <a:cs typeface="Calibri" pitchFamily="34" charset="-120"/>
              </a:rPr>
              <a:t>S1</a:t>
            </a:r>
            <a:endParaRPr lang="en-US" sz="1200" dirty="0"/>
          </a:p>
        </p:txBody>
      </p:sp>
      <p:sp>
        <p:nvSpPr>
          <p:cNvPr id="7" name="Text 5"/>
          <p:cNvSpPr/>
          <p:nvPr/>
        </p:nvSpPr>
        <p:spPr>
          <a:xfrm>
            <a:off x="777240" y="2651760"/>
            <a:ext cx="1143000" cy="731520"/>
          </a:xfrm>
          <a:prstGeom prst="rect">
            <a:avLst/>
          </a:prstGeom>
          <a:noFill/>
          <a:ln/>
        </p:spPr>
        <p:txBody>
          <a:bodyPr wrap="square" lIns="0" tIns="0" rIns="0" bIns="0" rtlCol="0" anchor="ctr"/>
          <a:lstStyle/>
          <a:p>
            <a:pPr marL="0" indent="0" algn="ctr">
              <a:lnSpc>
                <a:spcPts val="1500"/>
              </a:lnSpc>
              <a:buNone/>
            </a:pPr>
            <a:r>
              <a:rPr lang="en-US" sz="1200" dirty="0">
                <a:solidFill>
                  <a:srgbClr val="C2CDD4"/>
                </a:solidFill>
                <a:latin typeface="Calibri" pitchFamily="34" charset="0"/>
                <a:ea typeface="Calibri" pitchFamily="34" charset="-122"/>
                <a:cs typeface="Calibri" pitchFamily="34" charset="-120"/>
              </a:rPr>
              <a:t>idle</a:t>
            </a:r>
            <a:endParaRPr lang="en-US" sz="1200" dirty="0"/>
          </a:p>
        </p:txBody>
      </p:sp>
      <p:sp>
        <p:nvSpPr>
          <p:cNvPr id="8" name="Shape 6"/>
          <p:cNvSpPr/>
          <p:nvPr/>
        </p:nvSpPr>
        <p:spPr>
          <a:xfrm>
            <a:off x="2103120" y="1874520"/>
            <a:ext cx="1143000" cy="1828800"/>
          </a:xfrm>
          <a:prstGeom prst="roundRect">
            <a:avLst>
              <a:gd name="adj" fmla="val 4800"/>
            </a:avLst>
          </a:prstGeom>
          <a:solidFill>
            <a:srgbClr val="E8EEF1"/>
          </a:solidFill>
          <a:ln w="15240">
            <a:solidFill>
              <a:srgbClr val="CFDBE1"/>
            </a:solidFill>
            <a:prstDash val="solid"/>
          </a:ln>
        </p:spPr>
        <p:txBody>
          <a:bodyPr/>
          <a:lstStyle/>
          <a:p>
            <a:endParaRPr lang="en-US"/>
          </a:p>
        </p:txBody>
      </p:sp>
      <p:sp>
        <p:nvSpPr>
          <p:cNvPr id="9" name="Text 7"/>
          <p:cNvSpPr/>
          <p:nvPr/>
        </p:nvSpPr>
        <p:spPr>
          <a:xfrm>
            <a:off x="2103120" y="2011680"/>
            <a:ext cx="1143000" cy="274320"/>
          </a:xfrm>
          <a:prstGeom prst="rect">
            <a:avLst/>
          </a:prstGeom>
          <a:noFill/>
          <a:ln/>
        </p:spPr>
        <p:txBody>
          <a:bodyPr wrap="square" lIns="0" tIns="0" rIns="0" bIns="0" rtlCol="0" anchor="ctr"/>
          <a:lstStyle/>
          <a:p>
            <a:pPr marL="0" indent="0" algn="ctr">
              <a:buNone/>
            </a:pPr>
            <a:r>
              <a:rPr lang="en-US" sz="1200" b="1" dirty="0">
                <a:solidFill>
                  <a:srgbClr val="5A6B76"/>
                </a:solidFill>
                <a:latin typeface="Calibri" pitchFamily="34" charset="0"/>
                <a:ea typeface="Calibri" pitchFamily="34" charset="-122"/>
                <a:cs typeface="Calibri" pitchFamily="34" charset="-120"/>
              </a:rPr>
              <a:t>S2</a:t>
            </a:r>
            <a:endParaRPr lang="en-US" sz="1200" dirty="0"/>
          </a:p>
        </p:txBody>
      </p:sp>
      <p:sp>
        <p:nvSpPr>
          <p:cNvPr id="10" name="Text 8"/>
          <p:cNvSpPr/>
          <p:nvPr/>
        </p:nvSpPr>
        <p:spPr>
          <a:xfrm>
            <a:off x="2103120" y="2651760"/>
            <a:ext cx="1143000" cy="731520"/>
          </a:xfrm>
          <a:prstGeom prst="rect">
            <a:avLst/>
          </a:prstGeom>
          <a:noFill/>
          <a:ln/>
        </p:spPr>
        <p:txBody>
          <a:bodyPr wrap="square" lIns="0" tIns="0" rIns="0" bIns="0" rtlCol="0" anchor="ctr"/>
          <a:lstStyle/>
          <a:p>
            <a:pPr marL="0" indent="0" algn="ctr">
              <a:lnSpc>
                <a:spcPts val="1500"/>
              </a:lnSpc>
              <a:buNone/>
            </a:pPr>
            <a:r>
              <a:rPr lang="en-US" sz="1200" dirty="0">
                <a:solidFill>
                  <a:srgbClr val="C2CDD4"/>
                </a:solidFill>
                <a:latin typeface="Calibri" pitchFamily="34" charset="0"/>
                <a:ea typeface="Calibri" pitchFamily="34" charset="-122"/>
                <a:cs typeface="Calibri" pitchFamily="34" charset="-120"/>
              </a:rPr>
              <a:t>idle</a:t>
            </a:r>
            <a:endParaRPr lang="en-US" sz="1200" dirty="0"/>
          </a:p>
        </p:txBody>
      </p:sp>
      <p:sp>
        <p:nvSpPr>
          <p:cNvPr id="11" name="Shape 9"/>
          <p:cNvSpPr/>
          <p:nvPr/>
        </p:nvSpPr>
        <p:spPr>
          <a:xfrm>
            <a:off x="3429000" y="1874520"/>
            <a:ext cx="1143000" cy="1828800"/>
          </a:xfrm>
          <a:prstGeom prst="roundRect">
            <a:avLst>
              <a:gd name="adj" fmla="val 4800"/>
            </a:avLst>
          </a:prstGeom>
          <a:solidFill>
            <a:srgbClr val="E8EEF1"/>
          </a:solidFill>
          <a:ln w="15240">
            <a:solidFill>
              <a:srgbClr val="CFDBE1"/>
            </a:solidFill>
            <a:prstDash val="solid"/>
          </a:ln>
        </p:spPr>
        <p:txBody>
          <a:bodyPr/>
          <a:lstStyle/>
          <a:p>
            <a:endParaRPr lang="en-US"/>
          </a:p>
        </p:txBody>
      </p:sp>
      <p:sp>
        <p:nvSpPr>
          <p:cNvPr id="12" name="Text 10"/>
          <p:cNvSpPr/>
          <p:nvPr/>
        </p:nvSpPr>
        <p:spPr>
          <a:xfrm>
            <a:off x="3429000" y="2011680"/>
            <a:ext cx="1143000" cy="274320"/>
          </a:xfrm>
          <a:prstGeom prst="rect">
            <a:avLst/>
          </a:prstGeom>
          <a:noFill/>
          <a:ln/>
        </p:spPr>
        <p:txBody>
          <a:bodyPr wrap="square" lIns="0" tIns="0" rIns="0" bIns="0" rtlCol="0" anchor="ctr"/>
          <a:lstStyle/>
          <a:p>
            <a:pPr marL="0" indent="0" algn="ctr">
              <a:buNone/>
            </a:pPr>
            <a:r>
              <a:rPr lang="en-US" sz="1200" b="1" dirty="0">
                <a:solidFill>
                  <a:srgbClr val="5A6B76"/>
                </a:solidFill>
                <a:latin typeface="Calibri" pitchFamily="34" charset="0"/>
                <a:ea typeface="Calibri" pitchFamily="34" charset="-122"/>
                <a:cs typeface="Calibri" pitchFamily="34" charset="-120"/>
              </a:rPr>
              <a:t>S3</a:t>
            </a:r>
            <a:endParaRPr lang="en-US" sz="1200" dirty="0"/>
          </a:p>
        </p:txBody>
      </p:sp>
      <p:sp>
        <p:nvSpPr>
          <p:cNvPr id="13" name="Text 11"/>
          <p:cNvSpPr/>
          <p:nvPr/>
        </p:nvSpPr>
        <p:spPr>
          <a:xfrm>
            <a:off x="3429000" y="2651760"/>
            <a:ext cx="1143000" cy="731520"/>
          </a:xfrm>
          <a:prstGeom prst="rect">
            <a:avLst/>
          </a:prstGeom>
          <a:noFill/>
          <a:ln/>
        </p:spPr>
        <p:txBody>
          <a:bodyPr wrap="square" lIns="0" tIns="0" rIns="0" bIns="0" rtlCol="0" anchor="ctr"/>
          <a:lstStyle/>
          <a:p>
            <a:pPr marL="0" indent="0" algn="ctr">
              <a:lnSpc>
                <a:spcPts val="1500"/>
              </a:lnSpc>
              <a:buNone/>
            </a:pPr>
            <a:r>
              <a:rPr lang="en-US" sz="1200" dirty="0">
                <a:solidFill>
                  <a:srgbClr val="C2CDD4"/>
                </a:solidFill>
                <a:latin typeface="Calibri" pitchFamily="34" charset="0"/>
                <a:ea typeface="Calibri" pitchFamily="34" charset="-122"/>
                <a:cs typeface="Calibri" pitchFamily="34" charset="-120"/>
              </a:rPr>
              <a:t>idle</a:t>
            </a:r>
            <a:endParaRPr lang="en-US" sz="1200" dirty="0"/>
          </a:p>
        </p:txBody>
      </p:sp>
      <p:sp>
        <p:nvSpPr>
          <p:cNvPr id="14" name="Shape 12"/>
          <p:cNvSpPr/>
          <p:nvPr/>
        </p:nvSpPr>
        <p:spPr>
          <a:xfrm>
            <a:off x="4754880" y="1874520"/>
            <a:ext cx="1143000" cy="1828800"/>
          </a:xfrm>
          <a:prstGeom prst="roundRect">
            <a:avLst>
              <a:gd name="adj" fmla="val 4800"/>
            </a:avLst>
          </a:prstGeom>
          <a:solidFill>
            <a:srgbClr val="A03A3A"/>
          </a:solidFill>
          <a:ln w="15240">
            <a:solidFill>
              <a:srgbClr val="A03A3A"/>
            </a:solidFill>
            <a:prstDash val="solid"/>
          </a:ln>
        </p:spPr>
        <p:txBody>
          <a:bodyPr/>
          <a:lstStyle/>
          <a:p>
            <a:endParaRPr lang="en-US"/>
          </a:p>
        </p:txBody>
      </p:sp>
      <p:sp>
        <p:nvSpPr>
          <p:cNvPr id="15" name="Text 13"/>
          <p:cNvSpPr/>
          <p:nvPr/>
        </p:nvSpPr>
        <p:spPr>
          <a:xfrm>
            <a:off x="4754880" y="2011680"/>
            <a:ext cx="1143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S4</a:t>
            </a:r>
            <a:endParaRPr lang="en-US" sz="1200" dirty="0"/>
          </a:p>
        </p:txBody>
      </p:sp>
      <p:sp>
        <p:nvSpPr>
          <p:cNvPr id="16" name="Text 14"/>
          <p:cNvSpPr/>
          <p:nvPr/>
        </p:nvSpPr>
        <p:spPr>
          <a:xfrm>
            <a:off x="4754880" y="2651760"/>
            <a:ext cx="1143000" cy="731520"/>
          </a:xfrm>
          <a:prstGeom prst="rect">
            <a:avLst/>
          </a:prstGeom>
          <a:noFill/>
          <a:ln/>
        </p:spPr>
        <p:txBody>
          <a:bodyPr wrap="square" lIns="0" tIns="0" rIns="0" bIns="0" rtlCol="0" anchor="ctr"/>
          <a:lstStyle/>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100%</a:t>
            </a:r>
            <a:endParaRPr lang="en-US" sz="1150" dirty="0"/>
          </a:p>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of writes</a:t>
            </a:r>
            <a:endParaRPr lang="en-US" sz="1150" dirty="0"/>
          </a:p>
        </p:txBody>
      </p:sp>
      <p:sp>
        <p:nvSpPr>
          <p:cNvPr id="17" name="Text 15"/>
          <p:cNvSpPr/>
          <p:nvPr/>
        </p:nvSpPr>
        <p:spPr>
          <a:xfrm>
            <a:off x="6263640" y="1463040"/>
            <a:ext cx="5120640" cy="320040"/>
          </a:xfrm>
          <a:prstGeom prst="rect">
            <a:avLst/>
          </a:prstGeom>
          <a:noFill/>
          <a:ln/>
        </p:spPr>
        <p:txBody>
          <a:bodyPr wrap="square" lIns="0" tIns="0" rIns="0" bIns="0" rtlCol="0" anchor="ctr"/>
          <a:lstStyle/>
          <a:p>
            <a:pPr marL="0" indent="0">
              <a:buNone/>
            </a:pPr>
            <a:r>
              <a:rPr lang="en-US" sz="1450" b="1" dirty="0">
                <a:solidFill>
                  <a:srgbClr val="2E7D5B"/>
                </a:solidFill>
                <a:latin typeface="Calibri" pitchFamily="34" charset="0"/>
                <a:ea typeface="Calibri" pitchFamily="34" charset="-122"/>
                <a:cs typeface="Calibri" pitchFamily="34" charset="-120"/>
              </a:rPr>
              <a:t>Sharded by hashed user ID</a:t>
            </a:r>
            <a:endParaRPr lang="en-US" sz="1450" dirty="0"/>
          </a:p>
        </p:txBody>
      </p:sp>
      <p:sp>
        <p:nvSpPr>
          <p:cNvPr id="18" name="Shape 16"/>
          <p:cNvSpPr/>
          <p:nvPr/>
        </p:nvSpPr>
        <p:spPr>
          <a:xfrm>
            <a:off x="6263640" y="1874520"/>
            <a:ext cx="1143000" cy="1828800"/>
          </a:xfrm>
          <a:prstGeom prst="roundRect">
            <a:avLst>
              <a:gd name="adj" fmla="val 4800"/>
            </a:avLst>
          </a:prstGeom>
          <a:solidFill>
            <a:srgbClr val="2E7D5B"/>
          </a:solidFill>
          <a:ln/>
        </p:spPr>
        <p:txBody>
          <a:bodyPr/>
          <a:lstStyle/>
          <a:p>
            <a:endParaRPr lang="en-US"/>
          </a:p>
        </p:txBody>
      </p:sp>
      <p:sp>
        <p:nvSpPr>
          <p:cNvPr id="19" name="Text 17"/>
          <p:cNvSpPr/>
          <p:nvPr/>
        </p:nvSpPr>
        <p:spPr>
          <a:xfrm>
            <a:off x="6263640" y="2011680"/>
            <a:ext cx="1143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S1</a:t>
            </a:r>
            <a:endParaRPr lang="en-US" sz="1200" dirty="0"/>
          </a:p>
        </p:txBody>
      </p:sp>
      <p:sp>
        <p:nvSpPr>
          <p:cNvPr id="20" name="Text 18"/>
          <p:cNvSpPr/>
          <p:nvPr/>
        </p:nvSpPr>
        <p:spPr>
          <a:xfrm>
            <a:off x="6263640" y="2651760"/>
            <a:ext cx="1143000" cy="731520"/>
          </a:xfrm>
          <a:prstGeom prst="rect">
            <a:avLst/>
          </a:prstGeom>
          <a:noFill/>
          <a:ln/>
        </p:spPr>
        <p:txBody>
          <a:bodyPr wrap="square" lIns="0" tIns="0" rIns="0" bIns="0" rtlCol="0" anchor="ctr"/>
          <a:lstStyle/>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26%</a:t>
            </a:r>
            <a:endParaRPr lang="en-US" sz="1150" dirty="0"/>
          </a:p>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of writes</a:t>
            </a:r>
            <a:endParaRPr lang="en-US" sz="1150" dirty="0"/>
          </a:p>
        </p:txBody>
      </p:sp>
      <p:sp>
        <p:nvSpPr>
          <p:cNvPr id="21" name="Shape 19"/>
          <p:cNvSpPr/>
          <p:nvPr/>
        </p:nvSpPr>
        <p:spPr>
          <a:xfrm>
            <a:off x="7589520" y="1874520"/>
            <a:ext cx="1143000" cy="1828800"/>
          </a:xfrm>
          <a:prstGeom prst="roundRect">
            <a:avLst>
              <a:gd name="adj" fmla="val 4800"/>
            </a:avLst>
          </a:prstGeom>
          <a:solidFill>
            <a:srgbClr val="2E7D5B"/>
          </a:solidFill>
          <a:ln/>
        </p:spPr>
        <p:txBody>
          <a:bodyPr/>
          <a:lstStyle/>
          <a:p>
            <a:endParaRPr lang="en-US"/>
          </a:p>
        </p:txBody>
      </p:sp>
      <p:sp>
        <p:nvSpPr>
          <p:cNvPr id="22" name="Text 20"/>
          <p:cNvSpPr/>
          <p:nvPr/>
        </p:nvSpPr>
        <p:spPr>
          <a:xfrm>
            <a:off x="7589520" y="2011680"/>
            <a:ext cx="1143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S2</a:t>
            </a:r>
            <a:endParaRPr lang="en-US" sz="1200" dirty="0"/>
          </a:p>
        </p:txBody>
      </p:sp>
      <p:sp>
        <p:nvSpPr>
          <p:cNvPr id="23" name="Text 21"/>
          <p:cNvSpPr/>
          <p:nvPr/>
        </p:nvSpPr>
        <p:spPr>
          <a:xfrm>
            <a:off x="7589520" y="2651760"/>
            <a:ext cx="1143000" cy="731520"/>
          </a:xfrm>
          <a:prstGeom prst="rect">
            <a:avLst/>
          </a:prstGeom>
          <a:noFill/>
          <a:ln/>
        </p:spPr>
        <p:txBody>
          <a:bodyPr wrap="square" lIns="0" tIns="0" rIns="0" bIns="0" rtlCol="0" anchor="ctr"/>
          <a:lstStyle/>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24%</a:t>
            </a:r>
            <a:endParaRPr lang="en-US" sz="1150" dirty="0"/>
          </a:p>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of writes</a:t>
            </a:r>
            <a:endParaRPr lang="en-US" sz="1150" dirty="0"/>
          </a:p>
        </p:txBody>
      </p:sp>
      <p:sp>
        <p:nvSpPr>
          <p:cNvPr id="24" name="Shape 22"/>
          <p:cNvSpPr/>
          <p:nvPr/>
        </p:nvSpPr>
        <p:spPr>
          <a:xfrm>
            <a:off x="8915400" y="1874520"/>
            <a:ext cx="1143000" cy="1828800"/>
          </a:xfrm>
          <a:prstGeom prst="roundRect">
            <a:avLst>
              <a:gd name="adj" fmla="val 4800"/>
            </a:avLst>
          </a:prstGeom>
          <a:solidFill>
            <a:srgbClr val="2E7D5B"/>
          </a:solidFill>
          <a:ln/>
        </p:spPr>
        <p:txBody>
          <a:bodyPr/>
          <a:lstStyle/>
          <a:p>
            <a:endParaRPr lang="en-US"/>
          </a:p>
        </p:txBody>
      </p:sp>
      <p:sp>
        <p:nvSpPr>
          <p:cNvPr id="25" name="Text 23"/>
          <p:cNvSpPr/>
          <p:nvPr/>
        </p:nvSpPr>
        <p:spPr>
          <a:xfrm>
            <a:off x="8915400" y="2011680"/>
            <a:ext cx="1143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S3</a:t>
            </a:r>
            <a:endParaRPr lang="en-US" sz="1200" dirty="0"/>
          </a:p>
        </p:txBody>
      </p:sp>
      <p:sp>
        <p:nvSpPr>
          <p:cNvPr id="26" name="Text 24"/>
          <p:cNvSpPr/>
          <p:nvPr/>
        </p:nvSpPr>
        <p:spPr>
          <a:xfrm>
            <a:off x="8915400" y="2651760"/>
            <a:ext cx="1143000" cy="731520"/>
          </a:xfrm>
          <a:prstGeom prst="rect">
            <a:avLst/>
          </a:prstGeom>
          <a:noFill/>
          <a:ln/>
        </p:spPr>
        <p:txBody>
          <a:bodyPr wrap="square" lIns="0" tIns="0" rIns="0" bIns="0" rtlCol="0" anchor="ctr"/>
          <a:lstStyle/>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25%</a:t>
            </a:r>
            <a:endParaRPr lang="en-US" sz="1150" dirty="0"/>
          </a:p>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of writes</a:t>
            </a:r>
            <a:endParaRPr lang="en-US" sz="1150" dirty="0"/>
          </a:p>
        </p:txBody>
      </p:sp>
      <p:sp>
        <p:nvSpPr>
          <p:cNvPr id="27" name="Shape 25"/>
          <p:cNvSpPr/>
          <p:nvPr/>
        </p:nvSpPr>
        <p:spPr>
          <a:xfrm>
            <a:off x="10241280" y="1874520"/>
            <a:ext cx="1143000" cy="1828800"/>
          </a:xfrm>
          <a:prstGeom prst="roundRect">
            <a:avLst>
              <a:gd name="adj" fmla="val 4800"/>
            </a:avLst>
          </a:prstGeom>
          <a:solidFill>
            <a:srgbClr val="2E7D5B"/>
          </a:solidFill>
          <a:ln/>
        </p:spPr>
        <p:txBody>
          <a:bodyPr/>
          <a:lstStyle/>
          <a:p>
            <a:endParaRPr lang="en-US"/>
          </a:p>
        </p:txBody>
      </p:sp>
      <p:sp>
        <p:nvSpPr>
          <p:cNvPr id="28" name="Text 26"/>
          <p:cNvSpPr/>
          <p:nvPr/>
        </p:nvSpPr>
        <p:spPr>
          <a:xfrm>
            <a:off x="10241280" y="2011680"/>
            <a:ext cx="1143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S4</a:t>
            </a:r>
            <a:endParaRPr lang="en-US" sz="1200" dirty="0"/>
          </a:p>
        </p:txBody>
      </p:sp>
      <p:sp>
        <p:nvSpPr>
          <p:cNvPr id="29" name="Text 27"/>
          <p:cNvSpPr/>
          <p:nvPr/>
        </p:nvSpPr>
        <p:spPr>
          <a:xfrm>
            <a:off x="10241280" y="2651760"/>
            <a:ext cx="1143000" cy="731520"/>
          </a:xfrm>
          <a:prstGeom prst="rect">
            <a:avLst/>
          </a:prstGeom>
          <a:noFill/>
          <a:ln/>
        </p:spPr>
        <p:txBody>
          <a:bodyPr wrap="square" lIns="0" tIns="0" rIns="0" bIns="0" rtlCol="0" anchor="ctr"/>
          <a:lstStyle/>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25%</a:t>
            </a:r>
            <a:endParaRPr lang="en-US" sz="1150" dirty="0"/>
          </a:p>
          <a:p>
            <a:pPr marL="0" indent="0" algn="ctr">
              <a:lnSpc>
                <a:spcPts val="1500"/>
              </a:lnSpc>
              <a:buNone/>
            </a:pPr>
            <a:r>
              <a:rPr lang="en-US" sz="1150" b="1" dirty="0">
                <a:solidFill>
                  <a:srgbClr val="FFFFFF"/>
                </a:solidFill>
                <a:latin typeface="Calibri" pitchFamily="34" charset="0"/>
                <a:ea typeface="Calibri" pitchFamily="34" charset="-122"/>
                <a:cs typeface="Calibri" pitchFamily="34" charset="-120"/>
              </a:rPr>
              <a:t>of writes</a:t>
            </a:r>
            <a:endParaRPr lang="en-US" sz="1150" dirty="0"/>
          </a:p>
        </p:txBody>
      </p:sp>
      <p:sp>
        <p:nvSpPr>
          <p:cNvPr id="30" name="Shape 28"/>
          <p:cNvSpPr/>
          <p:nvPr/>
        </p:nvSpPr>
        <p:spPr>
          <a:xfrm>
            <a:off x="777240" y="4069080"/>
            <a:ext cx="10607040" cy="1051560"/>
          </a:xfrm>
          <a:prstGeom prst="roundRect">
            <a:avLst>
              <a:gd name="adj" fmla="val 5217"/>
            </a:avLst>
          </a:prstGeom>
          <a:solidFill>
            <a:srgbClr val="FDF3E3"/>
          </a:solidFill>
          <a:ln w="17780">
            <a:solidFill>
              <a:srgbClr val="E8A33D"/>
            </a:solidFill>
            <a:prstDash val="solid"/>
          </a:ln>
        </p:spPr>
        <p:txBody>
          <a:bodyPr/>
          <a:lstStyle/>
          <a:p>
            <a:endParaRPr lang="en-US"/>
          </a:p>
        </p:txBody>
      </p:sp>
      <p:sp>
        <p:nvSpPr>
          <p:cNvPr id="31" name="Text 29"/>
          <p:cNvSpPr/>
          <p:nvPr/>
        </p:nvSpPr>
        <p:spPr>
          <a:xfrm>
            <a:off x="1097280" y="4069080"/>
            <a:ext cx="10058400" cy="1051560"/>
          </a:xfrm>
          <a:prstGeom prst="rect">
            <a:avLst/>
          </a:prstGeom>
          <a:noFill/>
          <a:ln/>
        </p:spPr>
        <p:txBody>
          <a:bodyPr wrap="square" lIns="0" tIns="0" rIns="0" bIns="0" rtlCol="0" anchor="ctr"/>
          <a:lstStyle/>
          <a:p>
            <a:pPr marL="0" indent="0">
              <a:lnSpc>
                <a:spcPts val="2000"/>
              </a:lnSpc>
              <a:buNone/>
            </a:pPr>
            <a:r>
              <a:rPr lang="en-US" sz="1400" dirty="0">
                <a:solidFill>
                  <a:srgbClr val="1B2A33"/>
                </a:solidFill>
                <a:latin typeface="Calibri" pitchFamily="34" charset="0"/>
                <a:ea typeface="Calibri" pitchFamily="34" charset="-122"/>
                <a:cs typeface="Calibri" pitchFamily="34" charset="-120"/>
              </a:rPr>
              <a:t>Why hashing helps: hashing scrambles the key before choosing a shard, so sequential IDs land on different machines. The cost is that range queries — "all orders from last Tuesday" — must now ask every shard.</a:t>
            </a:r>
            <a:endParaRPr lang="en-US" sz="1400" dirty="0"/>
          </a:p>
        </p:txBody>
      </p:sp>
      <p:sp>
        <p:nvSpPr>
          <p:cNvPr id="32" name="Text 30"/>
          <p:cNvSpPr/>
          <p:nvPr/>
        </p:nvSpPr>
        <p:spPr>
          <a:xfrm>
            <a:off x="777240" y="5303520"/>
            <a:ext cx="10607040" cy="457200"/>
          </a:xfrm>
          <a:prstGeom prst="rect">
            <a:avLst/>
          </a:prstGeom>
          <a:noFill/>
          <a:ln/>
        </p:spPr>
        <p:txBody>
          <a:bodyPr wrap="square" lIns="0" tIns="0" rIns="0" bIns="0" rtlCol="0" anchor="ctr"/>
          <a:lstStyle/>
          <a:p>
            <a:pPr marL="0" indent="0">
              <a:buNone/>
            </a:pPr>
            <a:r>
              <a:rPr lang="en-US" sz="1450" b="1" dirty="0">
                <a:solidFill>
                  <a:srgbClr val="065A82"/>
                </a:solidFill>
                <a:latin typeface="Calibri" pitchFamily="34" charset="0"/>
                <a:ea typeface="Calibri" pitchFamily="34" charset="-122"/>
                <a:cs typeface="Calibri" pitchFamily="34" charset="-120"/>
              </a:rPr>
              <a:t>Every sharding decision trades even distribution against convenient querying. There is no key that wins both.</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38328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38328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2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The split is done. Four shards, hashed by user ID. A support agent types an order ID into the admin panel to look it up.</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The order is on one of four machines.</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Which one — and who decides?</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The application asked for an order ID. The data was filed by user ID.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2 — Routing and Scatter-Gather</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Somebody has to know where everything lives</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If the query contains the shard key, a router hashes it and goes straight to one machine. If it does not, there is no choice but to ask every shard and combine the answers — a scatter-gather query.</a:t>
            </a:r>
            <a:endParaRPr lang="en-US" sz="1550" dirty="0"/>
          </a:p>
        </p:txBody>
      </p:sp>
      <p:sp>
        <p:nvSpPr>
          <p:cNvPr id="6" name="Shape 4"/>
          <p:cNvSpPr/>
          <p:nvPr/>
        </p:nvSpPr>
        <p:spPr>
          <a:xfrm>
            <a:off x="777240" y="3246120"/>
            <a:ext cx="1645920" cy="777240"/>
          </a:xfrm>
          <a:prstGeom prst="roundRect">
            <a:avLst>
              <a:gd name="adj" fmla="val 7059"/>
            </a:avLst>
          </a:prstGeom>
          <a:solidFill>
            <a:srgbClr val="065A82"/>
          </a:solidFill>
          <a:ln/>
        </p:spPr>
        <p:txBody>
          <a:bodyPr/>
          <a:lstStyle/>
          <a:p>
            <a:endParaRPr lang="en-US"/>
          </a:p>
        </p:txBody>
      </p:sp>
      <p:sp>
        <p:nvSpPr>
          <p:cNvPr id="7" name="Text 5"/>
          <p:cNvSpPr/>
          <p:nvPr/>
        </p:nvSpPr>
        <p:spPr>
          <a:xfrm>
            <a:off x="777240" y="3246120"/>
            <a:ext cx="164592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App</a:t>
            </a:r>
            <a:endParaRPr lang="en-US" sz="1350" dirty="0"/>
          </a:p>
        </p:txBody>
      </p:sp>
      <p:sp>
        <p:nvSpPr>
          <p:cNvPr id="8" name="Shape 6"/>
          <p:cNvSpPr/>
          <p:nvPr/>
        </p:nvSpPr>
        <p:spPr>
          <a:xfrm>
            <a:off x="2880360" y="3246120"/>
            <a:ext cx="1920240" cy="777240"/>
          </a:xfrm>
          <a:prstGeom prst="roundRect">
            <a:avLst>
              <a:gd name="adj" fmla="val 7059"/>
            </a:avLst>
          </a:prstGeom>
          <a:solidFill>
            <a:srgbClr val="6B4E71"/>
          </a:solidFill>
          <a:ln/>
        </p:spPr>
        <p:txBody>
          <a:bodyPr/>
          <a:lstStyle/>
          <a:p>
            <a:endParaRPr lang="en-US"/>
          </a:p>
        </p:txBody>
      </p:sp>
      <p:sp>
        <p:nvSpPr>
          <p:cNvPr id="9" name="Text 7"/>
          <p:cNvSpPr/>
          <p:nvPr/>
        </p:nvSpPr>
        <p:spPr>
          <a:xfrm>
            <a:off x="2880360" y="3355848"/>
            <a:ext cx="192024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Router</a:t>
            </a:r>
            <a:endParaRPr lang="en-US" sz="1350" dirty="0"/>
          </a:p>
        </p:txBody>
      </p:sp>
      <p:sp>
        <p:nvSpPr>
          <p:cNvPr id="10" name="Text 8"/>
          <p:cNvSpPr/>
          <p:nvPr/>
        </p:nvSpPr>
        <p:spPr>
          <a:xfrm>
            <a:off x="2880360" y="3657600"/>
            <a:ext cx="1920240" cy="292608"/>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mongos, Vitess</a:t>
            </a:r>
            <a:endParaRPr lang="en-US" sz="1000" dirty="0"/>
          </a:p>
        </p:txBody>
      </p:sp>
      <p:sp>
        <p:nvSpPr>
          <p:cNvPr id="11" name="Shape 9"/>
          <p:cNvSpPr/>
          <p:nvPr/>
        </p:nvSpPr>
        <p:spPr>
          <a:xfrm>
            <a:off x="5852160" y="2514600"/>
            <a:ext cx="1828800" cy="566928"/>
          </a:xfrm>
          <a:prstGeom prst="roundRect">
            <a:avLst>
              <a:gd name="adj" fmla="val 9677"/>
            </a:avLst>
          </a:prstGeom>
          <a:solidFill>
            <a:srgbClr val="E8EEF1"/>
          </a:solidFill>
          <a:ln w="15240">
            <a:solidFill>
              <a:srgbClr val="CFDBE1"/>
            </a:solidFill>
            <a:prstDash val="solid"/>
          </a:ln>
        </p:spPr>
        <p:txBody>
          <a:bodyPr/>
          <a:lstStyle/>
          <a:p>
            <a:endParaRPr lang="en-US"/>
          </a:p>
        </p:txBody>
      </p:sp>
      <p:sp>
        <p:nvSpPr>
          <p:cNvPr id="12" name="Text 10"/>
          <p:cNvSpPr/>
          <p:nvPr/>
        </p:nvSpPr>
        <p:spPr>
          <a:xfrm>
            <a:off x="5852160" y="2514600"/>
            <a:ext cx="1828800" cy="566928"/>
          </a:xfrm>
          <a:prstGeom prst="rect">
            <a:avLst/>
          </a:prstGeom>
          <a:noFill/>
          <a:ln/>
        </p:spPr>
        <p:txBody>
          <a:bodyPr wrap="square" rtlCol="0" anchor="ctr"/>
          <a:lstStyle/>
          <a:p>
            <a:pPr marL="0" indent="0" algn="ctr">
              <a:buNone/>
            </a:pPr>
            <a:r>
              <a:rPr lang="en-US" sz="1250" b="1" dirty="0">
                <a:solidFill>
                  <a:srgbClr val="5A6B76"/>
                </a:solidFill>
                <a:latin typeface="Calibri" pitchFamily="34" charset="0"/>
                <a:ea typeface="Calibri" pitchFamily="34" charset="-122"/>
                <a:cs typeface="Calibri" pitchFamily="34" charset="-120"/>
              </a:rPr>
              <a:t>Shard 1</a:t>
            </a:r>
            <a:endParaRPr lang="en-US" sz="1250" dirty="0"/>
          </a:p>
        </p:txBody>
      </p:sp>
      <p:sp>
        <p:nvSpPr>
          <p:cNvPr id="13" name="Shape 11"/>
          <p:cNvSpPr/>
          <p:nvPr/>
        </p:nvSpPr>
        <p:spPr>
          <a:xfrm>
            <a:off x="5852160" y="3200400"/>
            <a:ext cx="1828800" cy="566928"/>
          </a:xfrm>
          <a:prstGeom prst="roundRect">
            <a:avLst>
              <a:gd name="adj" fmla="val 9677"/>
            </a:avLst>
          </a:prstGeom>
          <a:solidFill>
            <a:srgbClr val="2E7D5B"/>
          </a:solidFill>
          <a:ln w="15240">
            <a:solidFill>
              <a:srgbClr val="2E7D5B"/>
            </a:solidFill>
            <a:prstDash val="solid"/>
          </a:ln>
        </p:spPr>
        <p:txBody>
          <a:bodyPr/>
          <a:lstStyle/>
          <a:p>
            <a:endParaRPr lang="en-US"/>
          </a:p>
        </p:txBody>
      </p:sp>
      <p:sp>
        <p:nvSpPr>
          <p:cNvPr id="14" name="Text 12"/>
          <p:cNvSpPr/>
          <p:nvPr/>
        </p:nvSpPr>
        <p:spPr>
          <a:xfrm>
            <a:off x="5852160" y="3200400"/>
            <a:ext cx="1828800" cy="56692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Shard 2</a:t>
            </a:r>
            <a:endParaRPr lang="en-US" sz="1250" dirty="0"/>
          </a:p>
        </p:txBody>
      </p:sp>
      <p:sp>
        <p:nvSpPr>
          <p:cNvPr id="15" name="Shape 13"/>
          <p:cNvSpPr/>
          <p:nvPr/>
        </p:nvSpPr>
        <p:spPr>
          <a:xfrm>
            <a:off x="5852160" y="3886200"/>
            <a:ext cx="1828800" cy="566928"/>
          </a:xfrm>
          <a:prstGeom prst="roundRect">
            <a:avLst>
              <a:gd name="adj" fmla="val 9677"/>
            </a:avLst>
          </a:prstGeom>
          <a:solidFill>
            <a:srgbClr val="E8EEF1"/>
          </a:solidFill>
          <a:ln w="15240">
            <a:solidFill>
              <a:srgbClr val="CFDBE1"/>
            </a:solidFill>
            <a:prstDash val="solid"/>
          </a:ln>
        </p:spPr>
        <p:txBody>
          <a:bodyPr/>
          <a:lstStyle/>
          <a:p>
            <a:endParaRPr lang="en-US"/>
          </a:p>
        </p:txBody>
      </p:sp>
      <p:sp>
        <p:nvSpPr>
          <p:cNvPr id="16" name="Text 14"/>
          <p:cNvSpPr/>
          <p:nvPr/>
        </p:nvSpPr>
        <p:spPr>
          <a:xfrm>
            <a:off x="5852160" y="3886200"/>
            <a:ext cx="1828800" cy="566928"/>
          </a:xfrm>
          <a:prstGeom prst="rect">
            <a:avLst/>
          </a:prstGeom>
          <a:noFill/>
          <a:ln/>
        </p:spPr>
        <p:txBody>
          <a:bodyPr wrap="square" rtlCol="0" anchor="ctr"/>
          <a:lstStyle/>
          <a:p>
            <a:pPr marL="0" indent="0" algn="ctr">
              <a:buNone/>
            </a:pPr>
            <a:r>
              <a:rPr lang="en-US" sz="1250" b="1" dirty="0">
                <a:solidFill>
                  <a:srgbClr val="5A6B76"/>
                </a:solidFill>
                <a:latin typeface="Calibri" pitchFamily="34" charset="0"/>
                <a:ea typeface="Calibri" pitchFamily="34" charset="-122"/>
                <a:cs typeface="Calibri" pitchFamily="34" charset="-120"/>
              </a:rPr>
              <a:t>Shard 3</a:t>
            </a:r>
            <a:endParaRPr lang="en-US" sz="1250" dirty="0"/>
          </a:p>
        </p:txBody>
      </p:sp>
      <p:sp>
        <p:nvSpPr>
          <p:cNvPr id="17" name="Shape 15"/>
          <p:cNvSpPr/>
          <p:nvPr/>
        </p:nvSpPr>
        <p:spPr>
          <a:xfrm>
            <a:off x="5852160" y="4572000"/>
            <a:ext cx="1828800" cy="566928"/>
          </a:xfrm>
          <a:prstGeom prst="roundRect">
            <a:avLst>
              <a:gd name="adj" fmla="val 9677"/>
            </a:avLst>
          </a:prstGeom>
          <a:solidFill>
            <a:srgbClr val="E8EEF1"/>
          </a:solidFill>
          <a:ln w="15240">
            <a:solidFill>
              <a:srgbClr val="CFDBE1"/>
            </a:solidFill>
            <a:prstDash val="solid"/>
          </a:ln>
        </p:spPr>
        <p:txBody>
          <a:bodyPr/>
          <a:lstStyle/>
          <a:p>
            <a:endParaRPr lang="en-US"/>
          </a:p>
        </p:txBody>
      </p:sp>
      <p:sp>
        <p:nvSpPr>
          <p:cNvPr id="18" name="Text 16"/>
          <p:cNvSpPr/>
          <p:nvPr/>
        </p:nvSpPr>
        <p:spPr>
          <a:xfrm>
            <a:off x="5852160" y="4572000"/>
            <a:ext cx="1828800" cy="566928"/>
          </a:xfrm>
          <a:prstGeom prst="rect">
            <a:avLst/>
          </a:prstGeom>
          <a:noFill/>
          <a:ln/>
        </p:spPr>
        <p:txBody>
          <a:bodyPr wrap="square" rtlCol="0" anchor="ctr"/>
          <a:lstStyle/>
          <a:p>
            <a:pPr marL="0" indent="0" algn="ctr">
              <a:buNone/>
            </a:pPr>
            <a:r>
              <a:rPr lang="en-US" sz="1250" b="1" dirty="0">
                <a:solidFill>
                  <a:srgbClr val="5A6B76"/>
                </a:solidFill>
                <a:latin typeface="Calibri" pitchFamily="34" charset="0"/>
                <a:ea typeface="Calibri" pitchFamily="34" charset="-122"/>
                <a:cs typeface="Calibri" pitchFamily="34" charset="-120"/>
              </a:rPr>
              <a:t>Shard 4</a:t>
            </a:r>
            <a:endParaRPr lang="en-US" sz="1250" dirty="0"/>
          </a:p>
        </p:txBody>
      </p:sp>
      <p:sp>
        <p:nvSpPr>
          <p:cNvPr id="19" name="Shape 17"/>
          <p:cNvSpPr/>
          <p:nvPr/>
        </p:nvSpPr>
        <p:spPr>
          <a:xfrm>
            <a:off x="2880360" y="2423160"/>
            <a:ext cx="1920240" cy="658368"/>
          </a:xfrm>
          <a:prstGeom prst="roundRect">
            <a:avLst>
              <a:gd name="adj" fmla="val 8333"/>
            </a:avLst>
          </a:prstGeom>
          <a:solidFill>
            <a:srgbClr val="1C7293"/>
          </a:solidFill>
          <a:ln/>
        </p:spPr>
        <p:txBody>
          <a:bodyPr/>
          <a:lstStyle/>
          <a:p>
            <a:endParaRPr lang="en-US"/>
          </a:p>
        </p:txBody>
      </p:sp>
      <p:sp>
        <p:nvSpPr>
          <p:cNvPr id="20" name="Text 18"/>
          <p:cNvSpPr/>
          <p:nvPr/>
        </p:nvSpPr>
        <p:spPr>
          <a:xfrm>
            <a:off x="2880360" y="2532888"/>
            <a:ext cx="192024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Config store</a:t>
            </a:r>
            <a:endParaRPr lang="en-US" sz="1350" dirty="0"/>
          </a:p>
        </p:txBody>
      </p:sp>
      <p:sp>
        <p:nvSpPr>
          <p:cNvPr id="21" name="Text 19"/>
          <p:cNvSpPr/>
          <p:nvPr/>
        </p:nvSpPr>
        <p:spPr>
          <a:xfrm>
            <a:off x="2880360" y="2834640"/>
            <a:ext cx="1920240" cy="292608"/>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key → shard map</a:t>
            </a:r>
            <a:endParaRPr lang="en-US" sz="1000" dirty="0"/>
          </a:p>
        </p:txBody>
      </p:sp>
      <p:sp>
        <p:nvSpPr>
          <p:cNvPr id="22" name="Shape 20"/>
          <p:cNvSpPr/>
          <p:nvPr/>
        </p:nvSpPr>
        <p:spPr>
          <a:xfrm>
            <a:off x="2468880" y="3630168"/>
            <a:ext cx="365760" cy="0"/>
          </a:xfrm>
          <a:prstGeom prst="line">
            <a:avLst/>
          </a:prstGeom>
          <a:noFill/>
          <a:ln w="31750">
            <a:solidFill>
              <a:srgbClr val="E8A33D"/>
            </a:solidFill>
            <a:prstDash val="solid"/>
            <a:headEnd type="none"/>
            <a:tailEnd type="triangle"/>
          </a:ln>
        </p:spPr>
        <p:txBody>
          <a:bodyPr/>
          <a:lstStyle/>
          <a:p>
            <a:endParaRPr lang="en-US"/>
          </a:p>
        </p:txBody>
      </p:sp>
      <p:sp>
        <p:nvSpPr>
          <p:cNvPr id="23" name="Shape 21"/>
          <p:cNvSpPr/>
          <p:nvPr/>
        </p:nvSpPr>
        <p:spPr>
          <a:xfrm>
            <a:off x="4846320" y="3483864"/>
            <a:ext cx="960120" cy="36576"/>
          </a:xfrm>
          <a:prstGeom prst="line">
            <a:avLst/>
          </a:prstGeom>
          <a:noFill/>
          <a:ln w="31750">
            <a:solidFill>
              <a:srgbClr val="E8A33D"/>
            </a:solidFill>
            <a:prstDash val="solid"/>
            <a:headEnd type="none"/>
            <a:tailEnd type="triangle"/>
          </a:ln>
        </p:spPr>
        <p:txBody>
          <a:bodyPr/>
          <a:lstStyle/>
          <a:p>
            <a:endParaRPr lang="en-US"/>
          </a:p>
        </p:txBody>
      </p:sp>
      <p:sp>
        <p:nvSpPr>
          <p:cNvPr id="24" name="Shape 22"/>
          <p:cNvSpPr/>
          <p:nvPr/>
        </p:nvSpPr>
        <p:spPr>
          <a:xfrm flipV="1">
            <a:off x="4846320" y="2798064"/>
            <a:ext cx="960120" cy="832104"/>
          </a:xfrm>
          <a:prstGeom prst="line">
            <a:avLst/>
          </a:prstGeom>
          <a:noFill/>
          <a:ln w="22860">
            <a:solidFill>
              <a:srgbClr val="C2CDD4"/>
            </a:solidFill>
            <a:prstDash val="dash"/>
            <a:headEnd type="none"/>
            <a:tailEnd type="triangle"/>
          </a:ln>
        </p:spPr>
        <p:txBody>
          <a:bodyPr/>
          <a:lstStyle/>
          <a:p>
            <a:endParaRPr lang="en-US"/>
          </a:p>
        </p:txBody>
      </p:sp>
      <p:sp>
        <p:nvSpPr>
          <p:cNvPr id="25" name="Shape 23"/>
          <p:cNvSpPr/>
          <p:nvPr/>
        </p:nvSpPr>
        <p:spPr>
          <a:xfrm>
            <a:off x="4846320" y="3630168"/>
            <a:ext cx="960120" cy="539496"/>
          </a:xfrm>
          <a:prstGeom prst="line">
            <a:avLst/>
          </a:prstGeom>
          <a:noFill/>
          <a:ln w="22860">
            <a:solidFill>
              <a:srgbClr val="C2CDD4"/>
            </a:solidFill>
            <a:prstDash val="dash"/>
            <a:headEnd type="none"/>
            <a:tailEnd type="triangle"/>
          </a:ln>
        </p:spPr>
        <p:txBody>
          <a:bodyPr/>
          <a:lstStyle/>
          <a:p>
            <a:endParaRPr lang="en-US"/>
          </a:p>
        </p:txBody>
      </p:sp>
      <p:sp>
        <p:nvSpPr>
          <p:cNvPr id="26" name="Shape 24"/>
          <p:cNvSpPr/>
          <p:nvPr/>
        </p:nvSpPr>
        <p:spPr>
          <a:xfrm>
            <a:off x="4846320" y="3630168"/>
            <a:ext cx="960120" cy="1225296"/>
          </a:xfrm>
          <a:prstGeom prst="line">
            <a:avLst/>
          </a:prstGeom>
          <a:noFill/>
          <a:ln w="22860">
            <a:solidFill>
              <a:srgbClr val="C2CDD4"/>
            </a:solidFill>
            <a:prstDash val="dash"/>
            <a:headEnd type="none"/>
            <a:tailEnd type="triangle"/>
          </a:ln>
        </p:spPr>
        <p:txBody>
          <a:bodyPr/>
          <a:lstStyle/>
          <a:p>
            <a:endParaRPr lang="en-US"/>
          </a:p>
        </p:txBody>
      </p:sp>
      <p:sp>
        <p:nvSpPr>
          <p:cNvPr id="27" name="Shape 25"/>
          <p:cNvSpPr/>
          <p:nvPr/>
        </p:nvSpPr>
        <p:spPr>
          <a:xfrm>
            <a:off x="3840480" y="3081528"/>
            <a:ext cx="18288" cy="164592"/>
          </a:xfrm>
          <a:prstGeom prst="line">
            <a:avLst/>
          </a:prstGeom>
          <a:noFill/>
          <a:ln w="22860">
            <a:solidFill>
              <a:srgbClr val="1C7293"/>
            </a:solidFill>
            <a:prstDash val="solid"/>
            <a:headEnd type="triangle"/>
            <a:tailEnd type="none"/>
          </a:ln>
        </p:spPr>
        <p:txBody>
          <a:bodyPr/>
          <a:lstStyle/>
          <a:p>
            <a:endParaRPr lang="en-US"/>
          </a:p>
        </p:txBody>
      </p:sp>
      <p:sp>
        <p:nvSpPr>
          <p:cNvPr id="28" name="Text 26"/>
          <p:cNvSpPr/>
          <p:nvPr/>
        </p:nvSpPr>
        <p:spPr>
          <a:xfrm>
            <a:off x="2880360" y="5349240"/>
            <a:ext cx="7772400" cy="320040"/>
          </a:xfrm>
          <a:prstGeom prst="rect">
            <a:avLst/>
          </a:prstGeom>
          <a:noFill/>
          <a:ln/>
        </p:spPr>
        <p:txBody>
          <a:bodyPr wrap="square" lIns="0" tIns="0" rIns="0" bIns="0" rtlCol="0" anchor="ctr"/>
          <a:lstStyle/>
          <a:p>
            <a:pPr marL="0" indent="0">
              <a:buNone/>
            </a:pPr>
            <a:r>
              <a:rPr lang="en-US" sz="1150" i="1" dirty="0">
                <a:solidFill>
                  <a:srgbClr val="5A6B76"/>
                </a:solidFill>
                <a:latin typeface="Calibri" pitchFamily="34" charset="0"/>
                <a:ea typeface="Calibri" pitchFamily="34" charset="-122"/>
                <a:cs typeface="Calibri" pitchFamily="34" charset="-120"/>
              </a:rPr>
              <a:t>solid = shard key known, one shard.   dashed = scatter-gather, all shards.</a:t>
            </a:r>
            <a:endParaRPr lang="en-US" sz="1150" dirty="0"/>
          </a:p>
        </p:txBody>
      </p:sp>
      <p:sp>
        <p:nvSpPr>
          <p:cNvPr id="29" name="Shape 27"/>
          <p:cNvSpPr/>
          <p:nvPr/>
        </p:nvSpPr>
        <p:spPr>
          <a:xfrm>
            <a:off x="777240" y="5669280"/>
            <a:ext cx="10607040" cy="777240"/>
          </a:xfrm>
          <a:prstGeom prst="roundRect">
            <a:avLst>
              <a:gd name="adj" fmla="val 7059"/>
            </a:avLst>
          </a:prstGeom>
          <a:solidFill>
            <a:srgbClr val="FDF3E3"/>
          </a:solidFill>
          <a:ln w="16510">
            <a:solidFill>
              <a:srgbClr val="E8A33D"/>
            </a:solidFill>
            <a:prstDash val="solid"/>
          </a:ln>
        </p:spPr>
        <p:txBody>
          <a:bodyPr/>
          <a:lstStyle/>
          <a:p>
            <a:endParaRPr lang="en-US"/>
          </a:p>
        </p:txBody>
      </p:sp>
      <p:sp>
        <p:nvSpPr>
          <p:cNvPr id="30" name="Text 28"/>
          <p:cNvSpPr/>
          <p:nvPr/>
        </p:nvSpPr>
        <p:spPr>
          <a:xfrm>
            <a:off x="1097280" y="5669280"/>
            <a:ext cx="10058400" cy="777240"/>
          </a:xfrm>
          <a:prstGeom prst="rect">
            <a:avLst/>
          </a:prstGeom>
          <a:noFill/>
          <a:ln/>
        </p:spPr>
        <p:txBody>
          <a:bodyPr wrap="square" lIns="0" tIns="0" rIns="0" bIns="0" rtlCol="0" anchor="ctr"/>
          <a:lstStyle/>
          <a:p>
            <a:pPr marL="0" indent="0">
              <a:buNone/>
            </a:pPr>
            <a:r>
              <a:rPr lang="en-US" sz="1350" dirty="0">
                <a:solidFill>
                  <a:srgbClr val="1B2A33"/>
                </a:solidFill>
                <a:latin typeface="Calibri" pitchFamily="34" charset="0"/>
                <a:ea typeface="Calibri" pitchFamily="34" charset="-122"/>
                <a:cs typeface="Calibri" pitchFamily="34" charset="-120"/>
              </a:rPr>
              <a:t>Scatter-gather is as slow as the slowest shard, and it gets slower every time you add one. Design your queries around the shard key, or accept the tail.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38328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38328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3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A user in Jaipur orders from a restaurant in Delhi. The user sits on shard 2, the restaurant on shard 4. You need to show the order page with both, and deduct payment while creating the order.</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The join spans two machines.</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So does the transaction. Now what?</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In the single database this was one query and one transaction. Both are now gone.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3 — What Sharding Actually Costs</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Joins and transactions do not cross machines</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A database can only join tables and guarantee a transaction inside one machine. Once the rows live on different machines, both guarantees vanish — and your application has to work around their absence.</a:t>
            </a:r>
            <a:endParaRPr lang="en-US" sz="1550" dirty="0"/>
          </a:p>
        </p:txBody>
      </p:sp>
      <p:sp>
        <p:nvSpPr>
          <p:cNvPr id="6" name="Shape 4"/>
          <p:cNvSpPr/>
          <p:nvPr/>
        </p:nvSpPr>
        <p:spPr>
          <a:xfrm>
            <a:off x="777240" y="2468880"/>
            <a:ext cx="3337560" cy="2743200"/>
          </a:xfrm>
          <a:prstGeom prst="roundRect">
            <a:avLst>
              <a:gd name="adj" fmla="val 2000"/>
            </a:avLst>
          </a:prstGeom>
          <a:solidFill>
            <a:srgbClr val="FDF0EE"/>
          </a:solidFill>
          <a:ln w="12700">
            <a:solidFill>
              <a:srgbClr val="E1E8ED"/>
            </a:solidFill>
            <a:prstDash val="solid"/>
          </a:ln>
        </p:spPr>
        <p:txBody>
          <a:bodyPr/>
          <a:lstStyle/>
          <a:p>
            <a:endParaRPr lang="en-US"/>
          </a:p>
        </p:txBody>
      </p:sp>
      <p:sp>
        <p:nvSpPr>
          <p:cNvPr id="7" name="Text 5"/>
          <p:cNvSpPr/>
          <p:nvPr/>
        </p:nvSpPr>
        <p:spPr>
          <a:xfrm>
            <a:off x="1033272" y="2651760"/>
            <a:ext cx="288036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Losing the join</a:t>
            </a:r>
            <a:endParaRPr lang="en-US" sz="1550" dirty="0"/>
          </a:p>
        </p:txBody>
      </p:sp>
      <p:sp>
        <p:nvSpPr>
          <p:cNvPr id="8" name="Text 6"/>
          <p:cNvSpPr/>
          <p:nvPr/>
        </p:nvSpPr>
        <p:spPr>
          <a:xfrm>
            <a:off x="1033272" y="3044952"/>
            <a:ext cx="2880360" cy="19659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Fetch from each shard separately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Combine them in application code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Or duplicate data so it sits together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Or keep small reference tables on every shard</a:t>
            </a:r>
            <a:endParaRPr lang="en-US" sz="1250" dirty="0"/>
          </a:p>
        </p:txBody>
      </p:sp>
      <p:sp>
        <p:nvSpPr>
          <p:cNvPr id="9" name="Shape 7"/>
          <p:cNvSpPr/>
          <p:nvPr/>
        </p:nvSpPr>
        <p:spPr>
          <a:xfrm>
            <a:off x="4416552" y="2468880"/>
            <a:ext cx="3337560" cy="2743200"/>
          </a:xfrm>
          <a:prstGeom prst="roundRect">
            <a:avLst>
              <a:gd name="adj" fmla="val 2000"/>
            </a:avLst>
          </a:prstGeom>
          <a:solidFill>
            <a:srgbClr val="FDF0EE"/>
          </a:solidFill>
          <a:ln w="12700">
            <a:solidFill>
              <a:srgbClr val="E1E8ED"/>
            </a:solidFill>
            <a:prstDash val="solid"/>
          </a:ln>
        </p:spPr>
        <p:txBody>
          <a:bodyPr/>
          <a:lstStyle/>
          <a:p>
            <a:endParaRPr lang="en-US"/>
          </a:p>
        </p:txBody>
      </p:sp>
      <p:sp>
        <p:nvSpPr>
          <p:cNvPr id="10" name="Text 8"/>
          <p:cNvSpPr/>
          <p:nvPr/>
        </p:nvSpPr>
        <p:spPr>
          <a:xfrm>
            <a:off x="4672584" y="2651760"/>
            <a:ext cx="2880360" cy="365760"/>
          </a:xfrm>
          <a:prstGeom prst="rect">
            <a:avLst/>
          </a:prstGeom>
          <a:noFill/>
          <a:ln/>
        </p:spPr>
        <p:txBody>
          <a:bodyPr wrap="square" lIns="0" tIns="0" rIns="0" bIns="0" rtlCol="0" anchor="ctr"/>
          <a:lstStyle/>
          <a:p>
            <a:pPr marL="0" indent="0">
              <a:buNone/>
            </a:pPr>
            <a:r>
              <a:rPr lang="en-US" sz="1550" b="1" dirty="0">
                <a:solidFill>
                  <a:srgbClr val="A03A3A"/>
                </a:solidFill>
                <a:latin typeface="Calibri" pitchFamily="34" charset="0"/>
                <a:ea typeface="Calibri" pitchFamily="34" charset="-122"/>
                <a:cs typeface="Calibri" pitchFamily="34" charset="-120"/>
              </a:rPr>
              <a:t>Losing the transaction</a:t>
            </a:r>
            <a:endParaRPr lang="en-US" sz="1550" dirty="0"/>
          </a:p>
        </p:txBody>
      </p:sp>
      <p:sp>
        <p:nvSpPr>
          <p:cNvPr id="11" name="Text 9"/>
          <p:cNvSpPr/>
          <p:nvPr/>
        </p:nvSpPr>
        <p:spPr>
          <a:xfrm>
            <a:off x="4672584" y="3044952"/>
            <a:ext cx="2880360" cy="19659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No atomic write across shards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Same problem as Lecture 2’s microservices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Use events and retries instead</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Make every operation idempotent</a:t>
            </a:r>
            <a:endParaRPr lang="en-US" sz="1250" dirty="0"/>
          </a:p>
        </p:txBody>
      </p:sp>
      <p:sp>
        <p:nvSpPr>
          <p:cNvPr id="12" name="Shape 10"/>
          <p:cNvSpPr/>
          <p:nvPr/>
        </p:nvSpPr>
        <p:spPr>
          <a:xfrm>
            <a:off x="8046720" y="2468880"/>
            <a:ext cx="3337560" cy="2743200"/>
          </a:xfrm>
          <a:prstGeom prst="roundRect">
            <a:avLst>
              <a:gd name="adj" fmla="val 2000"/>
            </a:avLst>
          </a:prstGeom>
          <a:solidFill>
            <a:srgbClr val="EAF5EF"/>
          </a:solidFill>
          <a:ln w="12700">
            <a:solidFill>
              <a:srgbClr val="E1E8ED"/>
            </a:solidFill>
            <a:prstDash val="solid"/>
          </a:ln>
        </p:spPr>
        <p:txBody>
          <a:bodyPr/>
          <a:lstStyle/>
          <a:p>
            <a:endParaRPr lang="en-US"/>
          </a:p>
        </p:txBody>
      </p:sp>
      <p:sp>
        <p:nvSpPr>
          <p:cNvPr id="13" name="Text 11"/>
          <p:cNvSpPr/>
          <p:nvPr/>
        </p:nvSpPr>
        <p:spPr>
          <a:xfrm>
            <a:off x="8302752" y="2651760"/>
            <a:ext cx="2880360" cy="365760"/>
          </a:xfrm>
          <a:prstGeom prst="rect">
            <a:avLst/>
          </a:prstGeom>
          <a:noFill/>
          <a:ln/>
        </p:spPr>
        <p:txBody>
          <a:bodyPr wrap="square" lIns="0" tIns="0" rIns="0" bIns="0" rtlCol="0" anchor="ctr"/>
          <a:lstStyle/>
          <a:p>
            <a:pPr marL="0" indent="0">
              <a:buNone/>
            </a:pPr>
            <a:r>
              <a:rPr lang="en-US" sz="1550" b="1" dirty="0">
                <a:solidFill>
                  <a:srgbClr val="2E7D5B"/>
                </a:solidFill>
                <a:latin typeface="Calibri" pitchFamily="34" charset="0"/>
                <a:ea typeface="Calibri" pitchFamily="34" charset="-122"/>
                <a:cs typeface="Calibri" pitchFamily="34" charset="-120"/>
              </a:rPr>
              <a:t>How teams cope</a:t>
            </a:r>
            <a:endParaRPr lang="en-US" sz="1550" dirty="0"/>
          </a:p>
        </p:txBody>
      </p:sp>
      <p:sp>
        <p:nvSpPr>
          <p:cNvPr id="14" name="Text 12"/>
          <p:cNvSpPr/>
          <p:nvPr/>
        </p:nvSpPr>
        <p:spPr>
          <a:xfrm>
            <a:off x="8302752" y="3044952"/>
            <a:ext cx="2880360" cy="196596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Choose a key that keeps related rows together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Denormalise: store the restaurant name in the order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Accept eventual consistency where it is harmless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Keep genuinely transactional data unsharded</a:t>
            </a:r>
            <a:endParaRPr lang="en-US" sz="1250" dirty="0"/>
          </a:p>
        </p:txBody>
      </p:sp>
      <p:sp>
        <p:nvSpPr>
          <p:cNvPr id="15" name="Text 13"/>
          <p:cNvSpPr/>
          <p:nvPr/>
        </p:nvSpPr>
        <p:spPr>
          <a:xfrm>
            <a:off x="777240" y="5440680"/>
            <a:ext cx="10607040" cy="45720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Notice the pattern: the fix is almost always to change the data model so the question can be answered on one machine.</a:t>
            </a:r>
            <a:endParaRPr lang="en-US" sz="1500" dirty="0"/>
          </a:p>
        </p:txBody>
      </p:sp>
      <p:sp>
        <p:nvSpPr>
          <p:cNvPr id="16" name="Text 14"/>
          <p:cNvSpPr/>
          <p:nvPr/>
        </p:nvSpPr>
        <p:spPr>
          <a:xfrm>
            <a:off x="777240" y="5925312"/>
            <a:ext cx="10607040" cy="411480"/>
          </a:xfrm>
          <a:prstGeom prst="rect">
            <a:avLst/>
          </a:prstGeom>
          <a:noFill/>
          <a:ln/>
        </p:spPr>
        <p:txBody>
          <a:bodyPr wrap="square" lIns="0" tIns="0" rIns="0" bIns="0" rtlCol="0" anchor="ctr"/>
          <a:lstStyle/>
          <a:p>
            <a:pPr marL="0" indent="0">
              <a:buNone/>
            </a:pPr>
            <a:r>
              <a:rPr lang="en-US" sz="1350" i="1" dirty="0">
                <a:solidFill>
                  <a:srgbClr val="5A6B76"/>
                </a:solidFill>
                <a:latin typeface="Calibri" pitchFamily="34" charset="0"/>
                <a:ea typeface="Calibri" pitchFamily="34" charset="-122"/>
                <a:cs typeface="Calibri" pitchFamily="34" charset="-120"/>
              </a:rPr>
              <a:t>This is exactly why NoSQL databases shard more comfortably — not because of syntax, but because their documents are already self-contained.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822960" y="640080"/>
            <a:ext cx="3383280" cy="411480"/>
          </a:xfrm>
          <a:prstGeom prst="roundRect">
            <a:avLst>
              <a:gd name="adj" fmla="val 44444"/>
            </a:avLst>
          </a:prstGeom>
          <a:solidFill>
            <a:srgbClr val="E8A33D"/>
          </a:solidFill>
          <a:ln/>
        </p:spPr>
        <p:txBody>
          <a:bodyPr/>
          <a:lstStyle/>
          <a:p>
            <a:endParaRPr lang="en-US"/>
          </a:p>
        </p:txBody>
      </p:sp>
      <p:sp>
        <p:nvSpPr>
          <p:cNvPr id="3" name="Text 1"/>
          <p:cNvSpPr/>
          <p:nvPr/>
        </p:nvSpPr>
        <p:spPr>
          <a:xfrm>
            <a:off x="822960" y="640080"/>
            <a:ext cx="3383280" cy="411480"/>
          </a:xfrm>
          <a:prstGeom prst="rect">
            <a:avLst/>
          </a:prstGeom>
          <a:noFill/>
          <a:ln/>
        </p:spPr>
        <p:txBody>
          <a:bodyPr wrap="square" rtlCol="0" anchor="ctr"/>
          <a:lstStyle/>
          <a:p>
            <a:pPr marL="0" indent="0" algn="ctr">
              <a:buNone/>
            </a:pPr>
            <a:r>
              <a:rPr lang="en-US" sz="1200" b="1" kern="0" spc="140" dirty="0">
                <a:solidFill>
                  <a:srgbClr val="13293D"/>
                </a:solidFill>
                <a:latin typeface="Calibri" pitchFamily="34" charset="0"/>
                <a:ea typeface="Calibri" pitchFamily="34" charset="-122"/>
                <a:cs typeface="Calibri" pitchFamily="34" charset="-120"/>
              </a:rPr>
              <a:t>ROUND 4  ·  QUESTION</a:t>
            </a:r>
            <a:endParaRPr lang="en-US" sz="1200" dirty="0"/>
          </a:p>
        </p:txBody>
      </p:sp>
      <p:sp>
        <p:nvSpPr>
          <p:cNvPr id="4" name="Text 2"/>
          <p:cNvSpPr/>
          <p:nvPr/>
        </p:nvSpPr>
        <p:spPr>
          <a:xfrm>
            <a:off x="822960" y="1325880"/>
            <a:ext cx="10515600" cy="1554480"/>
          </a:xfrm>
          <a:prstGeom prst="rect">
            <a:avLst/>
          </a:prstGeom>
          <a:noFill/>
          <a:ln/>
        </p:spPr>
        <p:txBody>
          <a:bodyPr wrap="square" lIns="0" tIns="0" rIns="0" bIns="0" rtlCol="0" anchor="ctr"/>
          <a:lstStyle/>
          <a:p>
            <a:pPr marL="0" indent="0">
              <a:lnSpc>
                <a:spcPts val="2600"/>
              </a:lnSpc>
              <a:buNone/>
            </a:pPr>
            <a:r>
              <a:rPr lang="en-US" sz="1700" dirty="0">
                <a:solidFill>
                  <a:srgbClr val="9AD1D4"/>
                </a:solidFill>
                <a:latin typeface="Calibri" pitchFamily="34" charset="0"/>
                <a:ea typeface="Calibri" pitchFamily="34" charset="-122"/>
                <a:cs typeface="Calibri" pitchFamily="34" charset="-120"/>
              </a:rPr>
              <a:t>Someone on the team says: "This is all because we used MySQL. If we had used MongoDB, sharding would have been automatic and none of this would be a problem."</a:t>
            </a:r>
            <a:endParaRPr lang="en-US" sz="1700" dirty="0"/>
          </a:p>
        </p:txBody>
      </p:sp>
      <p:sp>
        <p:nvSpPr>
          <p:cNvPr id="5" name="Shape 3"/>
          <p:cNvSpPr/>
          <p:nvPr/>
        </p:nvSpPr>
        <p:spPr>
          <a:xfrm>
            <a:off x="822960" y="3017520"/>
            <a:ext cx="10515600" cy="1600200"/>
          </a:xfrm>
          <a:prstGeom prst="roundRect">
            <a:avLst>
              <a:gd name="adj" fmla="val 4571"/>
            </a:avLst>
          </a:prstGeom>
          <a:solidFill>
            <a:srgbClr val="1D3D52"/>
          </a:solidFill>
          <a:ln/>
        </p:spPr>
        <p:txBody>
          <a:bodyPr/>
          <a:lstStyle/>
          <a:p>
            <a:endParaRPr lang="en-US"/>
          </a:p>
        </p:txBody>
      </p:sp>
      <p:sp>
        <p:nvSpPr>
          <p:cNvPr id="6" name="Text 4"/>
          <p:cNvSpPr/>
          <p:nvPr/>
        </p:nvSpPr>
        <p:spPr>
          <a:xfrm>
            <a:off x="1188720" y="3017520"/>
            <a:ext cx="9784080" cy="160020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Is that true?</a:t>
            </a:r>
            <a:endParaRPr lang="en-US" sz="2600" dirty="0"/>
          </a:p>
          <a:p>
            <a:pPr marL="0" indent="0">
              <a:lnSpc>
                <a:spcPts val="3400"/>
              </a:lnSpc>
              <a:buNone/>
            </a:pPr>
            <a:r>
              <a:rPr lang="en-US" sz="2600" b="1" dirty="0">
                <a:solidFill>
                  <a:srgbClr val="FFFFFF"/>
                </a:solidFill>
                <a:latin typeface="Cambria" pitchFamily="34" charset="0"/>
                <a:ea typeface="Cambria" pitchFamily="34" charset="-122"/>
                <a:cs typeface="Cambria" pitchFamily="34" charset="-120"/>
              </a:rPr>
              <a:t>Would switching database have saved you?</a:t>
            </a:r>
            <a:endParaRPr lang="en-US" sz="2600" dirty="0"/>
          </a:p>
        </p:txBody>
      </p:sp>
      <p:sp>
        <p:nvSpPr>
          <p:cNvPr id="7" name="Text 5"/>
          <p:cNvSpPr/>
          <p:nvPr/>
        </p:nvSpPr>
        <p:spPr>
          <a:xfrm>
            <a:off x="868680" y="4892040"/>
            <a:ext cx="10424160" cy="548640"/>
          </a:xfrm>
          <a:prstGeom prst="rect">
            <a:avLst/>
          </a:prstGeom>
          <a:noFill/>
          <a:ln/>
        </p:spPr>
        <p:txBody>
          <a:bodyPr wrap="square" lIns="0" tIns="0" rIns="0" bIns="0" rtlCol="0" anchor="ctr"/>
          <a:lstStyle/>
          <a:p>
            <a:pPr marL="0" indent="0">
              <a:buNone/>
            </a:pPr>
            <a:r>
              <a:rPr lang="en-US" sz="1400" i="1" dirty="0">
                <a:solidFill>
                  <a:srgbClr val="E8A33D"/>
                </a:solidFill>
                <a:latin typeface="Calibri" pitchFamily="34" charset="0"/>
                <a:ea typeface="Calibri" pitchFamily="34" charset="-122"/>
                <a:cs typeface="Calibri" pitchFamily="34" charset="-120"/>
              </a:rPr>
              <a:t>Careful. Part of that sentence is correct and part of it is not.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Round 4 — Partly True, and Partly a Myth</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database does the routing for you. It does not do the thinking.</a:t>
            </a:r>
            <a:endParaRPr lang="en-US" sz="1500" dirty="0"/>
          </a:p>
        </p:txBody>
      </p:sp>
      <p:sp>
        <p:nvSpPr>
          <p:cNvPr id="4" name="Shape 2"/>
          <p:cNvSpPr/>
          <p:nvPr/>
        </p:nvSpPr>
        <p:spPr>
          <a:xfrm>
            <a:off x="777240" y="1463040"/>
            <a:ext cx="10607040" cy="841248"/>
          </a:xfrm>
          <a:prstGeom prst="roundRect">
            <a:avLst>
              <a:gd name="adj" fmla="val 6522"/>
            </a:avLst>
          </a:prstGeom>
          <a:solidFill>
            <a:srgbClr val="13293D"/>
          </a:solidFill>
          <a:ln/>
        </p:spPr>
        <p:txBody>
          <a:bodyPr/>
          <a:lstStyle/>
          <a:p>
            <a:endParaRPr lang="en-US"/>
          </a:p>
        </p:txBody>
      </p:sp>
      <p:sp>
        <p:nvSpPr>
          <p:cNvPr id="5" name="Text 3"/>
          <p:cNvSpPr/>
          <p:nvPr/>
        </p:nvSpPr>
        <p:spPr>
          <a:xfrm>
            <a:off x="1097280" y="1463040"/>
            <a:ext cx="10058400" cy="841248"/>
          </a:xfrm>
          <a:prstGeom prst="rect">
            <a:avLst/>
          </a:prstGeom>
          <a:noFill/>
          <a:ln/>
        </p:spPr>
        <p:txBody>
          <a:bodyPr wrap="square" lIns="0" tIns="0" rIns="0" bIns="0" rtlCol="0" anchor="ctr"/>
          <a:lstStyle/>
          <a:p>
            <a:pPr marL="0" indent="0">
              <a:lnSpc>
                <a:spcPts val="2100"/>
              </a:lnSpc>
              <a:buNone/>
            </a:pPr>
            <a:r>
              <a:rPr lang="en-US" sz="1550" dirty="0">
                <a:solidFill>
                  <a:srgbClr val="FFFFFF"/>
                </a:solidFill>
                <a:latin typeface="Calibri" pitchFamily="34" charset="0"/>
                <a:ea typeface="Calibri" pitchFamily="34" charset="-122"/>
                <a:cs typeface="Calibri" pitchFamily="34" charset="-120"/>
              </a:rPr>
              <a:t>True: MongoDB shards natively, so the router, the chunk splitting and the rebalancing come built in. False: it still needs a shard key, still suffers hot shards, and still cannot join across machines cheaply.</a:t>
            </a:r>
            <a:endParaRPr lang="en-US" sz="1550" dirty="0"/>
          </a:p>
        </p:txBody>
      </p:sp>
      <p:sp>
        <p:nvSpPr>
          <p:cNvPr id="6" name="Shape 4"/>
          <p:cNvSpPr/>
          <p:nvPr/>
        </p:nvSpPr>
        <p:spPr>
          <a:xfrm>
            <a:off x="777240" y="2514600"/>
            <a:ext cx="10607040" cy="438912"/>
          </a:xfrm>
          <a:prstGeom prst="roundRect">
            <a:avLst>
              <a:gd name="adj" fmla="val 8333"/>
            </a:avLst>
          </a:prstGeom>
          <a:solidFill>
            <a:srgbClr val="FFFFFF"/>
          </a:solidFill>
          <a:ln w="12700">
            <a:solidFill>
              <a:srgbClr val="E1E8ED"/>
            </a:solidFill>
            <a:prstDash val="solid"/>
          </a:ln>
        </p:spPr>
        <p:txBody>
          <a:bodyPr/>
          <a:lstStyle/>
          <a:p>
            <a:endParaRPr lang="en-US"/>
          </a:p>
        </p:txBody>
      </p:sp>
      <p:sp>
        <p:nvSpPr>
          <p:cNvPr id="7" name="Text 5"/>
          <p:cNvSpPr/>
          <p:nvPr/>
        </p:nvSpPr>
        <p:spPr>
          <a:xfrm>
            <a:off x="1051560" y="2514600"/>
            <a:ext cx="2926080" cy="43891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Vertical scaling</a:t>
            </a:r>
            <a:endParaRPr lang="en-US" sz="1250" dirty="0"/>
          </a:p>
        </p:txBody>
      </p:sp>
      <p:sp>
        <p:nvSpPr>
          <p:cNvPr id="8" name="Text 6"/>
          <p:cNvSpPr/>
          <p:nvPr/>
        </p:nvSpPr>
        <p:spPr>
          <a:xfrm>
            <a:off x="4023360" y="2514600"/>
            <a:ext cx="3566160" cy="438912"/>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Excellent</a:t>
            </a:r>
            <a:endParaRPr lang="en-US" sz="1200" dirty="0"/>
          </a:p>
        </p:txBody>
      </p:sp>
      <p:sp>
        <p:nvSpPr>
          <p:cNvPr id="9" name="Text 7"/>
          <p:cNvSpPr/>
          <p:nvPr/>
        </p:nvSpPr>
        <p:spPr>
          <a:xfrm>
            <a:off x="7680960" y="2514600"/>
            <a:ext cx="3474720" cy="438912"/>
          </a:xfrm>
          <a:prstGeom prst="rect">
            <a:avLst/>
          </a:prstGeom>
          <a:noFill/>
          <a:ln/>
        </p:spPr>
        <p:txBody>
          <a:bodyPr wrap="square" lIns="0" tIns="0" rIns="0" bIns="0" rtlCol="0" anchor="ctr"/>
          <a:lstStyle/>
          <a:p>
            <a:pPr marL="0" indent="0">
              <a:buNone/>
            </a:pPr>
            <a:r>
              <a:rPr lang="en-US" sz="1200" dirty="0">
                <a:solidFill>
                  <a:srgbClr val="2E7D5B"/>
                </a:solidFill>
                <a:latin typeface="Calibri" pitchFamily="34" charset="0"/>
                <a:ea typeface="Calibri" pitchFamily="34" charset="-122"/>
                <a:cs typeface="Calibri" pitchFamily="34" charset="-120"/>
              </a:rPr>
              <a:t>Excellent — same ceiling</a:t>
            </a:r>
            <a:endParaRPr lang="en-US" sz="1200" dirty="0"/>
          </a:p>
        </p:txBody>
      </p:sp>
      <p:sp>
        <p:nvSpPr>
          <p:cNvPr id="10" name="Shape 8"/>
          <p:cNvSpPr/>
          <p:nvPr/>
        </p:nvSpPr>
        <p:spPr>
          <a:xfrm>
            <a:off x="777240" y="3026664"/>
            <a:ext cx="10607040" cy="438912"/>
          </a:xfrm>
          <a:prstGeom prst="roundRect">
            <a:avLst>
              <a:gd name="adj" fmla="val 8333"/>
            </a:avLst>
          </a:prstGeom>
          <a:solidFill>
            <a:srgbClr val="F4F7F9"/>
          </a:solidFill>
          <a:ln w="12700">
            <a:solidFill>
              <a:srgbClr val="E1E8ED"/>
            </a:solidFill>
            <a:prstDash val="solid"/>
          </a:ln>
        </p:spPr>
        <p:txBody>
          <a:bodyPr/>
          <a:lstStyle/>
          <a:p>
            <a:endParaRPr lang="en-US"/>
          </a:p>
        </p:txBody>
      </p:sp>
      <p:sp>
        <p:nvSpPr>
          <p:cNvPr id="11" name="Text 9"/>
          <p:cNvSpPr/>
          <p:nvPr/>
        </p:nvSpPr>
        <p:spPr>
          <a:xfrm>
            <a:off x="1051560" y="3026664"/>
            <a:ext cx="2926080" cy="43891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Read scaling</a:t>
            </a:r>
            <a:endParaRPr lang="en-US" sz="1250" dirty="0"/>
          </a:p>
        </p:txBody>
      </p:sp>
      <p:sp>
        <p:nvSpPr>
          <p:cNvPr id="12" name="Text 10"/>
          <p:cNvSpPr/>
          <p:nvPr/>
        </p:nvSpPr>
        <p:spPr>
          <a:xfrm>
            <a:off x="4023360" y="3026664"/>
            <a:ext cx="3566160" cy="438912"/>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Replicas, mature</a:t>
            </a:r>
            <a:endParaRPr lang="en-US" sz="1200" dirty="0"/>
          </a:p>
        </p:txBody>
      </p:sp>
      <p:sp>
        <p:nvSpPr>
          <p:cNvPr id="13" name="Text 11"/>
          <p:cNvSpPr/>
          <p:nvPr/>
        </p:nvSpPr>
        <p:spPr>
          <a:xfrm>
            <a:off x="7680960" y="3026664"/>
            <a:ext cx="3474720" cy="438912"/>
          </a:xfrm>
          <a:prstGeom prst="rect">
            <a:avLst/>
          </a:prstGeom>
          <a:noFill/>
          <a:ln/>
        </p:spPr>
        <p:txBody>
          <a:bodyPr wrap="square" lIns="0" tIns="0" rIns="0" bIns="0" rtlCol="0" anchor="ctr"/>
          <a:lstStyle/>
          <a:p>
            <a:pPr marL="0" indent="0">
              <a:buNone/>
            </a:pPr>
            <a:r>
              <a:rPr lang="en-US" sz="1200" dirty="0">
                <a:solidFill>
                  <a:srgbClr val="2E7D5B"/>
                </a:solidFill>
                <a:latin typeface="Calibri" pitchFamily="34" charset="0"/>
                <a:ea typeface="Calibri" pitchFamily="34" charset="-122"/>
                <a:cs typeface="Calibri" pitchFamily="34" charset="-120"/>
              </a:rPr>
              <a:t>Replica sets, same idea</a:t>
            </a:r>
            <a:endParaRPr lang="en-US" sz="1200" dirty="0"/>
          </a:p>
        </p:txBody>
      </p:sp>
      <p:sp>
        <p:nvSpPr>
          <p:cNvPr id="14" name="Shape 12"/>
          <p:cNvSpPr/>
          <p:nvPr/>
        </p:nvSpPr>
        <p:spPr>
          <a:xfrm>
            <a:off x="777240" y="3538728"/>
            <a:ext cx="10607040" cy="438912"/>
          </a:xfrm>
          <a:prstGeom prst="roundRect">
            <a:avLst>
              <a:gd name="adj" fmla="val 8333"/>
            </a:avLst>
          </a:prstGeom>
          <a:solidFill>
            <a:srgbClr val="FFFFFF"/>
          </a:solidFill>
          <a:ln w="12700">
            <a:solidFill>
              <a:srgbClr val="E1E8ED"/>
            </a:solidFill>
            <a:prstDash val="solid"/>
          </a:ln>
        </p:spPr>
        <p:txBody>
          <a:bodyPr/>
          <a:lstStyle/>
          <a:p>
            <a:endParaRPr lang="en-US"/>
          </a:p>
        </p:txBody>
      </p:sp>
      <p:sp>
        <p:nvSpPr>
          <p:cNvPr id="15" name="Text 13"/>
          <p:cNvSpPr/>
          <p:nvPr/>
        </p:nvSpPr>
        <p:spPr>
          <a:xfrm>
            <a:off x="1051560" y="3538728"/>
            <a:ext cx="2926080" cy="43891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Native sharding</a:t>
            </a:r>
            <a:endParaRPr lang="en-US" sz="1250" dirty="0"/>
          </a:p>
        </p:txBody>
      </p:sp>
      <p:sp>
        <p:nvSpPr>
          <p:cNvPr id="16" name="Text 14"/>
          <p:cNvSpPr/>
          <p:nvPr/>
        </p:nvSpPr>
        <p:spPr>
          <a:xfrm>
            <a:off x="4023360" y="3538728"/>
            <a:ext cx="3566160" cy="438912"/>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No — the app must route</a:t>
            </a:r>
            <a:endParaRPr lang="en-US" sz="1200" dirty="0"/>
          </a:p>
        </p:txBody>
      </p:sp>
      <p:sp>
        <p:nvSpPr>
          <p:cNvPr id="17" name="Text 15"/>
          <p:cNvSpPr/>
          <p:nvPr/>
        </p:nvSpPr>
        <p:spPr>
          <a:xfrm>
            <a:off x="7680960" y="3538728"/>
            <a:ext cx="3474720" cy="438912"/>
          </a:xfrm>
          <a:prstGeom prst="rect">
            <a:avLst/>
          </a:prstGeom>
          <a:noFill/>
          <a:ln/>
        </p:spPr>
        <p:txBody>
          <a:bodyPr wrap="square" lIns="0" tIns="0" rIns="0" bIns="0" rtlCol="0" anchor="ctr"/>
          <a:lstStyle/>
          <a:p>
            <a:pPr marL="0" indent="0">
              <a:buNone/>
            </a:pPr>
            <a:r>
              <a:rPr lang="en-US" sz="1200" dirty="0">
                <a:solidFill>
                  <a:srgbClr val="2E7D5B"/>
                </a:solidFill>
                <a:latin typeface="Calibri" pitchFamily="34" charset="0"/>
                <a:ea typeface="Calibri" pitchFamily="34" charset="-122"/>
                <a:cs typeface="Calibri" pitchFamily="34" charset="-120"/>
              </a:rPr>
              <a:t>Yes — mongos routes for you</a:t>
            </a:r>
            <a:endParaRPr lang="en-US" sz="1200" dirty="0"/>
          </a:p>
        </p:txBody>
      </p:sp>
      <p:sp>
        <p:nvSpPr>
          <p:cNvPr id="18" name="Shape 16"/>
          <p:cNvSpPr/>
          <p:nvPr/>
        </p:nvSpPr>
        <p:spPr>
          <a:xfrm>
            <a:off x="777240" y="4050792"/>
            <a:ext cx="10607040" cy="438912"/>
          </a:xfrm>
          <a:prstGeom prst="roundRect">
            <a:avLst>
              <a:gd name="adj" fmla="val 8333"/>
            </a:avLst>
          </a:prstGeom>
          <a:solidFill>
            <a:srgbClr val="F4F7F9"/>
          </a:solidFill>
          <a:ln w="12700">
            <a:solidFill>
              <a:srgbClr val="E1E8ED"/>
            </a:solidFill>
            <a:prstDash val="solid"/>
          </a:ln>
        </p:spPr>
        <p:txBody>
          <a:bodyPr/>
          <a:lstStyle/>
          <a:p>
            <a:endParaRPr lang="en-US"/>
          </a:p>
        </p:txBody>
      </p:sp>
      <p:sp>
        <p:nvSpPr>
          <p:cNvPr id="19" name="Text 17"/>
          <p:cNvSpPr/>
          <p:nvPr/>
        </p:nvSpPr>
        <p:spPr>
          <a:xfrm>
            <a:off x="1051560" y="4050792"/>
            <a:ext cx="2926080" cy="43891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Rebalancing data</a:t>
            </a:r>
            <a:endParaRPr lang="en-US" sz="1250" dirty="0"/>
          </a:p>
        </p:txBody>
      </p:sp>
      <p:sp>
        <p:nvSpPr>
          <p:cNvPr id="20" name="Text 18"/>
          <p:cNvSpPr/>
          <p:nvPr/>
        </p:nvSpPr>
        <p:spPr>
          <a:xfrm>
            <a:off x="4023360" y="4050792"/>
            <a:ext cx="3566160" cy="438912"/>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Manual and painful</a:t>
            </a:r>
            <a:endParaRPr lang="en-US" sz="1200" dirty="0"/>
          </a:p>
        </p:txBody>
      </p:sp>
      <p:sp>
        <p:nvSpPr>
          <p:cNvPr id="21" name="Text 19"/>
          <p:cNvSpPr/>
          <p:nvPr/>
        </p:nvSpPr>
        <p:spPr>
          <a:xfrm>
            <a:off x="7680960" y="4050792"/>
            <a:ext cx="3474720" cy="438912"/>
          </a:xfrm>
          <a:prstGeom prst="rect">
            <a:avLst/>
          </a:prstGeom>
          <a:noFill/>
          <a:ln/>
        </p:spPr>
        <p:txBody>
          <a:bodyPr wrap="square" lIns="0" tIns="0" rIns="0" bIns="0" rtlCol="0" anchor="ctr"/>
          <a:lstStyle/>
          <a:p>
            <a:pPr marL="0" indent="0">
              <a:buNone/>
            </a:pPr>
            <a:r>
              <a:rPr lang="en-US" sz="1200" dirty="0">
                <a:solidFill>
                  <a:srgbClr val="2E7D5B"/>
                </a:solidFill>
                <a:latin typeface="Calibri" pitchFamily="34" charset="0"/>
                <a:ea typeface="Calibri" pitchFamily="34" charset="-122"/>
                <a:cs typeface="Calibri" pitchFamily="34" charset="-120"/>
              </a:rPr>
              <a:t>Automatic chunk balancing</a:t>
            </a:r>
            <a:endParaRPr lang="en-US" sz="1200" dirty="0"/>
          </a:p>
        </p:txBody>
      </p:sp>
      <p:sp>
        <p:nvSpPr>
          <p:cNvPr id="22" name="Shape 20"/>
          <p:cNvSpPr/>
          <p:nvPr/>
        </p:nvSpPr>
        <p:spPr>
          <a:xfrm>
            <a:off x="777240" y="4562856"/>
            <a:ext cx="10607040" cy="438912"/>
          </a:xfrm>
          <a:prstGeom prst="roundRect">
            <a:avLst>
              <a:gd name="adj" fmla="val 8333"/>
            </a:avLst>
          </a:prstGeom>
          <a:solidFill>
            <a:srgbClr val="FFFFFF"/>
          </a:solidFill>
          <a:ln w="12700">
            <a:solidFill>
              <a:srgbClr val="E1E8ED"/>
            </a:solidFill>
            <a:prstDash val="solid"/>
          </a:ln>
        </p:spPr>
        <p:txBody>
          <a:bodyPr/>
          <a:lstStyle/>
          <a:p>
            <a:endParaRPr lang="en-US"/>
          </a:p>
        </p:txBody>
      </p:sp>
      <p:sp>
        <p:nvSpPr>
          <p:cNvPr id="23" name="Text 21"/>
          <p:cNvSpPr/>
          <p:nvPr/>
        </p:nvSpPr>
        <p:spPr>
          <a:xfrm>
            <a:off x="1051560" y="4562856"/>
            <a:ext cx="2926080" cy="43891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Bad shard key</a:t>
            </a:r>
            <a:endParaRPr lang="en-US" sz="1250" dirty="0"/>
          </a:p>
        </p:txBody>
      </p:sp>
      <p:sp>
        <p:nvSpPr>
          <p:cNvPr id="24" name="Text 22"/>
          <p:cNvSpPr/>
          <p:nvPr/>
        </p:nvSpPr>
        <p:spPr>
          <a:xfrm>
            <a:off x="4023360" y="4562856"/>
            <a:ext cx="3566160" cy="438912"/>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Hot shard</a:t>
            </a:r>
            <a:endParaRPr lang="en-US" sz="1200" dirty="0"/>
          </a:p>
        </p:txBody>
      </p:sp>
      <p:sp>
        <p:nvSpPr>
          <p:cNvPr id="25" name="Text 23"/>
          <p:cNvSpPr/>
          <p:nvPr/>
        </p:nvSpPr>
        <p:spPr>
          <a:xfrm>
            <a:off x="7680960" y="4562856"/>
            <a:ext cx="3474720" cy="438912"/>
          </a:xfrm>
          <a:prstGeom prst="rect">
            <a:avLst/>
          </a:prstGeom>
          <a:noFill/>
          <a:ln/>
        </p:spPr>
        <p:txBody>
          <a:bodyPr wrap="square" lIns="0" tIns="0" rIns="0" bIns="0" rtlCol="0" anchor="ctr"/>
          <a:lstStyle/>
          <a:p>
            <a:pPr marL="0" indent="0">
              <a:buNone/>
            </a:pPr>
            <a:r>
              <a:rPr lang="en-US" sz="1200" dirty="0">
                <a:solidFill>
                  <a:srgbClr val="2E7D5B"/>
                </a:solidFill>
                <a:latin typeface="Calibri" pitchFamily="34" charset="0"/>
                <a:ea typeface="Calibri" pitchFamily="34" charset="-122"/>
                <a:cs typeface="Calibri" pitchFamily="34" charset="-120"/>
              </a:rPr>
              <a:t>Hot shard — identical problem</a:t>
            </a:r>
            <a:endParaRPr lang="en-US" sz="1200" dirty="0"/>
          </a:p>
        </p:txBody>
      </p:sp>
      <p:sp>
        <p:nvSpPr>
          <p:cNvPr id="26" name="Shape 24"/>
          <p:cNvSpPr/>
          <p:nvPr/>
        </p:nvSpPr>
        <p:spPr>
          <a:xfrm>
            <a:off x="777240" y="5074920"/>
            <a:ext cx="10607040" cy="438912"/>
          </a:xfrm>
          <a:prstGeom prst="roundRect">
            <a:avLst>
              <a:gd name="adj" fmla="val 8333"/>
            </a:avLst>
          </a:prstGeom>
          <a:solidFill>
            <a:srgbClr val="F4F7F9"/>
          </a:solidFill>
          <a:ln w="12700">
            <a:solidFill>
              <a:srgbClr val="E1E8ED"/>
            </a:solidFill>
            <a:prstDash val="solid"/>
          </a:ln>
        </p:spPr>
        <p:txBody>
          <a:bodyPr/>
          <a:lstStyle/>
          <a:p>
            <a:endParaRPr lang="en-US"/>
          </a:p>
        </p:txBody>
      </p:sp>
      <p:sp>
        <p:nvSpPr>
          <p:cNvPr id="27" name="Text 25"/>
          <p:cNvSpPr/>
          <p:nvPr/>
        </p:nvSpPr>
        <p:spPr>
          <a:xfrm>
            <a:off x="1051560" y="5074920"/>
            <a:ext cx="2926080" cy="43891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Cross-machine joins</a:t>
            </a:r>
            <a:endParaRPr lang="en-US" sz="1250" dirty="0"/>
          </a:p>
        </p:txBody>
      </p:sp>
      <p:sp>
        <p:nvSpPr>
          <p:cNvPr id="28" name="Text 26"/>
          <p:cNvSpPr/>
          <p:nvPr/>
        </p:nvSpPr>
        <p:spPr>
          <a:xfrm>
            <a:off x="4023360" y="5074920"/>
            <a:ext cx="3566160" cy="438912"/>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App does it</a:t>
            </a:r>
            <a:endParaRPr lang="en-US" sz="1200" dirty="0"/>
          </a:p>
        </p:txBody>
      </p:sp>
      <p:sp>
        <p:nvSpPr>
          <p:cNvPr id="29" name="Text 27"/>
          <p:cNvSpPr/>
          <p:nvPr/>
        </p:nvSpPr>
        <p:spPr>
          <a:xfrm>
            <a:off x="7680960" y="5074920"/>
            <a:ext cx="3474720" cy="438912"/>
          </a:xfrm>
          <a:prstGeom prst="rect">
            <a:avLst/>
          </a:prstGeom>
          <a:noFill/>
          <a:ln/>
        </p:spPr>
        <p:txBody>
          <a:bodyPr wrap="square" lIns="0" tIns="0" rIns="0" bIns="0" rtlCol="0" anchor="ctr"/>
          <a:lstStyle/>
          <a:p>
            <a:pPr marL="0" indent="0">
              <a:buNone/>
            </a:pPr>
            <a:r>
              <a:rPr lang="en-US" sz="1200" dirty="0">
                <a:solidFill>
                  <a:srgbClr val="2E7D5B"/>
                </a:solidFill>
                <a:latin typeface="Calibri" pitchFamily="34" charset="0"/>
                <a:ea typeface="Calibri" pitchFamily="34" charset="-122"/>
                <a:cs typeface="Calibri" pitchFamily="34" charset="-120"/>
              </a:rPr>
              <a:t>Avoided by embedding documents</a:t>
            </a:r>
            <a:endParaRPr lang="en-US" sz="1200" dirty="0"/>
          </a:p>
        </p:txBody>
      </p:sp>
      <p:sp>
        <p:nvSpPr>
          <p:cNvPr id="30" name="Shape 28"/>
          <p:cNvSpPr/>
          <p:nvPr/>
        </p:nvSpPr>
        <p:spPr>
          <a:xfrm>
            <a:off x="777240" y="5586984"/>
            <a:ext cx="10607040" cy="438912"/>
          </a:xfrm>
          <a:prstGeom prst="roundRect">
            <a:avLst>
              <a:gd name="adj" fmla="val 8333"/>
            </a:avLst>
          </a:prstGeom>
          <a:solidFill>
            <a:srgbClr val="FFFFFF"/>
          </a:solidFill>
          <a:ln w="12700">
            <a:solidFill>
              <a:srgbClr val="E1E8ED"/>
            </a:solidFill>
            <a:prstDash val="solid"/>
          </a:ln>
        </p:spPr>
        <p:txBody>
          <a:bodyPr/>
          <a:lstStyle/>
          <a:p>
            <a:endParaRPr lang="en-US"/>
          </a:p>
        </p:txBody>
      </p:sp>
      <p:sp>
        <p:nvSpPr>
          <p:cNvPr id="31" name="Text 29"/>
          <p:cNvSpPr/>
          <p:nvPr/>
        </p:nvSpPr>
        <p:spPr>
          <a:xfrm>
            <a:off x="1051560" y="5586984"/>
            <a:ext cx="2926080" cy="438912"/>
          </a:xfrm>
          <a:prstGeom prst="rect">
            <a:avLst/>
          </a:prstGeom>
          <a:noFill/>
          <a:ln/>
        </p:spPr>
        <p:txBody>
          <a:bodyPr wrap="square" lIns="0" tIns="0" rIns="0" bIns="0" rtlCol="0" anchor="ctr"/>
          <a:lstStyle/>
          <a:p>
            <a:pPr marL="0" indent="0">
              <a:buNone/>
            </a:pPr>
            <a:r>
              <a:rPr lang="en-US" sz="1250" b="1" dirty="0">
                <a:solidFill>
                  <a:srgbClr val="13293D"/>
                </a:solidFill>
                <a:latin typeface="Calibri" pitchFamily="34" charset="0"/>
                <a:ea typeface="Calibri" pitchFamily="34" charset="-122"/>
                <a:cs typeface="Calibri" pitchFamily="34" charset="-120"/>
              </a:rPr>
              <a:t>Transactions</a:t>
            </a:r>
            <a:endParaRPr lang="en-US" sz="1250" dirty="0"/>
          </a:p>
        </p:txBody>
      </p:sp>
      <p:sp>
        <p:nvSpPr>
          <p:cNvPr id="32" name="Text 30"/>
          <p:cNvSpPr/>
          <p:nvPr/>
        </p:nvSpPr>
        <p:spPr>
          <a:xfrm>
            <a:off x="4023360" y="5586984"/>
            <a:ext cx="3566160" cy="438912"/>
          </a:xfrm>
          <a:prstGeom prst="rect">
            <a:avLst/>
          </a:prstGeom>
          <a:noFill/>
          <a:ln/>
        </p:spPr>
        <p:txBody>
          <a:bodyPr wrap="square" lIns="0" tIns="0" rIns="0" bIns="0" rtlCol="0" anchor="ctr"/>
          <a:lstStyle/>
          <a:p>
            <a:pPr marL="0" indent="0">
              <a:buNone/>
            </a:pPr>
            <a:r>
              <a:rPr lang="en-US" sz="1200" dirty="0">
                <a:solidFill>
                  <a:srgbClr val="065A82"/>
                </a:solidFill>
                <a:latin typeface="Calibri" pitchFamily="34" charset="0"/>
                <a:ea typeface="Calibri" pitchFamily="34" charset="-122"/>
                <a:cs typeface="Calibri" pitchFamily="34" charset="-120"/>
              </a:rPr>
              <a:t>Strong and mature</a:t>
            </a:r>
            <a:endParaRPr lang="en-US" sz="1200" dirty="0"/>
          </a:p>
        </p:txBody>
      </p:sp>
      <p:sp>
        <p:nvSpPr>
          <p:cNvPr id="33" name="Text 31"/>
          <p:cNvSpPr/>
          <p:nvPr/>
        </p:nvSpPr>
        <p:spPr>
          <a:xfrm>
            <a:off x="7680960" y="5586984"/>
            <a:ext cx="3474720" cy="438912"/>
          </a:xfrm>
          <a:prstGeom prst="rect">
            <a:avLst/>
          </a:prstGeom>
          <a:noFill/>
          <a:ln/>
        </p:spPr>
        <p:txBody>
          <a:bodyPr wrap="square" lIns="0" tIns="0" rIns="0" bIns="0" rtlCol="0" anchor="ctr"/>
          <a:lstStyle/>
          <a:p>
            <a:pPr marL="0" indent="0">
              <a:buNone/>
            </a:pPr>
            <a:r>
              <a:rPr lang="en-US" sz="1200" dirty="0">
                <a:solidFill>
                  <a:srgbClr val="2E7D5B"/>
                </a:solidFill>
                <a:latin typeface="Calibri" pitchFamily="34" charset="0"/>
                <a:ea typeface="Calibri" pitchFamily="34" charset="-122"/>
                <a:cs typeface="Calibri" pitchFamily="34" charset="-120"/>
              </a:rPr>
              <a:t>Supported, costlier across shards</a:t>
            </a:r>
            <a:endParaRPr lang="en-US" sz="1200" dirty="0"/>
          </a:p>
        </p:txBody>
      </p:sp>
      <p:sp>
        <p:nvSpPr>
          <p:cNvPr id="34" name="Text 32"/>
          <p:cNvSpPr/>
          <p:nvPr/>
        </p:nvSpPr>
        <p:spPr>
          <a:xfrm>
            <a:off x="4114800" y="2260941"/>
            <a:ext cx="3566160" cy="274320"/>
          </a:xfrm>
          <a:prstGeom prst="rect">
            <a:avLst/>
          </a:prstGeom>
          <a:noFill/>
          <a:ln/>
        </p:spPr>
        <p:txBody>
          <a:bodyPr wrap="square" lIns="0" tIns="0" rIns="0" bIns="0"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MySQL</a:t>
            </a:r>
            <a:endParaRPr lang="en-US" sz="1300" dirty="0"/>
          </a:p>
        </p:txBody>
      </p:sp>
      <p:sp>
        <p:nvSpPr>
          <p:cNvPr id="35" name="Text 33"/>
          <p:cNvSpPr/>
          <p:nvPr/>
        </p:nvSpPr>
        <p:spPr>
          <a:xfrm>
            <a:off x="7909560" y="2272284"/>
            <a:ext cx="3474720" cy="274320"/>
          </a:xfrm>
          <a:prstGeom prst="rect">
            <a:avLst/>
          </a:prstGeom>
          <a:noFill/>
          <a:ln/>
        </p:spPr>
        <p:txBody>
          <a:bodyPr wrap="square" lIns="0" tIns="0" rIns="0" bIns="0" rtlCol="0" anchor="ctr"/>
          <a:lstStyle/>
          <a:p>
            <a:pPr marL="0" indent="0">
              <a:buNone/>
            </a:pPr>
            <a:r>
              <a:rPr lang="en-US" sz="1300" b="1" dirty="0">
                <a:solidFill>
                  <a:srgbClr val="2E7D5B"/>
                </a:solidFill>
                <a:latin typeface="Calibri" pitchFamily="34" charset="0"/>
                <a:ea typeface="Calibri" pitchFamily="34" charset="-122"/>
                <a:cs typeface="Calibri" pitchFamily="34" charset="-120"/>
              </a:rPr>
              <a:t>MongoDB</a:t>
            </a:r>
            <a:endParaRPr lang="en-US" sz="1300" dirty="0"/>
          </a:p>
        </p:txBody>
      </p:sp>
      <p:sp>
        <p:nvSpPr>
          <p:cNvPr id="36" name="Text 34"/>
          <p:cNvSpPr/>
          <p:nvPr/>
        </p:nvSpPr>
        <p:spPr>
          <a:xfrm>
            <a:off x="777240" y="6172200"/>
            <a:ext cx="10607040" cy="365760"/>
          </a:xfrm>
          <a:prstGeom prst="rect">
            <a:avLst/>
          </a:prstGeom>
          <a:noFill/>
          <a:ln/>
        </p:spPr>
        <p:txBody>
          <a:bodyPr wrap="square" lIns="0" tIns="0" rIns="0" bIns="0" rtlCol="0" anchor="ctr"/>
          <a:lstStyle/>
          <a:p>
            <a:pPr marL="0" indent="0">
              <a:buNone/>
            </a:pPr>
            <a:r>
              <a:rPr lang="en-US" sz="1250" i="1" dirty="0">
                <a:solidFill>
                  <a:srgbClr val="5A6B76"/>
                </a:solidFill>
                <a:latin typeface="Calibri" pitchFamily="34" charset="0"/>
                <a:ea typeface="Calibri" pitchFamily="34" charset="-122"/>
                <a:cs typeface="Calibri" pitchFamily="34" charset="-120"/>
              </a:rPr>
              <a:t>MySQL can shard too — YouTube built Vitess to do exactly that. The honest statement is that MySQL does not shard natively, not that it cannot scale horizontally.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So When Would You Actually Choose Each?</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The data model decides, not the scale</a:t>
            </a:r>
            <a:endParaRPr lang="en-US" sz="1500" dirty="0"/>
          </a:p>
        </p:txBody>
      </p:sp>
      <p:sp>
        <p:nvSpPr>
          <p:cNvPr id="4" name="Shape 2"/>
          <p:cNvSpPr/>
          <p:nvPr/>
        </p:nvSpPr>
        <p:spPr>
          <a:xfrm>
            <a:off x="777240" y="1600200"/>
            <a:ext cx="5212080" cy="2651760"/>
          </a:xfrm>
          <a:prstGeom prst="roundRect">
            <a:avLst>
              <a:gd name="adj" fmla="val 2069"/>
            </a:avLst>
          </a:prstGeom>
          <a:solidFill>
            <a:srgbClr val="F4F7F9"/>
          </a:solidFill>
          <a:ln w="12700">
            <a:solidFill>
              <a:srgbClr val="E1E8ED"/>
            </a:solidFill>
            <a:prstDash val="solid"/>
          </a:ln>
        </p:spPr>
        <p:txBody>
          <a:bodyPr/>
          <a:lstStyle/>
          <a:p>
            <a:endParaRPr lang="en-US"/>
          </a:p>
        </p:txBody>
      </p:sp>
      <p:sp>
        <p:nvSpPr>
          <p:cNvPr id="5" name="Text 3"/>
          <p:cNvSpPr/>
          <p:nvPr/>
        </p:nvSpPr>
        <p:spPr>
          <a:xfrm>
            <a:off x="1033272" y="178308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Relational is the better fit when</a:t>
            </a:r>
            <a:endParaRPr lang="en-US" sz="1550" dirty="0"/>
          </a:p>
        </p:txBody>
      </p:sp>
      <p:sp>
        <p:nvSpPr>
          <p:cNvPr id="6" name="Text 4"/>
          <p:cNvSpPr/>
          <p:nvPr/>
        </p:nvSpPr>
        <p:spPr>
          <a:xfrm>
            <a:off x="1033272" y="2176272"/>
            <a:ext cx="4754880" cy="187452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Data has many relationships worth enforcing</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You need real transactions — payments, ledgers, inventory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Queries are varied and not known in advance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Correctness matters more than raw write volume</a:t>
            </a:r>
            <a:endParaRPr lang="en-US" sz="1250" dirty="0"/>
          </a:p>
        </p:txBody>
      </p:sp>
      <p:sp>
        <p:nvSpPr>
          <p:cNvPr id="7" name="Shape 5"/>
          <p:cNvSpPr/>
          <p:nvPr/>
        </p:nvSpPr>
        <p:spPr>
          <a:xfrm>
            <a:off x="6172200" y="1600200"/>
            <a:ext cx="5212080" cy="2651760"/>
          </a:xfrm>
          <a:prstGeom prst="roundRect">
            <a:avLst>
              <a:gd name="adj" fmla="val 2069"/>
            </a:avLst>
          </a:prstGeom>
          <a:solidFill>
            <a:srgbClr val="EAF5EF"/>
          </a:solidFill>
          <a:ln w="12700">
            <a:solidFill>
              <a:srgbClr val="E1E8ED"/>
            </a:solidFill>
            <a:prstDash val="solid"/>
          </a:ln>
        </p:spPr>
        <p:txBody>
          <a:bodyPr/>
          <a:lstStyle/>
          <a:p>
            <a:endParaRPr lang="en-US"/>
          </a:p>
        </p:txBody>
      </p:sp>
      <p:sp>
        <p:nvSpPr>
          <p:cNvPr id="8" name="Text 6"/>
          <p:cNvSpPr/>
          <p:nvPr/>
        </p:nvSpPr>
        <p:spPr>
          <a:xfrm>
            <a:off x="6428232" y="1783080"/>
            <a:ext cx="4754880" cy="365760"/>
          </a:xfrm>
          <a:prstGeom prst="rect">
            <a:avLst/>
          </a:prstGeom>
          <a:noFill/>
          <a:ln/>
        </p:spPr>
        <p:txBody>
          <a:bodyPr wrap="square" lIns="0" tIns="0" rIns="0" bIns="0" rtlCol="0" anchor="ctr"/>
          <a:lstStyle/>
          <a:p>
            <a:pPr marL="0" indent="0">
              <a:buNone/>
            </a:pPr>
            <a:r>
              <a:rPr lang="en-US" sz="1550" b="1" dirty="0">
                <a:solidFill>
                  <a:srgbClr val="2E7D5B"/>
                </a:solidFill>
                <a:latin typeface="Calibri" pitchFamily="34" charset="0"/>
                <a:ea typeface="Calibri" pitchFamily="34" charset="-122"/>
                <a:cs typeface="Calibri" pitchFamily="34" charset="-120"/>
              </a:rPr>
              <a:t>Document store is the better fit when</a:t>
            </a:r>
            <a:endParaRPr lang="en-US" sz="1550" dirty="0"/>
          </a:p>
        </p:txBody>
      </p:sp>
      <p:sp>
        <p:nvSpPr>
          <p:cNvPr id="9" name="Text 7"/>
          <p:cNvSpPr/>
          <p:nvPr/>
        </p:nvSpPr>
        <p:spPr>
          <a:xfrm>
            <a:off x="6428232" y="2176272"/>
            <a:ext cx="4754880" cy="187452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Each record is self-contained — a post, an event, a log</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The shape of the data varies between records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You know the access pattern in advance</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Write volume is enormous and joins are rare</a:t>
            </a:r>
            <a:endParaRPr lang="en-US" sz="1250" dirty="0"/>
          </a:p>
        </p:txBody>
      </p:sp>
      <p:sp>
        <p:nvSpPr>
          <p:cNvPr id="10" name="Shape 8"/>
          <p:cNvSpPr/>
          <p:nvPr/>
        </p:nvSpPr>
        <p:spPr>
          <a:xfrm>
            <a:off x="777240" y="4434840"/>
            <a:ext cx="10607040" cy="1691640"/>
          </a:xfrm>
          <a:prstGeom prst="roundRect">
            <a:avLst>
              <a:gd name="adj" fmla="val 3243"/>
            </a:avLst>
          </a:prstGeom>
          <a:solidFill>
            <a:srgbClr val="13293D"/>
          </a:solidFill>
          <a:ln/>
        </p:spPr>
        <p:txBody>
          <a:bodyPr/>
          <a:lstStyle/>
          <a:p>
            <a:endParaRPr lang="en-US"/>
          </a:p>
        </p:txBody>
      </p:sp>
      <p:sp>
        <p:nvSpPr>
          <p:cNvPr id="11" name="Text 9"/>
          <p:cNvSpPr/>
          <p:nvPr/>
        </p:nvSpPr>
        <p:spPr>
          <a:xfrm>
            <a:off x="1097280" y="4572000"/>
            <a:ext cx="10058400" cy="320040"/>
          </a:xfrm>
          <a:prstGeom prst="rect">
            <a:avLst/>
          </a:prstGeom>
          <a:noFill/>
          <a:ln/>
        </p:spPr>
        <p:txBody>
          <a:bodyPr wrap="square" lIns="0" tIns="0" rIns="0" bIns="0"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What real systems do</a:t>
            </a:r>
            <a:endParaRPr lang="en-US" sz="1400" dirty="0"/>
          </a:p>
        </p:txBody>
      </p:sp>
      <p:sp>
        <p:nvSpPr>
          <p:cNvPr id="12" name="Text 10"/>
          <p:cNvSpPr/>
          <p:nvPr/>
        </p:nvSpPr>
        <p:spPr>
          <a:xfrm>
            <a:off x="1097280" y="4937760"/>
            <a:ext cx="9966960" cy="105156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Calibri" pitchFamily="34" charset="0"/>
                <a:ea typeface="Calibri" pitchFamily="34" charset="-122"/>
                <a:cs typeface="Calibri" pitchFamily="34" charset="-120"/>
              </a:rPr>
              <a:t>They use both. CampusEats would keep orders and payments in a relational database because a wrong balance is unacceptable, and put delivery-tracking pings, logs and notification history in a document store because there are millions of them and nobody joins them. Choosing one database for an entire company is the actual mistake.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CampusEats, Fully Scaled</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Nine lectures of decisions in one picture</a:t>
            </a:r>
            <a:endParaRPr lang="en-US" sz="1500" dirty="0"/>
          </a:p>
        </p:txBody>
      </p:sp>
      <p:sp>
        <p:nvSpPr>
          <p:cNvPr id="4" name="Shape 2"/>
          <p:cNvSpPr/>
          <p:nvPr/>
        </p:nvSpPr>
        <p:spPr>
          <a:xfrm>
            <a:off x="777240" y="2788920"/>
            <a:ext cx="1463040" cy="777240"/>
          </a:xfrm>
          <a:prstGeom prst="roundRect">
            <a:avLst>
              <a:gd name="adj" fmla="val 7059"/>
            </a:avLst>
          </a:prstGeom>
          <a:solidFill>
            <a:srgbClr val="1C7293"/>
          </a:solidFill>
          <a:ln/>
        </p:spPr>
        <p:txBody>
          <a:bodyPr/>
          <a:lstStyle/>
          <a:p>
            <a:endParaRPr lang="en-US"/>
          </a:p>
        </p:txBody>
      </p:sp>
      <p:sp>
        <p:nvSpPr>
          <p:cNvPr id="5" name="Text 3"/>
          <p:cNvSpPr/>
          <p:nvPr/>
        </p:nvSpPr>
        <p:spPr>
          <a:xfrm>
            <a:off x="777240" y="2788920"/>
            <a:ext cx="1463040" cy="777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Users</a:t>
            </a:r>
            <a:endParaRPr lang="en-US" sz="1350" dirty="0"/>
          </a:p>
        </p:txBody>
      </p:sp>
      <p:sp>
        <p:nvSpPr>
          <p:cNvPr id="6" name="Shape 4"/>
          <p:cNvSpPr/>
          <p:nvPr/>
        </p:nvSpPr>
        <p:spPr>
          <a:xfrm>
            <a:off x="2606040" y="2788920"/>
            <a:ext cx="1554480" cy="777240"/>
          </a:xfrm>
          <a:prstGeom prst="roundRect">
            <a:avLst>
              <a:gd name="adj" fmla="val 7059"/>
            </a:avLst>
          </a:prstGeom>
          <a:solidFill>
            <a:srgbClr val="3F6B52"/>
          </a:solidFill>
          <a:ln/>
        </p:spPr>
        <p:txBody>
          <a:bodyPr/>
          <a:lstStyle/>
          <a:p>
            <a:endParaRPr lang="en-US"/>
          </a:p>
        </p:txBody>
      </p:sp>
      <p:sp>
        <p:nvSpPr>
          <p:cNvPr id="7" name="Text 5"/>
          <p:cNvSpPr/>
          <p:nvPr/>
        </p:nvSpPr>
        <p:spPr>
          <a:xfrm>
            <a:off x="2606040" y="2898648"/>
            <a:ext cx="155448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CDN</a:t>
            </a:r>
            <a:endParaRPr lang="en-US" sz="1350" dirty="0"/>
          </a:p>
        </p:txBody>
      </p:sp>
      <p:sp>
        <p:nvSpPr>
          <p:cNvPr id="8" name="Text 6"/>
          <p:cNvSpPr/>
          <p:nvPr/>
        </p:nvSpPr>
        <p:spPr>
          <a:xfrm>
            <a:off x="2606040" y="3200400"/>
            <a:ext cx="1554480" cy="292608"/>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images</a:t>
            </a:r>
            <a:endParaRPr lang="en-US" sz="1000" dirty="0"/>
          </a:p>
        </p:txBody>
      </p:sp>
      <p:sp>
        <p:nvSpPr>
          <p:cNvPr id="9" name="Shape 7"/>
          <p:cNvSpPr/>
          <p:nvPr/>
        </p:nvSpPr>
        <p:spPr>
          <a:xfrm>
            <a:off x="4526280" y="2788920"/>
            <a:ext cx="1645920" cy="777240"/>
          </a:xfrm>
          <a:prstGeom prst="roundRect">
            <a:avLst>
              <a:gd name="adj" fmla="val 7059"/>
            </a:avLst>
          </a:prstGeom>
          <a:solidFill>
            <a:srgbClr val="065A82"/>
          </a:solidFill>
          <a:ln/>
        </p:spPr>
        <p:txBody>
          <a:bodyPr/>
          <a:lstStyle/>
          <a:p>
            <a:endParaRPr lang="en-US"/>
          </a:p>
        </p:txBody>
      </p:sp>
      <p:sp>
        <p:nvSpPr>
          <p:cNvPr id="10" name="Text 8"/>
          <p:cNvSpPr/>
          <p:nvPr/>
        </p:nvSpPr>
        <p:spPr>
          <a:xfrm>
            <a:off x="4526280" y="2898648"/>
            <a:ext cx="164592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Load bal.</a:t>
            </a:r>
            <a:endParaRPr lang="en-US" sz="1350" dirty="0"/>
          </a:p>
        </p:txBody>
      </p:sp>
      <p:sp>
        <p:nvSpPr>
          <p:cNvPr id="11" name="Text 9"/>
          <p:cNvSpPr/>
          <p:nvPr/>
        </p:nvSpPr>
        <p:spPr>
          <a:xfrm>
            <a:off x="4526280" y="3200400"/>
            <a:ext cx="1645920" cy="292608"/>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many app copies</a:t>
            </a:r>
            <a:endParaRPr lang="en-US" sz="1000" dirty="0"/>
          </a:p>
        </p:txBody>
      </p:sp>
      <p:sp>
        <p:nvSpPr>
          <p:cNvPr id="12" name="Shape 10"/>
          <p:cNvSpPr/>
          <p:nvPr/>
        </p:nvSpPr>
        <p:spPr>
          <a:xfrm>
            <a:off x="6583680" y="1600200"/>
            <a:ext cx="1920240" cy="731520"/>
          </a:xfrm>
          <a:prstGeom prst="roundRect">
            <a:avLst>
              <a:gd name="adj" fmla="val 7500"/>
            </a:avLst>
          </a:prstGeom>
          <a:solidFill>
            <a:srgbClr val="6B4E71"/>
          </a:solidFill>
          <a:ln/>
        </p:spPr>
        <p:txBody>
          <a:bodyPr/>
          <a:lstStyle/>
          <a:p>
            <a:endParaRPr lang="en-US"/>
          </a:p>
        </p:txBody>
      </p:sp>
      <p:sp>
        <p:nvSpPr>
          <p:cNvPr id="13" name="Text 11"/>
          <p:cNvSpPr/>
          <p:nvPr/>
        </p:nvSpPr>
        <p:spPr>
          <a:xfrm>
            <a:off x="6583680" y="1709928"/>
            <a:ext cx="192024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Redis</a:t>
            </a:r>
            <a:endParaRPr lang="en-US" sz="1350" dirty="0"/>
          </a:p>
        </p:txBody>
      </p:sp>
      <p:sp>
        <p:nvSpPr>
          <p:cNvPr id="14" name="Text 12"/>
          <p:cNvSpPr/>
          <p:nvPr/>
        </p:nvSpPr>
        <p:spPr>
          <a:xfrm>
            <a:off x="6583680" y="2011680"/>
            <a:ext cx="1920240" cy="292608"/>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sessions, hot data</a:t>
            </a:r>
            <a:endParaRPr lang="en-US" sz="1000" dirty="0"/>
          </a:p>
        </p:txBody>
      </p:sp>
      <p:sp>
        <p:nvSpPr>
          <p:cNvPr id="15" name="Shape 13"/>
          <p:cNvSpPr/>
          <p:nvPr/>
        </p:nvSpPr>
        <p:spPr>
          <a:xfrm>
            <a:off x="6583680" y="2560320"/>
            <a:ext cx="1920240" cy="731520"/>
          </a:xfrm>
          <a:prstGeom prst="roundRect">
            <a:avLst>
              <a:gd name="adj" fmla="val 7500"/>
            </a:avLst>
          </a:prstGeom>
          <a:solidFill>
            <a:srgbClr val="1C7293"/>
          </a:solidFill>
          <a:ln/>
        </p:spPr>
        <p:txBody>
          <a:bodyPr/>
          <a:lstStyle/>
          <a:p>
            <a:endParaRPr lang="en-US"/>
          </a:p>
        </p:txBody>
      </p:sp>
      <p:sp>
        <p:nvSpPr>
          <p:cNvPr id="16" name="Text 14"/>
          <p:cNvSpPr/>
          <p:nvPr/>
        </p:nvSpPr>
        <p:spPr>
          <a:xfrm>
            <a:off x="6583680" y="2670048"/>
            <a:ext cx="192024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Search index</a:t>
            </a:r>
            <a:endParaRPr lang="en-US" sz="1350" dirty="0"/>
          </a:p>
        </p:txBody>
      </p:sp>
      <p:sp>
        <p:nvSpPr>
          <p:cNvPr id="17" name="Text 15"/>
          <p:cNvSpPr/>
          <p:nvPr/>
        </p:nvSpPr>
        <p:spPr>
          <a:xfrm>
            <a:off x="6583680" y="2971800"/>
            <a:ext cx="1920240" cy="292608"/>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finds things</a:t>
            </a:r>
            <a:endParaRPr lang="en-US" sz="1000" dirty="0"/>
          </a:p>
        </p:txBody>
      </p:sp>
      <p:sp>
        <p:nvSpPr>
          <p:cNvPr id="18" name="Shape 16"/>
          <p:cNvSpPr/>
          <p:nvPr/>
        </p:nvSpPr>
        <p:spPr>
          <a:xfrm>
            <a:off x="6583680" y="3520440"/>
            <a:ext cx="1920240" cy="731520"/>
          </a:xfrm>
          <a:prstGeom prst="roundRect">
            <a:avLst>
              <a:gd name="adj" fmla="val 7500"/>
            </a:avLst>
          </a:prstGeom>
          <a:solidFill>
            <a:srgbClr val="E8A33D"/>
          </a:solidFill>
          <a:ln/>
        </p:spPr>
        <p:txBody>
          <a:bodyPr/>
          <a:lstStyle/>
          <a:p>
            <a:endParaRPr lang="en-US"/>
          </a:p>
        </p:txBody>
      </p:sp>
      <p:sp>
        <p:nvSpPr>
          <p:cNvPr id="19" name="Text 17"/>
          <p:cNvSpPr/>
          <p:nvPr/>
        </p:nvSpPr>
        <p:spPr>
          <a:xfrm>
            <a:off x="6583680" y="3630168"/>
            <a:ext cx="1920240" cy="310896"/>
          </a:xfrm>
          <a:prstGeom prst="rect">
            <a:avLst/>
          </a:prstGeom>
          <a:noFill/>
          <a:ln/>
        </p:spPr>
        <p:txBody>
          <a:bodyPr wrap="square" lIns="0" tIns="0" rIns="0" bIns="0" rtlCol="0" anchor="ctr"/>
          <a:lstStyle/>
          <a:p>
            <a:pPr marL="0" indent="0" algn="ctr">
              <a:buNone/>
            </a:pPr>
            <a:r>
              <a:rPr lang="en-US" sz="1350" b="1" dirty="0">
                <a:solidFill>
                  <a:srgbClr val="13293D"/>
                </a:solidFill>
                <a:latin typeface="Calibri" pitchFamily="34" charset="0"/>
                <a:ea typeface="Calibri" pitchFamily="34" charset="-122"/>
                <a:cs typeface="Calibri" pitchFamily="34" charset="-120"/>
              </a:rPr>
              <a:t>Kafka</a:t>
            </a:r>
            <a:endParaRPr lang="en-US" sz="1350" dirty="0"/>
          </a:p>
        </p:txBody>
      </p:sp>
      <p:sp>
        <p:nvSpPr>
          <p:cNvPr id="20" name="Text 18"/>
          <p:cNvSpPr/>
          <p:nvPr/>
        </p:nvSpPr>
        <p:spPr>
          <a:xfrm>
            <a:off x="6583680" y="3931920"/>
            <a:ext cx="1920240" cy="274320"/>
          </a:xfrm>
          <a:prstGeom prst="rect">
            <a:avLst/>
          </a:prstGeom>
          <a:noFill/>
          <a:ln/>
        </p:spPr>
        <p:txBody>
          <a:bodyPr wrap="square" lIns="0" tIns="0" rIns="0" bIns="0" rtlCol="0" anchor="ctr"/>
          <a:lstStyle/>
          <a:p>
            <a:pPr marL="0" indent="0" algn="ctr">
              <a:buNone/>
            </a:pPr>
            <a:r>
              <a:rPr lang="en-US" sz="1000" dirty="0">
                <a:solidFill>
                  <a:srgbClr val="5A4213"/>
                </a:solidFill>
                <a:latin typeface="Calibri" pitchFamily="34" charset="0"/>
                <a:ea typeface="Calibri" pitchFamily="34" charset="-122"/>
                <a:cs typeface="Calibri" pitchFamily="34" charset="-120"/>
              </a:rPr>
              <a:t>events</a:t>
            </a:r>
            <a:endParaRPr lang="en-US" sz="1000" dirty="0"/>
          </a:p>
        </p:txBody>
      </p:sp>
      <p:sp>
        <p:nvSpPr>
          <p:cNvPr id="21" name="Shape 19"/>
          <p:cNvSpPr/>
          <p:nvPr/>
        </p:nvSpPr>
        <p:spPr>
          <a:xfrm>
            <a:off x="6583680" y="4480560"/>
            <a:ext cx="1920240" cy="731520"/>
          </a:xfrm>
          <a:prstGeom prst="roundRect">
            <a:avLst>
              <a:gd name="adj" fmla="val 7500"/>
            </a:avLst>
          </a:prstGeom>
          <a:solidFill>
            <a:srgbClr val="2B4257"/>
          </a:solidFill>
          <a:ln/>
        </p:spPr>
        <p:txBody>
          <a:bodyPr/>
          <a:lstStyle/>
          <a:p>
            <a:endParaRPr lang="en-US"/>
          </a:p>
        </p:txBody>
      </p:sp>
      <p:sp>
        <p:nvSpPr>
          <p:cNvPr id="22" name="Text 20"/>
          <p:cNvSpPr/>
          <p:nvPr/>
        </p:nvSpPr>
        <p:spPr>
          <a:xfrm>
            <a:off x="6583680" y="4590288"/>
            <a:ext cx="1920240" cy="310896"/>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Router</a:t>
            </a:r>
            <a:endParaRPr lang="en-US" sz="1350" dirty="0"/>
          </a:p>
        </p:txBody>
      </p:sp>
      <p:sp>
        <p:nvSpPr>
          <p:cNvPr id="23" name="Text 21"/>
          <p:cNvSpPr/>
          <p:nvPr/>
        </p:nvSpPr>
        <p:spPr>
          <a:xfrm>
            <a:off x="6583680" y="4892040"/>
            <a:ext cx="1920240" cy="292608"/>
          </a:xfrm>
          <a:prstGeom prst="rect">
            <a:avLst/>
          </a:prstGeom>
          <a:noFill/>
          <a:ln/>
        </p:spPr>
        <p:txBody>
          <a:bodyPr wrap="square" lIns="0" tIns="0" rIns="0" bIns="0" rtlCol="0" anchor="ctr"/>
          <a:lstStyle/>
          <a:p>
            <a:pPr marL="0" indent="0" algn="ctr">
              <a:buNone/>
            </a:pPr>
            <a:r>
              <a:rPr lang="en-US" sz="1000" dirty="0">
                <a:solidFill>
                  <a:srgbClr val="9AD1D4"/>
                </a:solidFill>
                <a:latin typeface="Calibri" pitchFamily="34" charset="0"/>
                <a:ea typeface="Calibri" pitchFamily="34" charset="-122"/>
                <a:cs typeface="Calibri" pitchFamily="34" charset="-120"/>
              </a:rPr>
              <a:t>to shards</a:t>
            </a:r>
            <a:endParaRPr lang="en-US" sz="1000" dirty="0"/>
          </a:p>
        </p:txBody>
      </p:sp>
      <p:sp>
        <p:nvSpPr>
          <p:cNvPr id="24" name="Shape 22"/>
          <p:cNvSpPr/>
          <p:nvPr/>
        </p:nvSpPr>
        <p:spPr>
          <a:xfrm>
            <a:off x="9144000" y="3794760"/>
            <a:ext cx="2240280" cy="475488"/>
          </a:xfrm>
          <a:prstGeom prst="roundRect">
            <a:avLst>
              <a:gd name="adj" fmla="val 9615"/>
            </a:avLst>
          </a:prstGeom>
          <a:solidFill>
            <a:srgbClr val="A03A3A"/>
          </a:solidFill>
          <a:ln/>
        </p:spPr>
        <p:txBody>
          <a:bodyPr/>
          <a:lstStyle/>
          <a:p>
            <a:endParaRPr lang="en-US"/>
          </a:p>
        </p:txBody>
      </p:sp>
      <p:sp>
        <p:nvSpPr>
          <p:cNvPr id="25" name="Text 23"/>
          <p:cNvSpPr/>
          <p:nvPr/>
        </p:nvSpPr>
        <p:spPr>
          <a:xfrm>
            <a:off x="9144000" y="3794760"/>
            <a:ext cx="2240280" cy="47548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Shard 1  + replicas</a:t>
            </a:r>
            <a:endParaRPr lang="en-US" sz="1150" dirty="0"/>
          </a:p>
        </p:txBody>
      </p:sp>
      <p:sp>
        <p:nvSpPr>
          <p:cNvPr id="26" name="Shape 24"/>
          <p:cNvSpPr/>
          <p:nvPr/>
        </p:nvSpPr>
        <p:spPr>
          <a:xfrm>
            <a:off x="9144000" y="4361688"/>
            <a:ext cx="2240280" cy="475488"/>
          </a:xfrm>
          <a:prstGeom prst="roundRect">
            <a:avLst>
              <a:gd name="adj" fmla="val 9615"/>
            </a:avLst>
          </a:prstGeom>
          <a:solidFill>
            <a:srgbClr val="A03A3A"/>
          </a:solidFill>
          <a:ln/>
        </p:spPr>
        <p:txBody>
          <a:bodyPr/>
          <a:lstStyle/>
          <a:p>
            <a:endParaRPr lang="en-US"/>
          </a:p>
        </p:txBody>
      </p:sp>
      <p:sp>
        <p:nvSpPr>
          <p:cNvPr id="27" name="Text 25"/>
          <p:cNvSpPr/>
          <p:nvPr/>
        </p:nvSpPr>
        <p:spPr>
          <a:xfrm>
            <a:off x="9144000" y="4361688"/>
            <a:ext cx="2240280" cy="47548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Shard 2  + replicas</a:t>
            </a:r>
            <a:endParaRPr lang="en-US" sz="1150" dirty="0"/>
          </a:p>
        </p:txBody>
      </p:sp>
      <p:sp>
        <p:nvSpPr>
          <p:cNvPr id="28" name="Shape 26"/>
          <p:cNvSpPr/>
          <p:nvPr/>
        </p:nvSpPr>
        <p:spPr>
          <a:xfrm>
            <a:off x="9144000" y="4928616"/>
            <a:ext cx="2240280" cy="475488"/>
          </a:xfrm>
          <a:prstGeom prst="roundRect">
            <a:avLst>
              <a:gd name="adj" fmla="val 9615"/>
            </a:avLst>
          </a:prstGeom>
          <a:solidFill>
            <a:srgbClr val="A03A3A"/>
          </a:solidFill>
          <a:ln/>
        </p:spPr>
        <p:txBody>
          <a:bodyPr/>
          <a:lstStyle/>
          <a:p>
            <a:endParaRPr lang="en-US"/>
          </a:p>
        </p:txBody>
      </p:sp>
      <p:sp>
        <p:nvSpPr>
          <p:cNvPr id="29" name="Text 27"/>
          <p:cNvSpPr/>
          <p:nvPr/>
        </p:nvSpPr>
        <p:spPr>
          <a:xfrm>
            <a:off x="9144000" y="4928616"/>
            <a:ext cx="2240280" cy="47548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Shard 3  + replicas</a:t>
            </a:r>
            <a:endParaRPr lang="en-US" sz="1150" dirty="0"/>
          </a:p>
        </p:txBody>
      </p:sp>
      <p:sp>
        <p:nvSpPr>
          <p:cNvPr id="30" name="Shape 28"/>
          <p:cNvSpPr/>
          <p:nvPr/>
        </p:nvSpPr>
        <p:spPr>
          <a:xfrm>
            <a:off x="2286000" y="3172968"/>
            <a:ext cx="274320" cy="0"/>
          </a:xfrm>
          <a:prstGeom prst="line">
            <a:avLst/>
          </a:prstGeom>
          <a:noFill/>
          <a:ln w="22860">
            <a:solidFill>
              <a:srgbClr val="E8A33D"/>
            </a:solidFill>
            <a:prstDash val="solid"/>
            <a:headEnd type="none"/>
            <a:tailEnd type="triangle"/>
          </a:ln>
        </p:spPr>
        <p:txBody>
          <a:bodyPr/>
          <a:lstStyle/>
          <a:p>
            <a:endParaRPr lang="en-US"/>
          </a:p>
        </p:txBody>
      </p:sp>
      <p:sp>
        <p:nvSpPr>
          <p:cNvPr id="31" name="Shape 29"/>
          <p:cNvSpPr/>
          <p:nvPr/>
        </p:nvSpPr>
        <p:spPr>
          <a:xfrm>
            <a:off x="4206240" y="3172968"/>
            <a:ext cx="274320" cy="0"/>
          </a:xfrm>
          <a:prstGeom prst="line">
            <a:avLst/>
          </a:prstGeom>
          <a:noFill/>
          <a:ln w="22860">
            <a:solidFill>
              <a:srgbClr val="E8A33D"/>
            </a:solidFill>
            <a:prstDash val="solid"/>
            <a:headEnd type="none"/>
            <a:tailEnd type="triangle"/>
          </a:ln>
        </p:spPr>
        <p:txBody>
          <a:bodyPr/>
          <a:lstStyle/>
          <a:p>
            <a:endParaRPr lang="en-US"/>
          </a:p>
        </p:txBody>
      </p:sp>
      <p:sp>
        <p:nvSpPr>
          <p:cNvPr id="32" name="Shape 30"/>
          <p:cNvSpPr/>
          <p:nvPr/>
        </p:nvSpPr>
        <p:spPr>
          <a:xfrm flipV="1">
            <a:off x="6217920" y="1965960"/>
            <a:ext cx="320040" cy="1207008"/>
          </a:xfrm>
          <a:prstGeom prst="line">
            <a:avLst/>
          </a:prstGeom>
          <a:noFill/>
          <a:ln w="22860">
            <a:solidFill>
              <a:srgbClr val="E8A33D"/>
            </a:solidFill>
            <a:prstDash val="solid"/>
            <a:headEnd type="none"/>
            <a:tailEnd type="triangle"/>
          </a:ln>
        </p:spPr>
        <p:txBody>
          <a:bodyPr/>
          <a:lstStyle/>
          <a:p>
            <a:endParaRPr lang="en-US"/>
          </a:p>
        </p:txBody>
      </p:sp>
      <p:sp>
        <p:nvSpPr>
          <p:cNvPr id="33" name="Shape 31"/>
          <p:cNvSpPr/>
          <p:nvPr/>
        </p:nvSpPr>
        <p:spPr>
          <a:xfrm flipV="1">
            <a:off x="6217920" y="2926080"/>
            <a:ext cx="320040" cy="246888"/>
          </a:xfrm>
          <a:prstGeom prst="line">
            <a:avLst/>
          </a:prstGeom>
          <a:noFill/>
          <a:ln w="22860">
            <a:solidFill>
              <a:srgbClr val="E8A33D"/>
            </a:solidFill>
            <a:prstDash val="solid"/>
            <a:headEnd type="none"/>
            <a:tailEnd type="triangle"/>
          </a:ln>
        </p:spPr>
        <p:txBody>
          <a:bodyPr/>
          <a:lstStyle/>
          <a:p>
            <a:endParaRPr lang="en-US"/>
          </a:p>
        </p:txBody>
      </p:sp>
      <p:sp>
        <p:nvSpPr>
          <p:cNvPr id="34" name="Shape 32"/>
          <p:cNvSpPr/>
          <p:nvPr/>
        </p:nvSpPr>
        <p:spPr>
          <a:xfrm>
            <a:off x="6217920" y="3172968"/>
            <a:ext cx="320040" cy="713232"/>
          </a:xfrm>
          <a:prstGeom prst="line">
            <a:avLst/>
          </a:prstGeom>
          <a:noFill/>
          <a:ln w="22860">
            <a:solidFill>
              <a:srgbClr val="E8A33D"/>
            </a:solidFill>
            <a:prstDash val="solid"/>
            <a:headEnd type="none"/>
            <a:tailEnd type="triangle"/>
          </a:ln>
        </p:spPr>
        <p:txBody>
          <a:bodyPr/>
          <a:lstStyle/>
          <a:p>
            <a:endParaRPr lang="en-US"/>
          </a:p>
        </p:txBody>
      </p:sp>
      <p:sp>
        <p:nvSpPr>
          <p:cNvPr id="35" name="Shape 33"/>
          <p:cNvSpPr/>
          <p:nvPr/>
        </p:nvSpPr>
        <p:spPr>
          <a:xfrm>
            <a:off x="6217920" y="3172968"/>
            <a:ext cx="320040" cy="1673352"/>
          </a:xfrm>
          <a:prstGeom prst="line">
            <a:avLst/>
          </a:prstGeom>
          <a:noFill/>
          <a:ln w="22860">
            <a:solidFill>
              <a:srgbClr val="E8A33D"/>
            </a:solidFill>
            <a:prstDash val="solid"/>
            <a:headEnd type="none"/>
            <a:tailEnd type="triangle"/>
          </a:ln>
        </p:spPr>
        <p:txBody>
          <a:bodyPr/>
          <a:lstStyle/>
          <a:p>
            <a:endParaRPr lang="en-US"/>
          </a:p>
        </p:txBody>
      </p:sp>
      <p:sp>
        <p:nvSpPr>
          <p:cNvPr id="36" name="Shape 34"/>
          <p:cNvSpPr/>
          <p:nvPr/>
        </p:nvSpPr>
        <p:spPr>
          <a:xfrm flipV="1">
            <a:off x="8549640" y="4069080"/>
            <a:ext cx="548640" cy="777240"/>
          </a:xfrm>
          <a:prstGeom prst="line">
            <a:avLst/>
          </a:prstGeom>
          <a:noFill/>
          <a:ln w="22860">
            <a:solidFill>
              <a:srgbClr val="E8A33D"/>
            </a:solidFill>
            <a:prstDash val="solid"/>
            <a:headEnd type="none"/>
            <a:tailEnd type="triangle"/>
          </a:ln>
        </p:spPr>
        <p:txBody>
          <a:bodyPr/>
          <a:lstStyle/>
          <a:p>
            <a:endParaRPr lang="en-US"/>
          </a:p>
        </p:txBody>
      </p:sp>
      <p:sp>
        <p:nvSpPr>
          <p:cNvPr id="37" name="Shape 35"/>
          <p:cNvSpPr/>
          <p:nvPr/>
        </p:nvSpPr>
        <p:spPr>
          <a:xfrm>
            <a:off x="777240" y="5532120"/>
            <a:ext cx="10607040" cy="868680"/>
          </a:xfrm>
          <a:prstGeom prst="roundRect">
            <a:avLst>
              <a:gd name="adj" fmla="val 6316"/>
            </a:avLst>
          </a:prstGeom>
          <a:solidFill>
            <a:srgbClr val="FDF3E3"/>
          </a:solidFill>
          <a:ln w="16510">
            <a:solidFill>
              <a:srgbClr val="E8A33D"/>
            </a:solidFill>
            <a:prstDash val="solid"/>
          </a:ln>
        </p:spPr>
        <p:txBody>
          <a:bodyPr/>
          <a:lstStyle/>
          <a:p>
            <a:endParaRPr lang="en-US"/>
          </a:p>
        </p:txBody>
      </p:sp>
      <p:sp>
        <p:nvSpPr>
          <p:cNvPr id="38" name="Text 36"/>
          <p:cNvSpPr/>
          <p:nvPr/>
        </p:nvSpPr>
        <p:spPr>
          <a:xfrm>
            <a:off x="1097280" y="5532120"/>
            <a:ext cx="10058400" cy="868680"/>
          </a:xfrm>
          <a:prstGeom prst="rect">
            <a:avLst/>
          </a:prstGeom>
          <a:noFill/>
          <a:ln/>
        </p:spPr>
        <p:txBody>
          <a:bodyPr wrap="square" lIns="0" tIns="0" rIns="0" bIns="0" rtlCol="0" anchor="ctr"/>
          <a:lstStyle/>
          <a:p>
            <a:pPr marL="0" indent="0">
              <a:buNone/>
            </a:pPr>
            <a:r>
              <a:rPr lang="en-US" sz="1400" b="1" dirty="0">
                <a:solidFill>
                  <a:srgbClr val="1B2A33"/>
                </a:solidFill>
                <a:latin typeface="Calibri" pitchFamily="34" charset="0"/>
                <a:ea typeface="Calibri" pitchFamily="34" charset="-122"/>
                <a:cs typeface="Calibri" pitchFamily="34" charset="-120"/>
              </a:rPr>
              <a:t>Every box here was added to solve one specific measured problem. A team that drew this on day one, for fifty users, would have been wrong.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972800" cy="640080"/>
          </a:xfrm>
          <a:prstGeom prst="rect">
            <a:avLst/>
          </a:prstGeom>
          <a:noFill/>
          <a:ln/>
        </p:spPr>
        <p:txBody>
          <a:bodyPr wrap="square" lIns="0" tIns="0" rIns="0" bIns="0" rtlCol="0" anchor="ctr"/>
          <a:lstStyle/>
          <a:p>
            <a:pPr marL="0" indent="0">
              <a:buNone/>
            </a:pPr>
            <a:r>
              <a:rPr lang="en-US" sz="3100" b="1" dirty="0">
                <a:solidFill>
                  <a:srgbClr val="13293D"/>
                </a:solidFill>
                <a:latin typeface="Cambria" pitchFamily="34" charset="0"/>
                <a:ea typeface="Cambria" pitchFamily="34" charset="-122"/>
                <a:cs typeface="Cambria" pitchFamily="34" charset="-120"/>
              </a:rPr>
              <a:t>Recap and Before Next Class</a:t>
            </a:r>
            <a:endParaRPr lang="en-US" sz="3100" dirty="0"/>
          </a:p>
        </p:txBody>
      </p:sp>
      <p:sp>
        <p:nvSpPr>
          <p:cNvPr id="3" name="Text 1"/>
          <p:cNvSpPr/>
          <p:nvPr/>
        </p:nvSpPr>
        <p:spPr>
          <a:xfrm>
            <a:off x="658368" y="1005840"/>
            <a:ext cx="10972800" cy="384048"/>
          </a:xfrm>
          <a:prstGeom prst="rect">
            <a:avLst/>
          </a:prstGeom>
          <a:noFill/>
          <a:ln/>
        </p:spPr>
        <p:txBody>
          <a:bodyPr wrap="square" lIns="0" tIns="0" rIns="0" bIns="0" rtlCol="0" anchor="ctr"/>
          <a:lstStyle/>
          <a:p>
            <a:pPr marL="0" indent="0">
              <a:buNone/>
            </a:pPr>
            <a:r>
              <a:rPr lang="en-US" sz="1500" i="1" dirty="0">
                <a:solidFill>
                  <a:srgbClr val="5A6B76"/>
                </a:solidFill>
                <a:latin typeface="Calibri" pitchFamily="34" charset="0"/>
                <a:ea typeface="Calibri" pitchFamily="34" charset="-122"/>
                <a:cs typeface="Calibri" pitchFamily="34" charset="-120"/>
              </a:rPr>
              <a:t>Lecture 7 takeaways</a:t>
            </a:r>
            <a:endParaRPr lang="en-US" sz="1500" dirty="0"/>
          </a:p>
        </p:txBody>
      </p:sp>
      <p:sp>
        <p:nvSpPr>
          <p:cNvPr id="4" name="Shape 2"/>
          <p:cNvSpPr/>
          <p:nvPr/>
        </p:nvSpPr>
        <p:spPr>
          <a:xfrm>
            <a:off x="777240" y="1554480"/>
            <a:ext cx="5212080" cy="3017520"/>
          </a:xfrm>
          <a:prstGeom prst="roundRect">
            <a:avLst>
              <a:gd name="adj" fmla="val 1818"/>
            </a:avLst>
          </a:prstGeom>
          <a:solidFill>
            <a:srgbClr val="F4F7F9"/>
          </a:solidFill>
          <a:ln w="12700">
            <a:solidFill>
              <a:srgbClr val="E1E8ED"/>
            </a:solidFill>
            <a:prstDash val="solid"/>
          </a:ln>
        </p:spPr>
        <p:txBody>
          <a:bodyPr/>
          <a:lstStyle/>
          <a:p>
            <a:endParaRPr lang="en-US"/>
          </a:p>
        </p:txBody>
      </p:sp>
      <p:sp>
        <p:nvSpPr>
          <p:cNvPr id="5" name="Text 3"/>
          <p:cNvSpPr/>
          <p:nvPr/>
        </p:nvSpPr>
        <p:spPr>
          <a:xfrm>
            <a:off x="1033272" y="1737360"/>
            <a:ext cx="4754880" cy="365760"/>
          </a:xfrm>
          <a:prstGeom prst="rect">
            <a:avLst/>
          </a:prstGeom>
          <a:noFill/>
          <a:ln/>
        </p:spPr>
        <p:txBody>
          <a:bodyPr wrap="square" lIns="0" tIns="0" rIns="0" bIns="0" rtlCol="0" anchor="ctr"/>
          <a:lstStyle/>
          <a:p>
            <a:pPr marL="0" indent="0">
              <a:buNone/>
            </a:pPr>
            <a:r>
              <a:rPr lang="en-US" sz="1550" b="1" dirty="0">
                <a:solidFill>
                  <a:srgbClr val="065A82"/>
                </a:solidFill>
                <a:latin typeface="Calibri" pitchFamily="34" charset="0"/>
                <a:ea typeface="Calibri" pitchFamily="34" charset="-122"/>
                <a:cs typeface="Calibri" pitchFamily="34" charset="-120"/>
              </a:rPr>
              <a:t>Remember these six</a:t>
            </a:r>
            <a:endParaRPr lang="en-US" sz="1550" dirty="0"/>
          </a:p>
        </p:txBody>
      </p:sp>
      <p:sp>
        <p:nvSpPr>
          <p:cNvPr id="6" name="Text 4"/>
          <p:cNvSpPr/>
          <p:nvPr/>
        </p:nvSpPr>
        <p:spPr>
          <a:xfrm>
            <a:off x="1033272" y="2130552"/>
            <a:ext cx="4754880" cy="2240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Replication copies everything; sharding divides it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Only sharding increases write capacity</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The shard key is the decision that matters most</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Monotonic keys create hot shards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Joins and transactions do not cross machines</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NoSQL automates routing, not judgement</a:t>
            </a:r>
            <a:endParaRPr lang="en-US" sz="1250" dirty="0"/>
          </a:p>
        </p:txBody>
      </p:sp>
      <p:sp>
        <p:nvSpPr>
          <p:cNvPr id="7" name="Shape 5"/>
          <p:cNvSpPr/>
          <p:nvPr/>
        </p:nvSpPr>
        <p:spPr>
          <a:xfrm>
            <a:off x="6172200" y="1554480"/>
            <a:ext cx="5212080" cy="3017520"/>
          </a:xfrm>
          <a:prstGeom prst="roundRect">
            <a:avLst>
              <a:gd name="adj" fmla="val 1818"/>
            </a:avLst>
          </a:prstGeom>
          <a:solidFill>
            <a:srgbClr val="F3EEF5"/>
          </a:solidFill>
          <a:ln w="12700">
            <a:solidFill>
              <a:srgbClr val="E1E8ED"/>
            </a:solidFill>
            <a:prstDash val="solid"/>
          </a:ln>
        </p:spPr>
        <p:txBody>
          <a:bodyPr/>
          <a:lstStyle/>
          <a:p>
            <a:endParaRPr lang="en-US"/>
          </a:p>
        </p:txBody>
      </p:sp>
      <p:sp>
        <p:nvSpPr>
          <p:cNvPr id="8" name="Text 6"/>
          <p:cNvSpPr/>
          <p:nvPr/>
        </p:nvSpPr>
        <p:spPr>
          <a:xfrm>
            <a:off x="6428232" y="1737360"/>
            <a:ext cx="4754880" cy="365760"/>
          </a:xfrm>
          <a:prstGeom prst="rect">
            <a:avLst/>
          </a:prstGeom>
          <a:noFill/>
          <a:ln/>
        </p:spPr>
        <p:txBody>
          <a:bodyPr wrap="square" lIns="0" tIns="0" rIns="0" bIns="0" rtlCol="0" anchor="ctr"/>
          <a:lstStyle/>
          <a:p>
            <a:pPr marL="0" indent="0">
              <a:buNone/>
            </a:pPr>
            <a:r>
              <a:rPr lang="en-US" sz="1550" b="1" dirty="0">
                <a:solidFill>
                  <a:srgbClr val="6B4E71"/>
                </a:solidFill>
                <a:latin typeface="Calibri" pitchFamily="34" charset="0"/>
                <a:ea typeface="Calibri" pitchFamily="34" charset="-122"/>
                <a:cs typeface="Calibri" pitchFamily="34" charset="-120"/>
              </a:rPr>
              <a:t>Think before Lecture 8</a:t>
            </a:r>
            <a:endParaRPr lang="en-US" sz="1550" dirty="0"/>
          </a:p>
        </p:txBody>
      </p:sp>
      <p:sp>
        <p:nvSpPr>
          <p:cNvPr id="9" name="Text 7"/>
          <p:cNvSpPr/>
          <p:nvPr/>
        </p:nvSpPr>
        <p:spPr>
          <a:xfrm>
            <a:off x="6428232" y="2130552"/>
            <a:ext cx="4754880" cy="2240280"/>
          </a:xfrm>
          <a:prstGeom prst="rect">
            <a:avLst/>
          </a:prstGeom>
          <a:noFill/>
          <a:ln/>
        </p:spPr>
        <p:txBody>
          <a:bodyPr wrap="square" lIns="0" tIns="0" rIns="0" bIns="0" rtlCol="0" anchor="ctr"/>
          <a:lstStyle/>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A shard goes offline during a network fault. Do you refuse writes, or accept them and reconcile later?</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Which choice would you make for a payment? For a like button?</a:t>
            </a:r>
            <a:endParaRPr lang="en-US" sz="1250" dirty="0"/>
          </a:p>
          <a:p>
            <a:pPr marL="342900" indent="-342900">
              <a:lnSpc>
                <a:spcPts val="1600"/>
              </a:lnSpc>
              <a:spcAft>
                <a:spcPts val="500"/>
              </a:spcAft>
              <a:buSzPct val="100000"/>
              <a:buChar char="•"/>
            </a:pPr>
            <a:r>
              <a:rPr lang="en-US" sz="1250" dirty="0">
                <a:solidFill>
                  <a:srgbClr val="1B2A33"/>
                </a:solidFill>
                <a:latin typeface="Calibri" pitchFamily="34" charset="0"/>
                <a:ea typeface="Calibri" pitchFamily="34" charset="-122"/>
                <a:cs typeface="Calibri" pitchFamily="34" charset="-120"/>
              </a:rPr>
              <a:t>Can you have both? Argue either way.</a:t>
            </a:r>
            <a:endParaRPr lang="en-US" sz="1250" dirty="0"/>
          </a:p>
        </p:txBody>
      </p:sp>
      <p:sp>
        <p:nvSpPr>
          <p:cNvPr id="10" name="Shape 8"/>
          <p:cNvSpPr/>
          <p:nvPr/>
        </p:nvSpPr>
        <p:spPr>
          <a:xfrm>
            <a:off x="777240" y="4800600"/>
            <a:ext cx="10607040" cy="1280160"/>
          </a:xfrm>
          <a:prstGeom prst="roundRect">
            <a:avLst>
              <a:gd name="adj" fmla="val 4286"/>
            </a:avLst>
          </a:prstGeom>
          <a:solidFill>
            <a:srgbClr val="13293D"/>
          </a:solidFill>
          <a:ln/>
        </p:spPr>
        <p:txBody>
          <a:bodyPr/>
          <a:lstStyle/>
          <a:p>
            <a:endParaRPr lang="en-US"/>
          </a:p>
        </p:txBody>
      </p:sp>
      <p:sp>
        <p:nvSpPr>
          <p:cNvPr id="11" name="Text 9"/>
          <p:cNvSpPr/>
          <p:nvPr/>
        </p:nvSpPr>
        <p:spPr>
          <a:xfrm>
            <a:off x="1097280" y="4937760"/>
            <a:ext cx="3657600" cy="320040"/>
          </a:xfrm>
          <a:prstGeom prst="rect">
            <a:avLst/>
          </a:prstGeom>
          <a:noFill/>
          <a:ln/>
        </p:spPr>
        <p:txBody>
          <a:bodyPr wrap="square" lIns="0" tIns="0" rIns="0" bIns="0"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Next lecture</a:t>
            </a:r>
            <a:endParaRPr lang="en-US" sz="1200" dirty="0"/>
          </a:p>
        </p:txBody>
      </p:sp>
      <p:sp>
        <p:nvSpPr>
          <p:cNvPr id="12" name="Text 10"/>
          <p:cNvSpPr/>
          <p:nvPr/>
        </p:nvSpPr>
        <p:spPr>
          <a:xfrm>
            <a:off x="1097280" y="5285232"/>
            <a:ext cx="9966960" cy="731520"/>
          </a:xfrm>
          <a:prstGeom prst="rect">
            <a:avLst/>
          </a:prstGeom>
          <a:noFill/>
          <a:ln/>
        </p:spPr>
        <p:txBody>
          <a:bodyPr wrap="square" lIns="0" tIns="0" rIns="0" bIns="0" rtlCol="0" anchor="ctr"/>
          <a:lstStyle/>
          <a:p>
            <a:pPr marL="0" indent="0">
              <a:lnSpc>
                <a:spcPts val="2000"/>
              </a:lnSpc>
              <a:buNone/>
            </a:pPr>
            <a:r>
              <a:rPr lang="en-US" sz="1400" dirty="0">
                <a:solidFill>
                  <a:srgbClr val="FFFFFF"/>
                </a:solidFill>
                <a:latin typeface="Calibri" pitchFamily="34" charset="0"/>
                <a:ea typeface="Calibri" pitchFamily="34" charset="-122"/>
                <a:cs typeface="Calibri" pitchFamily="34" charset="-120"/>
              </a:rPr>
              <a:t>Consistency and the CAP theorem — the question above, answered properly. Now that replication, lag and sharding are concrete, the trade-off will mean something instead of being a triangle to memorise.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658</TotalTime>
  <Words>2000</Words>
  <Application>Microsoft Macintosh PowerPoint</Application>
  <PresentationFormat>Widescreen</PresentationFormat>
  <Paragraphs>254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Gaurav Raj</cp:lastModifiedBy>
  <cp:revision>2</cp:revision>
  <dcterms:created xsi:type="dcterms:W3CDTF">2026-09-07T09:10:28Z</dcterms:created>
  <dcterms:modified xsi:type="dcterms:W3CDTF">2026-09-08T05:13:50Z</dcterms:modified>
</cp:coreProperties>
</file>