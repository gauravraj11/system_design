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4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1205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pointing out caching is the single highest-leverage technique in the course: cheapest fix, biggest speedup, most ways to get it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opener: ask the class to name a cache before showing the list. They will get three of the 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Roughly 8 minutes per round, leaving 15 for the Redis section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them compute. Expect answers around 5 ms. The exact figure matters less than seeing the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"protect the database" framing is the one to stress — it explains why cache hit ratio is monitored everywhere.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Cart and stock count are the instructive traps. Let them argue before revealing.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naming convention: object:id:field, colon separated. Redis has no folders; the key name is the only structure you 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students assume the cache magically populates itself. It does not, unless you chose read-through.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them note the setex line — TTL is not optional. A cache entry without an expiry is a memory leak with extra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which pattern a like-button counter should use. Write-behind is defensible there; for a payment it never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proposals: oldest, least used, random. All three are real policies.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volatile-lru vs allkeys-lru: the volatile variants only evict keys that have a TTL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round that matters most in practice. Give it the most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every cache is a deliberate decision to be wrong for a while. The design question is only "how long is acceptable".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scariest slide of the lecture and the one they will remember. Let the silence sit.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should the app fail fast or serve stale data when Redis is down? Both are defensible; make them argue.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key value NX EX 10 is the one-line Redis lock. Mention it; the lab will use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callback to the mystery-logouts round. They should reach the answer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multi-level caching, and it mirrors the CPU L1/L2/RAM hierarchy exactly. Draw the parallel.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KEYS * warning is genuinely useful career advice. Tell them to use SCAN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time allows, demo ZADD and ZREVRANGE live. It takes 30 seconds and impresses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back: this is exactly why "cart stored only in Redis" was marked Never in Round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Fair-minded framing matters here. Students should not leave thinking Memcached is simply worse.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which layers they, as developers, actually control. Answer: all of them except the user's browser behaviour.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this. It reframes caching from a trick into a trade-off, which is the theme of the whole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097280"/>
            <a:ext cx="2377440" cy="457200"/>
          </a:xfrm>
          <a:prstGeom prst="roundRect">
            <a:avLst>
              <a:gd name="adj" fmla="val 44000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the Answer</a:t>
            </a:r>
            <a:endParaRPr lang="en-US" sz="44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Nearby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8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Caching, and Redis in particular. You have used caches in five lectures</a:t>
            </a:r>
            <a:endParaRPr lang="en-US" sz="18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8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once being told how they work, or how they fail.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Have Been Using Caches All Along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appeared in an earlier lecture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106070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109728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cache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931920" y="16459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CSS and scripts kept on your own disk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487168"/>
            <a:ext cx="10607040" cy="731520"/>
          </a:xfrm>
          <a:prstGeom prst="roundRect">
            <a:avLst>
              <a:gd name="adj" fmla="val 625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2487168"/>
            <a:ext cx="109728" cy="7315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248716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cache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31920" y="248716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Browser, OS, router and resolver all remember IPs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328416"/>
            <a:ext cx="106070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3328416"/>
            <a:ext cx="109728" cy="731520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332841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edge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931920" y="3328416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of images in a city near the user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" y="4169664"/>
            <a:ext cx="10607040" cy="731520"/>
          </a:xfrm>
          <a:prstGeom prst="roundRect">
            <a:avLst>
              <a:gd name="adj" fmla="val 625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77240" y="4169664"/>
            <a:ext cx="109728" cy="731520"/>
          </a:xfrm>
          <a:prstGeom prst="rect">
            <a:avLst/>
          </a:prstGeom>
          <a:solidFill>
            <a:srgbClr val="C630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97280" y="416966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931920" y="4169664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search results and sessions, in memory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7240" y="5010912"/>
            <a:ext cx="106070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77240" y="5010912"/>
            <a:ext cx="109728" cy="731520"/>
          </a:xfrm>
          <a:prstGeom prst="rect">
            <a:avLst/>
          </a:prstGeom>
          <a:solidFill>
            <a:srgbClr val="6B4E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97280" y="50109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buffer pool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931920" y="5010912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Recently used 16 KB pages held in RAM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all the same idea: keep the answer somewhere faster than the place that produced it. Today we study the idea itself.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Six Rounds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is a symptom before it is a technique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10607040" cy="667512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783080"/>
            <a:ext cx="1280160" cy="402336"/>
          </a:xfrm>
          <a:prstGeom prst="roundRect">
            <a:avLst>
              <a:gd name="adj" fmla="val 4545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78308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0" y="1645920"/>
            <a:ext cx="3566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even worth it?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217920" y="1645920"/>
            <a:ext cx="49377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arithmetic of a cache hit ratio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423160"/>
            <a:ext cx="10607040" cy="667512"/>
          </a:xfrm>
          <a:prstGeom prst="roundRect">
            <a:avLst>
              <a:gd name="adj" fmla="val 8219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5840" y="2560320"/>
            <a:ext cx="1280160" cy="402336"/>
          </a:xfrm>
          <a:prstGeom prst="roundRect">
            <a:avLst>
              <a:gd name="adj" fmla="val 4545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256032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2423160"/>
            <a:ext cx="3566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deserves a cache?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217920" y="2423160"/>
            <a:ext cx="49377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must never go in one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200400"/>
            <a:ext cx="10607040" cy="667512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05840" y="3337560"/>
            <a:ext cx="1280160" cy="402336"/>
          </a:xfrm>
          <a:prstGeom prst="roundRect">
            <a:avLst>
              <a:gd name="adj" fmla="val 4545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333756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3200400"/>
            <a:ext cx="3566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writes to the cache?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217920" y="3200400"/>
            <a:ext cx="49377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patterns, and the one everyone uses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" y="3977640"/>
            <a:ext cx="10607040" cy="667512"/>
          </a:xfrm>
          <a:prstGeom prst="roundRect">
            <a:avLst>
              <a:gd name="adj" fmla="val 8219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5840" y="4114800"/>
            <a:ext cx="1280160" cy="402336"/>
          </a:xfrm>
          <a:prstGeom prst="roundRect">
            <a:avLst>
              <a:gd name="adj" fmla="val 4545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411480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0" y="3977640"/>
            <a:ext cx="3566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cache is full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217920" y="3977640"/>
            <a:ext cx="49377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entry do you throw away?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7240" y="4754880"/>
            <a:ext cx="10607040" cy="667512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5840" y="4892040"/>
            <a:ext cx="1280160" cy="402336"/>
          </a:xfrm>
          <a:prstGeom prst="roundRect">
            <a:avLst>
              <a:gd name="adj" fmla="val 4545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5840" y="489204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60320" y="4754880"/>
            <a:ext cx="3566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changed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217920" y="4754880"/>
            <a:ext cx="49377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Invalidation, the genuinely hard part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77240" y="5532120"/>
            <a:ext cx="10607040" cy="667512"/>
          </a:xfrm>
          <a:prstGeom prst="roundRect">
            <a:avLst>
              <a:gd name="adj" fmla="val 8219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05840" y="5669280"/>
            <a:ext cx="1280160" cy="402336"/>
          </a:xfrm>
          <a:prstGeom prst="roundRect">
            <a:avLst>
              <a:gd name="adj" fmla="val 45455"/>
            </a:avLst>
          </a:prstGeom>
          <a:solidFill>
            <a:srgbClr val="A0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05840" y="566928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60320" y="5532120"/>
            <a:ext cx="3566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cache restarted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217920" y="5532120"/>
            <a:ext cx="49377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a cache takes down the database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Redis itself: why it is fast, what it stores, how it survives a restart, and when Memcached is the better choice.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3383280" cy="411480"/>
          </a:xfrm>
          <a:prstGeom prst="roundRect">
            <a:avLst>
              <a:gd name="adj" fmla="val 44444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4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 ·  QUESTION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page query takes 50 ms against the database. You receive 10,000 requests per second. Someone proposes putting Redis in front, which answers in 1 ms.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10515600" cy="1600200"/>
          </a:xfrm>
          <a:prstGeom prst="roundRect">
            <a:avLst>
              <a:gd name="adj" fmla="val 4571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3017520"/>
            <a:ext cx="9784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 cache answers 9 of every 10 requests,</a:t>
            </a:r>
            <a:endParaRPr lang="en-US" sz="2500" dirty="0"/>
          </a:p>
          <a:p>
            <a:pPr marL="0" indent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average response time now?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68680" y="4892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arithmetic before you accept the idea. It is one line.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1 — The Arithmetic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cache is worth it or not, and you can tell in one line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444752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44475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time  =  (hit ratio × cache time)  +  (miss ratio × database time).  At 90%: 0.9 × 1 ms + 0.1 × 50 ms = 5.9 ms. Ten thousand requests per second became one thousand reaching the database.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514600"/>
            <a:ext cx="2468880" cy="1828800"/>
          </a:xfrm>
          <a:prstGeom prst="roundRect">
            <a:avLst>
              <a:gd name="adj" fmla="val 3500"/>
            </a:avLst>
          </a:prstGeom>
          <a:solidFill>
            <a:srgbClr val="A0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ratio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25.5 ms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913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rps hit the DB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02152" y="2514600"/>
            <a:ext cx="2468880" cy="1828800"/>
          </a:xfrm>
          <a:prstGeom prst="roundRect">
            <a:avLst>
              <a:gd name="adj" fmla="val 35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02152" y="2697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02152" y="3200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ratio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02152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 ms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39312" y="3913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rps hit the DB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27064" y="2514600"/>
            <a:ext cx="2468880" cy="1828800"/>
          </a:xfrm>
          <a:prstGeom prst="roundRect">
            <a:avLst>
              <a:gd name="adj" fmla="val 3500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27064" y="2697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27064" y="3200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ratio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27064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3.45 ms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64224" y="3913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rps hit the DB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51976" y="2514600"/>
            <a:ext cx="2468880" cy="1828800"/>
          </a:xfrm>
          <a:prstGeom prst="roundRect">
            <a:avLst>
              <a:gd name="adj" fmla="val 35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951976" y="2697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951976" y="3200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ratio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951976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1.49 ms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89136" y="3913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rps hit the DB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7240" y="4526280"/>
            <a:ext cx="10607040" cy="1234440"/>
          </a:xfrm>
          <a:prstGeom prst="roundRect">
            <a:avLst>
              <a:gd name="adj" fmla="val 4444"/>
            </a:avLst>
          </a:prstGeom>
          <a:solidFill>
            <a:srgbClr val="FDF3E3"/>
          </a:solidFill>
          <a:ln w="1778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97280" y="4663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non-obvious part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5010912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from 90% to 99% barely changes the average a user feels — but it cuts database load by a factor of ten. Caches are usually added to protect the database, not to speed up the page.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7240" y="58978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misses still cost 50 ms, so a cache never fixes a slow query. It only makes it rarer.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3383280" cy="411480"/>
          </a:xfrm>
          <a:prstGeom prst="roundRect">
            <a:avLst>
              <a:gd name="adj" fmla="val 44444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4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 ·  QUESTION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proposes caching, in Redis: the home page banner, a user’s shopping cart, the result of a rare filter nobody repeats, the live stock count of a product, and a user’s session.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10515600" cy="1600200"/>
          </a:xfrm>
          <a:prstGeom prst="roundRect">
            <a:avLst>
              <a:gd name="adj" fmla="val 4571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3017520"/>
            <a:ext cx="9784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of those five belong in a cache,</a:t>
            </a:r>
            <a:endParaRPr lang="en-US" sz="2500" dirty="0"/>
          </a:p>
          <a:p>
            <a:pPr marL="0" indent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which are dangerous there?</a:t>
            </a:r>
            <a:endParaRPr lang="en-US" sz="2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2 — What Belongs in a Cache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questions decide it: is it read often, and is it reproducible?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106070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109728" cy="731520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600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banner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16002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by everyone, changes rarely, rebuildable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18320" y="1755648"/>
            <a:ext cx="1737360" cy="420624"/>
          </a:xfrm>
          <a:prstGeom prst="roundRect">
            <a:avLst>
              <a:gd name="adj" fmla="val 39130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18320" y="1755648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2441448"/>
            <a:ext cx="10607040" cy="731520"/>
          </a:xfrm>
          <a:prstGeom prst="roundRect">
            <a:avLst>
              <a:gd name="adj" fmla="val 625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" y="2441448"/>
            <a:ext cx="109728" cy="731520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24414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session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244144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 every request; store it IN Redis as the source of truth, with persistence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418320" y="2596896"/>
            <a:ext cx="1737360" cy="420624"/>
          </a:xfrm>
          <a:prstGeom prst="roundRect">
            <a:avLst>
              <a:gd name="adj" fmla="val 39130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418320" y="2596896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Ideal, with care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3282696"/>
            <a:ext cx="106070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3282696"/>
            <a:ext cx="109728" cy="73152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97280" y="328269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stock count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0" y="3282696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often, but a stale value oversells the product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418320" y="3438144"/>
            <a:ext cx="1737360" cy="420624"/>
          </a:xfrm>
          <a:prstGeom prst="roundRect">
            <a:avLst>
              <a:gd name="adj" fmla="val 3913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418320" y="3438144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very briefly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4123944"/>
            <a:ext cx="10607040" cy="731520"/>
          </a:xfrm>
          <a:prstGeom prst="roundRect">
            <a:avLst>
              <a:gd name="adj" fmla="val 6250"/>
            </a:avLst>
          </a:prstGeom>
          <a:solidFill>
            <a:srgbClr val="FDF0EE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77240" y="4123944"/>
            <a:ext cx="109728" cy="731520"/>
          </a:xfrm>
          <a:prstGeom prst="rect">
            <a:avLst/>
          </a:prstGeom>
          <a:solidFill>
            <a:srgbClr val="A0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97280" y="4123944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filter result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14800" y="4123944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never repeated, so it occupies memory for nothing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418320" y="4279392"/>
            <a:ext cx="1737360" cy="420624"/>
          </a:xfrm>
          <a:prstGeom prst="roundRect">
            <a:avLst>
              <a:gd name="adj" fmla="val 39130"/>
            </a:avLst>
          </a:prstGeom>
          <a:solidFill>
            <a:srgbClr val="A0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418320" y="4279392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cache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7240" y="4965192"/>
            <a:ext cx="10607040" cy="731520"/>
          </a:xfrm>
          <a:prstGeom prst="roundRect">
            <a:avLst>
              <a:gd name="adj" fmla="val 6250"/>
            </a:avLst>
          </a:prstGeom>
          <a:solidFill>
            <a:srgbClr val="FDF0EE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77240" y="4965192"/>
            <a:ext cx="109728" cy="731520"/>
          </a:xfrm>
          <a:prstGeom prst="rect">
            <a:avLst/>
          </a:prstGeom>
          <a:solidFill>
            <a:srgbClr val="A0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97280" y="496519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 as the only copy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114800" y="496519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personal data; an eviction loses the user’s cart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418320" y="5120640"/>
            <a:ext cx="1737360" cy="420624"/>
          </a:xfrm>
          <a:prstGeom prst="roundRect">
            <a:avLst>
              <a:gd name="adj" fmla="val 39130"/>
            </a:avLst>
          </a:prstGeom>
          <a:solidFill>
            <a:srgbClr val="A0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418320" y="512064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matters too: a key is a contract. product:8471:detail  is greppable and expirable; a hashed blob of a whole SQL string is neither.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3383280" cy="411480"/>
          </a:xfrm>
          <a:prstGeom prst="roundRect">
            <a:avLst>
              <a:gd name="adj" fmla="val 44444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4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 ·  QUESTION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cache is empty. A request arrives for product 8471. Someone must fetch it from the database and someone must put it into Redis.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10515600" cy="1600200"/>
          </a:xfrm>
          <a:prstGeom prst="roundRect">
            <a:avLst>
              <a:gd name="adj" fmla="val 4571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3017520"/>
            <a:ext cx="9784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does the writing — your application,</a:t>
            </a:r>
            <a:endParaRPr lang="en-US" sz="2500" dirty="0"/>
          </a:p>
          <a:p>
            <a:pPr marL="0" indent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the cache itself?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68680" y="4892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when a product is updated, does the cache learn about it, or just expire?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3 — Cache-Aside, the Pattern You Will Actually Write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owns the cache. Nothing is automatic.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2697480"/>
            <a:ext cx="1645920" cy="82296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063240" y="178308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C630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063240" y="1874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06324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first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63240" y="361188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63240" y="37033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063240" y="3977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 a miss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 flipV="1">
            <a:off x="2468880" y="2240280"/>
            <a:ext cx="548640" cy="868680"/>
          </a:xfrm>
          <a:prstGeom prst="line">
            <a:avLst/>
          </a:prstGeom>
          <a:noFill/>
          <a:ln w="29210">
            <a:solidFill>
              <a:srgbClr val="E8A33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00200" y="2011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68880" y="3154680"/>
            <a:ext cx="548640" cy="868680"/>
          </a:xfrm>
          <a:prstGeom prst="line">
            <a:avLst/>
          </a:prstGeom>
          <a:noFill/>
          <a:ln w="29210">
            <a:solidFill>
              <a:srgbClr val="E8A33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miss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120640" y="2194560"/>
            <a:ext cx="457200" cy="1417320"/>
          </a:xfrm>
          <a:prstGeom prst="line">
            <a:avLst/>
          </a:prstGeom>
          <a:noFill/>
          <a:ln w="20320">
            <a:solidFill>
              <a:srgbClr val="1C7293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629400" y="1600200"/>
            <a:ext cx="4754880" cy="2926080"/>
          </a:xfrm>
          <a:prstGeom prst="roundRect">
            <a:avLst>
              <a:gd name="adj" fmla="val 1875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03720" y="1737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you write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949440" y="2148840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= redis.get(key)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949440" y="2487168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value is None: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949440" y="2825496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 = db.query(...)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949440" y="3163824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630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redis.setex(key, 300, value)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949440" y="3502152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value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949440" y="39776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lines. That is genuinely the whole pattern.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4663440"/>
            <a:ext cx="2514600" cy="50292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46634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Ask Redis for the key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74720" y="4663440"/>
            <a:ext cx="2514600" cy="50292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74720" y="46634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Miss → query the database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4663440"/>
            <a:ext cx="2514600" cy="502920"/>
          </a:xfrm>
          <a:prstGeom prst="roundRect">
            <a:avLst>
              <a:gd name="adj" fmla="val 9091"/>
            </a:avLst>
          </a:prstGeom>
          <a:solidFill>
            <a:srgbClr val="C630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72200" y="46634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Store the result with a TTL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869680" y="4663440"/>
            <a:ext cx="2514600" cy="50292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869680" y="46634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Return it to the user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7240" y="5349240"/>
            <a:ext cx="5212080" cy="1188720"/>
          </a:xfrm>
          <a:prstGeom prst="roundRect">
            <a:avLst>
              <a:gd name="adj" fmla="val 4615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14984" y="55138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dominates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14984" y="5897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database and any cache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cache outage only makes things slow, not broken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 exactly what is cached and for how long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72200" y="5349240"/>
            <a:ext cx="5212080" cy="1188720"/>
          </a:xfrm>
          <a:prstGeom prst="roundRect">
            <a:avLst>
              <a:gd name="adj" fmla="val 4615"/>
            </a:avLst>
          </a:prstGeom>
          <a:solidFill>
            <a:srgbClr val="FDF0EE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09944" y="55138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 you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09944" y="5897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 site repeats those five lines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request after a miss is always slow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data until the TTL expires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Other Four Patterns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about who talks to the database, and when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109728" cy="9601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709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Read-through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566160" y="16916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cache itself fetches from the database on a miss. Your code only ever talks to the cache.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566160" y="213055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code, needs cache library support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269748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2697480"/>
            <a:ext cx="109728" cy="9601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2807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Write-through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6160" y="2788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goes to the cache and the database together, synchronously.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66160" y="322783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never stale; every write is slower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379476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3794760"/>
            <a:ext cx="109728" cy="960120"/>
          </a:xfrm>
          <a:prstGeom prst="rect">
            <a:avLst/>
          </a:prstGeom>
          <a:solidFill>
            <a:srgbClr val="A0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3904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Write-behind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66160" y="38862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 the cache, acknowledge immediately, flush to the database later in batches.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566160" y="432511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 writes; data loss if the cache dies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" y="489204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77240" y="4892040"/>
            <a:ext cx="109728" cy="960120"/>
          </a:xfrm>
          <a:prstGeom prst="rect">
            <a:avLst/>
          </a:prstGeom>
          <a:solidFill>
            <a:srgbClr val="6B4E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97280" y="5001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4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Write-around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566160" y="49834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go straight to the database, skipping the cache entirely.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566160" y="542239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filling cache with write-once data; first read is a miss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77240" y="6035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cache-aside for almost everything. Write-through when staleness is unacceptable. Write-behind only when you can afford to lose recent writes — which is rarer than it sounds.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3383280" cy="411480"/>
          </a:xfrm>
          <a:prstGeom prst="roundRect">
            <a:avLst>
              <a:gd name="adj" fmla="val 44444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4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4  ·  QUESTION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is configured with 8 GB of memory. At 9 pm it is full. A new key arrives that must be stored.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10515600" cy="1600200"/>
          </a:xfrm>
          <a:prstGeom prst="roundRect">
            <a:avLst>
              <a:gd name="adj" fmla="val 4571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3017520"/>
            <a:ext cx="9784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Something has to go. Which entry</a:t>
            </a:r>
            <a:endParaRPr lang="en-US" sz="2500" dirty="0"/>
          </a:p>
          <a:p>
            <a:pPr marL="0" indent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you throw away — and why that one?</a:t>
            </a:r>
            <a:endParaRPr lang="en-US" sz="2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4 — Eviction Policies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Redis does when maxmemory is reached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106070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737360"/>
            <a:ext cx="1188720" cy="438912"/>
          </a:xfrm>
          <a:prstGeom prst="roundRect">
            <a:avLst>
              <a:gd name="adj" fmla="val 37500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73736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LRU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23160" y="160020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Recently Used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0" y="1600200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Evict what nobody has touched for longest. The sensible default for most workloads.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423160"/>
            <a:ext cx="10607040" cy="713232"/>
          </a:xfrm>
          <a:prstGeom prst="roundRect">
            <a:avLst>
              <a:gd name="adj" fmla="val 641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5840" y="2560320"/>
            <a:ext cx="1188720" cy="438912"/>
          </a:xfrm>
          <a:prstGeom prst="roundRect">
            <a:avLst>
              <a:gd name="adj" fmla="val 375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256032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LFU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23160" y="242316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Frequently Used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423160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Evict what is asked for least often. Better when a few keys are permanently hot.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246120"/>
            <a:ext cx="106070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05840" y="3383280"/>
            <a:ext cx="1188720" cy="438912"/>
          </a:xfrm>
          <a:prstGeom prst="roundRect">
            <a:avLst>
              <a:gd name="adj" fmla="val 375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338328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TTL-based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423160" y="324612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time to live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3246120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Evict whatever expires soonest. Useful when everything has an expiry anyway.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4069080"/>
            <a:ext cx="10607040" cy="713232"/>
          </a:xfrm>
          <a:prstGeom prst="roundRect">
            <a:avLst>
              <a:gd name="adj" fmla="val 641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5840" y="4206240"/>
            <a:ext cx="1188720" cy="438912"/>
          </a:xfrm>
          <a:prstGeom prst="roundRect">
            <a:avLst>
              <a:gd name="adj" fmla="val 37500"/>
            </a:avLst>
          </a:prstGeom>
          <a:solidFill>
            <a:srgbClr val="6B4E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420624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423160" y="406908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anything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4069080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and surprisingly acceptable when access is uniform.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" y="4892040"/>
            <a:ext cx="106070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5840" y="5029200"/>
            <a:ext cx="1188720" cy="438912"/>
          </a:xfrm>
          <a:prstGeom prst="roundRect">
            <a:avLst>
              <a:gd name="adj" fmla="val 37500"/>
            </a:avLst>
          </a:prstGeom>
          <a:solidFill>
            <a:srgbClr val="A0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5840" y="502920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eviction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423160" y="489204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new writes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4892040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returns an error instead of discarding data. Correct for a queue, wrong for a cache.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77240" y="5760720"/>
            <a:ext cx="10607040" cy="731520"/>
          </a:xfrm>
          <a:prstGeom prst="roundRect">
            <a:avLst>
              <a:gd name="adj" fmla="val 7500"/>
            </a:avLst>
          </a:prstGeom>
          <a:solidFill>
            <a:srgbClr val="FDF3E3"/>
          </a:solidFill>
          <a:ln w="1651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97280" y="57607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Redis this is one setting: maxmemory-policy. The common choice is allkeys-lru. Redis approximates LRU by sampling a few keys rather than tracking all of them — cheaper, and close enough.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3383280" cy="411480"/>
          </a:xfrm>
          <a:prstGeom prst="roundRect">
            <a:avLst>
              <a:gd name="adj" fmla="val 44444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4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5  ·  QUESTION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restaurant changes a dish price from ₹200 to ₹250. The database is updated instantly. For the next ten minutes, every customer still sees ₹200 — and is charged ₹250 at checkout.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10515600" cy="1600200"/>
          </a:xfrm>
          <a:prstGeom prst="roundRect">
            <a:avLst>
              <a:gd name="adj" fmla="val 4571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3017520"/>
            <a:ext cx="9784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is correct everywhere.</a:t>
            </a:r>
            <a:endParaRPr lang="en-US" sz="2500" dirty="0"/>
          </a:p>
          <a:p>
            <a:pPr marL="0" indent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where exactly is the bug?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68680" y="4892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famous engineering joke that cache invalidation is one of the two hardest problems in computing. This is why.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5 — Invalidation Strategies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to stop serving yesterday’s answer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55448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9728" cy="960120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6642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live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0" y="164592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entry expire after N seconds and be re-fetched.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0" y="208483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 to implement. You accept being wrong for up to N seconds.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265176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2651760"/>
            <a:ext cx="109728" cy="9601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27614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on write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274320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price changes, delete the cached key. Next read repopulates it.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0" y="318211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and simple. The standard choice for cache-aside.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374904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3749040"/>
            <a:ext cx="109728" cy="96012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38587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on write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0" y="384048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new value into the cache at the same time as the database.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57600" y="427939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misses, but two systems to keep in step, and races are possible.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" y="484632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77240" y="4846320"/>
            <a:ext cx="109728" cy="960120"/>
          </a:xfrm>
          <a:prstGeom prst="rect">
            <a:avLst/>
          </a:prstGeom>
          <a:solidFill>
            <a:srgbClr val="6B4E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97280" y="4956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4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keys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657600" y="493776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key itself: menu:v7 replaces menu:v6. Old entries expire unused.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57600" y="53766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deletion needed, and no risk of a stale read. Costs memory briefly.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engineering answer: pick a TTL short enough that being wrong is tolerable, and delete the key on write for anything where it is not.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3383280" cy="411480"/>
          </a:xfrm>
          <a:prstGeom prst="roundRect">
            <a:avLst>
              <a:gd name="adj" fmla="val 44444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4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6  ·  QUESTION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8 pm, peak dinner traffic, the Redis server restarts. It comes back in four seconds, completely empty. Four seconds later the database is on fire and the whole site is down.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10515600" cy="1600200"/>
          </a:xfrm>
          <a:prstGeom prst="roundRect">
            <a:avLst>
              <a:gd name="adj" fmla="val 4571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3017520"/>
            <a:ext cx="9784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was only a speed optimisation.</a:t>
            </a:r>
            <a:endParaRPr lang="en-US" sz="2500" dirty="0"/>
          </a:p>
          <a:p>
            <a:pPr marL="0" indent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did losing it break everything?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68680" y="4892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the database handled 1,000 requests per second. What is it handling now?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6 — Four Ways a Cache Kills the Database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has taken down a real company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554480"/>
            <a:ext cx="10607040" cy="1005840"/>
          </a:xfrm>
          <a:prstGeom prst="roundRect">
            <a:avLst>
              <a:gd name="adj" fmla="val 5455"/>
            </a:avLst>
          </a:prstGeom>
          <a:solidFill>
            <a:srgbClr val="FDF0EE"/>
          </a:solidFill>
          <a:ln w="13970">
            <a:solidFill>
              <a:srgbClr val="A0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6642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stampede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657600" y="16459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cache empties or a hot key expires. Thousands of identical requests all miss at once and hit the database together.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0" y="214884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Lock so one request rebuilds while others wait; add random jitter to TTLs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2697480"/>
            <a:ext cx="10607040" cy="1005840"/>
          </a:xfrm>
          <a:prstGeom prst="roundRect">
            <a:avLst>
              <a:gd name="adj" fmla="val 5455"/>
            </a:avLst>
          </a:prstGeom>
          <a:solidFill>
            <a:srgbClr val="FDF0EE"/>
          </a:solidFill>
          <a:ln w="13970">
            <a:solidFill>
              <a:srgbClr val="A0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28072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avalanche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657600" y="27889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keys were given the same TTL, so they all expire in the same second.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329184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Never use a fixed TTL; spread it, e.g. 300 seconds plus a random 0–60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3840480"/>
            <a:ext cx="10607040" cy="1005840"/>
          </a:xfrm>
          <a:prstGeom prst="roundRect">
            <a:avLst>
              <a:gd name="adj" fmla="val 5455"/>
            </a:avLst>
          </a:prstGeom>
          <a:solidFill>
            <a:srgbClr val="FDF6EC"/>
          </a:solidFill>
          <a:ln w="1397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39502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penetration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657600" y="39319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for keys that do not exist. Nothing is ever cached, so every one reaches the database.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443484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Cache the "not found" result briefly, or screen with a bloom filter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4983480"/>
            <a:ext cx="10607040" cy="1005840"/>
          </a:xfrm>
          <a:prstGeom prst="roundRect">
            <a:avLst>
              <a:gd name="adj" fmla="val 5455"/>
            </a:avLst>
          </a:prstGeom>
          <a:solidFill>
            <a:srgbClr val="FDF6EC"/>
          </a:solidFill>
          <a:ln w="1397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97280" y="50932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key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657600" y="50749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 — a viral product — receives so much traffic it saturates a single Redis node.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0" y="557784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Replicate that key across nodes, or cache it locally in each app server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lesson: once traffic depends on a cache, that cache is no longer an optimisation — it is a critical component and must be treated like one.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Stampede, and the Lock That Stops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 expires. Ten thousand requests notice at the same instant.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7724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lock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1371600" cy="310896"/>
          </a:xfrm>
          <a:prstGeom prst="roundRect">
            <a:avLst>
              <a:gd name="adj" fmla="val 11765"/>
            </a:avLst>
          </a:prstGeom>
          <a:solidFill>
            <a:srgbClr val="E8EE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1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94560" y="2075688"/>
            <a:ext cx="1234440" cy="0"/>
          </a:xfrm>
          <a:prstGeom prst="line">
            <a:avLst/>
          </a:prstGeom>
          <a:noFill/>
          <a:ln w="20320">
            <a:solidFill>
              <a:srgbClr val="A03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2304288"/>
            <a:ext cx="1371600" cy="310896"/>
          </a:xfrm>
          <a:prstGeom prst="roundRect">
            <a:avLst>
              <a:gd name="adj" fmla="val 11765"/>
            </a:avLst>
          </a:prstGeom>
          <a:solidFill>
            <a:srgbClr val="E8EE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30428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94560" y="2459736"/>
            <a:ext cx="1234440" cy="0"/>
          </a:xfrm>
          <a:prstGeom prst="line">
            <a:avLst/>
          </a:prstGeom>
          <a:noFill/>
          <a:ln w="20320">
            <a:solidFill>
              <a:srgbClr val="A03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" y="2688336"/>
            <a:ext cx="1371600" cy="310896"/>
          </a:xfrm>
          <a:prstGeom prst="roundRect">
            <a:avLst>
              <a:gd name="adj" fmla="val 11765"/>
            </a:avLst>
          </a:prstGeom>
          <a:solidFill>
            <a:srgbClr val="E8EE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268833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94560" y="2843784"/>
            <a:ext cx="1234440" cy="0"/>
          </a:xfrm>
          <a:prstGeom prst="line">
            <a:avLst/>
          </a:prstGeom>
          <a:noFill/>
          <a:ln w="20320">
            <a:solidFill>
              <a:srgbClr val="A03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77240" y="3072384"/>
            <a:ext cx="1371600" cy="310896"/>
          </a:xfrm>
          <a:prstGeom prst="roundRect">
            <a:avLst>
              <a:gd name="adj" fmla="val 11765"/>
            </a:avLst>
          </a:prstGeom>
          <a:solidFill>
            <a:srgbClr val="E8EE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07238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4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94560" y="3227832"/>
            <a:ext cx="1234440" cy="0"/>
          </a:xfrm>
          <a:prstGeom prst="line">
            <a:avLst/>
          </a:prstGeom>
          <a:noFill/>
          <a:ln w="20320">
            <a:solidFill>
              <a:srgbClr val="A03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3456432"/>
            <a:ext cx="1371600" cy="310896"/>
          </a:xfrm>
          <a:prstGeom prst="roundRect">
            <a:avLst>
              <a:gd name="adj" fmla="val 11765"/>
            </a:avLst>
          </a:prstGeom>
          <a:solidFill>
            <a:srgbClr val="E8EE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34564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194560" y="3611880"/>
            <a:ext cx="1234440" cy="0"/>
          </a:xfrm>
          <a:prstGeom prst="line">
            <a:avLst/>
          </a:prstGeom>
          <a:noFill/>
          <a:ln w="20320">
            <a:solidFill>
              <a:srgbClr val="A03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474720" y="2011680"/>
            <a:ext cx="2286000" cy="1737360"/>
          </a:xfrm>
          <a:prstGeom prst="roundRect">
            <a:avLst>
              <a:gd name="adj" fmla="val 3158"/>
            </a:avLst>
          </a:prstGeom>
          <a:solidFill>
            <a:srgbClr val="A0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74720" y="2880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F5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identical</a:t>
            </a:r>
            <a:endParaRPr lang="en-US" sz="10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F5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at once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6364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rebuild lock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263640" y="1920240"/>
            <a:ext cx="1371600" cy="310896"/>
          </a:xfrm>
          <a:prstGeom prst="roundRect">
            <a:avLst>
              <a:gd name="adj" fmla="val 11765"/>
            </a:avLst>
          </a:prstGeom>
          <a:solidFill>
            <a:srgbClr val="E8EE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63640" y="192024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680960" y="2075688"/>
            <a:ext cx="1234440" cy="0"/>
          </a:xfrm>
          <a:prstGeom prst="line">
            <a:avLst/>
          </a:prstGeom>
          <a:noFill/>
          <a:ln w="20320">
            <a:solidFill>
              <a:srgbClr val="2E7D5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63640" y="2304288"/>
            <a:ext cx="1371600" cy="310896"/>
          </a:xfrm>
          <a:prstGeom prst="roundRect">
            <a:avLst>
              <a:gd name="adj" fmla="val 11765"/>
            </a:avLst>
          </a:prstGeom>
          <a:solidFill>
            <a:srgbClr val="E8EE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63640" y="230428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2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680960" y="2459736"/>
            <a:ext cx="1234440" cy="0"/>
          </a:xfrm>
          <a:prstGeom prst="line">
            <a:avLst/>
          </a:prstGeom>
          <a:noFill/>
          <a:ln w="20320">
            <a:solidFill>
              <a:srgbClr val="C2CDD4"/>
            </a:solidFill>
            <a:prstDash val="dash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63640" y="2688336"/>
            <a:ext cx="1371600" cy="310896"/>
          </a:xfrm>
          <a:prstGeom prst="roundRect">
            <a:avLst>
              <a:gd name="adj" fmla="val 11765"/>
            </a:avLst>
          </a:prstGeom>
          <a:solidFill>
            <a:srgbClr val="E8EE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63640" y="268833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3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680960" y="2843784"/>
            <a:ext cx="1234440" cy="0"/>
          </a:xfrm>
          <a:prstGeom prst="line">
            <a:avLst/>
          </a:prstGeom>
          <a:noFill/>
          <a:ln w="20320">
            <a:solidFill>
              <a:srgbClr val="C2CDD4"/>
            </a:solidFill>
            <a:prstDash val="dash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263640" y="3072384"/>
            <a:ext cx="1371600" cy="310896"/>
          </a:xfrm>
          <a:prstGeom prst="roundRect">
            <a:avLst>
              <a:gd name="adj" fmla="val 11765"/>
            </a:avLst>
          </a:prstGeom>
          <a:solidFill>
            <a:srgbClr val="E8EE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63640" y="307238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4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680960" y="3227832"/>
            <a:ext cx="1234440" cy="0"/>
          </a:xfrm>
          <a:prstGeom prst="line">
            <a:avLst/>
          </a:prstGeom>
          <a:noFill/>
          <a:ln w="20320">
            <a:solidFill>
              <a:srgbClr val="C2CDD4"/>
            </a:solidFill>
            <a:prstDash val="dash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263640" y="3456432"/>
            <a:ext cx="1371600" cy="310896"/>
          </a:xfrm>
          <a:prstGeom prst="roundRect">
            <a:avLst>
              <a:gd name="adj" fmla="val 11765"/>
            </a:avLst>
          </a:prstGeom>
          <a:solidFill>
            <a:srgbClr val="E8EE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63640" y="34564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5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680960" y="3611880"/>
            <a:ext cx="1234440" cy="0"/>
          </a:xfrm>
          <a:prstGeom prst="line">
            <a:avLst/>
          </a:prstGeom>
          <a:noFill/>
          <a:ln w="20320">
            <a:solidFill>
              <a:srgbClr val="C2CDD4"/>
            </a:solidFill>
            <a:prstDash val="dash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006840" y="2011680"/>
            <a:ext cx="2377440" cy="1737360"/>
          </a:xfrm>
          <a:prstGeom prst="roundRect">
            <a:avLst>
              <a:gd name="adj" fmla="val 3158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00684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006840" y="2880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D6E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query;</a:t>
            </a:r>
            <a:endParaRPr lang="en-US" sz="10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D6E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wait or</a:t>
            </a:r>
            <a:endParaRPr lang="en-US" sz="10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D6E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stale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77240" y="4114800"/>
            <a:ext cx="10607040" cy="1143000"/>
          </a:xfrm>
          <a:prstGeom prst="roundRect">
            <a:avLst>
              <a:gd name="adj" fmla="val 4800"/>
            </a:avLst>
          </a:prstGeom>
          <a:solidFill>
            <a:srgbClr val="FDF3E3"/>
          </a:solidFill>
          <a:ln w="1778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097280" y="4114800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request to miss takes a short-lived lock in Redis and rebuilds the entry. Everyone else either waits a few milliseconds or is served the old value while the rebuild happens. One database query instead of ten thousand.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77240" y="54406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still: refresh popular entries slightly before they expire, so a miss never happens on a hot key.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3383280" cy="411480"/>
          </a:xfrm>
          <a:prstGeom prst="roundRect">
            <a:avLst>
              <a:gd name="adj" fmla="val 44444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4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 ·  QUESTION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asks a fair question: every app server already has memory. Why not just keep a HashMap inside the application instead of running a separate Redis server across the network?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10515600" cy="1600200"/>
          </a:xfrm>
          <a:prstGeom prst="roundRect">
            <a:avLst>
              <a:gd name="adj" fmla="val 4571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3017520"/>
            <a:ext cx="9784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local HashMap has zero network cost.</a:t>
            </a:r>
            <a:endParaRPr lang="en-US" sz="2500" dirty="0"/>
          </a:p>
          <a:p>
            <a:pPr marL="0" indent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why does anyone use Redis?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68680" y="4892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what happened in Lecture 6 when sessions lived in server memory.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Cache vs Distributed Cache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useful. They solve different problems.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554480"/>
            <a:ext cx="5212080" cy="2651760"/>
          </a:xfrm>
          <a:prstGeom prst="roundRect">
            <a:avLst>
              <a:gd name="adj" fmla="val 2069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4984" y="17190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in-process (a HashMap, Caffeine)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14984" y="210312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Nanoseconds — no network at all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server has its own copy, so they disagree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Invalidation must reach twenty servers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on every deploy and restart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Multiplies memory use by the server count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212080" cy="2651760"/>
          </a:xfrm>
          <a:prstGeom prst="roundRect">
            <a:avLst>
              <a:gd name="adj" fmla="val 2069"/>
            </a:avLst>
          </a:prstGeom>
          <a:solidFill>
            <a:srgbClr val="FDF0EE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9944" y="17190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(Redis, Memcached)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9944" y="210312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 millisecond — one network hop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copy, so everyone agrees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key once and it is gone for all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application restarts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hold far more than one server’s RAM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4389120"/>
            <a:ext cx="10607040" cy="1737360"/>
          </a:xfrm>
          <a:prstGeom prst="roundRect">
            <a:avLst>
              <a:gd name="adj" fmla="val 3158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45262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systems use both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48920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local cache in front of Redis absorbs the hottest keys with zero network cost — which is exactly the hot-key fix from Round 6 — while Redis remains the shared source of truth for everything else. The local layer is given a very short TTL precisely because it cannot be invalidated reliably.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Redis Is Fast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design decisions, and one surprising one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819656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8196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4592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RAM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846320" y="160020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disk on the read path. A lookup is a memory access, about 100 nanoseconds.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587752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5840" y="2807208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26791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Single-threaded command loop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846320" y="2587752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locks, no race conditions, no context switching. Commands run one at a time, in order.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575304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05840" y="3794760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45920" y="36667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data structures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846320" y="3575304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tables and skip lists chosen for predictable cost, not clever ones with bad worst cases.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" y="4562856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5840" y="4782312"/>
            <a:ext cx="438912" cy="438912"/>
          </a:xfrm>
          <a:prstGeom prst="ellipse">
            <a:avLst/>
          </a:prstGeom>
          <a:solidFill>
            <a:srgbClr val="6B4E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47823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45920" y="46542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846320" y="4562856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hundred commands without waiting for each reply — one round trip instead of a hundred.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7240" y="5623560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FDF3E3"/>
          </a:solidFill>
          <a:ln w="1651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97280" y="5623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consequence students must internalise: because Redis runs commands one at a time, a single slow command blocks everyone. Never run KEYS * on a production Redis — it scans every key while the whole server waits.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Is Not Just Key–Value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structures are why it is used for far more than caching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3337560" cy="1828800"/>
          </a:xfrm>
          <a:prstGeom prst="roundRect">
            <a:avLst>
              <a:gd name="adj" fmla="val 350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801368"/>
            <a:ext cx="1371600" cy="384048"/>
          </a:xfrm>
          <a:prstGeom prst="roundRect">
            <a:avLst>
              <a:gd name="adj" fmla="val 3571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80136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05840" y="231343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value, a counter, a JSON blob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28346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page views, cached HTML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337560" cy="1828800"/>
          </a:xfrm>
          <a:prstGeom prst="roundRect">
            <a:avLst>
              <a:gd name="adj" fmla="val 350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17720" y="1801368"/>
            <a:ext cx="1371600" cy="384048"/>
          </a:xfrm>
          <a:prstGeom prst="roundRect">
            <a:avLst>
              <a:gd name="adj" fmla="val 35714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17720" y="180136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17720" y="231343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within one key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17720" y="28346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a user profile, a session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01000" y="1600200"/>
            <a:ext cx="3337560" cy="1828800"/>
          </a:xfrm>
          <a:prstGeom prst="roundRect">
            <a:avLst>
              <a:gd name="adj" fmla="val 350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0" y="1801368"/>
            <a:ext cx="1371600" cy="384048"/>
          </a:xfrm>
          <a:prstGeom prst="roundRect">
            <a:avLst>
              <a:gd name="adj" fmla="val 35714"/>
            </a:avLst>
          </a:prstGeom>
          <a:solidFill>
            <a:srgbClr val="6B4E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0" y="180136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0" y="231343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push and pop from both ends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0" y="28346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a simple job queue, recent activity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3703320"/>
            <a:ext cx="3337560" cy="1828800"/>
          </a:xfrm>
          <a:prstGeom prst="roundRect">
            <a:avLst>
              <a:gd name="adj" fmla="val 3500"/>
            </a:avLst>
          </a:prstGeom>
          <a:solidFill>
            <a:srgbClr val="EEF6F7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5840" y="3904488"/>
            <a:ext cx="1371600" cy="384048"/>
          </a:xfrm>
          <a:prstGeom prst="roundRect">
            <a:avLst>
              <a:gd name="adj" fmla="val 35714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39044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05840" y="441655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members, union and intersection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05840" y="49377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tags, unique visitors today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3703320"/>
            <a:ext cx="3337560" cy="1828800"/>
          </a:xfrm>
          <a:prstGeom prst="roundRect">
            <a:avLst>
              <a:gd name="adj" fmla="val 3500"/>
            </a:avLst>
          </a:prstGeom>
          <a:solidFill>
            <a:srgbClr val="EEF6F7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17720" y="3904488"/>
            <a:ext cx="1371600" cy="384048"/>
          </a:xfrm>
          <a:prstGeom prst="roundRect">
            <a:avLst>
              <a:gd name="adj" fmla="val 35714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17720" y="39044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set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617720" y="441655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ordered by a score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617720" y="49377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leaderboards, rate limiting windows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01000" y="3703320"/>
            <a:ext cx="3337560" cy="1828800"/>
          </a:xfrm>
          <a:prstGeom prst="roundRect">
            <a:avLst>
              <a:gd name="adj" fmla="val 3500"/>
            </a:avLst>
          </a:prstGeom>
          <a:solidFill>
            <a:srgbClr val="EEF6F7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229600" y="3904488"/>
            <a:ext cx="1371600" cy="384048"/>
          </a:xfrm>
          <a:prstGeom prst="roundRect">
            <a:avLst>
              <a:gd name="adj" fmla="val 35714"/>
            </a:avLst>
          </a:prstGeom>
          <a:solidFill>
            <a:srgbClr val="C630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229600" y="39044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229600" y="441655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append-only log with consumer groups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29600" y="49377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event pipelines, a light Kafka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" y="58521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sorted set gives you a live leaderboard in two commands. That is why Redis is often in a system for reasons that have nothing to do with caching.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Surviving a Restart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8 GB of memory when the power goes out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554480"/>
            <a:ext cx="5212080" cy="2103120"/>
          </a:xfrm>
          <a:prstGeom prst="roundRect">
            <a:avLst>
              <a:gd name="adj" fmla="val 2609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4984" y="17190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 — point-in-time snapshots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14984" y="21031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Forks and writes the whole dataset to disk periodically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file, fast to reload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lose everything since the last snapshot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212080" cy="2103120"/>
          </a:xfrm>
          <a:prstGeom prst="roundRect">
            <a:avLst>
              <a:gd name="adj" fmla="val 2609"/>
            </a:avLst>
          </a:prstGeom>
          <a:solidFill>
            <a:srgbClr val="EEF6F7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9944" y="17190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AOF — append-only log of commands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9944" y="21031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command appended to a file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Replayed on startup to rebuild state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less data loss, larger files, slower restart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840480"/>
            <a:ext cx="106070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" y="3840480"/>
            <a:ext cx="109728" cy="640080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3840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primary, several replicas. Reads can be spread; a replica can be promoted.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4590288"/>
            <a:ext cx="10607040" cy="640080"/>
          </a:xfrm>
          <a:prstGeom prst="roundRect">
            <a:avLst>
              <a:gd name="adj" fmla="val 7143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4590288"/>
            <a:ext cx="109728" cy="6400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459028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459028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the primary and performs automatic failover when it stops responding.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5340096"/>
            <a:ext cx="106070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" y="5340096"/>
            <a:ext cx="109728" cy="640080"/>
          </a:xfrm>
          <a:prstGeom prst="rect">
            <a:avLst/>
          </a:prstGeom>
          <a:solidFill>
            <a:srgbClr val="6B4E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97280" y="534009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91840" y="5340096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sharded across nodes by hash slot — the same sharding idea as Lecture 7.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7240" y="61722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pure cache, losing everything on restart is survivable — provided you have handled the stampede from Round 6. For sessions, it is not: turn persistence on.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vs Memcached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comparison — Memcached is not obsolete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1060704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19202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794760" y="192024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Strings, hashes, lists, sets, sorted sets, streams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01000" y="19202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only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468880"/>
            <a:ext cx="10607040" cy="475488"/>
          </a:xfrm>
          <a:prstGeom prst="roundRect">
            <a:avLst>
              <a:gd name="adj" fmla="val 7692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24688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794760" y="246888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Single-threaded command loop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01000" y="246888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Truly multi-threaded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017520"/>
            <a:ext cx="1060704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560" y="30175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794760" y="301752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 snapshots and AOF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01000" y="301752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restart means empty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3566160"/>
            <a:ext cx="10607040" cy="475488"/>
          </a:xfrm>
          <a:prstGeom prst="roundRect">
            <a:avLst>
              <a:gd name="adj" fmla="val 7692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51560" y="356616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794760" y="356616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in, with Sentinel and Cluster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01000" y="356616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built 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4114800"/>
            <a:ext cx="1060704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51560" y="41148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efficiency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794760" y="411480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01000" y="411480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better for plain key–value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" y="4663440"/>
            <a:ext cx="10607040" cy="475488"/>
          </a:xfrm>
          <a:prstGeom prst="roundRect">
            <a:avLst>
              <a:gd name="adj" fmla="val 7692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51560" y="46634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Eviction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794760" y="466344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configurable policies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01000" y="46634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LRU only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7240" y="5212080"/>
            <a:ext cx="1060704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51560" y="52120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794760" y="521208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everything, including non-cache uses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01000" y="521208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volumes of simple key–value caching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94760" y="1572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001000" y="1572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Memcached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Memcached when you want a very large, very simple, purely disposable cache and nothing more. Choose Redis for everything else — which is why it is the default.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Cache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page request may be answered at any of these levels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554480"/>
            <a:ext cx="10607040" cy="603504"/>
          </a:xfrm>
          <a:prstGeom prst="roundRect">
            <a:avLst>
              <a:gd name="adj" fmla="val 757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155448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cache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389120" y="155448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user’s own disk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509760" y="155448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28700" y="2267712"/>
            <a:ext cx="10104120" cy="603504"/>
          </a:xfrm>
          <a:prstGeom prst="roundRect">
            <a:avLst>
              <a:gd name="adj" fmla="val 7576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94460" y="226771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edge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389120" y="226771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 in the same city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258300" y="2267712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280160" y="2980944"/>
            <a:ext cx="9601200" cy="603504"/>
          </a:xfrm>
          <a:prstGeom prst="roundRect">
            <a:avLst>
              <a:gd name="adj" fmla="val 7576"/>
            </a:avLst>
          </a:prstGeom>
          <a:solidFill>
            <a:srgbClr val="6B4E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45920" y="298094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app cache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389120" y="298094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server’s own memory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006840" y="298094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~0.001 ms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531620" y="3694176"/>
            <a:ext cx="9098280" cy="603504"/>
          </a:xfrm>
          <a:prstGeom prst="roundRect">
            <a:avLst>
              <a:gd name="adj" fmla="val 7576"/>
            </a:avLst>
          </a:prstGeom>
          <a:solidFill>
            <a:srgbClr val="C630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897380" y="369417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389120" y="369417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network hop away, shared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755380" y="3694176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783080" y="4407408"/>
            <a:ext cx="8595360" cy="603504"/>
          </a:xfrm>
          <a:prstGeom prst="roundRect">
            <a:avLst>
              <a:gd name="adj" fmla="val 757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148840" y="440740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buffer pool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389120" y="440740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already in the database’s RAM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03920" y="440740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~0.1 ms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034540" y="5120640"/>
            <a:ext cx="8092440" cy="603504"/>
          </a:xfrm>
          <a:prstGeom prst="roundRect">
            <a:avLst>
              <a:gd name="adj" fmla="val 7576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400300" y="512064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389120" y="512064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place that truly has the data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52460" y="512064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that reaches the bottom row is the expensive one. Every layer above exists to make that rarer — and each one adds a place where data can be stale.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and Before Next Class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 takeaways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554480"/>
            <a:ext cx="5212080" cy="3108960"/>
          </a:xfrm>
          <a:prstGeom prst="roundRect">
            <a:avLst>
              <a:gd name="adj" fmla="val 1765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4984" y="17190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these seven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14984" y="210312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cache protects the database more than it speeds the page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what is read often and can be rebuilt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Cache-aside is the pattern you will write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 needs a TTL, and TTLs need jitter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Invalidation is deciding how long you tolerate being wrong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cache that traffic depends on is a critical component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is single-threaded: never run KEYS * in production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212080" cy="3108960"/>
          </a:xfrm>
          <a:prstGeom prst="roundRect">
            <a:avLst>
              <a:gd name="adj" fmla="val 1765"/>
            </a:avLst>
          </a:prstGeom>
          <a:solidFill>
            <a:srgbClr val="F3EEF5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9944" y="17190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4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next class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9944" y="210312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 shows a like count. What TTL would you choose, and why?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is down. Should the site fail fast or serve stale data?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celebrity posts and one key gets 200,000 reads a second. What do you do?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today’s failure modes would you notice fastest in production?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4846320"/>
            <a:ext cx="10607040" cy="1280160"/>
          </a:xfrm>
          <a:prstGeom prst="roundRect">
            <a:avLst>
              <a:gd name="adj" fmla="val 4286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4983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sentence to carry forward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532180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cache is a deliberate decision to serve a possibly wrong answer because it arrives sooner. Every design question about caching is really the question: how wrong, for how long, is acceptable here?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3524</Words>
  <Application>Microsoft Macintosh PowerPoint</Application>
  <PresentationFormat>Widescreen</PresentationFormat>
  <Paragraphs>409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Gaurav Raj</cp:lastModifiedBy>
  <cp:revision>4</cp:revision>
  <dcterms:created xsi:type="dcterms:W3CDTF">2026-09-30T09:06:08Z</dcterms:created>
  <dcterms:modified xsi:type="dcterms:W3CDTF">2026-09-30T09:22:13Z</dcterms:modified>
</cp:coreProperties>
</file>