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71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Introduce yourself, the course code CS1111, 4 credits, 3-0-2. Today: first half = what this course is about; second half = we actually start system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first three items ~25 minutes, then we get into content. Tell them the last two items are examinable material starting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framing line: system design teaches you WHAT to build, DevOps teaches you HOW to run it. Theory is 3 hours, lab is 2 hours per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interview questions come from the left, day-one job tasks come from the right. Most courses teach only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Unit 5 is the biggest block — 10 hours of case studies. Everything in Units 1-4 exists to make Unit 5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mini project: it is 7 lab sessions and carries project marks. Groups will be formed around Lab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there is no mid-term theory paper in this course — the weight sits on continuous work. Portfolio = your maintained GitHub repo of lab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Alex Xu volume 1 is the one to actually get hold of. Kleppmann is optional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point. Ask if there are questions on logistics before moving on — after this, no more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student confusion: system design vs software design (UML/OOP). Clear that up here — we work at the level of boxes and arrows, not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what actually breaks first when you go from 100 to 100 million? Usually the database. Good hook for Unit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too. Tell them the three cards are literally Units 2, 3 and 4 of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back on the "microservices are always better" assumption. Amazon moved in 2001-2002, Netflix around 2009 — both after years of pain.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these five terms will appear in the end-term paper and in every interview.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show of hands on the difference between latency and throughput before revealing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is worth 5 minutes. It explains why "just add more servers" is not always the answer — a recurring theme in the case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vocabulary they will hear in internships. Do not explain them now — just plant the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5 minutes for questions. Collect names for lab groups if time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137160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9AD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881360" y="219456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9AD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0" y="292608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9AD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07040" y="384048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9AD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0" y="484632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9AD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55680" y="539496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9AD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65208" y="1527048"/>
            <a:ext cx="1371600" cy="82296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9299448" y="2350008"/>
            <a:ext cx="1737360" cy="73152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299448" y="3081528"/>
            <a:ext cx="1463040" cy="91440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>
            <a:off x="9848088" y="3995928"/>
            <a:ext cx="914400" cy="100584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848088" y="5001768"/>
            <a:ext cx="1463040" cy="54864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H="1">
            <a:off x="9299448" y="1527048"/>
            <a:ext cx="365760" cy="155448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H="1">
            <a:off x="10762488" y="2350008"/>
            <a:ext cx="274320" cy="164592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" y="169164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DevOps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5719" y="519124"/>
            <a:ext cx="7863840" cy="511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— Course Introduction and</a:t>
            </a:r>
            <a:endParaRPr lang="en-US" sz="1700" b="1" dirty="0">
              <a:solidFill>
                <a:srgbClr val="FFC000"/>
              </a:solidFill>
            </a:endParaRPr>
          </a:p>
          <a:p>
            <a:pPr marL="0" indent="0">
              <a:lnSpc>
                <a:spcPts val="2600"/>
              </a:lnSpc>
              <a:buNone/>
            </a:pPr>
            <a:endParaRPr lang="en-US" sz="17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664208"/>
            <a:ext cx="9829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course is about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993392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system design and DevOps are taught together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596896"/>
            <a:ext cx="9829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walkthrough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2926080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units, DevOps lab, and the four case studies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5570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557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3529584"/>
            <a:ext cx="9829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expectations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3858768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will be assessed, books and resources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48970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4897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4462272"/>
            <a:ext cx="9829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design: the basics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4791456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client-server, monolith vs microservices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542239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5422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5394960"/>
            <a:ext cx="9829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of scale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5724144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availability, latency, throughput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164592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5564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93592" y="164592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93592" y="175564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3-0-2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93592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- T - 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64224" y="164592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64224" y="175564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64224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/ week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3375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skills, one pipeline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840480"/>
            <a:ext cx="5120640" cy="214884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78992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 (theory)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441655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applications are structured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balancers, caches, databases, queues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real architectures: Amazon, Netflix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tested in every SDE interview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840480"/>
            <a:ext cx="5120640" cy="2148840"/>
          </a:xfrm>
          <a:prstGeom prst="roundRect">
            <a:avLst>
              <a:gd name="adj" fmla="val 2553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65392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 (laboratory)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65392" y="441655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that design actually gets shipped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CI/CD pipelines, Kubernetes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build → test → deploy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that makes you productive on day one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85800" y="1965960"/>
            <a:ext cx="1965960" cy="2286000"/>
          </a:xfrm>
          <a:prstGeom prst="roundRect">
            <a:avLst>
              <a:gd name="adj" fmla="val 279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D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487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architecture: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database, cache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60904" y="28803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53512" y="1965960"/>
            <a:ext cx="1965960" cy="2286000"/>
          </a:xfrm>
          <a:prstGeom prst="roundRect">
            <a:avLst>
              <a:gd name="adj" fmla="val 279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72384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D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18104" y="2487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18104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 for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28616" y="28803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21224" y="1965960"/>
            <a:ext cx="1965960" cy="2286000"/>
          </a:xfrm>
          <a:prstGeom prst="roundRect">
            <a:avLst>
              <a:gd name="adj" fmla="val 279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40096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D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85816" y="2487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85816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it with Docker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runs anywhere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96328" y="28803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88936" y="1965960"/>
            <a:ext cx="1965960" cy="2286000"/>
          </a:xfrm>
          <a:prstGeom prst="roundRect">
            <a:avLst>
              <a:gd name="adj" fmla="val 279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07808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D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53528" y="2487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53528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builds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tests every change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464040" y="28803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56648" y="1965960"/>
            <a:ext cx="1965960" cy="2286000"/>
          </a:xfrm>
          <a:prstGeom prst="roundRect">
            <a:avLst>
              <a:gd name="adj" fmla="val 279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75520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D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921240" y="2487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21240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runs, scales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heals it in production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Syllabus — Theory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5 hrs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9842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System Design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229514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vs microservices, client-server, scalability, availability, latency, throughput, CAP theorem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5 hrs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19842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Building Blocks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29514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HTTP/HTTPS, REST APIs, WebSockets, proxies, load balancers, CDN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172968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6 hrs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557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and Scaling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60120" y="38679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vs horizontal scaling, SQL vs NoSQL, indexing, replication, sharding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172968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6 hrs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3557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and Async Communication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38679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strategies, eviction, Redis, message queues, pub-sub, Kafka, rate limiting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745736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4882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· 10 hrs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5129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60120" y="5440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Estimation, URL shortener, then Instagram, Netflix, Ola/Uber and Amazon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745736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4882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6 · 3 hrs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5129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DevOps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46520" y="5440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lifecycle, Git, CI/CD concepts, containers vs VMs, Kubernetes overview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Syllabus — DevOps Laboratory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011680" cy="301752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1–2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Branching, merging, pull requests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16936" y="1783080"/>
            <a:ext cx="2011680" cy="301752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99816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3–6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99816" y="22860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99816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Dockerfile, volumes, Docker Compose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75504" y="1783080"/>
            <a:ext cx="2011680" cy="301752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58384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7–9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58384" y="22860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58384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build, test and push automatically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34072" y="1783080"/>
            <a:ext cx="2011680" cy="301752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16952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10–13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16952" y="22860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16952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Minikube, pods, deployments, services, scaling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83080"/>
            <a:ext cx="2011680" cy="3017520"/>
          </a:xfrm>
          <a:prstGeom prst="roundRect">
            <a:avLst>
              <a:gd name="adj" fmla="val 272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7552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14–20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0" y="22860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0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an app, pipeline it, deploy 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Will Be Evaluated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126480" y="1783080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55080" y="17830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End-Term Examination (Theory)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424160" y="17830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26480" y="2350008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55080" y="23500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424160" y="23500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26480" y="2916936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55080" y="291693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424160" y="29169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26480" y="3483864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55080" y="34838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424160" y="348386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26480" y="4050792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55080" y="405079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Evaluation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424160" y="405079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17920" y="5367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below 75% carries a grade penalty.</a:t>
            </a:r>
            <a:endParaRPr lang="en-US" sz="1250" b="1" dirty="0"/>
          </a:p>
        </p:txBody>
      </p:sp>
      <p:sp>
        <p:nvSpPr>
          <p:cNvPr id="25" name="Text 22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and Resources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74520" y="16733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Interview, Vol. 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874520" y="200253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Xu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74520" y="22402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main system design reference. Readable, diagram-heavy.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624328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874520" y="269748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Data-Intensive Applications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74520" y="302666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Kleppmann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874520" y="32644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one. Read it when you want the theory behind the boxes.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648456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648456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874520" y="372160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DevOps Handbook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874520" y="40507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Kim et al.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874520" y="428853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and practice of DevOps, not tool syntax.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672584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672584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874520" y="474573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Deep Dive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874520" y="5074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Nigel Poulton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874520" y="531266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companion for the lab.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Docker and Kubernetes documentation — genuinely the best tutorials for the lab.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155" y="688694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8155" y="688694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929553" y="688694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System Design?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6002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is deciding the components of an application, what each one does, and how they talk to each other — so that the system stays fast, available and affordable as it grows.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926080"/>
            <a:ext cx="3337560" cy="2788920"/>
          </a:xfrm>
          <a:prstGeom prst="roundRect">
            <a:avLst>
              <a:gd name="adj" fmla="val 196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3108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3272" y="3502152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code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programming language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screens and UI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diagrams and OOP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2926080"/>
            <a:ext cx="3337560" cy="2788920"/>
          </a:xfrm>
          <a:prstGeom prst="roundRect">
            <a:avLst>
              <a:gd name="adj" fmla="val 1967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72584" y="3108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72584" y="3502152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components and their roles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where data lives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for traffic growth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trade-offs, consciously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926080"/>
            <a:ext cx="3337560" cy="2788920"/>
          </a:xfrm>
          <a:prstGeom prst="roundRect">
            <a:avLst>
              <a:gd name="adj" fmla="val 196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02752" y="3108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3502152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SDE interview asks it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what senior engineers do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design is expensive to undo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explains apps you use daily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77240" y="182880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20574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AD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users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51560" y="297180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runs everything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database, no cache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it when it breaks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9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weekend 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29400" y="20574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million users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629400" y="297180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servers, many regions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Replicated, sharded databases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Caches, queues, CDNs everywhere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is always broken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Foundation: Client–Server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mobile app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96596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code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0" y="196596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9611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91840" y="2651760"/>
            <a:ext cx="15544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2651760"/>
            <a:ext cx="15544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6948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we ask this semester is a variation of: what happens when one of these three boxes can no longer keep up?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4434840"/>
            <a:ext cx="3291840" cy="14173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70432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too slow?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0109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work to the server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on the device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34840" y="4434840"/>
            <a:ext cx="3291840" cy="1417320"/>
          </a:xfrm>
          <a:prstGeom prst="roundRect">
            <a:avLst>
              <a:gd name="adj" fmla="val 3871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90872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too slow?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90872" y="50109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servers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load balancer in front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55280" y="4434840"/>
            <a:ext cx="3291840" cy="14173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11312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too slow?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11312" y="50109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cache (Redis)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and shard 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 vs Microservices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6642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0848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 containing every feature, deployed as a single unit.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6642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0848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independent services, each owning one job and its own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1060704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97180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deploy, all or nothing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297180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one service independently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547872"/>
            <a:ext cx="10607040" cy="530352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5478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354787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whole app together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86600" y="354787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the busy service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4123944"/>
            <a:ext cx="1060704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12394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412394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 can take down everything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412394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usually contained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4700016"/>
            <a:ext cx="10607040" cy="530352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70001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470001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start and debug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470001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monitoring, DevOps overhead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5276088"/>
            <a:ext cx="1060704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52760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43200" y="527608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teams, early products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86600" y="527608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teams, large scale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58978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and Amazon both started as monoliths. They moved only when the monolith became the bottleneck.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651760" y="233172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 of Scale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697480" y="32004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words you will use in every design discussion from now on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Words That Matter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these precisely — people use them loosely and cause confusion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6070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7922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6459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164592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handle more load if we add more resources?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10607040" cy="749808"/>
          </a:xfrm>
          <a:prstGeom prst="roundRect">
            <a:avLst>
              <a:gd name="adj" fmla="val 609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6609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25146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251460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the time is it actually working?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383280"/>
            <a:ext cx="106070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35295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33832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0" y="338328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give the correct result, consistently?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4251960"/>
            <a:ext cx="10607040" cy="749808"/>
          </a:xfrm>
          <a:prstGeom prst="roundRect">
            <a:avLst>
              <a:gd name="adj" fmla="val 609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43982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42519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0" y="42519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ONE request take?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5120640"/>
            <a:ext cx="106070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" y="52669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5266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91640" y="51206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114800" y="512064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requests can we handle per second?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throughput are the pair students most often confuse. Next slide fixes that.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vs Throughput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120640" cy="2286000"/>
          </a:xfrm>
          <a:prstGeom prst="roundRect">
            <a:avLst>
              <a:gd name="adj" fmla="val 24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AD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one car takes to drive from Jaipur to Delhi.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milliseconds.  Lower is better.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120640" cy="2286000"/>
          </a:xfrm>
          <a:prstGeom prst="roundRect">
            <a:avLst>
              <a:gd name="adj" fmla="val 24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AD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cars cross the highway per hour.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requests/second.  Higher is better.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069080"/>
            <a:ext cx="10607040" cy="1737360"/>
          </a:xfrm>
          <a:prstGeom prst="roundRect">
            <a:avLst>
              <a:gd name="adj" fmla="val 3158"/>
            </a:avLst>
          </a:prstGeom>
          <a:solidFill>
            <a:srgbClr val="FDF3E3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590288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lanes to the highway raises throughput but does not make any single car arrive sooner. Similarly, adding servers usually improves throughput, not latency. Improving latency needs different fixes — caching, moving data closer to the user, faster queries.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Toolbox We Will Build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Unit 4 you will know when to reach for each of these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77977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traffic across many servers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46120" y="19202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45152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4515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5152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277977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images and video from near the user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03720" y="19202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02752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0275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&amp; Sharding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02752" y="277977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and copies the database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61320" y="19202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794760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7552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755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7552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7552" y="49286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hot data in memory, avoids the DB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46120" y="4069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3794760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45152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4515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45152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Queues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45152" y="49286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slow work from the request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903720" y="4069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46720" y="3794760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02752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0275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02752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02752" y="49286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door: routing, limits, auth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561320" y="4069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Before Next Class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takeaways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3272" y="2176272"/>
            <a:ext cx="4754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= components, roles, connections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client–server foundation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vs microservices trade-offs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availability, reliability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vs throughput, and the nines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before Lecture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28232" y="2176272"/>
            <a:ext cx="4754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 and create a GitHub account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 Desktop on your laptop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Chapter 1 of Alex Xu, Volume 1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what breaks first if 10x users arrive?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572000"/>
            <a:ext cx="10607040" cy="1234440"/>
          </a:xfrm>
          <a:prstGeom prst="roundRect">
            <a:avLst>
              <a:gd name="adj" fmla="val 4444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50292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vs microservices in depth, and the client–server model formalised — then we start the networking building blocks: DNS, HTTP and what really happens when you type a URL.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1775</Words>
  <Application>Microsoft Macintosh PowerPoint</Application>
  <PresentationFormat>Widescreen</PresentationFormat>
  <Paragraphs>314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Raj</cp:lastModifiedBy>
  <cp:revision>2</cp:revision>
  <dcterms:created xsi:type="dcterms:W3CDTF">2026-07-29T18:34:21Z</dcterms:created>
  <dcterms:modified xsi:type="dcterms:W3CDTF">2026-07-29T19:15:31Z</dcterms:modified>
</cp:coreProperties>
</file>