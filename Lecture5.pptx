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3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1449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 show the question, give 60 seconds, take a show of hands per option, then reveal. Do not let them shout answers early.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tone: guessing the letter is worth nothing. Being able to explain the distractor is worth everything.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for students who pick A because "slow means add servers". This question is about identifying which path is slow.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to the follow-up: static and public files yes; anything personal like a cart or an authenticated page, no.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is the trap. Many students assume transactions survive the split because they never think about where the data lives.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Follow-up answer: retries with idempotency, and eventual consistency via events — not distributed transactions.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number from Lecture 3. If they miss it, revisit the collapse: 2,000,000 to 40 to 12.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Follow-up answer: prefetching — the next batch was requested around item 25, before the user reached the end.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them to justify why the database is wrong before revealing. The answer is the 33-minute full scan.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Follow-up answer: a background indexing job consumes product-change events; the index is eventually consistent with the database.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idea being tested is referral, not resolution. Root servers never know individual domains.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Follow-up answer: no — GeoDNS or round robin. The authoritative server can return different IPs by region or rotate them.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maps directly onto the latency ledger slide. Three round trips before any request data leaves.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Follow-up answer: network round trips — reduce with connection reuse, HTTP/2 or /3, TLS session resumption, and a nearby CDN edge.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anyone picks A, work the nine-fast-one-slow example again on the board.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0.999 to the fifth power on the board. Students consistently expect the answer to stay near 99.9%.</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tests whether they understand a cache is not durable storage. C tests hit ratio reasoning.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telling them the letters are worthless; being able to argue the distractor is what an interviewer is listening for.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822960" y="1097280"/>
            <a:ext cx="2377440" cy="457200"/>
          </a:xfrm>
          <a:prstGeom prst="roundRect">
            <a:avLst>
              <a:gd name="adj" fmla="val 44000"/>
            </a:avLst>
          </a:prstGeom>
          <a:solidFill>
            <a:srgbClr val="1D3D52"/>
          </a:solidFill>
          <a:ln/>
        </p:spPr>
        <p:txBody>
          <a:bodyPr/>
          <a:lstStyle/>
          <a:p>
            <a:endParaRPr lang="en-US"/>
          </a:p>
        </p:txBody>
      </p:sp>
      <p:sp>
        <p:nvSpPr>
          <p:cNvPr id="3" name="Text 1"/>
          <p:cNvSpPr/>
          <p:nvPr/>
        </p:nvSpPr>
        <p:spPr>
          <a:xfrm>
            <a:off x="822960" y="1097280"/>
            <a:ext cx="2377440" cy="457200"/>
          </a:xfrm>
          <a:prstGeom prst="rect">
            <a:avLst/>
          </a:prstGeom>
          <a:noFill/>
          <a:ln/>
        </p:spPr>
        <p:txBody>
          <a:bodyPr wrap="square" rtlCol="0" anchor="ctr"/>
          <a:lstStyle/>
          <a:p>
            <a:pPr marL="0" indent="0" algn="ctr">
              <a:buNone/>
            </a:pPr>
            <a:r>
              <a:rPr lang="en-US" sz="1300" b="1" kern="0" spc="200" dirty="0">
                <a:solidFill>
                  <a:srgbClr val="E8A33D"/>
                </a:solidFill>
                <a:latin typeface="Calibri" pitchFamily="34" charset="0"/>
                <a:ea typeface="Calibri" pitchFamily="34" charset="-122"/>
                <a:cs typeface="Calibri" pitchFamily="34" charset="-120"/>
              </a:rPr>
              <a:t>LECTURE 5</a:t>
            </a:r>
            <a:endParaRPr lang="en-US" sz="1300" dirty="0"/>
          </a:p>
        </p:txBody>
      </p:sp>
      <p:sp>
        <p:nvSpPr>
          <p:cNvPr id="4" name="Text 2"/>
          <p:cNvSpPr/>
          <p:nvPr/>
        </p:nvSpPr>
        <p:spPr>
          <a:xfrm>
            <a:off x="822960" y="1783080"/>
            <a:ext cx="9601200" cy="1828800"/>
          </a:xfrm>
          <a:prstGeom prst="rect">
            <a:avLst/>
          </a:prstGeom>
          <a:noFill/>
          <a:ln/>
        </p:spPr>
        <p:txBody>
          <a:bodyPr wrap="square" rtlCol="0" anchor="ctr"/>
          <a:lstStyle/>
          <a:p>
            <a:pPr marL="0" indent="0">
              <a:lnSpc>
                <a:spcPts val="5000"/>
              </a:lnSpc>
              <a:buNone/>
            </a:pPr>
            <a:r>
              <a:rPr lang="en-US" sz="4400" b="1" dirty="0">
                <a:solidFill>
                  <a:srgbClr val="FFFFFF"/>
                </a:solidFill>
                <a:latin typeface="Cambria" pitchFamily="34" charset="0"/>
                <a:ea typeface="Cambria" pitchFamily="34" charset="-122"/>
                <a:cs typeface="Cambria" pitchFamily="34" charset="-120"/>
              </a:rPr>
              <a:t>Ten Questions</a:t>
            </a:r>
            <a:endParaRPr lang="en-US" sz="4400" dirty="0"/>
          </a:p>
          <a:p>
            <a:pPr marL="0" indent="0">
              <a:lnSpc>
                <a:spcPts val="5000"/>
              </a:lnSpc>
              <a:buNone/>
            </a:pPr>
            <a:r>
              <a:rPr lang="en-US" sz="4400" b="1" dirty="0">
                <a:solidFill>
                  <a:srgbClr val="FFFFFF"/>
                </a:solidFill>
                <a:latin typeface="Cambria" pitchFamily="34" charset="0"/>
                <a:ea typeface="Cambria" pitchFamily="34" charset="-122"/>
                <a:cs typeface="Cambria" pitchFamily="34" charset="-120"/>
              </a:rPr>
              <a:t>They Will Ask You</a:t>
            </a:r>
            <a:endParaRPr lang="en-US" sz="4400" dirty="0"/>
          </a:p>
        </p:txBody>
      </p:sp>
      <p:sp>
        <p:nvSpPr>
          <p:cNvPr id="5" name="Text 3"/>
          <p:cNvSpPr/>
          <p:nvPr/>
        </p:nvSpPr>
        <p:spPr>
          <a:xfrm>
            <a:off x="822960" y="3794760"/>
            <a:ext cx="10058400" cy="1005840"/>
          </a:xfrm>
          <a:prstGeom prst="rect">
            <a:avLst/>
          </a:prstGeom>
          <a:noFill/>
          <a:ln/>
        </p:spPr>
        <p:txBody>
          <a:bodyPr wrap="square" rtlCol="0" anchor="ctr"/>
          <a:lstStyle/>
          <a:p>
            <a:pPr marL="0" indent="0">
              <a:lnSpc>
                <a:spcPts val="2700"/>
              </a:lnSpc>
              <a:buNone/>
            </a:pPr>
            <a:r>
              <a:rPr lang="en-US" sz="1800" dirty="0">
                <a:solidFill>
                  <a:srgbClr val="9AD1D4"/>
                </a:solidFill>
                <a:latin typeface="Calibri" pitchFamily="34" charset="0"/>
                <a:ea typeface="Calibri" pitchFamily="34" charset="-122"/>
                <a:cs typeface="Calibri" pitchFamily="34" charset="-120"/>
              </a:rPr>
              <a:t>Everything from the first four lectures, in the form it actually</a:t>
            </a:r>
            <a:endParaRPr lang="en-US" sz="1800" dirty="0"/>
          </a:p>
          <a:p>
            <a:pPr marL="0" indent="0">
              <a:lnSpc>
                <a:spcPts val="2700"/>
              </a:lnSpc>
              <a:buNone/>
            </a:pPr>
            <a:r>
              <a:rPr lang="en-US" sz="1800" dirty="0">
                <a:solidFill>
                  <a:srgbClr val="9AD1D4"/>
                </a:solidFill>
                <a:latin typeface="Calibri" pitchFamily="34" charset="0"/>
                <a:ea typeface="Calibri" pitchFamily="34" charset="-122"/>
                <a:cs typeface="Calibri" pitchFamily="34" charset="-120"/>
              </a:rPr>
              <a:t>appears in interviews and in the end-term paper.</a:t>
            </a:r>
            <a:endParaRPr lang="en-US" sz="1800" dirty="0"/>
          </a:p>
        </p:txBody>
      </p:sp>
      <p:sp>
        <p:nvSpPr>
          <p:cNvPr id="6" name="Text 4"/>
          <p:cNvSpPr/>
          <p:nvPr/>
        </p:nvSpPr>
        <p:spPr>
          <a:xfrm>
            <a:off x="822960" y="4937760"/>
            <a:ext cx="10058400" cy="457200"/>
          </a:xfrm>
          <a:prstGeom prst="rect">
            <a:avLst/>
          </a:prstGeom>
          <a:noFill/>
          <a:ln/>
        </p:spPr>
        <p:txBody>
          <a:bodyPr wrap="square" lIns="0" tIns="0" rIns="0" bIns="0" rtlCol="0" anchor="ctr"/>
          <a:lstStyle/>
          <a:p>
            <a:pPr marL="0" indent="0">
              <a:buNone/>
            </a:pPr>
            <a:r>
              <a:rPr lang="en-US" sz="1500" i="1" dirty="0">
                <a:solidFill>
                  <a:srgbClr val="E8A33D"/>
                </a:solidFill>
                <a:latin typeface="Calibri" pitchFamily="34" charset="0"/>
                <a:ea typeface="Calibri" pitchFamily="34" charset="-122"/>
                <a:cs typeface="Calibri" pitchFamily="34" charset="-120"/>
              </a:rPr>
              <a:t>Answer first. Argue second. The reasoning matters more than the letter.</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How Today Works</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Ten questions, two slides each</a:t>
            </a:r>
            <a:endParaRPr lang="en-US" sz="1500" dirty="0"/>
          </a:p>
        </p:txBody>
      </p:sp>
      <p:sp>
        <p:nvSpPr>
          <p:cNvPr id="4" name="Shape 2"/>
          <p:cNvSpPr/>
          <p:nvPr/>
        </p:nvSpPr>
        <p:spPr>
          <a:xfrm>
            <a:off x="777240" y="1691640"/>
            <a:ext cx="10607040" cy="914400"/>
          </a:xfrm>
          <a:prstGeom prst="roundRect">
            <a:avLst>
              <a:gd name="adj" fmla="val 6000"/>
            </a:avLst>
          </a:prstGeom>
          <a:solidFill>
            <a:srgbClr val="FFFFFF"/>
          </a:solidFill>
          <a:ln w="12700">
            <a:solidFill>
              <a:srgbClr val="E1E8ED"/>
            </a:solidFill>
            <a:prstDash val="solid"/>
          </a:ln>
        </p:spPr>
        <p:txBody>
          <a:bodyPr/>
          <a:lstStyle/>
          <a:p>
            <a:endParaRPr lang="en-US"/>
          </a:p>
        </p:txBody>
      </p:sp>
      <p:sp>
        <p:nvSpPr>
          <p:cNvPr id="5" name="Shape 3"/>
          <p:cNvSpPr/>
          <p:nvPr/>
        </p:nvSpPr>
        <p:spPr>
          <a:xfrm>
            <a:off x="1005840" y="1920240"/>
            <a:ext cx="1371600" cy="457200"/>
          </a:xfrm>
          <a:prstGeom prst="roundRect">
            <a:avLst>
              <a:gd name="adj" fmla="val 40000"/>
            </a:avLst>
          </a:prstGeom>
          <a:solidFill>
            <a:srgbClr val="1C7293"/>
          </a:solidFill>
          <a:ln/>
        </p:spPr>
        <p:txBody>
          <a:bodyPr/>
          <a:lstStyle/>
          <a:p>
            <a:endParaRPr lang="en-US"/>
          </a:p>
        </p:txBody>
      </p:sp>
      <p:sp>
        <p:nvSpPr>
          <p:cNvPr id="6" name="Text 4"/>
          <p:cNvSpPr/>
          <p:nvPr/>
        </p:nvSpPr>
        <p:spPr>
          <a:xfrm>
            <a:off x="1005840" y="1920240"/>
            <a:ext cx="1371600" cy="4572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Read</a:t>
            </a:r>
            <a:endParaRPr lang="en-US" sz="1250" dirty="0"/>
          </a:p>
        </p:txBody>
      </p:sp>
      <p:sp>
        <p:nvSpPr>
          <p:cNvPr id="7" name="Text 5"/>
          <p:cNvSpPr/>
          <p:nvPr/>
        </p:nvSpPr>
        <p:spPr>
          <a:xfrm>
            <a:off x="2651760" y="1691640"/>
            <a:ext cx="8503920" cy="914400"/>
          </a:xfrm>
          <a:prstGeom prst="rect">
            <a:avLst/>
          </a:prstGeom>
          <a:noFill/>
          <a:ln/>
        </p:spPr>
        <p:txBody>
          <a:bodyPr wrap="square" lIns="0" tIns="0" rIns="0" bIns="0" rtlCol="0" anchor="ctr"/>
          <a:lstStyle/>
          <a:p>
            <a:pPr marL="0" indent="0">
              <a:lnSpc>
                <a:spcPts val="1900"/>
              </a:lnSpc>
              <a:buNone/>
            </a:pPr>
            <a:r>
              <a:rPr lang="en-US" sz="1350" dirty="0">
                <a:solidFill>
                  <a:srgbClr val="1B2A33"/>
                </a:solidFill>
                <a:latin typeface="Calibri" pitchFamily="34" charset="0"/>
                <a:ea typeface="Calibri" pitchFamily="34" charset="-122"/>
                <a:cs typeface="Calibri" pitchFamily="34" charset="-120"/>
              </a:rPr>
              <a:t>The question appears with four options. Some have one correct answer, some have several.</a:t>
            </a:r>
            <a:endParaRPr lang="en-US" sz="1350" dirty="0"/>
          </a:p>
        </p:txBody>
      </p:sp>
      <p:sp>
        <p:nvSpPr>
          <p:cNvPr id="8" name="Shape 6"/>
          <p:cNvSpPr/>
          <p:nvPr/>
        </p:nvSpPr>
        <p:spPr>
          <a:xfrm>
            <a:off x="777240" y="2743200"/>
            <a:ext cx="10607040" cy="914400"/>
          </a:xfrm>
          <a:prstGeom prst="roundRect">
            <a:avLst>
              <a:gd name="adj" fmla="val 6000"/>
            </a:avLst>
          </a:prstGeom>
          <a:solidFill>
            <a:srgbClr val="F4F7F9"/>
          </a:solidFill>
          <a:ln w="12700">
            <a:solidFill>
              <a:srgbClr val="E1E8ED"/>
            </a:solidFill>
            <a:prstDash val="solid"/>
          </a:ln>
        </p:spPr>
        <p:txBody>
          <a:bodyPr/>
          <a:lstStyle/>
          <a:p>
            <a:endParaRPr lang="en-US"/>
          </a:p>
        </p:txBody>
      </p:sp>
      <p:sp>
        <p:nvSpPr>
          <p:cNvPr id="9" name="Shape 7"/>
          <p:cNvSpPr/>
          <p:nvPr/>
        </p:nvSpPr>
        <p:spPr>
          <a:xfrm>
            <a:off x="1005840" y="2971800"/>
            <a:ext cx="1371600" cy="457200"/>
          </a:xfrm>
          <a:prstGeom prst="roundRect">
            <a:avLst>
              <a:gd name="adj" fmla="val 40000"/>
            </a:avLst>
          </a:prstGeom>
          <a:solidFill>
            <a:srgbClr val="065A82"/>
          </a:solidFill>
          <a:ln/>
        </p:spPr>
        <p:txBody>
          <a:bodyPr/>
          <a:lstStyle/>
          <a:p>
            <a:endParaRPr lang="en-US"/>
          </a:p>
        </p:txBody>
      </p:sp>
      <p:sp>
        <p:nvSpPr>
          <p:cNvPr id="10" name="Text 8"/>
          <p:cNvSpPr/>
          <p:nvPr/>
        </p:nvSpPr>
        <p:spPr>
          <a:xfrm>
            <a:off x="1005840" y="2971800"/>
            <a:ext cx="1371600" cy="4572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Commit</a:t>
            </a:r>
            <a:endParaRPr lang="en-US" sz="1250" dirty="0"/>
          </a:p>
        </p:txBody>
      </p:sp>
      <p:sp>
        <p:nvSpPr>
          <p:cNvPr id="11" name="Text 9"/>
          <p:cNvSpPr/>
          <p:nvPr/>
        </p:nvSpPr>
        <p:spPr>
          <a:xfrm>
            <a:off x="2651760" y="2743200"/>
            <a:ext cx="8503920" cy="914400"/>
          </a:xfrm>
          <a:prstGeom prst="rect">
            <a:avLst/>
          </a:prstGeom>
          <a:noFill/>
          <a:ln/>
        </p:spPr>
        <p:txBody>
          <a:bodyPr wrap="square" lIns="0" tIns="0" rIns="0" bIns="0" rtlCol="0" anchor="ctr"/>
          <a:lstStyle/>
          <a:p>
            <a:pPr marL="0" indent="0">
              <a:lnSpc>
                <a:spcPts val="1900"/>
              </a:lnSpc>
              <a:buNone/>
            </a:pPr>
            <a:r>
              <a:rPr lang="en-US" sz="1350" dirty="0">
                <a:solidFill>
                  <a:srgbClr val="1B2A33"/>
                </a:solidFill>
                <a:latin typeface="Calibri" pitchFamily="34" charset="0"/>
                <a:ea typeface="Calibri" pitchFamily="34" charset="-122"/>
                <a:cs typeface="Calibri" pitchFamily="34" charset="-120"/>
              </a:rPr>
              <a:t>Write your letter down. Sixty seconds. No discussion yet.</a:t>
            </a:r>
            <a:endParaRPr lang="en-US" sz="1350" dirty="0"/>
          </a:p>
        </p:txBody>
      </p:sp>
      <p:sp>
        <p:nvSpPr>
          <p:cNvPr id="12" name="Shape 10"/>
          <p:cNvSpPr/>
          <p:nvPr/>
        </p:nvSpPr>
        <p:spPr>
          <a:xfrm>
            <a:off x="777240" y="3794760"/>
            <a:ext cx="10607040" cy="914400"/>
          </a:xfrm>
          <a:prstGeom prst="roundRect">
            <a:avLst>
              <a:gd name="adj" fmla="val 6000"/>
            </a:avLst>
          </a:prstGeom>
          <a:solidFill>
            <a:srgbClr val="FFFFFF"/>
          </a:solidFill>
          <a:ln w="12700">
            <a:solidFill>
              <a:srgbClr val="E1E8ED"/>
            </a:solidFill>
            <a:prstDash val="solid"/>
          </a:ln>
        </p:spPr>
        <p:txBody>
          <a:bodyPr/>
          <a:lstStyle/>
          <a:p>
            <a:endParaRPr lang="en-US"/>
          </a:p>
        </p:txBody>
      </p:sp>
      <p:sp>
        <p:nvSpPr>
          <p:cNvPr id="13" name="Shape 11"/>
          <p:cNvSpPr/>
          <p:nvPr/>
        </p:nvSpPr>
        <p:spPr>
          <a:xfrm>
            <a:off x="1005840" y="4023360"/>
            <a:ext cx="1371600" cy="457200"/>
          </a:xfrm>
          <a:prstGeom prst="roundRect">
            <a:avLst>
              <a:gd name="adj" fmla="val 40000"/>
            </a:avLst>
          </a:prstGeom>
          <a:solidFill>
            <a:srgbClr val="6B4E71"/>
          </a:solidFill>
          <a:ln/>
        </p:spPr>
        <p:txBody>
          <a:bodyPr/>
          <a:lstStyle/>
          <a:p>
            <a:endParaRPr lang="en-US"/>
          </a:p>
        </p:txBody>
      </p:sp>
      <p:sp>
        <p:nvSpPr>
          <p:cNvPr id="14" name="Text 12"/>
          <p:cNvSpPr/>
          <p:nvPr/>
        </p:nvSpPr>
        <p:spPr>
          <a:xfrm>
            <a:off x="1005840" y="4023360"/>
            <a:ext cx="1371600" cy="4572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Vote</a:t>
            </a:r>
            <a:endParaRPr lang="en-US" sz="1250" dirty="0"/>
          </a:p>
        </p:txBody>
      </p:sp>
      <p:sp>
        <p:nvSpPr>
          <p:cNvPr id="15" name="Text 13"/>
          <p:cNvSpPr/>
          <p:nvPr/>
        </p:nvSpPr>
        <p:spPr>
          <a:xfrm>
            <a:off x="2651760" y="3794760"/>
            <a:ext cx="8503920" cy="914400"/>
          </a:xfrm>
          <a:prstGeom prst="rect">
            <a:avLst/>
          </a:prstGeom>
          <a:noFill/>
          <a:ln/>
        </p:spPr>
        <p:txBody>
          <a:bodyPr wrap="square" lIns="0" tIns="0" rIns="0" bIns="0" rtlCol="0" anchor="ctr"/>
          <a:lstStyle/>
          <a:p>
            <a:pPr marL="0" indent="0">
              <a:lnSpc>
                <a:spcPts val="1900"/>
              </a:lnSpc>
              <a:buNone/>
            </a:pPr>
            <a:r>
              <a:rPr lang="en-US" sz="1350" dirty="0">
                <a:solidFill>
                  <a:srgbClr val="1B2A33"/>
                </a:solidFill>
                <a:latin typeface="Calibri" pitchFamily="34" charset="0"/>
                <a:ea typeface="Calibri" pitchFamily="34" charset="-122"/>
                <a:cs typeface="Calibri" pitchFamily="34" charset="-120"/>
              </a:rPr>
              <a:t>Show of hands for each option. Wrong answers are useful — they show where the confusion is.</a:t>
            </a:r>
            <a:endParaRPr lang="en-US" sz="1350" dirty="0"/>
          </a:p>
        </p:txBody>
      </p:sp>
      <p:sp>
        <p:nvSpPr>
          <p:cNvPr id="16" name="Shape 14"/>
          <p:cNvSpPr/>
          <p:nvPr/>
        </p:nvSpPr>
        <p:spPr>
          <a:xfrm>
            <a:off x="777240" y="4846320"/>
            <a:ext cx="10607040" cy="914400"/>
          </a:xfrm>
          <a:prstGeom prst="roundRect">
            <a:avLst>
              <a:gd name="adj" fmla="val 6000"/>
            </a:avLst>
          </a:prstGeom>
          <a:solidFill>
            <a:srgbClr val="F4F7F9"/>
          </a:solidFill>
          <a:ln w="12700">
            <a:solidFill>
              <a:srgbClr val="E1E8ED"/>
            </a:solidFill>
            <a:prstDash val="solid"/>
          </a:ln>
        </p:spPr>
        <p:txBody>
          <a:bodyPr/>
          <a:lstStyle/>
          <a:p>
            <a:endParaRPr lang="en-US"/>
          </a:p>
        </p:txBody>
      </p:sp>
      <p:sp>
        <p:nvSpPr>
          <p:cNvPr id="17" name="Shape 15"/>
          <p:cNvSpPr/>
          <p:nvPr/>
        </p:nvSpPr>
        <p:spPr>
          <a:xfrm>
            <a:off x="1005840" y="5074920"/>
            <a:ext cx="1371600" cy="457200"/>
          </a:xfrm>
          <a:prstGeom prst="roundRect">
            <a:avLst>
              <a:gd name="adj" fmla="val 40000"/>
            </a:avLst>
          </a:prstGeom>
          <a:solidFill>
            <a:srgbClr val="2E7D5B"/>
          </a:solidFill>
          <a:ln/>
        </p:spPr>
        <p:txBody>
          <a:bodyPr/>
          <a:lstStyle/>
          <a:p>
            <a:endParaRPr lang="en-US"/>
          </a:p>
        </p:txBody>
      </p:sp>
      <p:sp>
        <p:nvSpPr>
          <p:cNvPr id="18" name="Text 16"/>
          <p:cNvSpPr/>
          <p:nvPr/>
        </p:nvSpPr>
        <p:spPr>
          <a:xfrm>
            <a:off x="1005840" y="5074920"/>
            <a:ext cx="1371600" cy="4572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Reveal</a:t>
            </a:r>
            <a:endParaRPr lang="en-US" sz="1250" dirty="0"/>
          </a:p>
        </p:txBody>
      </p:sp>
      <p:sp>
        <p:nvSpPr>
          <p:cNvPr id="19" name="Text 17"/>
          <p:cNvSpPr/>
          <p:nvPr/>
        </p:nvSpPr>
        <p:spPr>
          <a:xfrm>
            <a:off x="2651760" y="4846320"/>
            <a:ext cx="8503920" cy="914400"/>
          </a:xfrm>
          <a:prstGeom prst="rect">
            <a:avLst/>
          </a:prstGeom>
          <a:noFill/>
          <a:ln/>
        </p:spPr>
        <p:txBody>
          <a:bodyPr wrap="square" lIns="0" tIns="0" rIns="0" bIns="0" rtlCol="0" anchor="ctr"/>
          <a:lstStyle/>
          <a:p>
            <a:pPr marL="0" indent="0">
              <a:lnSpc>
                <a:spcPts val="1900"/>
              </a:lnSpc>
              <a:buNone/>
            </a:pPr>
            <a:r>
              <a:rPr lang="en-US" sz="1350" dirty="0">
                <a:solidFill>
                  <a:srgbClr val="1B2A33"/>
                </a:solidFill>
                <a:latin typeface="Calibri" pitchFamily="34" charset="0"/>
                <a:ea typeface="Calibri" pitchFamily="34" charset="-122"/>
                <a:cs typeface="Calibri" pitchFamily="34" charset="-120"/>
              </a:rPr>
              <a:t>The answer slide gives the correct choice, why each wrong option is tempting, and the follow-up question an interviewer would ask next.</a:t>
            </a:r>
            <a:endParaRPr lang="en-US" sz="1350" dirty="0"/>
          </a:p>
        </p:txBody>
      </p:sp>
      <p:sp>
        <p:nvSpPr>
          <p:cNvPr id="20" name="Shape 18"/>
          <p:cNvSpPr/>
          <p:nvPr/>
        </p:nvSpPr>
        <p:spPr>
          <a:xfrm>
            <a:off x="777240" y="5943600"/>
            <a:ext cx="10607040" cy="502920"/>
          </a:xfrm>
          <a:prstGeom prst="roundRect">
            <a:avLst>
              <a:gd name="adj" fmla="val 10909"/>
            </a:avLst>
          </a:prstGeom>
          <a:solidFill>
            <a:srgbClr val="13293D"/>
          </a:solidFill>
          <a:ln/>
        </p:spPr>
        <p:txBody>
          <a:bodyPr/>
          <a:lstStyle/>
          <a:p>
            <a:endParaRPr lang="en-US"/>
          </a:p>
        </p:txBody>
      </p:sp>
      <p:sp>
        <p:nvSpPr>
          <p:cNvPr id="21" name="Text 19"/>
          <p:cNvSpPr/>
          <p:nvPr/>
        </p:nvSpPr>
        <p:spPr>
          <a:xfrm>
            <a:off x="777240" y="5943600"/>
            <a:ext cx="10607040" cy="502920"/>
          </a:xfrm>
          <a:prstGeom prst="rect">
            <a:avLst/>
          </a:prstGeom>
          <a:noFill/>
          <a:ln/>
        </p:spPr>
        <p:txBody>
          <a:bodyPr wrap="square" rtlCol="0" anchor="ctr"/>
          <a:lstStyle/>
          <a:p>
            <a:pPr marL="0" indent="0" algn="ctr">
              <a:buNone/>
            </a:pPr>
            <a:r>
              <a:rPr lang="en-US" sz="1300" b="1" dirty="0">
                <a:solidFill>
                  <a:srgbClr val="9AD1D4"/>
                </a:solidFill>
                <a:latin typeface="Calibri" pitchFamily="34" charset="0"/>
                <a:ea typeface="Calibri" pitchFamily="34" charset="-122"/>
                <a:cs typeface="Calibri" pitchFamily="34" charset="-120"/>
              </a:rPr>
              <a:t>In a real interview nobody gives you four options. The options are training wheels — the explanation is the actual lesson.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777240" y="548640"/>
            <a:ext cx="1234440" cy="457200"/>
          </a:xfrm>
          <a:prstGeom prst="roundRect">
            <a:avLst>
              <a:gd name="adj" fmla="val 40000"/>
            </a:avLst>
          </a:prstGeom>
          <a:solidFill>
            <a:srgbClr val="E8A33D"/>
          </a:solidFill>
          <a:ln/>
        </p:spPr>
        <p:txBody>
          <a:bodyPr/>
          <a:lstStyle/>
          <a:p>
            <a:endParaRPr lang="en-US"/>
          </a:p>
        </p:txBody>
      </p:sp>
      <p:sp>
        <p:nvSpPr>
          <p:cNvPr id="3" name="Text 1"/>
          <p:cNvSpPr/>
          <p:nvPr/>
        </p:nvSpPr>
        <p:spPr>
          <a:xfrm>
            <a:off x="777240" y="548640"/>
            <a:ext cx="1234440" cy="457200"/>
          </a:xfrm>
          <a:prstGeom prst="rect">
            <a:avLst/>
          </a:prstGeom>
          <a:noFill/>
          <a:ln/>
        </p:spPr>
        <p:txBody>
          <a:bodyPr wrap="square" rtlCol="0" anchor="ctr"/>
          <a:lstStyle/>
          <a:p>
            <a:pPr marL="0" indent="0" algn="ctr">
              <a:buNone/>
            </a:pPr>
            <a:r>
              <a:rPr lang="en-US" sz="1500" b="1" dirty="0">
                <a:solidFill>
                  <a:srgbClr val="13293D"/>
                </a:solidFill>
                <a:latin typeface="Calibri" pitchFamily="34" charset="0"/>
                <a:ea typeface="Calibri" pitchFamily="34" charset="-122"/>
                <a:cs typeface="Calibri" pitchFamily="34" charset="-120"/>
              </a:rPr>
              <a:t>Q1</a:t>
            </a:r>
            <a:endParaRPr lang="en-US" sz="1500" dirty="0"/>
          </a:p>
        </p:txBody>
      </p:sp>
      <p:sp>
        <p:nvSpPr>
          <p:cNvPr id="4" name="Shape 2"/>
          <p:cNvSpPr/>
          <p:nvPr/>
        </p:nvSpPr>
        <p:spPr>
          <a:xfrm>
            <a:off x="2194560" y="548640"/>
            <a:ext cx="2743200" cy="457200"/>
          </a:xfrm>
          <a:prstGeom prst="roundRect">
            <a:avLst>
              <a:gd name="adj" fmla="val 40000"/>
            </a:avLst>
          </a:prstGeom>
          <a:solidFill>
            <a:srgbClr val="1D3D52"/>
          </a:solidFill>
          <a:ln/>
        </p:spPr>
        <p:txBody>
          <a:bodyPr/>
          <a:lstStyle/>
          <a:p>
            <a:endParaRPr lang="en-US"/>
          </a:p>
        </p:txBody>
      </p:sp>
      <p:sp>
        <p:nvSpPr>
          <p:cNvPr id="5" name="Text 3"/>
          <p:cNvSpPr/>
          <p:nvPr/>
        </p:nvSpPr>
        <p:spPr>
          <a:xfrm>
            <a:off x="2194560" y="548640"/>
            <a:ext cx="2743200" cy="457200"/>
          </a:xfrm>
          <a:prstGeom prst="rect">
            <a:avLst/>
          </a:prstGeom>
          <a:noFill/>
          <a:ln/>
        </p:spPr>
        <p:txBody>
          <a:bodyPr wrap="square" rtlCol="0" anchor="ctr"/>
          <a:lstStyle/>
          <a:p>
            <a:pPr marL="0" indent="0" algn="ctr">
              <a:buNone/>
            </a:pPr>
            <a:r>
              <a:rPr lang="en-US" sz="1100" b="1" kern="0" spc="120" dirty="0">
                <a:solidFill>
                  <a:srgbClr val="9AD1D4"/>
                </a:solidFill>
                <a:latin typeface="Calibri" pitchFamily="34" charset="0"/>
                <a:ea typeface="Calibri" pitchFamily="34" charset="-122"/>
                <a:cs typeface="Calibri" pitchFamily="34" charset="-120"/>
              </a:rPr>
              <a:t>SELECT ONE</a:t>
            </a:r>
            <a:endParaRPr lang="en-US" sz="1100" dirty="0"/>
          </a:p>
        </p:txBody>
      </p:sp>
      <p:sp>
        <p:nvSpPr>
          <p:cNvPr id="7" name="Text 5"/>
          <p:cNvSpPr/>
          <p:nvPr/>
        </p:nvSpPr>
        <p:spPr>
          <a:xfrm>
            <a:off x="777240" y="1234440"/>
            <a:ext cx="10607040" cy="1325880"/>
          </a:xfrm>
          <a:prstGeom prst="rect">
            <a:avLst/>
          </a:prstGeom>
          <a:noFill/>
          <a:ln/>
        </p:spPr>
        <p:txBody>
          <a:bodyPr wrap="square" lIns="0" tIns="0" rIns="0" bIns="0" rtlCol="0" anchor="ctr"/>
          <a:lstStyle/>
          <a:p>
            <a:pPr marL="0" indent="0">
              <a:lnSpc>
                <a:spcPts val="3100"/>
              </a:lnSpc>
              <a:buNone/>
            </a:pPr>
            <a:r>
              <a:rPr lang="en-US" sz="2200" b="1" dirty="0">
                <a:solidFill>
                  <a:srgbClr val="FFFFFF"/>
                </a:solidFill>
                <a:latin typeface="Cambria" pitchFamily="34" charset="0"/>
                <a:ea typeface="Cambria" pitchFamily="34" charset="-122"/>
                <a:cs typeface="Cambria" pitchFamily="34" charset="-120"/>
              </a:rPr>
              <a:t>Users in Jaipur report that product pages feel slow. You measure: the search API responds in 80 ms, but images take nearly 3 seconds to appear. What is the most likely fix?</a:t>
            </a:r>
            <a:endParaRPr lang="en-US" sz="2200" dirty="0"/>
          </a:p>
        </p:txBody>
      </p:sp>
      <p:sp>
        <p:nvSpPr>
          <p:cNvPr id="8" name="Shape 6"/>
          <p:cNvSpPr/>
          <p:nvPr/>
        </p:nvSpPr>
        <p:spPr>
          <a:xfrm>
            <a:off x="777240" y="2788920"/>
            <a:ext cx="5120640" cy="1280160"/>
          </a:xfrm>
          <a:prstGeom prst="roundRect">
            <a:avLst>
              <a:gd name="adj" fmla="val 5000"/>
            </a:avLst>
          </a:prstGeom>
          <a:solidFill>
            <a:srgbClr val="1D3D52"/>
          </a:solidFill>
          <a:ln/>
        </p:spPr>
        <p:txBody>
          <a:bodyPr/>
          <a:lstStyle/>
          <a:p>
            <a:endParaRPr lang="en-US"/>
          </a:p>
        </p:txBody>
      </p:sp>
      <p:sp>
        <p:nvSpPr>
          <p:cNvPr id="9" name="Shape 7"/>
          <p:cNvSpPr/>
          <p:nvPr/>
        </p:nvSpPr>
        <p:spPr>
          <a:xfrm>
            <a:off x="1051560" y="3246120"/>
            <a:ext cx="384048" cy="384048"/>
          </a:xfrm>
          <a:prstGeom prst="ellipse">
            <a:avLst/>
          </a:prstGeom>
          <a:solidFill>
            <a:srgbClr val="1C7293"/>
          </a:solidFill>
          <a:ln/>
        </p:spPr>
        <p:txBody>
          <a:bodyPr/>
          <a:lstStyle/>
          <a:p>
            <a:endParaRPr lang="en-US"/>
          </a:p>
        </p:txBody>
      </p:sp>
      <p:sp>
        <p:nvSpPr>
          <p:cNvPr id="10" name="Text 8"/>
          <p:cNvSpPr/>
          <p:nvPr/>
        </p:nvSpPr>
        <p:spPr>
          <a:xfrm>
            <a:off x="1051560" y="324612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1" name="Text 9"/>
          <p:cNvSpPr/>
          <p:nvPr/>
        </p:nvSpPr>
        <p:spPr>
          <a:xfrm>
            <a:off x="1581912" y="278892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Add more application servers behind the load balancer</a:t>
            </a:r>
            <a:endParaRPr lang="en-US" sz="1350" dirty="0"/>
          </a:p>
        </p:txBody>
      </p:sp>
      <p:sp>
        <p:nvSpPr>
          <p:cNvPr id="12" name="Shape 10"/>
          <p:cNvSpPr/>
          <p:nvPr/>
        </p:nvSpPr>
        <p:spPr>
          <a:xfrm>
            <a:off x="6172200" y="2788920"/>
            <a:ext cx="5120640" cy="1280160"/>
          </a:xfrm>
          <a:prstGeom prst="roundRect">
            <a:avLst>
              <a:gd name="adj" fmla="val 5000"/>
            </a:avLst>
          </a:prstGeom>
          <a:solidFill>
            <a:srgbClr val="1D3D52"/>
          </a:solidFill>
          <a:ln/>
        </p:spPr>
        <p:txBody>
          <a:bodyPr/>
          <a:lstStyle/>
          <a:p>
            <a:endParaRPr lang="en-US"/>
          </a:p>
        </p:txBody>
      </p:sp>
      <p:sp>
        <p:nvSpPr>
          <p:cNvPr id="13" name="Shape 11"/>
          <p:cNvSpPr/>
          <p:nvPr/>
        </p:nvSpPr>
        <p:spPr>
          <a:xfrm>
            <a:off x="6446520" y="3246120"/>
            <a:ext cx="384048" cy="384048"/>
          </a:xfrm>
          <a:prstGeom prst="ellipse">
            <a:avLst/>
          </a:prstGeom>
          <a:solidFill>
            <a:srgbClr val="1C7293"/>
          </a:solidFill>
          <a:ln/>
        </p:spPr>
        <p:txBody>
          <a:bodyPr/>
          <a:lstStyle/>
          <a:p>
            <a:endParaRPr lang="en-US"/>
          </a:p>
        </p:txBody>
      </p:sp>
      <p:sp>
        <p:nvSpPr>
          <p:cNvPr id="14" name="Text 12"/>
          <p:cNvSpPr/>
          <p:nvPr/>
        </p:nvSpPr>
        <p:spPr>
          <a:xfrm>
            <a:off x="6446520" y="324612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5" name="Text 13"/>
          <p:cNvSpPr/>
          <p:nvPr/>
        </p:nvSpPr>
        <p:spPr>
          <a:xfrm>
            <a:off x="6976872" y="278892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Serve the images from a CDN</a:t>
            </a:r>
            <a:endParaRPr lang="en-US" sz="1350" dirty="0"/>
          </a:p>
        </p:txBody>
      </p:sp>
      <p:sp>
        <p:nvSpPr>
          <p:cNvPr id="16" name="Shape 14"/>
          <p:cNvSpPr/>
          <p:nvPr/>
        </p:nvSpPr>
        <p:spPr>
          <a:xfrm>
            <a:off x="777240" y="4251960"/>
            <a:ext cx="5120640" cy="1280160"/>
          </a:xfrm>
          <a:prstGeom prst="roundRect">
            <a:avLst>
              <a:gd name="adj" fmla="val 5000"/>
            </a:avLst>
          </a:prstGeom>
          <a:solidFill>
            <a:srgbClr val="1D3D52"/>
          </a:solidFill>
          <a:ln/>
        </p:spPr>
        <p:txBody>
          <a:bodyPr/>
          <a:lstStyle/>
          <a:p>
            <a:endParaRPr lang="en-US"/>
          </a:p>
        </p:txBody>
      </p:sp>
      <p:sp>
        <p:nvSpPr>
          <p:cNvPr id="17" name="Shape 15"/>
          <p:cNvSpPr/>
          <p:nvPr/>
        </p:nvSpPr>
        <p:spPr>
          <a:xfrm>
            <a:off x="1051560" y="4709160"/>
            <a:ext cx="384048" cy="384048"/>
          </a:xfrm>
          <a:prstGeom prst="ellipse">
            <a:avLst/>
          </a:prstGeom>
          <a:solidFill>
            <a:srgbClr val="1C7293"/>
          </a:solidFill>
          <a:ln/>
        </p:spPr>
        <p:txBody>
          <a:bodyPr/>
          <a:lstStyle/>
          <a:p>
            <a:endParaRPr lang="en-US"/>
          </a:p>
        </p:txBody>
      </p:sp>
      <p:sp>
        <p:nvSpPr>
          <p:cNvPr id="18" name="Text 16"/>
          <p:cNvSpPr/>
          <p:nvPr/>
        </p:nvSpPr>
        <p:spPr>
          <a:xfrm>
            <a:off x="1051560" y="470916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9" name="Text 17"/>
          <p:cNvSpPr/>
          <p:nvPr/>
        </p:nvSpPr>
        <p:spPr>
          <a:xfrm>
            <a:off x="1581912" y="425196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Add a read replica to the product database</a:t>
            </a:r>
            <a:endParaRPr lang="en-US" sz="1350" dirty="0"/>
          </a:p>
        </p:txBody>
      </p:sp>
      <p:sp>
        <p:nvSpPr>
          <p:cNvPr id="20" name="Shape 18"/>
          <p:cNvSpPr/>
          <p:nvPr/>
        </p:nvSpPr>
        <p:spPr>
          <a:xfrm>
            <a:off x="6172200" y="4251960"/>
            <a:ext cx="5120640" cy="1280160"/>
          </a:xfrm>
          <a:prstGeom prst="roundRect">
            <a:avLst>
              <a:gd name="adj" fmla="val 5000"/>
            </a:avLst>
          </a:prstGeom>
          <a:solidFill>
            <a:srgbClr val="1D3D52"/>
          </a:solidFill>
          <a:ln/>
        </p:spPr>
        <p:txBody>
          <a:bodyPr/>
          <a:lstStyle/>
          <a:p>
            <a:endParaRPr lang="en-US"/>
          </a:p>
        </p:txBody>
      </p:sp>
      <p:sp>
        <p:nvSpPr>
          <p:cNvPr id="21" name="Shape 19"/>
          <p:cNvSpPr/>
          <p:nvPr/>
        </p:nvSpPr>
        <p:spPr>
          <a:xfrm>
            <a:off x="6446520" y="4709160"/>
            <a:ext cx="384048" cy="384048"/>
          </a:xfrm>
          <a:prstGeom prst="ellipse">
            <a:avLst/>
          </a:prstGeom>
          <a:solidFill>
            <a:srgbClr val="1C7293"/>
          </a:solidFill>
          <a:ln/>
        </p:spPr>
        <p:txBody>
          <a:bodyPr/>
          <a:lstStyle/>
          <a:p>
            <a:endParaRPr lang="en-US"/>
          </a:p>
        </p:txBody>
      </p:sp>
      <p:sp>
        <p:nvSpPr>
          <p:cNvPr id="22" name="Text 20"/>
          <p:cNvSpPr/>
          <p:nvPr/>
        </p:nvSpPr>
        <p:spPr>
          <a:xfrm>
            <a:off x="6446520" y="470916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3" name="Text 21"/>
          <p:cNvSpPr/>
          <p:nvPr/>
        </p:nvSpPr>
        <p:spPr>
          <a:xfrm>
            <a:off x="6976872" y="425196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Increase the size of the Redis cache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Q1 — Answer</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Diagnose which road is slow before you widen any of them</a:t>
            </a:r>
            <a:endParaRPr lang="en-US" sz="1500" dirty="0"/>
          </a:p>
        </p:txBody>
      </p:sp>
      <p:sp>
        <p:nvSpPr>
          <p:cNvPr id="4" name="Shape 2"/>
          <p:cNvSpPr/>
          <p:nvPr/>
        </p:nvSpPr>
        <p:spPr>
          <a:xfrm>
            <a:off x="777240" y="1463040"/>
            <a:ext cx="10607040" cy="822960"/>
          </a:xfrm>
          <a:prstGeom prst="roundRect">
            <a:avLst>
              <a:gd name="adj" fmla="val 6667"/>
            </a:avLst>
          </a:prstGeom>
          <a:solidFill>
            <a:srgbClr val="2E7D5B"/>
          </a:solidFill>
          <a:ln/>
        </p:spPr>
        <p:txBody>
          <a:bodyPr/>
          <a:lstStyle/>
          <a:p>
            <a:endParaRPr lang="en-US"/>
          </a:p>
        </p:txBody>
      </p:sp>
      <p:sp>
        <p:nvSpPr>
          <p:cNvPr id="5" name="Text 3"/>
          <p:cNvSpPr/>
          <p:nvPr/>
        </p:nvSpPr>
        <p:spPr>
          <a:xfrm>
            <a:off x="1097280" y="1463040"/>
            <a:ext cx="10058400" cy="822960"/>
          </a:xfrm>
          <a:prstGeom prst="rect">
            <a:avLst/>
          </a:prstGeom>
          <a:noFill/>
          <a:ln/>
        </p:spPr>
        <p:txBody>
          <a:bodyPr wrap="square" lIns="0" tIns="0" rIns="0" bIns="0" rtlCol="0" anchor="ctr"/>
          <a:lstStyle/>
          <a:p>
            <a:pPr marL="0" indent="0">
              <a:lnSpc>
                <a:spcPts val="2100"/>
              </a:lnSpc>
              <a:buNone/>
            </a:pPr>
            <a:r>
              <a:rPr lang="en-US" sz="1600" b="1" dirty="0">
                <a:solidFill>
                  <a:srgbClr val="FFFFFF"/>
                </a:solidFill>
                <a:latin typeface="Calibri" pitchFamily="34" charset="0"/>
                <a:ea typeface="Calibri" pitchFamily="34" charset="-122"/>
                <a:cs typeface="Calibri" pitchFamily="34" charset="-120"/>
              </a:rPr>
              <a:t>B — Serve the images from a CDN</a:t>
            </a:r>
            <a:endParaRPr lang="en-US" sz="1600" dirty="0"/>
          </a:p>
        </p:txBody>
      </p:sp>
      <p:sp>
        <p:nvSpPr>
          <p:cNvPr id="6" name="Shape 4"/>
          <p:cNvSpPr/>
          <p:nvPr/>
        </p:nvSpPr>
        <p:spPr>
          <a:xfrm>
            <a:off x="777240" y="2423160"/>
            <a:ext cx="10607040" cy="960120"/>
          </a:xfrm>
          <a:prstGeom prst="roundRect">
            <a:avLst>
              <a:gd name="adj" fmla="val 5714"/>
            </a:avLst>
          </a:prstGeom>
          <a:solidFill>
            <a:srgbClr val="F4F7F9"/>
          </a:solidFill>
          <a:ln w="12700">
            <a:solidFill>
              <a:srgbClr val="E1E8ED"/>
            </a:solidFill>
            <a:prstDash val="solid"/>
          </a:ln>
        </p:spPr>
        <p:txBody>
          <a:bodyPr/>
          <a:lstStyle/>
          <a:p>
            <a:endParaRPr lang="en-US"/>
          </a:p>
        </p:txBody>
      </p:sp>
      <p:sp>
        <p:nvSpPr>
          <p:cNvPr id="7" name="Text 5"/>
          <p:cNvSpPr/>
          <p:nvPr/>
        </p:nvSpPr>
        <p:spPr>
          <a:xfrm>
            <a:off x="1097280" y="2423160"/>
            <a:ext cx="10058400" cy="960120"/>
          </a:xfrm>
          <a:prstGeom prst="rect">
            <a:avLst/>
          </a:prstGeom>
          <a:noFill/>
          <a:ln/>
        </p:spPr>
        <p:txBody>
          <a:bodyPr wrap="square" lIns="0" tIns="0" rIns="0" bIns="0" rtlCol="0" anchor="ctr"/>
          <a:lstStyle/>
          <a:p>
            <a:pPr marL="0" indent="0">
              <a:lnSpc>
                <a:spcPts val="1900"/>
              </a:lnSpc>
              <a:buNone/>
            </a:pPr>
            <a:r>
              <a:rPr lang="en-US" sz="1350" dirty="0">
                <a:solidFill>
                  <a:srgbClr val="1B2A33"/>
                </a:solidFill>
                <a:latin typeface="Calibri" pitchFamily="34" charset="0"/>
                <a:ea typeface="Calibri" pitchFamily="34" charset="-122"/>
                <a:cs typeface="Calibri" pitchFamily="34" charset="-120"/>
              </a:rPr>
              <a:t>The API is already responding in 80 ms, so the backend path is healthy. Only the image path is slow, and images are large static files travelling a long distance. That is precisely the problem a CDN solves: keep copies on edge servers near the user.</a:t>
            </a:r>
            <a:endParaRPr lang="en-US" sz="1350" dirty="0"/>
          </a:p>
        </p:txBody>
      </p:sp>
      <p:sp>
        <p:nvSpPr>
          <p:cNvPr id="8" name="Text 6"/>
          <p:cNvSpPr/>
          <p:nvPr/>
        </p:nvSpPr>
        <p:spPr>
          <a:xfrm>
            <a:off x="777240" y="3520440"/>
            <a:ext cx="5486400" cy="320040"/>
          </a:xfrm>
          <a:prstGeom prst="rect">
            <a:avLst/>
          </a:prstGeom>
          <a:noFill/>
          <a:ln/>
        </p:spPr>
        <p:txBody>
          <a:bodyPr wrap="square" lIns="0" tIns="0" rIns="0" bIns="0" rtlCol="0" anchor="ctr"/>
          <a:lstStyle/>
          <a:p>
            <a:pPr marL="0" indent="0">
              <a:buNone/>
            </a:pPr>
            <a:r>
              <a:rPr lang="en-US" sz="1300" b="1" dirty="0">
                <a:solidFill>
                  <a:srgbClr val="A03A3A"/>
                </a:solidFill>
                <a:latin typeface="Calibri" pitchFamily="34" charset="0"/>
                <a:ea typeface="Calibri" pitchFamily="34" charset="-122"/>
                <a:cs typeface="Calibri" pitchFamily="34" charset="-120"/>
              </a:rPr>
              <a:t>Why the others fail</a:t>
            </a:r>
            <a:endParaRPr lang="en-US" sz="1300" dirty="0"/>
          </a:p>
        </p:txBody>
      </p:sp>
      <p:sp>
        <p:nvSpPr>
          <p:cNvPr id="9" name="Shape 7"/>
          <p:cNvSpPr/>
          <p:nvPr/>
        </p:nvSpPr>
        <p:spPr>
          <a:xfrm>
            <a:off x="777240" y="3886200"/>
            <a:ext cx="10607040" cy="493776"/>
          </a:xfrm>
          <a:prstGeom prst="roundRect">
            <a:avLst>
              <a:gd name="adj" fmla="val 7407"/>
            </a:avLst>
          </a:prstGeom>
          <a:solidFill>
            <a:srgbClr val="FFFFFF"/>
          </a:solidFill>
          <a:ln w="12700">
            <a:solidFill>
              <a:srgbClr val="E8D5D1"/>
            </a:solidFill>
            <a:prstDash val="solid"/>
          </a:ln>
        </p:spPr>
        <p:txBody>
          <a:bodyPr/>
          <a:lstStyle/>
          <a:p>
            <a:endParaRPr lang="en-US"/>
          </a:p>
        </p:txBody>
      </p:sp>
      <p:sp>
        <p:nvSpPr>
          <p:cNvPr id="10" name="Shape 8"/>
          <p:cNvSpPr/>
          <p:nvPr/>
        </p:nvSpPr>
        <p:spPr>
          <a:xfrm>
            <a:off x="1005840" y="3977640"/>
            <a:ext cx="310896" cy="310896"/>
          </a:xfrm>
          <a:prstGeom prst="ellipse">
            <a:avLst/>
          </a:prstGeom>
          <a:solidFill>
            <a:srgbClr val="A03A3A"/>
          </a:solidFill>
          <a:ln/>
        </p:spPr>
        <p:txBody>
          <a:bodyPr/>
          <a:lstStyle/>
          <a:p>
            <a:endParaRPr lang="en-US"/>
          </a:p>
        </p:txBody>
      </p:sp>
      <p:sp>
        <p:nvSpPr>
          <p:cNvPr id="11" name="Text 9"/>
          <p:cNvSpPr/>
          <p:nvPr/>
        </p:nvSpPr>
        <p:spPr>
          <a:xfrm>
            <a:off x="1005840" y="3977640"/>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2" name="Text 10"/>
          <p:cNvSpPr/>
          <p:nvPr/>
        </p:nvSpPr>
        <p:spPr>
          <a:xfrm>
            <a:off x="1463040" y="3886200"/>
            <a:ext cx="9692640" cy="49377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The API is fast at 80 ms. More application servers would improve a bottleneck that does not exist.</a:t>
            </a:r>
            <a:endParaRPr lang="en-US" sz="1250" dirty="0"/>
          </a:p>
        </p:txBody>
      </p:sp>
      <p:sp>
        <p:nvSpPr>
          <p:cNvPr id="13" name="Shape 11"/>
          <p:cNvSpPr/>
          <p:nvPr/>
        </p:nvSpPr>
        <p:spPr>
          <a:xfrm>
            <a:off x="777240" y="4453128"/>
            <a:ext cx="10607040" cy="493776"/>
          </a:xfrm>
          <a:prstGeom prst="roundRect">
            <a:avLst>
              <a:gd name="adj" fmla="val 7407"/>
            </a:avLst>
          </a:prstGeom>
          <a:solidFill>
            <a:srgbClr val="FDF0EE"/>
          </a:solidFill>
          <a:ln w="12700">
            <a:solidFill>
              <a:srgbClr val="E8D5D1"/>
            </a:solidFill>
            <a:prstDash val="solid"/>
          </a:ln>
        </p:spPr>
        <p:txBody>
          <a:bodyPr/>
          <a:lstStyle/>
          <a:p>
            <a:endParaRPr lang="en-US"/>
          </a:p>
        </p:txBody>
      </p:sp>
      <p:sp>
        <p:nvSpPr>
          <p:cNvPr id="14" name="Shape 12"/>
          <p:cNvSpPr/>
          <p:nvPr/>
        </p:nvSpPr>
        <p:spPr>
          <a:xfrm>
            <a:off x="1005840" y="4544568"/>
            <a:ext cx="310896" cy="310896"/>
          </a:xfrm>
          <a:prstGeom prst="ellipse">
            <a:avLst/>
          </a:prstGeom>
          <a:solidFill>
            <a:srgbClr val="A03A3A"/>
          </a:solidFill>
          <a:ln/>
        </p:spPr>
        <p:txBody>
          <a:bodyPr/>
          <a:lstStyle/>
          <a:p>
            <a:endParaRPr lang="en-US"/>
          </a:p>
        </p:txBody>
      </p:sp>
      <p:sp>
        <p:nvSpPr>
          <p:cNvPr id="15" name="Text 13"/>
          <p:cNvSpPr/>
          <p:nvPr/>
        </p:nvSpPr>
        <p:spPr>
          <a:xfrm>
            <a:off x="1005840" y="4544568"/>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16" name="Text 14"/>
          <p:cNvSpPr/>
          <p:nvPr/>
        </p:nvSpPr>
        <p:spPr>
          <a:xfrm>
            <a:off x="1463040" y="4453128"/>
            <a:ext cx="9692640" cy="49377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The database is not in the image path at all. A replica speeds up queries, not file downloads.</a:t>
            </a:r>
            <a:endParaRPr lang="en-US" sz="1250" dirty="0"/>
          </a:p>
        </p:txBody>
      </p:sp>
      <p:sp>
        <p:nvSpPr>
          <p:cNvPr id="17" name="Shape 15"/>
          <p:cNvSpPr/>
          <p:nvPr/>
        </p:nvSpPr>
        <p:spPr>
          <a:xfrm>
            <a:off x="777240" y="5020056"/>
            <a:ext cx="10607040" cy="493776"/>
          </a:xfrm>
          <a:prstGeom prst="roundRect">
            <a:avLst>
              <a:gd name="adj" fmla="val 7407"/>
            </a:avLst>
          </a:prstGeom>
          <a:solidFill>
            <a:srgbClr val="FFFFFF"/>
          </a:solidFill>
          <a:ln w="12700">
            <a:solidFill>
              <a:srgbClr val="E8D5D1"/>
            </a:solidFill>
            <a:prstDash val="solid"/>
          </a:ln>
        </p:spPr>
        <p:txBody>
          <a:bodyPr/>
          <a:lstStyle/>
          <a:p>
            <a:endParaRPr lang="en-US"/>
          </a:p>
        </p:txBody>
      </p:sp>
      <p:sp>
        <p:nvSpPr>
          <p:cNvPr id="18" name="Shape 16"/>
          <p:cNvSpPr/>
          <p:nvPr/>
        </p:nvSpPr>
        <p:spPr>
          <a:xfrm>
            <a:off x="1005840" y="5111496"/>
            <a:ext cx="310896" cy="310896"/>
          </a:xfrm>
          <a:prstGeom prst="ellipse">
            <a:avLst/>
          </a:prstGeom>
          <a:solidFill>
            <a:srgbClr val="A03A3A"/>
          </a:solidFill>
          <a:ln/>
        </p:spPr>
        <p:txBody>
          <a:bodyPr/>
          <a:lstStyle/>
          <a:p>
            <a:endParaRPr lang="en-US"/>
          </a:p>
        </p:txBody>
      </p:sp>
      <p:sp>
        <p:nvSpPr>
          <p:cNvPr id="19" name="Text 17"/>
          <p:cNvSpPr/>
          <p:nvPr/>
        </p:nvSpPr>
        <p:spPr>
          <a:xfrm>
            <a:off x="1005840" y="5111496"/>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t>
            </a:r>
            <a:endParaRPr lang="en-US" sz="1100" dirty="0"/>
          </a:p>
        </p:txBody>
      </p:sp>
      <p:sp>
        <p:nvSpPr>
          <p:cNvPr id="20" name="Text 18"/>
          <p:cNvSpPr/>
          <p:nvPr/>
        </p:nvSpPr>
        <p:spPr>
          <a:xfrm>
            <a:off x="1463040" y="5020056"/>
            <a:ext cx="9692640" cy="49377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Redis caches data for the API, which is already fast. Images are not served from Redis.</a:t>
            </a:r>
            <a:endParaRPr lang="en-US" sz="1250" dirty="0"/>
          </a:p>
        </p:txBody>
      </p:sp>
      <p:sp>
        <p:nvSpPr>
          <p:cNvPr id="21" name="Shape 19"/>
          <p:cNvSpPr/>
          <p:nvPr/>
        </p:nvSpPr>
        <p:spPr>
          <a:xfrm>
            <a:off x="777240" y="5751576"/>
            <a:ext cx="10607040" cy="713232"/>
          </a:xfrm>
          <a:prstGeom prst="roundRect">
            <a:avLst>
              <a:gd name="adj" fmla="val 7692"/>
            </a:avLst>
          </a:prstGeom>
          <a:solidFill>
            <a:srgbClr val="FDF3E3"/>
          </a:solidFill>
          <a:ln w="16510">
            <a:solidFill>
              <a:srgbClr val="E8A33D"/>
            </a:solidFill>
            <a:prstDash val="solid"/>
          </a:ln>
        </p:spPr>
        <p:txBody>
          <a:bodyPr/>
          <a:lstStyle/>
          <a:p>
            <a:endParaRPr lang="en-US"/>
          </a:p>
        </p:txBody>
      </p:sp>
      <p:sp>
        <p:nvSpPr>
          <p:cNvPr id="22" name="Text 20"/>
          <p:cNvSpPr/>
          <p:nvPr/>
        </p:nvSpPr>
        <p:spPr>
          <a:xfrm>
            <a:off x="1097280" y="5751576"/>
            <a:ext cx="10058400" cy="713232"/>
          </a:xfrm>
          <a:prstGeom prst="rect">
            <a:avLst/>
          </a:prstGeom>
          <a:noFill/>
          <a:ln/>
        </p:spPr>
        <p:txBody>
          <a:bodyPr wrap="square" lIns="0" tIns="0" rIns="0" bIns="0" rtlCol="0" anchor="ctr"/>
          <a:lstStyle/>
          <a:p>
            <a:pPr marL="0" indent="0">
              <a:lnSpc>
                <a:spcPts val="1800"/>
              </a:lnSpc>
              <a:buNone/>
            </a:pPr>
            <a:r>
              <a:rPr lang="en-US" sz="1300" b="1" dirty="0">
                <a:solidFill>
                  <a:srgbClr val="8A5A12"/>
                </a:solidFill>
                <a:latin typeface="Calibri" pitchFamily="34" charset="0"/>
                <a:ea typeface="Calibri" pitchFamily="34" charset="-122"/>
                <a:cs typeface="Calibri" pitchFamily="34" charset="-120"/>
              </a:rPr>
              <a:t>Interview follow-up:  </a:t>
            </a:r>
            <a:r>
              <a:rPr lang="en-US" sz="1300" dirty="0">
                <a:solidFill>
                  <a:srgbClr val="1B2A33"/>
                </a:solidFill>
                <a:latin typeface="Calibri" pitchFamily="34" charset="0"/>
                <a:ea typeface="Calibri" pitchFamily="34" charset="-122"/>
                <a:cs typeface="Calibri" pitchFamily="34" charset="-120"/>
              </a:rPr>
              <a:t>Which files would you put on a CDN, and which must never go there?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777240" y="548640"/>
            <a:ext cx="1234440" cy="457200"/>
          </a:xfrm>
          <a:prstGeom prst="roundRect">
            <a:avLst>
              <a:gd name="adj" fmla="val 40000"/>
            </a:avLst>
          </a:prstGeom>
          <a:solidFill>
            <a:srgbClr val="E8A33D"/>
          </a:solidFill>
          <a:ln/>
        </p:spPr>
        <p:txBody>
          <a:bodyPr/>
          <a:lstStyle/>
          <a:p>
            <a:endParaRPr lang="en-US"/>
          </a:p>
        </p:txBody>
      </p:sp>
      <p:sp>
        <p:nvSpPr>
          <p:cNvPr id="3" name="Text 1"/>
          <p:cNvSpPr/>
          <p:nvPr/>
        </p:nvSpPr>
        <p:spPr>
          <a:xfrm>
            <a:off x="777240" y="548640"/>
            <a:ext cx="1234440" cy="457200"/>
          </a:xfrm>
          <a:prstGeom prst="rect">
            <a:avLst/>
          </a:prstGeom>
          <a:noFill/>
          <a:ln/>
        </p:spPr>
        <p:txBody>
          <a:bodyPr wrap="square" rtlCol="0" anchor="ctr"/>
          <a:lstStyle/>
          <a:p>
            <a:pPr marL="0" indent="0" algn="ctr">
              <a:buNone/>
            </a:pPr>
            <a:r>
              <a:rPr lang="en-US" sz="1500" b="1" dirty="0">
                <a:solidFill>
                  <a:srgbClr val="13293D"/>
                </a:solidFill>
                <a:latin typeface="Calibri" pitchFamily="34" charset="0"/>
                <a:ea typeface="Calibri" pitchFamily="34" charset="-122"/>
                <a:cs typeface="Calibri" pitchFamily="34" charset="-120"/>
              </a:rPr>
              <a:t>Q2</a:t>
            </a:r>
            <a:endParaRPr lang="en-US" sz="1500" dirty="0"/>
          </a:p>
        </p:txBody>
      </p:sp>
      <p:sp>
        <p:nvSpPr>
          <p:cNvPr id="4" name="Shape 2"/>
          <p:cNvSpPr/>
          <p:nvPr/>
        </p:nvSpPr>
        <p:spPr>
          <a:xfrm>
            <a:off x="2194560" y="548640"/>
            <a:ext cx="2743200" cy="457200"/>
          </a:xfrm>
          <a:prstGeom prst="roundRect">
            <a:avLst>
              <a:gd name="adj" fmla="val 40000"/>
            </a:avLst>
          </a:prstGeom>
          <a:solidFill>
            <a:srgbClr val="6B4E71"/>
          </a:solidFill>
          <a:ln/>
        </p:spPr>
        <p:txBody>
          <a:bodyPr/>
          <a:lstStyle/>
          <a:p>
            <a:endParaRPr lang="en-US"/>
          </a:p>
        </p:txBody>
      </p:sp>
      <p:sp>
        <p:nvSpPr>
          <p:cNvPr id="5" name="Text 3"/>
          <p:cNvSpPr/>
          <p:nvPr/>
        </p:nvSpPr>
        <p:spPr>
          <a:xfrm>
            <a:off x="2194560" y="548640"/>
            <a:ext cx="2743200" cy="457200"/>
          </a:xfrm>
          <a:prstGeom prst="rect">
            <a:avLst/>
          </a:prstGeom>
          <a:noFill/>
          <a:ln/>
        </p:spPr>
        <p:txBody>
          <a:bodyPr wrap="square" rtlCol="0" anchor="ctr"/>
          <a:lstStyle/>
          <a:p>
            <a:pPr marL="0" indent="0" algn="ctr">
              <a:buNone/>
            </a:pPr>
            <a:r>
              <a:rPr lang="en-US" sz="1100" b="1" kern="0" spc="120" dirty="0">
                <a:solidFill>
                  <a:srgbClr val="FFFFFF"/>
                </a:solidFill>
                <a:latin typeface="Calibri" pitchFamily="34" charset="0"/>
                <a:ea typeface="Calibri" pitchFamily="34" charset="-122"/>
                <a:cs typeface="Calibri" pitchFamily="34" charset="-120"/>
              </a:rPr>
              <a:t>SELECT ALL THAT APPLY</a:t>
            </a:r>
            <a:endParaRPr lang="en-US" sz="1100" dirty="0"/>
          </a:p>
        </p:txBody>
      </p:sp>
      <p:sp>
        <p:nvSpPr>
          <p:cNvPr id="7" name="Text 5"/>
          <p:cNvSpPr/>
          <p:nvPr/>
        </p:nvSpPr>
        <p:spPr>
          <a:xfrm>
            <a:off x="777240" y="1234440"/>
            <a:ext cx="10607040" cy="1325880"/>
          </a:xfrm>
          <a:prstGeom prst="rect">
            <a:avLst/>
          </a:prstGeom>
          <a:noFill/>
          <a:ln/>
        </p:spPr>
        <p:txBody>
          <a:bodyPr wrap="square" lIns="0" tIns="0" rIns="0" bIns="0" rtlCol="0" anchor="ctr"/>
          <a:lstStyle/>
          <a:p>
            <a:pPr marL="0" indent="0">
              <a:lnSpc>
                <a:spcPts val="3100"/>
              </a:lnSpc>
              <a:buNone/>
            </a:pPr>
            <a:r>
              <a:rPr lang="en-US" sz="2200" b="1" dirty="0">
                <a:solidFill>
                  <a:srgbClr val="FFFFFF"/>
                </a:solidFill>
                <a:latin typeface="Cambria" pitchFamily="34" charset="0"/>
                <a:ea typeface="Cambria" pitchFamily="34" charset="-122"/>
                <a:cs typeface="Cambria" pitchFamily="34" charset="-120"/>
              </a:rPr>
              <a:t>A team splits a working monolith into five microservices. Which of the following become true as a direct result?</a:t>
            </a:r>
            <a:endParaRPr lang="en-US" sz="2200" dirty="0"/>
          </a:p>
        </p:txBody>
      </p:sp>
      <p:sp>
        <p:nvSpPr>
          <p:cNvPr id="8" name="Shape 6"/>
          <p:cNvSpPr/>
          <p:nvPr/>
        </p:nvSpPr>
        <p:spPr>
          <a:xfrm>
            <a:off x="777240" y="2788920"/>
            <a:ext cx="5120640" cy="1280160"/>
          </a:xfrm>
          <a:prstGeom prst="roundRect">
            <a:avLst>
              <a:gd name="adj" fmla="val 5000"/>
            </a:avLst>
          </a:prstGeom>
          <a:solidFill>
            <a:srgbClr val="1D3D52"/>
          </a:solidFill>
          <a:ln/>
        </p:spPr>
        <p:txBody>
          <a:bodyPr/>
          <a:lstStyle/>
          <a:p>
            <a:endParaRPr lang="en-US"/>
          </a:p>
        </p:txBody>
      </p:sp>
      <p:sp>
        <p:nvSpPr>
          <p:cNvPr id="9" name="Shape 7"/>
          <p:cNvSpPr/>
          <p:nvPr/>
        </p:nvSpPr>
        <p:spPr>
          <a:xfrm>
            <a:off x="1051560" y="3246120"/>
            <a:ext cx="384048" cy="384048"/>
          </a:xfrm>
          <a:prstGeom prst="ellipse">
            <a:avLst/>
          </a:prstGeom>
          <a:solidFill>
            <a:srgbClr val="1C7293"/>
          </a:solidFill>
          <a:ln/>
        </p:spPr>
        <p:txBody>
          <a:bodyPr/>
          <a:lstStyle/>
          <a:p>
            <a:endParaRPr lang="en-US"/>
          </a:p>
        </p:txBody>
      </p:sp>
      <p:sp>
        <p:nvSpPr>
          <p:cNvPr id="10" name="Text 8"/>
          <p:cNvSpPr/>
          <p:nvPr/>
        </p:nvSpPr>
        <p:spPr>
          <a:xfrm>
            <a:off x="1051560" y="324612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1" name="Text 9"/>
          <p:cNvSpPr/>
          <p:nvPr/>
        </p:nvSpPr>
        <p:spPr>
          <a:xfrm>
            <a:off x="1581912" y="278892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Each service can be deployed without redeploying the others</a:t>
            </a:r>
            <a:endParaRPr lang="en-US" sz="1350" dirty="0"/>
          </a:p>
        </p:txBody>
      </p:sp>
      <p:sp>
        <p:nvSpPr>
          <p:cNvPr id="12" name="Shape 10"/>
          <p:cNvSpPr/>
          <p:nvPr/>
        </p:nvSpPr>
        <p:spPr>
          <a:xfrm>
            <a:off x="6172200" y="2788920"/>
            <a:ext cx="5120640" cy="1280160"/>
          </a:xfrm>
          <a:prstGeom prst="roundRect">
            <a:avLst>
              <a:gd name="adj" fmla="val 5000"/>
            </a:avLst>
          </a:prstGeom>
          <a:solidFill>
            <a:srgbClr val="1D3D52"/>
          </a:solidFill>
          <a:ln/>
        </p:spPr>
        <p:txBody>
          <a:bodyPr/>
          <a:lstStyle/>
          <a:p>
            <a:endParaRPr lang="en-US"/>
          </a:p>
        </p:txBody>
      </p:sp>
      <p:sp>
        <p:nvSpPr>
          <p:cNvPr id="13" name="Shape 11"/>
          <p:cNvSpPr/>
          <p:nvPr/>
        </p:nvSpPr>
        <p:spPr>
          <a:xfrm>
            <a:off x="6446520" y="3246120"/>
            <a:ext cx="384048" cy="384048"/>
          </a:xfrm>
          <a:prstGeom prst="ellipse">
            <a:avLst/>
          </a:prstGeom>
          <a:solidFill>
            <a:srgbClr val="1C7293"/>
          </a:solidFill>
          <a:ln/>
        </p:spPr>
        <p:txBody>
          <a:bodyPr/>
          <a:lstStyle/>
          <a:p>
            <a:endParaRPr lang="en-US"/>
          </a:p>
        </p:txBody>
      </p:sp>
      <p:sp>
        <p:nvSpPr>
          <p:cNvPr id="14" name="Text 12"/>
          <p:cNvSpPr/>
          <p:nvPr/>
        </p:nvSpPr>
        <p:spPr>
          <a:xfrm>
            <a:off x="6446520" y="324612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5" name="Text 13"/>
          <p:cNvSpPr/>
          <p:nvPr/>
        </p:nvSpPr>
        <p:spPr>
          <a:xfrm>
            <a:off x="6976872" y="278892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A single database transaction can still span two services atomically</a:t>
            </a:r>
            <a:endParaRPr lang="en-US" sz="1350" dirty="0"/>
          </a:p>
        </p:txBody>
      </p:sp>
      <p:sp>
        <p:nvSpPr>
          <p:cNvPr id="16" name="Shape 14"/>
          <p:cNvSpPr/>
          <p:nvPr/>
        </p:nvSpPr>
        <p:spPr>
          <a:xfrm>
            <a:off x="777240" y="4251960"/>
            <a:ext cx="5120640" cy="1280160"/>
          </a:xfrm>
          <a:prstGeom prst="roundRect">
            <a:avLst>
              <a:gd name="adj" fmla="val 5000"/>
            </a:avLst>
          </a:prstGeom>
          <a:solidFill>
            <a:srgbClr val="1D3D52"/>
          </a:solidFill>
          <a:ln/>
        </p:spPr>
        <p:txBody>
          <a:bodyPr/>
          <a:lstStyle/>
          <a:p>
            <a:endParaRPr lang="en-US"/>
          </a:p>
        </p:txBody>
      </p:sp>
      <p:sp>
        <p:nvSpPr>
          <p:cNvPr id="17" name="Shape 15"/>
          <p:cNvSpPr/>
          <p:nvPr/>
        </p:nvSpPr>
        <p:spPr>
          <a:xfrm>
            <a:off x="1051560" y="4709160"/>
            <a:ext cx="384048" cy="384048"/>
          </a:xfrm>
          <a:prstGeom prst="ellipse">
            <a:avLst/>
          </a:prstGeom>
          <a:solidFill>
            <a:srgbClr val="1C7293"/>
          </a:solidFill>
          <a:ln/>
        </p:spPr>
        <p:txBody>
          <a:bodyPr/>
          <a:lstStyle/>
          <a:p>
            <a:endParaRPr lang="en-US"/>
          </a:p>
        </p:txBody>
      </p:sp>
      <p:sp>
        <p:nvSpPr>
          <p:cNvPr id="18" name="Text 16"/>
          <p:cNvSpPr/>
          <p:nvPr/>
        </p:nvSpPr>
        <p:spPr>
          <a:xfrm>
            <a:off x="1051560" y="470916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9" name="Text 17"/>
          <p:cNvSpPr/>
          <p:nvPr/>
        </p:nvSpPr>
        <p:spPr>
          <a:xfrm>
            <a:off x="1581912" y="425196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The p99 latency of a page typically gets worse</a:t>
            </a:r>
            <a:endParaRPr lang="en-US" sz="1350" dirty="0"/>
          </a:p>
        </p:txBody>
      </p:sp>
      <p:sp>
        <p:nvSpPr>
          <p:cNvPr id="20" name="Shape 18"/>
          <p:cNvSpPr/>
          <p:nvPr/>
        </p:nvSpPr>
        <p:spPr>
          <a:xfrm>
            <a:off x="6172200" y="4251960"/>
            <a:ext cx="5120640" cy="1280160"/>
          </a:xfrm>
          <a:prstGeom prst="roundRect">
            <a:avLst>
              <a:gd name="adj" fmla="val 5000"/>
            </a:avLst>
          </a:prstGeom>
          <a:solidFill>
            <a:srgbClr val="1D3D52"/>
          </a:solidFill>
          <a:ln/>
        </p:spPr>
        <p:txBody>
          <a:bodyPr/>
          <a:lstStyle/>
          <a:p>
            <a:endParaRPr lang="en-US"/>
          </a:p>
        </p:txBody>
      </p:sp>
      <p:sp>
        <p:nvSpPr>
          <p:cNvPr id="21" name="Shape 19"/>
          <p:cNvSpPr/>
          <p:nvPr/>
        </p:nvSpPr>
        <p:spPr>
          <a:xfrm>
            <a:off x="6446520" y="4709160"/>
            <a:ext cx="384048" cy="384048"/>
          </a:xfrm>
          <a:prstGeom prst="ellipse">
            <a:avLst/>
          </a:prstGeom>
          <a:solidFill>
            <a:srgbClr val="1C7293"/>
          </a:solidFill>
          <a:ln/>
        </p:spPr>
        <p:txBody>
          <a:bodyPr/>
          <a:lstStyle/>
          <a:p>
            <a:endParaRPr lang="en-US"/>
          </a:p>
        </p:txBody>
      </p:sp>
      <p:sp>
        <p:nvSpPr>
          <p:cNvPr id="22" name="Text 20"/>
          <p:cNvSpPr/>
          <p:nvPr/>
        </p:nvSpPr>
        <p:spPr>
          <a:xfrm>
            <a:off x="6446520" y="470916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3" name="Text 21"/>
          <p:cNvSpPr/>
          <p:nvPr/>
        </p:nvSpPr>
        <p:spPr>
          <a:xfrm>
            <a:off x="6976872" y="425196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You can scale only the service that is under load</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Q2 — Answer</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Splitting buys independence and costs you guarantees</a:t>
            </a:r>
            <a:endParaRPr lang="en-US" sz="1500" dirty="0"/>
          </a:p>
        </p:txBody>
      </p:sp>
      <p:sp>
        <p:nvSpPr>
          <p:cNvPr id="4" name="Shape 2"/>
          <p:cNvSpPr/>
          <p:nvPr/>
        </p:nvSpPr>
        <p:spPr>
          <a:xfrm>
            <a:off x="777240" y="1463040"/>
            <a:ext cx="10607040" cy="822960"/>
          </a:xfrm>
          <a:prstGeom prst="roundRect">
            <a:avLst>
              <a:gd name="adj" fmla="val 6667"/>
            </a:avLst>
          </a:prstGeom>
          <a:solidFill>
            <a:srgbClr val="2E7D5B"/>
          </a:solidFill>
          <a:ln/>
        </p:spPr>
        <p:txBody>
          <a:bodyPr/>
          <a:lstStyle/>
          <a:p>
            <a:endParaRPr lang="en-US"/>
          </a:p>
        </p:txBody>
      </p:sp>
      <p:sp>
        <p:nvSpPr>
          <p:cNvPr id="5" name="Text 3"/>
          <p:cNvSpPr/>
          <p:nvPr/>
        </p:nvSpPr>
        <p:spPr>
          <a:xfrm>
            <a:off x="1097280" y="1463040"/>
            <a:ext cx="10058400" cy="822960"/>
          </a:xfrm>
          <a:prstGeom prst="rect">
            <a:avLst/>
          </a:prstGeom>
          <a:noFill/>
          <a:ln/>
        </p:spPr>
        <p:txBody>
          <a:bodyPr wrap="square" lIns="0" tIns="0" rIns="0" bIns="0" rtlCol="0" anchor="ctr"/>
          <a:lstStyle/>
          <a:p>
            <a:pPr marL="0" indent="0">
              <a:lnSpc>
                <a:spcPts val="2100"/>
              </a:lnSpc>
              <a:buNone/>
            </a:pPr>
            <a:r>
              <a:rPr lang="en-US" sz="1600" b="1" dirty="0">
                <a:solidFill>
                  <a:srgbClr val="FFFFFF"/>
                </a:solidFill>
                <a:latin typeface="Calibri" pitchFamily="34" charset="0"/>
                <a:ea typeface="Calibri" pitchFamily="34" charset="-122"/>
                <a:cs typeface="Calibri" pitchFamily="34" charset="-120"/>
              </a:rPr>
              <a:t>A, C and D are true.  B is false.</a:t>
            </a:r>
            <a:endParaRPr lang="en-US" sz="1600" dirty="0"/>
          </a:p>
        </p:txBody>
      </p:sp>
      <p:sp>
        <p:nvSpPr>
          <p:cNvPr id="6" name="Shape 4"/>
          <p:cNvSpPr/>
          <p:nvPr/>
        </p:nvSpPr>
        <p:spPr>
          <a:xfrm>
            <a:off x="777240" y="2423160"/>
            <a:ext cx="10607040" cy="960120"/>
          </a:xfrm>
          <a:prstGeom prst="roundRect">
            <a:avLst>
              <a:gd name="adj" fmla="val 5714"/>
            </a:avLst>
          </a:prstGeom>
          <a:solidFill>
            <a:srgbClr val="F4F7F9"/>
          </a:solidFill>
          <a:ln w="12700">
            <a:solidFill>
              <a:srgbClr val="E1E8ED"/>
            </a:solidFill>
            <a:prstDash val="solid"/>
          </a:ln>
        </p:spPr>
        <p:txBody>
          <a:bodyPr/>
          <a:lstStyle/>
          <a:p>
            <a:endParaRPr lang="en-US"/>
          </a:p>
        </p:txBody>
      </p:sp>
      <p:sp>
        <p:nvSpPr>
          <p:cNvPr id="7" name="Text 5"/>
          <p:cNvSpPr/>
          <p:nvPr/>
        </p:nvSpPr>
        <p:spPr>
          <a:xfrm>
            <a:off x="1097280" y="2423160"/>
            <a:ext cx="10058400" cy="960120"/>
          </a:xfrm>
          <a:prstGeom prst="rect">
            <a:avLst/>
          </a:prstGeom>
          <a:noFill/>
          <a:ln/>
        </p:spPr>
        <p:txBody>
          <a:bodyPr wrap="square" lIns="0" tIns="0" rIns="0" bIns="0" rtlCol="0" anchor="ctr"/>
          <a:lstStyle/>
          <a:p>
            <a:pPr marL="0" indent="0">
              <a:lnSpc>
                <a:spcPts val="1900"/>
              </a:lnSpc>
              <a:buNone/>
            </a:pPr>
            <a:r>
              <a:rPr lang="en-US" sz="1350" dirty="0">
                <a:solidFill>
                  <a:srgbClr val="1B2A33"/>
                </a:solidFill>
                <a:latin typeface="Calibri" pitchFamily="34" charset="0"/>
                <a:ea typeface="Calibri" pitchFamily="34" charset="-122"/>
                <a:cs typeface="Calibri" pitchFamily="34" charset="-120"/>
              </a:rPr>
              <a:t>Independent deployment (A) and targeted scaling (D) are the whole point of the split. Worse tail latency (C) follows from tail amplification: a page now depends on several network calls, and it is only as fast as the slowest one.</a:t>
            </a:r>
            <a:endParaRPr lang="en-US" sz="1350" dirty="0"/>
          </a:p>
        </p:txBody>
      </p:sp>
      <p:sp>
        <p:nvSpPr>
          <p:cNvPr id="8" name="Text 6"/>
          <p:cNvSpPr/>
          <p:nvPr/>
        </p:nvSpPr>
        <p:spPr>
          <a:xfrm>
            <a:off x="777240" y="3520440"/>
            <a:ext cx="5486400" cy="320040"/>
          </a:xfrm>
          <a:prstGeom prst="rect">
            <a:avLst/>
          </a:prstGeom>
          <a:noFill/>
          <a:ln/>
        </p:spPr>
        <p:txBody>
          <a:bodyPr wrap="square" lIns="0" tIns="0" rIns="0" bIns="0" rtlCol="0" anchor="ctr"/>
          <a:lstStyle/>
          <a:p>
            <a:pPr marL="0" indent="0">
              <a:buNone/>
            </a:pPr>
            <a:r>
              <a:rPr lang="en-US" sz="1300" b="1" dirty="0">
                <a:solidFill>
                  <a:srgbClr val="A03A3A"/>
                </a:solidFill>
                <a:latin typeface="Calibri" pitchFamily="34" charset="0"/>
                <a:ea typeface="Calibri" pitchFamily="34" charset="-122"/>
                <a:cs typeface="Calibri" pitchFamily="34" charset="-120"/>
              </a:rPr>
              <a:t>Why the others fail</a:t>
            </a:r>
            <a:endParaRPr lang="en-US" sz="1300" dirty="0"/>
          </a:p>
        </p:txBody>
      </p:sp>
      <p:sp>
        <p:nvSpPr>
          <p:cNvPr id="9" name="Shape 7"/>
          <p:cNvSpPr/>
          <p:nvPr/>
        </p:nvSpPr>
        <p:spPr>
          <a:xfrm>
            <a:off x="777240" y="3886200"/>
            <a:ext cx="10607040" cy="493776"/>
          </a:xfrm>
          <a:prstGeom prst="roundRect">
            <a:avLst>
              <a:gd name="adj" fmla="val 7407"/>
            </a:avLst>
          </a:prstGeom>
          <a:solidFill>
            <a:srgbClr val="FFFFFF"/>
          </a:solidFill>
          <a:ln w="12700">
            <a:solidFill>
              <a:srgbClr val="E8D5D1"/>
            </a:solidFill>
            <a:prstDash val="solid"/>
          </a:ln>
        </p:spPr>
        <p:txBody>
          <a:bodyPr/>
          <a:lstStyle/>
          <a:p>
            <a:endParaRPr lang="en-US"/>
          </a:p>
        </p:txBody>
      </p:sp>
      <p:sp>
        <p:nvSpPr>
          <p:cNvPr id="10" name="Shape 8"/>
          <p:cNvSpPr/>
          <p:nvPr/>
        </p:nvSpPr>
        <p:spPr>
          <a:xfrm>
            <a:off x="1005840" y="3977640"/>
            <a:ext cx="310896" cy="310896"/>
          </a:xfrm>
          <a:prstGeom prst="ellipse">
            <a:avLst/>
          </a:prstGeom>
          <a:solidFill>
            <a:srgbClr val="A03A3A"/>
          </a:solidFill>
          <a:ln/>
        </p:spPr>
        <p:txBody>
          <a:bodyPr/>
          <a:lstStyle/>
          <a:p>
            <a:endParaRPr lang="en-US"/>
          </a:p>
        </p:txBody>
      </p:sp>
      <p:sp>
        <p:nvSpPr>
          <p:cNvPr id="11" name="Text 9"/>
          <p:cNvSpPr/>
          <p:nvPr/>
        </p:nvSpPr>
        <p:spPr>
          <a:xfrm>
            <a:off x="1005840" y="3977640"/>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2" name="Text 10"/>
          <p:cNvSpPr/>
          <p:nvPr/>
        </p:nvSpPr>
        <p:spPr>
          <a:xfrm>
            <a:off x="1463040" y="3886200"/>
            <a:ext cx="9692640" cy="49377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Once each service owns its own database, no single transaction can span them. This is exactly the payment-succeeded-but-no-order problem from Lecture 2.</a:t>
            </a:r>
            <a:endParaRPr lang="en-US" sz="1250" dirty="0"/>
          </a:p>
        </p:txBody>
      </p:sp>
      <p:sp>
        <p:nvSpPr>
          <p:cNvPr id="13" name="Shape 11"/>
          <p:cNvSpPr/>
          <p:nvPr/>
        </p:nvSpPr>
        <p:spPr>
          <a:xfrm>
            <a:off x="777240" y="4617720"/>
            <a:ext cx="10607040" cy="713232"/>
          </a:xfrm>
          <a:prstGeom prst="roundRect">
            <a:avLst>
              <a:gd name="adj" fmla="val 7692"/>
            </a:avLst>
          </a:prstGeom>
          <a:solidFill>
            <a:srgbClr val="FDF3E3"/>
          </a:solidFill>
          <a:ln w="16510">
            <a:solidFill>
              <a:srgbClr val="E8A33D"/>
            </a:solidFill>
            <a:prstDash val="solid"/>
          </a:ln>
        </p:spPr>
        <p:txBody>
          <a:bodyPr/>
          <a:lstStyle/>
          <a:p>
            <a:endParaRPr lang="en-US"/>
          </a:p>
        </p:txBody>
      </p:sp>
      <p:sp>
        <p:nvSpPr>
          <p:cNvPr id="14" name="Text 12"/>
          <p:cNvSpPr/>
          <p:nvPr/>
        </p:nvSpPr>
        <p:spPr>
          <a:xfrm>
            <a:off x="1097280" y="4617720"/>
            <a:ext cx="10058400" cy="713232"/>
          </a:xfrm>
          <a:prstGeom prst="rect">
            <a:avLst/>
          </a:prstGeom>
          <a:noFill/>
          <a:ln/>
        </p:spPr>
        <p:txBody>
          <a:bodyPr wrap="square" lIns="0" tIns="0" rIns="0" bIns="0" rtlCol="0" anchor="ctr"/>
          <a:lstStyle/>
          <a:p>
            <a:pPr marL="0" indent="0">
              <a:lnSpc>
                <a:spcPts val="1800"/>
              </a:lnSpc>
              <a:buNone/>
            </a:pPr>
            <a:r>
              <a:rPr lang="en-US" sz="1300" b="1" dirty="0">
                <a:solidFill>
                  <a:srgbClr val="8A5A12"/>
                </a:solidFill>
                <a:latin typeface="Calibri" pitchFamily="34" charset="0"/>
                <a:ea typeface="Calibri" pitchFamily="34" charset="-122"/>
                <a:cs typeface="Calibri" pitchFamily="34" charset="-120"/>
              </a:rPr>
              <a:t>Interview follow-up:  </a:t>
            </a:r>
            <a:r>
              <a:rPr lang="en-US" sz="1300" dirty="0">
                <a:solidFill>
                  <a:srgbClr val="1B2A33"/>
                </a:solidFill>
                <a:latin typeface="Calibri" pitchFamily="34" charset="0"/>
                <a:ea typeface="Calibri" pitchFamily="34" charset="-122"/>
                <a:cs typeface="Calibri" pitchFamily="34" charset="-120"/>
              </a:rPr>
              <a:t>If a transaction cannot span two services, how do you keep payment and order consistent?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777240" y="548640"/>
            <a:ext cx="1234440" cy="457200"/>
          </a:xfrm>
          <a:prstGeom prst="roundRect">
            <a:avLst>
              <a:gd name="adj" fmla="val 40000"/>
            </a:avLst>
          </a:prstGeom>
          <a:solidFill>
            <a:srgbClr val="E8A33D"/>
          </a:solidFill>
          <a:ln/>
        </p:spPr>
        <p:txBody>
          <a:bodyPr/>
          <a:lstStyle/>
          <a:p>
            <a:endParaRPr lang="en-US"/>
          </a:p>
        </p:txBody>
      </p:sp>
      <p:sp>
        <p:nvSpPr>
          <p:cNvPr id="3" name="Text 1"/>
          <p:cNvSpPr/>
          <p:nvPr/>
        </p:nvSpPr>
        <p:spPr>
          <a:xfrm>
            <a:off x="777240" y="548640"/>
            <a:ext cx="1234440" cy="457200"/>
          </a:xfrm>
          <a:prstGeom prst="rect">
            <a:avLst/>
          </a:prstGeom>
          <a:noFill/>
          <a:ln/>
        </p:spPr>
        <p:txBody>
          <a:bodyPr wrap="square" rtlCol="0" anchor="ctr"/>
          <a:lstStyle/>
          <a:p>
            <a:pPr marL="0" indent="0" algn="ctr">
              <a:buNone/>
            </a:pPr>
            <a:r>
              <a:rPr lang="en-US" sz="1500" b="1" dirty="0">
                <a:solidFill>
                  <a:srgbClr val="13293D"/>
                </a:solidFill>
                <a:latin typeface="Calibri" pitchFamily="34" charset="0"/>
                <a:ea typeface="Calibri" pitchFamily="34" charset="-122"/>
                <a:cs typeface="Calibri" pitchFamily="34" charset="-120"/>
              </a:rPr>
              <a:t>Q3</a:t>
            </a:r>
            <a:endParaRPr lang="en-US" sz="1500" dirty="0"/>
          </a:p>
        </p:txBody>
      </p:sp>
      <p:sp>
        <p:nvSpPr>
          <p:cNvPr id="4" name="Shape 2"/>
          <p:cNvSpPr/>
          <p:nvPr/>
        </p:nvSpPr>
        <p:spPr>
          <a:xfrm>
            <a:off x="2194560" y="548640"/>
            <a:ext cx="2743200" cy="457200"/>
          </a:xfrm>
          <a:prstGeom prst="roundRect">
            <a:avLst>
              <a:gd name="adj" fmla="val 40000"/>
            </a:avLst>
          </a:prstGeom>
          <a:solidFill>
            <a:srgbClr val="1D3D52"/>
          </a:solidFill>
          <a:ln/>
        </p:spPr>
        <p:txBody>
          <a:bodyPr/>
          <a:lstStyle/>
          <a:p>
            <a:endParaRPr lang="en-US"/>
          </a:p>
        </p:txBody>
      </p:sp>
      <p:sp>
        <p:nvSpPr>
          <p:cNvPr id="5" name="Text 3"/>
          <p:cNvSpPr/>
          <p:nvPr/>
        </p:nvSpPr>
        <p:spPr>
          <a:xfrm>
            <a:off x="2194560" y="548640"/>
            <a:ext cx="2743200" cy="457200"/>
          </a:xfrm>
          <a:prstGeom prst="rect">
            <a:avLst/>
          </a:prstGeom>
          <a:noFill/>
          <a:ln/>
        </p:spPr>
        <p:txBody>
          <a:bodyPr wrap="square" rtlCol="0" anchor="ctr"/>
          <a:lstStyle/>
          <a:p>
            <a:pPr marL="0" indent="0" algn="ctr">
              <a:buNone/>
            </a:pPr>
            <a:r>
              <a:rPr lang="en-US" sz="1100" b="1" kern="0" spc="120" dirty="0">
                <a:solidFill>
                  <a:srgbClr val="9AD1D4"/>
                </a:solidFill>
                <a:latin typeface="Calibri" pitchFamily="34" charset="0"/>
                <a:ea typeface="Calibri" pitchFamily="34" charset="-122"/>
                <a:cs typeface="Calibri" pitchFamily="34" charset="-120"/>
              </a:rPr>
              <a:t>SELECT ONE</a:t>
            </a:r>
            <a:endParaRPr lang="en-US" sz="1100" dirty="0"/>
          </a:p>
        </p:txBody>
      </p:sp>
      <p:sp>
        <p:nvSpPr>
          <p:cNvPr id="7" name="Text 5"/>
          <p:cNvSpPr/>
          <p:nvPr/>
        </p:nvSpPr>
        <p:spPr>
          <a:xfrm>
            <a:off x="777240" y="1234440"/>
            <a:ext cx="10607040" cy="1325880"/>
          </a:xfrm>
          <a:prstGeom prst="rect">
            <a:avLst/>
          </a:prstGeom>
          <a:noFill/>
          <a:ln/>
        </p:spPr>
        <p:txBody>
          <a:bodyPr wrap="square" lIns="0" tIns="0" rIns="0" bIns="0" rtlCol="0" anchor="ctr"/>
          <a:lstStyle/>
          <a:p>
            <a:pPr marL="0" indent="0">
              <a:lnSpc>
                <a:spcPts val="3100"/>
              </a:lnSpc>
              <a:buNone/>
            </a:pPr>
            <a:r>
              <a:rPr lang="en-US" sz="2200" b="1" dirty="0">
                <a:solidFill>
                  <a:srgbClr val="FFFFFF"/>
                </a:solidFill>
                <a:latin typeface="Cambria" pitchFamily="34" charset="0"/>
                <a:ea typeface="Cambria" pitchFamily="34" charset="-122"/>
                <a:cs typeface="Cambria" pitchFamily="34" charset="-120"/>
              </a:rPr>
              <a:t>Amazon holds roughly two million men’s shirts. A user searches for "men’s shirt". Approximately how many products does ONE search API response contain?</a:t>
            </a:r>
            <a:endParaRPr lang="en-US" sz="2200" dirty="0"/>
          </a:p>
        </p:txBody>
      </p:sp>
      <p:sp>
        <p:nvSpPr>
          <p:cNvPr id="8" name="Shape 6"/>
          <p:cNvSpPr/>
          <p:nvPr/>
        </p:nvSpPr>
        <p:spPr>
          <a:xfrm>
            <a:off x="777240" y="2788920"/>
            <a:ext cx="5120640" cy="1280160"/>
          </a:xfrm>
          <a:prstGeom prst="roundRect">
            <a:avLst>
              <a:gd name="adj" fmla="val 5000"/>
            </a:avLst>
          </a:prstGeom>
          <a:solidFill>
            <a:srgbClr val="1D3D52"/>
          </a:solidFill>
          <a:ln/>
        </p:spPr>
        <p:txBody>
          <a:bodyPr/>
          <a:lstStyle/>
          <a:p>
            <a:endParaRPr lang="en-US"/>
          </a:p>
        </p:txBody>
      </p:sp>
      <p:sp>
        <p:nvSpPr>
          <p:cNvPr id="9" name="Shape 7"/>
          <p:cNvSpPr/>
          <p:nvPr/>
        </p:nvSpPr>
        <p:spPr>
          <a:xfrm>
            <a:off x="1051560" y="3246120"/>
            <a:ext cx="384048" cy="384048"/>
          </a:xfrm>
          <a:prstGeom prst="ellipse">
            <a:avLst/>
          </a:prstGeom>
          <a:solidFill>
            <a:srgbClr val="1C7293"/>
          </a:solidFill>
          <a:ln/>
        </p:spPr>
        <p:txBody>
          <a:bodyPr/>
          <a:lstStyle/>
          <a:p>
            <a:endParaRPr lang="en-US"/>
          </a:p>
        </p:txBody>
      </p:sp>
      <p:sp>
        <p:nvSpPr>
          <p:cNvPr id="10" name="Text 8"/>
          <p:cNvSpPr/>
          <p:nvPr/>
        </p:nvSpPr>
        <p:spPr>
          <a:xfrm>
            <a:off x="1051560" y="324612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1" name="Text 9"/>
          <p:cNvSpPr/>
          <p:nvPr/>
        </p:nvSpPr>
        <p:spPr>
          <a:xfrm>
            <a:off x="1581912" y="278892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All two million; the browser filters them</a:t>
            </a:r>
            <a:endParaRPr lang="en-US" sz="1350" dirty="0"/>
          </a:p>
        </p:txBody>
      </p:sp>
      <p:sp>
        <p:nvSpPr>
          <p:cNvPr id="12" name="Shape 10"/>
          <p:cNvSpPr/>
          <p:nvPr/>
        </p:nvSpPr>
        <p:spPr>
          <a:xfrm>
            <a:off x="6172200" y="2788920"/>
            <a:ext cx="5120640" cy="1280160"/>
          </a:xfrm>
          <a:prstGeom prst="roundRect">
            <a:avLst>
              <a:gd name="adj" fmla="val 5000"/>
            </a:avLst>
          </a:prstGeom>
          <a:solidFill>
            <a:srgbClr val="1D3D52"/>
          </a:solidFill>
          <a:ln/>
        </p:spPr>
        <p:txBody>
          <a:bodyPr/>
          <a:lstStyle/>
          <a:p>
            <a:endParaRPr lang="en-US"/>
          </a:p>
        </p:txBody>
      </p:sp>
      <p:sp>
        <p:nvSpPr>
          <p:cNvPr id="13" name="Shape 11"/>
          <p:cNvSpPr/>
          <p:nvPr/>
        </p:nvSpPr>
        <p:spPr>
          <a:xfrm>
            <a:off x="6446520" y="3246120"/>
            <a:ext cx="384048" cy="384048"/>
          </a:xfrm>
          <a:prstGeom prst="ellipse">
            <a:avLst/>
          </a:prstGeom>
          <a:solidFill>
            <a:srgbClr val="1C7293"/>
          </a:solidFill>
          <a:ln/>
        </p:spPr>
        <p:txBody>
          <a:bodyPr/>
          <a:lstStyle/>
          <a:p>
            <a:endParaRPr lang="en-US"/>
          </a:p>
        </p:txBody>
      </p:sp>
      <p:sp>
        <p:nvSpPr>
          <p:cNvPr id="14" name="Text 12"/>
          <p:cNvSpPr/>
          <p:nvPr/>
        </p:nvSpPr>
        <p:spPr>
          <a:xfrm>
            <a:off x="6446520" y="324612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5" name="Text 13"/>
          <p:cNvSpPr/>
          <p:nvPr/>
        </p:nvSpPr>
        <p:spPr>
          <a:xfrm>
            <a:off x="6976872" y="278892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About forty</a:t>
            </a:r>
            <a:endParaRPr lang="en-US" sz="1350" dirty="0"/>
          </a:p>
        </p:txBody>
      </p:sp>
      <p:sp>
        <p:nvSpPr>
          <p:cNvPr id="16" name="Shape 14"/>
          <p:cNvSpPr/>
          <p:nvPr/>
        </p:nvSpPr>
        <p:spPr>
          <a:xfrm>
            <a:off x="777240" y="4251960"/>
            <a:ext cx="5120640" cy="1280160"/>
          </a:xfrm>
          <a:prstGeom prst="roundRect">
            <a:avLst>
              <a:gd name="adj" fmla="val 5000"/>
            </a:avLst>
          </a:prstGeom>
          <a:solidFill>
            <a:srgbClr val="1D3D52"/>
          </a:solidFill>
          <a:ln/>
        </p:spPr>
        <p:txBody>
          <a:bodyPr/>
          <a:lstStyle/>
          <a:p>
            <a:endParaRPr lang="en-US"/>
          </a:p>
        </p:txBody>
      </p:sp>
      <p:sp>
        <p:nvSpPr>
          <p:cNvPr id="17" name="Shape 15"/>
          <p:cNvSpPr/>
          <p:nvPr/>
        </p:nvSpPr>
        <p:spPr>
          <a:xfrm>
            <a:off x="1051560" y="4709160"/>
            <a:ext cx="384048" cy="384048"/>
          </a:xfrm>
          <a:prstGeom prst="ellipse">
            <a:avLst/>
          </a:prstGeom>
          <a:solidFill>
            <a:srgbClr val="1C7293"/>
          </a:solidFill>
          <a:ln/>
        </p:spPr>
        <p:txBody>
          <a:bodyPr/>
          <a:lstStyle/>
          <a:p>
            <a:endParaRPr lang="en-US"/>
          </a:p>
        </p:txBody>
      </p:sp>
      <p:sp>
        <p:nvSpPr>
          <p:cNvPr id="18" name="Text 16"/>
          <p:cNvSpPr/>
          <p:nvPr/>
        </p:nvSpPr>
        <p:spPr>
          <a:xfrm>
            <a:off x="1051560" y="470916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9" name="Text 17"/>
          <p:cNvSpPr/>
          <p:nvPr/>
        </p:nvSpPr>
        <p:spPr>
          <a:xfrm>
            <a:off x="1581912" y="425196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About five thousand, then the browser paginates</a:t>
            </a:r>
            <a:endParaRPr lang="en-US" sz="1350" dirty="0"/>
          </a:p>
        </p:txBody>
      </p:sp>
      <p:sp>
        <p:nvSpPr>
          <p:cNvPr id="20" name="Shape 18"/>
          <p:cNvSpPr/>
          <p:nvPr/>
        </p:nvSpPr>
        <p:spPr>
          <a:xfrm>
            <a:off x="6172200" y="4251960"/>
            <a:ext cx="5120640" cy="1280160"/>
          </a:xfrm>
          <a:prstGeom prst="roundRect">
            <a:avLst>
              <a:gd name="adj" fmla="val 5000"/>
            </a:avLst>
          </a:prstGeom>
          <a:solidFill>
            <a:srgbClr val="1D3D52"/>
          </a:solidFill>
          <a:ln/>
        </p:spPr>
        <p:txBody>
          <a:bodyPr/>
          <a:lstStyle/>
          <a:p>
            <a:endParaRPr lang="en-US"/>
          </a:p>
        </p:txBody>
      </p:sp>
      <p:sp>
        <p:nvSpPr>
          <p:cNvPr id="21" name="Shape 19"/>
          <p:cNvSpPr/>
          <p:nvPr/>
        </p:nvSpPr>
        <p:spPr>
          <a:xfrm>
            <a:off x="6446520" y="4709160"/>
            <a:ext cx="384048" cy="384048"/>
          </a:xfrm>
          <a:prstGeom prst="ellipse">
            <a:avLst/>
          </a:prstGeom>
          <a:solidFill>
            <a:srgbClr val="1C7293"/>
          </a:solidFill>
          <a:ln/>
        </p:spPr>
        <p:txBody>
          <a:bodyPr/>
          <a:lstStyle/>
          <a:p>
            <a:endParaRPr lang="en-US"/>
          </a:p>
        </p:txBody>
      </p:sp>
      <p:sp>
        <p:nvSpPr>
          <p:cNvPr id="22" name="Text 20"/>
          <p:cNvSpPr/>
          <p:nvPr/>
        </p:nvSpPr>
        <p:spPr>
          <a:xfrm>
            <a:off x="6446520" y="470916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3" name="Text 21"/>
          <p:cNvSpPr/>
          <p:nvPr/>
        </p:nvSpPr>
        <p:spPr>
          <a:xfrm>
            <a:off x="6976872" y="425196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Exactly one hundred, always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Q3 — Answer</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The database query itself ends with LIMIT 40</a:t>
            </a:r>
            <a:endParaRPr lang="en-US" sz="1500" dirty="0"/>
          </a:p>
        </p:txBody>
      </p:sp>
      <p:sp>
        <p:nvSpPr>
          <p:cNvPr id="4" name="Shape 2"/>
          <p:cNvSpPr/>
          <p:nvPr/>
        </p:nvSpPr>
        <p:spPr>
          <a:xfrm>
            <a:off x="777240" y="1463040"/>
            <a:ext cx="10607040" cy="822960"/>
          </a:xfrm>
          <a:prstGeom prst="roundRect">
            <a:avLst>
              <a:gd name="adj" fmla="val 6667"/>
            </a:avLst>
          </a:prstGeom>
          <a:solidFill>
            <a:srgbClr val="2E7D5B"/>
          </a:solidFill>
          <a:ln/>
        </p:spPr>
        <p:txBody>
          <a:bodyPr/>
          <a:lstStyle/>
          <a:p>
            <a:endParaRPr lang="en-US"/>
          </a:p>
        </p:txBody>
      </p:sp>
      <p:sp>
        <p:nvSpPr>
          <p:cNvPr id="5" name="Text 3"/>
          <p:cNvSpPr/>
          <p:nvPr/>
        </p:nvSpPr>
        <p:spPr>
          <a:xfrm>
            <a:off x="1097280" y="1463040"/>
            <a:ext cx="10058400" cy="822960"/>
          </a:xfrm>
          <a:prstGeom prst="rect">
            <a:avLst/>
          </a:prstGeom>
          <a:noFill/>
          <a:ln/>
        </p:spPr>
        <p:txBody>
          <a:bodyPr wrap="square" lIns="0" tIns="0" rIns="0" bIns="0" rtlCol="0" anchor="ctr"/>
          <a:lstStyle/>
          <a:p>
            <a:pPr marL="0" indent="0">
              <a:lnSpc>
                <a:spcPts val="2100"/>
              </a:lnSpc>
              <a:buNone/>
            </a:pPr>
            <a:r>
              <a:rPr lang="en-US" sz="1600" b="1" dirty="0">
                <a:solidFill>
                  <a:srgbClr val="FFFFFF"/>
                </a:solidFill>
                <a:latin typeface="Calibri" pitchFamily="34" charset="0"/>
                <a:ea typeface="Calibri" pitchFamily="34" charset="-122"/>
                <a:cs typeface="Calibri" pitchFamily="34" charset="-120"/>
              </a:rPr>
              <a:t>B — About forty</a:t>
            </a:r>
            <a:endParaRPr lang="en-US" sz="1600" dirty="0"/>
          </a:p>
        </p:txBody>
      </p:sp>
      <p:sp>
        <p:nvSpPr>
          <p:cNvPr id="6" name="Shape 4"/>
          <p:cNvSpPr/>
          <p:nvPr/>
        </p:nvSpPr>
        <p:spPr>
          <a:xfrm>
            <a:off x="777240" y="2423160"/>
            <a:ext cx="10607040" cy="960120"/>
          </a:xfrm>
          <a:prstGeom prst="roundRect">
            <a:avLst>
              <a:gd name="adj" fmla="val 5714"/>
            </a:avLst>
          </a:prstGeom>
          <a:solidFill>
            <a:srgbClr val="F4F7F9"/>
          </a:solidFill>
          <a:ln w="12700">
            <a:solidFill>
              <a:srgbClr val="E1E8ED"/>
            </a:solidFill>
            <a:prstDash val="solid"/>
          </a:ln>
        </p:spPr>
        <p:txBody>
          <a:bodyPr/>
          <a:lstStyle/>
          <a:p>
            <a:endParaRPr lang="en-US"/>
          </a:p>
        </p:txBody>
      </p:sp>
      <p:sp>
        <p:nvSpPr>
          <p:cNvPr id="7" name="Text 5"/>
          <p:cNvSpPr/>
          <p:nvPr/>
        </p:nvSpPr>
        <p:spPr>
          <a:xfrm>
            <a:off x="1097280" y="2423160"/>
            <a:ext cx="10058400" cy="960120"/>
          </a:xfrm>
          <a:prstGeom prst="rect">
            <a:avLst/>
          </a:prstGeom>
          <a:noFill/>
          <a:ln/>
        </p:spPr>
        <p:txBody>
          <a:bodyPr wrap="square" lIns="0" tIns="0" rIns="0" bIns="0" rtlCol="0" anchor="ctr"/>
          <a:lstStyle/>
          <a:p>
            <a:pPr marL="0" indent="0">
              <a:lnSpc>
                <a:spcPts val="1900"/>
              </a:lnSpc>
              <a:buNone/>
            </a:pPr>
            <a:r>
              <a:rPr lang="en-US" sz="1350" dirty="0">
                <a:solidFill>
                  <a:srgbClr val="1B2A33"/>
                </a:solidFill>
                <a:latin typeface="Calibri" pitchFamily="34" charset="0"/>
                <a:ea typeface="Calibri" pitchFamily="34" charset="-122"/>
                <a:cs typeface="Calibri" pitchFamily="34" charset="-120"/>
              </a:rPr>
              <a:t>A single search response is typically 20 to 60 products, roughly 30 to 80 KB of JSON. The server never touches the other 1,999,960 rows. More results arrive only when you scroll, as a separate request.</a:t>
            </a:r>
            <a:endParaRPr lang="en-US" sz="1350" dirty="0"/>
          </a:p>
        </p:txBody>
      </p:sp>
      <p:sp>
        <p:nvSpPr>
          <p:cNvPr id="8" name="Text 6"/>
          <p:cNvSpPr/>
          <p:nvPr/>
        </p:nvSpPr>
        <p:spPr>
          <a:xfrm>
            <a:off x="777240" y="3520440"/>
            <a:ext cx="5486400" cy="320040"/>
          </a:xfrm>
          <a:prstGeom prst="rect">
            <a:avLst/>
          </a:prstGeom>
          <a:noFill/>
          <a:ln/>
        </p:spPr>
        <p:txBody>
          <a:bodyPr wrap="square" lIns="0" tIns="0" rIns="0" bIns="0" rtlCol="0" anchor="ctr"/>
          <a:lstStyle/>
          <a:p>
            <a:pPr marL="0" indent="0">
              <a:buNone/>
            </a:pPr>
            <a:r>
              <a:rPr lang="en-US" sz="1300" b="1" dirty="0">
                <a:solidFill>
                  <a:srgbClr val="A03A3A"/>
                </a:solidFill>
                <a:latin typeface="Calibri" pitchFamily="34" charset="0"/>
                <a:ea typeface="Calibri" pitchFamily="34" charset="-122"/>
                <a:cs typeface="Calibri" pitchFamily="34" charset="-120"/>
              </a:rPr>
              <a:t>Why the others fail</a:t>
            </a:r>
            <a:endParaRPr lang="en-US" sz="1300" dirty="0"/>
          </a:p>
        </p:txBody>
      </p:sp>
      <p:sp>
        <p:nvSpPr>
          <p:cNvPr id="9" name="Shape 7"/>
          <p:cNvSpPr/>
          <p:nvPr/>
        </p:nvSpPr>
        <p:spPr>
          <a:xfrm>
            <a:off x="777240" y="3886200"/>
            <a:ext cx="10607040" cy="493776"/>
          </a:xfrm>
          <a:prstGeom prst="roundRect">
            <a:avLst>
              <a:gd name="adj" fmla="val 7407"/>
            </a:avLst>
          </a:prstGeom>
          <a:solidFill>
            <a:srgbClr val="FFFFFF"/>
          </a:solidFill>
          <a:ln w="12700">
            <a:solidFill>
              <a:srgbClr val="E8D5D1"/>
            </a:solidFill>
            <a:prstDash val="solid"/>
          </a:ln>
        </p:spPr>
        <p:txBody>
          <a:bodyPr/>
          <a:lstStyle/>
          <a:p>
            <a:endParaRPr lang="en-US"/>
          </a:p>
        </p:txBody>
      </p:sp>
      <p:sp>
        <p:nvSpPr>
          <p:cNvPr id="10" name="Shape 8"/>
          <p:cNvSpPr/>
          <p:nvPr/>
        </p:nvSpPr>
        <p:spPr>
          <a:xfrm>
            <a:off x="1005840" y="3977640"/>
            <a:ext cx="310896" cy="310896"/>
          </a:xfrm>
          <a:prstGeom prst="ellipse">
            <a:avLst/>
          </a:prstGeom>
          <a:solidFill>
            <a:srgbClr val="A03A3A"/>
          </a:solidFill>
          <a:ln/>
        </p:spPr>
        <p:txBody>
          <a:bodyPr/>
          <a:lstStyle/>
          <a:p>
            <a:endParaRPr lang="en-US"/>
          </a:p>
        </p:txBody>
      </p:sp>
      <p:sp>
        <p:nvSpPr>
          <p:cNvPr id="11" name="Text 9"/>
          <p:cNvSpPr/>
          <p:nvPr/>
        </p:nvSpPr>
        <p:spPr>
          <a:xfrm>
            <a:off x="1005840" y="3977640"/>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2" name="Text 10"/>
          <p:cNvSpPr/>
          <p:nvPr/>
        </p:nvSpPr>
        <p:spPr>
          <a:xfrm>
            <a:off x="1463040" y="3886200"/>
            <a:ext cx="9692640" cy="49377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Two million records would be gigabytes of data. No browser or network could handle it, and the user only ever sees about twelve.</a:t>
            </a:r>
            <a:endParaRPr lang="en-US" sz="1250" dirty="0"/>
          </a:p>
        </p:txBody>
      </p:sp>
      <p:sp>
        <p:nvSpPr>
          <p:cNvPr id="13" name="Shape 11"/>
          <p:cNvSpPr/>
          <p:nvPr/>
        </p:nvSpPr>
        <p:spPr>
          <a:xfrm>
            <a:off x="777240" y="4453128"/>
            <a:ext cx="10607040" cy="493776"/>
          </a:xfrm>
          <a:prstGeom prst="roundRect">
            <a:avLst>
              <a:gd name="adj" fmla="val 7407"/>
            </a:avLst>
          </a:prstGeom>
          <a:solidFill>
            <a:srgbClr val="FDF0EE"/>
          </a:solidFill>
          <a:ln w="12700">
            <a:solidFill>
              <a:srgbClr val="E8D5D1"/>
            </a:solidFill>
            <a:prstDash val="solid"/>
          </a:ln>
        </p:spPr>
        <p:txBody>
          <a:bodyPr/>
          <a:lstStyle/>
          <a:p>
            <a:endParaRPr lang="en-US"/>
          </a:p>
        </p:txBody>
      </p:sp>
      <p:sp>
        <p:nvSpPr>
          <p:cNvPr id="14" name="Shape 12"/>
          <p:cNvSpPr/>
          <p:nvPr/>
        </p:nvSpPr>
        <p:spPr>
          <a:xfrm>
            <a:off x="1005840" y="4544568"/>
            <a:ext cx="310896" cy="310896"/>
          </a:xfrm>
          <a:prstGeom prst="ellipse">
            <a:avLst/>
          </a:prstGeom>
          <a:solidFill>
            <a:srgbClr val="A03A3A"/>
          </a:solidFill>
          <a:ln/>
        </p:spPr>
        <p:txBody>
          <a:bodyPr/>
          <a:lstStyle/>
          <a:p>
            <a:endParaRPr lang="en-US"/>
          </a:p>
        </p:txBody>
      </p:sp>
      <p:sp>
        <p:nvSpPr>
          <p:cNvPr id="15" name="Text 13"/>
          <p:cNvSpPr/>
          <p:nvPr/>
        </p:nvSpPr>
        <p:spPr>
          <a:xfrm>
            <a:off x="1005840" y="4544568"/>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16" name="Text 14"/>
          <p:cNvSpPr/>
          <p:nvPr/>
        </p:nvSpPr>
        <p:spPr>
          <a:xfrm>
            <a:off x="1463040" y="4453128"/>
            <a:ext cx="9692640" cy="49377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Still far too much. Fetching five thousand records to show twelve wastes database work, bandwidth and memory.</a:t>
            </a:r>
            <a:endParaRPr lang="en-US" sz="1250" dirty="0"/>
          </a:p>
        </p:txBody>
      </p:sp>
      <p:sp>
        <p:nvSpPr>
          <p:cNvPr id="17" name="Shape 15"/>
          <p:cNvSpPr/>
          <p:nvPr/>
        </p:nvSpPr>
        <p:spPr>
          <a:xfrm>
            <a:off x="777240" y="5020056"/>
            <a:ext cx="10607040" cy="493776"/>
          </a:xfrm>
          <a:prstGeom prst="roundRect">
            <a:avLst>
              <a:gd name="adj" fmla="val 7407"/>
            </a:avLst>
          </a:prstGeom>
          <a:solidFill>
            <a:srgbClr val="FFFFFF"/>
          </a:solidFill>
          <a:ln w="12700">
            <a:solidFill>
              <a:srgbClr val="E8D5D1"/>
            </a:solidFill>
            <a:prstDash val="solid"/>
          </a:ln>
        </p:spPr>
        <p:txBody>
          <a:bodyPr/>
          <a:lstStyle/>
          <a:p>
            <a:endParaRPr lang="en-US"/>
          </a:p>
        </p:txBody>
      </p:sp>
      <p:sp>
        <p:nvSpPr>
          <p:cNvPr id="18" name="Shape 16"/>
          <p:cNvSpPr/>
          <p:nvPr/>
        </p:nvSpPr>
        <p:spPr>
          <a:xfrm>
            <a:off x="1005840" y="5111496"/>
            <a:ext cx="310896" cy="310896"/>
          </a:xfrm>
          <a:prstGeom prst="ellipse">
            <a:avLst/>
          </a:prstGeom>
          <a:solidFill>
            <a:srgbClr val="A03A3A"/>
          </a:solidFill>
          <a:ln/>
        </p:spPr>
        <p:txBody>
          <a:bodyPr/>
          <a:lstStyle/>
          <a:p>
            <a:endParaRPr lang="en-US"/>
          </a:p>
        </p:txBody>
      </p:sp>
      <p:sp>
        <p:nvSpPr>
          <p:cNvPr id="19" name="Text 17"/>
          <p:cNvSpPr/>
          <p:nvPr/>
        </p:nvSpPr>
        <p:spPr>
          <a:xfrm>
            <a:off x="1005840" y="5111496"/>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t>
            </a:r>
            <a:endParaRPr lang="en-US" sz="1100" dirty="0"/>
          </a:p>
        </p:txBody>
      </p:sp>
      <p:sp>
        <p:nvSpPr>
          <p:cNvPr id="20" name="Text 18"/>
          <p:cNvSpPr/>
          <p:nvPr/>
        </p:nvSpPr>
        <p:spPr>
          <a:xfrm>
            <a:off x="1463040" y="5020056"/>
            <a:ext cx="9692640" cy="49377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The number varies by product, device and page. There is no universal fixed value.</a:t>
            </a:r>
            <a:endParaRPr lang="en-US" sz="1250" dirty="0"/>
          </a:p>
        </p:txBody>
      </p:sp>
      <p:sp>
        <p:nvSpPr>
          <p:cNvPr id="21" name="Shape 19"/>
          <p:cNvSpPr/>
          <p:nvPr/>
        </p:nvSpPr>
        <p:spPr>
          <a:xfrm>
            <a:off x="777240" y="5751576"/>
            <a:ext cx="10607040" cy="713232"/>
          </a:xfrm>
          <a:prstGeom prst="roundRect">
            <a:avLst>
              <a:gd name="adj" fmla="val 7692"/>
            </a:avLst>
          </a:prstGeom>
          <a:solidFill>
            <a:srgbClr val="FDF3E3"/>
          </a:solidFill>
          <a:ln w="16510">
            <a:solidFill>
              <a:srgbClr val="E8A33D"/>
            </a:solidFill>
            <a:prstDash val="solid"/>
          </a:ln>
        </p:spPr>
        <p:txBody>
          <a:bodyPr/>
          <a:lstStyle/>
          <a:p>
            <a:endParaRPr lang="en-US"/>
          </a:p>
        </p:txBody>
      </p:sp>
      <p:sp>
        <p:nvSpPr>
          <p:cNvPr id="22" name="Text 20"/>
          <p:cNvSpPr/>
          <p:nvPr/>
        </p:nvSpPr>
        <p:spPr>
          <a:xfrm>
            <a:off x="1097280" y="5751576"/>
            <a:ext cx="10058400" cy="713232"/>
          </a:xfrm>
          <a:prstGeom prst="rect">
            <a:avLst/>
          </a:prstGeom>
          <a:noFill/>
          <a:ln/>
        </p:spPr>
        <p:txBody>
          <a:bodyPr wrap="square" lIns="0" tIns="0" rIns="0" bIns="0" rtlCol="0" anchor="ctr"/>
          <a:lstStyle/>
          <a:p>
            <a:pPr marL="0" indent="0">
              <a:lnSpc>
                <a:spcPts val="1800"/>
              </a:lnSpc>
              <a:buNone/>
            </a:pPr>
            <a:r>
              <a:rPr lang="en-US" sz="1300" b="1" dirty="0">
                <a:solidFill>
                  <a:srgbClr val="8A5A12"/>
                </a:solidFill>
                <a:latin typeface="Calibri" pitchFamily="34" charset="0"/>
                <a:ea typeface="Calibri" pitchFamily="34" charset="-122"/>
                <a:cs typeface="Calibri" pitchFamily="34" charset="-120"/>
              </a:rPr>
              <a:t>Interview follow-up:  </a:t>
            </a:r>
            <a:r>
              <a:rPr lang="en-US" sz="1300" dirty="0">
                <a:solidFill>
                  <a:srgbClr val="1B2A33"/>
                </a:solidFill>
                <a:latin typeface="Calibri" pitchFamily="34" charset="0"/>
                <a:ea typeface="Calibri" pitchFamily="34" charset="-122"/>
                <a:cs typeface="Calibri" pitchFamily="34" charset="-120"/>
              </a:rPr>
              <a:t>The user scrolls to the bottom. What exactly happens next, and when was it triggered?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777240" y="548640"/>
            <a:ext cx="1234440" cy="457200"/>
          </a:xfrm>
          <a:prstGeom prst="roundRect">
            <a:avLst>
              <a:gd name="adj" fmla="val 40000"/>
            </a:avLst>
          </a:prstGeom>
          <a:solidFill>
            <a:srgbClr val="E8A33D"/>
          </a:solidFill>
          <a:ln/>
        </p:spPr>
        <p:txBody>
          <a:bodyPr/>
          <a:lstStyle/>
          <a:p>
            <a:endParaRPr lang="en-US"/>
          </a:p>
        </p:txBody>
      </p:sp>
      <p:sp>
        <p:nvSpPr>
          <p:cNvPr id="3" name="Text 1"/>
          <p:cNvSpPr/>
          <p:nvPr/>
        </p:nvSpPr>
        <p:spPr>
          <a:xfrm>
            <a:off x="777240" y="548640"/>
            <a:ext cx="1234440" cy="457200"/>
          </a:xfrm>
          <a:prstGeom prst="rect">
            <a:avLst/>
          </a:prstGeom>
          <a:noFill/>
          <a:ln/>
        </p:spPr>
        <p:txBody>
          <a:bodyPr wrap="square" rtlCol="0" anchor="ctr"/>
          <a:lstStyle/>
          <a:p>
            <a:pPr marL="0" indent="0" algn="ctr">
              <a:buNone/>
            </a:pPr>
            <a:r>
              <a:rPr lang="en-US" sz="1500" b="1" dirty="0">
                <a:solidFill>
                  <a:srgbClr val="13293D"/>
                </a:solidFill>
                <a:latin typeface="Calibri" pitchFamily="34" charset="0"/>
                <a:ea typeface="Calibri" pitchFamily="34" charset="-122"/>
                <a:cs typeface="Calibri" pitchFamily="34" charset="-120"/>
              </a:rPr>
              <a:t>Q4</a:t>
            </a:r>
            <a:endParaRPr lang="en-US" sz="1500" dirty="0"/>
          </a:p>
        </p:txBody>
      </p:sp>
      <p:sp>
        <p:nvSpPr>
          <p:cNvPr id="4" name="Shape 2"/>
          <p:cNvSpPr/>
          <p:nvPr/>
        </p:nvSpPr>
        <p:spPr>
          <a:xfrm>
            <a:off x="2194560" y="548640"/>
            <a:ext cx="2743200" cy="457200"/>
          </a:xfrm>
          <a:prstGeom prst="roundRect">
            <a:avLst>
              <a:gd name="adj" fmla="val 40000"/>
            </a:avLst>
          </a:prstGeom>
          <a:solidFill>
            <a:srgbClr val="1D3D52"/>
          </a:solidFill>
          <a:ln/>
        </p:spPr>
        <p:txBody>
          <a:bodyPr/>
          <a:lstStyle/>
          <a:p>
            <a:endParaRPr lang="en-US"/>
          </a:p>
        </p:txBody>
      </p:sp>
      <p:sp>
        <p:nvSpPr>
          <p:cNvPr id="5" name="Text 3"/>
          <p:cNvSpPr/>
          <p:nvPr/>
        </p:nvSpPr>
        <p:spPr>
          <a:xfrm>
            <a:off x="2194560" y="548640"/>
            <a:ext cx="2743200" cy="457200"/>
          </a:xfrm>
          <a:prstGeom prst="rect">
            <a:avLst/>
          </a:prstGeom>
          <a:noFill/>
          <a:ln/>
        </p:spPr>
        <p:txBody>
          <a:bodyPr wrap="square" rtlCol="0" anchor="ctr"/>
          <a:lstStyle/>
          <a:p>
            <a:pPr marL="0" indent="0" algn="ctr">
              <a:buNone/>
            </a:pPr>
            <a:r>
              <a:rPr lang="en-US" sz="1100" b="1" kern="0" spc="120" dirty="0">
                <a:solidFill>
                  <a:srgbClr val="9AD1D4"/>
                </a:solidFill>
                <a:latin typeface="Calibri" pitchFamily="34" charset="0"/>
                <a:ea typeface="Calibri" pitchFamily="34" charset="-122"/>
                <a:cs typeface="Calibri" pitchFamily="34" charset="-120"/>
              </a:rPr>
              <a:t>SELECT ONE</a:t>
            </a:r>
            <a:endParaRPr lang="en-US" sz="1100" dirty="0"/>
          </a:p>
        </p:txBody>
      </p:sp>
      <p:sp>
        <p:nvSpPr>
          <p:cNvPr id="7" name="Text 5"/>
          <p:cNvSpPr/>
          <p:nvPr/>
        </p:nvSpPr>
        <p:spPr>
          <a:xfrm>
            <a:off x="777240" y="1234440"/>
            <a:ext cx="10607040" cy="1325880"/>
          </a:xfrm>
          <a:prstGeom prst="rect">
            <a:avLst/>
          </a:prstGeom>
          <a:noFill/>
          <a:ln/>
        </p:spPr>
        <p:txBody>
          <a:bodyPr wrap="square" lIns="0" tIns="0" rIns="0" bIns="0" rtlCol="0" anchor="ctr"/>
          <a:lstStyle/>
          <a:p>
            <a:pPr marL="0" indent="0">
              <a:lnSpc>
                <a:spcPts val="3100"/>
              </a:lnSpc>
              <a:buNone/>
            </a:pPr>
            <a:r>
              <a:rPr lang="en-US" sz="2200" b="1" dirty="0">
                <a:solidFill>
                  <a:srgbClr val="FFFFFF"/>
                </a:solidFill>
                <a:latin typeface="Cambria" pitchFamily="34" charset="0"/>
                <a:ea typeface="Cambria" pitchFamily="34" charset="-122"/>
                <a:cs typeface="Cambria" pitchFamily="34" charset="-120"/>
              </a:rPr>
              <a:t>Which component actually determines which products match the words "men’s shirt"?</a:t>
            </a:r>
            <a:endParaRPr lang="en-US" sz="2200" dirty="0"/>
          </a:p>
        </p:txBody>
      </p:sp>
      <p:sp>
        <p:nvSpPr>
          <p:cNvPr id="8" name="Shape 6"/>
          <p:cNvSpPr/>
          <p:nvPr/>
        </p:nvSpPr>
        <p:spPr>
          <a:xfrm>
            <a:off x="777240" y="2788920"/>
            <a:ext cx="5120640" cy="1280160"/>
          </a:xfrm>
          <a:prstGeom prst="roundRect">
            <a:avLst>
              <a:gd name="adj" fmla="val 5000"/>
            </a:avLst>
          </a:prstGeom>
          <a:solidFill>
            <a:srgbClr val="1D3D52"/>
          </a:solidFill>
          <a:ln/>
        </p:spPr>
        <p:txBody>
          <a:bodyPr/>
          <a:lstStyle/>
          <a:p>
            <a:endParaRPr lang="en-US"/>
          </a:p>
        </p:txBody>
      </p:sp>
      <p:sp>
        <p:nvSpPr>
          <p:cNvPr id="9" name="Shape 7"/>
          <p:cNvSpPr/>
          <p:nvPr/>
        </p:nvSpPr>
        <p:spPr>
          <a:xfrm>
            <a:off x="1051560" y="3246120"/>
            <a:ext cx="384048" cy="384048"/>
          </a:xfrm>
          <a:prstGeom prst="ellipse">
            <a:avLst/>
          </a:prstGeom>
          <a:solidFill>
            <a:srgbClr val="1C7293"/>
          </a:solidFill>
          <a:ln/>
        </p:spPr>
        <p:txBody>
          <a:bodyPr/>
          <a:lstStyle/>
          <a:p>
            <a:endParaRPr lang="en-US"/>
          </a:p>
        </p:txBody>
      </p:sp>
      <p:sp>
        <p:nvSpPr>
          <p:cNvPr id="10" name="Text 8"/>
          <p:cNvSpPr/>
          <p:nvPr/>
        </p:nvSpPr>
        <p:spPr>
          <a:xfrm>
            <a:off x="1051560" y="324612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1" name="Text 9"/>
          <p:cNvSpPr/>
          <p:nvPr/>
        </p:nvSpPr>
        <p:spPr>
          <a:xfrm>
            <a:off x="1581912" y="278892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The product database, using a text LIKE query</a:t>
            </a:r>
            <a:endParaRPr lang="en-US" sz="1350" dirty="0"/>
          </a:p>
        </p:txBody>
      </p:sp>
      <p:sp>
        <p:nvSpPr>
          <p:cNvPr id="12" name="Shape 10"/>
          <p:cNvSpPr/>
          <p:nvPr/>
        </p:nvSpPr>
        <p:spPr>
          <a:xfrm>
            <a:off x="6172200" y="2788920"/>
            <a:ext cx="5120640" cy="1280160"/>
          </a:xfrm>
          <a:prstGeom prst="roundRect">
            <a:avLst>
              <a:gd name="adj" fmla="val 5000"/>
            </a:avLst>
          </a:prstGeom>
          <a:solidFill>
            <a:srgbClr val="1D3D52"/>
          </a:solidFill>
          <a:ln/>
        </p:spPr>
        <p:txBody>
          <a:bodyPr/>
          <a:lstStyle/>
          <a:p>
            <a:endParaRPr lang="en-US"/>
          </a:p>
        </p:txBody>
      </p:sp>
      <p:sp>
        <p:nvSpPr>
          <p:cNvPr id="13" name="Shape 11"/>
          <p:cNvSpPr/>
          <p:nvPr/>
        </p:nvSpPr>
        <p:spPr>
          <a:xfrm>
            <a:off x="6446520" y="3246120"/>
            <a:ext cx="384048" cy="384048"/>
          </a:xfrm>
          <a:prstGeom prst="ellipse">
            <a:avLst/>
          </a:prstGeom>
          <a:solidFill>
            <a:srgbClr val="1C7293"/>
          </a:solidFill>
          <a:ln/>
        </p:spPr>
        <p:txBody>
          <a:bodyPr/>
          <a:lstStyle/>
          <a:p>
            <a:endParaRPr lang="en-US"/>
          </a:p>
        </p:txBody>
      </p:sp>
      <p:sp>
        <p:nvSpPr>
          <p:cNvPr id="14" name="Text 12"/>
          <p:cNvSpPr/>
          <p:nvPr/>
        </p:nvSpPr>
        <p:spPr>
          <a:xfrm>
            <a:off x="6446520" y="324612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5" name="Text 13"/>
          <p:cNvSpPr/>
          <p:nvPr/>
        </p:nvSpPr>
        <p:spPr>
          <a:xfrm>
            <a:off x="6976872" y="278892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Redis, using a key lookup</a:t>
            </a:r>
            <a:endParaRPr lang="en-US" sz="1350" dirty="0"/>
          </a:p>
        </p:txBody>
      </p:sp>
      <p:sp>
        <p:nvSpPr>
          <p:cNvPr id="16" name="Shape 14"/>
          <p:cNvSpPr/>
          <p:nvPr/>
        </p:nvSpPr>
        <p:spPr>
          <a:xfrm>
            <a:off x="777240" y="4251960"/>
            <a:ext cx="5120640" cy="1280160"/>
          </a:xfrm>
          <a:prstGeom prst="roundRect">
            <a:avLst>
              <a:gd name="adj" fmla="val 5000"/>
            </a:avLst>
          </a:prstGeom>
          <a:solidFill>
            <a:srgbClr val="1D3D52"/>
          </a:solidFill>
          <a:ln/>
        </p:spPr>
        <p:txBody>
          <a:bodyPr/>
          <a:lstStyle/>
          <a:p>
            <a:endParaRPr lang="en-US"/>
          </a:p>
        </p:txBody>
      </p:sp>
      <p:sp>
        <p:nvSpPr>
          <p:cNvPr id="17" name="Shape 15"/>
          <p:cNvSpPr/>
          <p:nvPr/>
        </p:nvSpPr>
        <p:spPr>
          <a:xfrm>
            <a:off x="1051560" y="4709160"/>
            <a:ext cx="384048" cy="384048"/>
          </a:xfrm>
          <a:prstGeom prst="ellipse">
            <a:avLst/>
          </a:prstGeom>
          <a:solidFill>
            <a:srgbClr val="1C7293"/>
          </a:solidFill>
          <a:ln/>
        </p:spPr>
        <p:txBody>
          <a:bodyPr/>
          <a:lstStyle/>
          <a:p>
            <a:endParaRPr lang="en-US"/>
          </a:p>
        </p:txBody>
      </p:sp>
      <p:sp>
        <p:nvSpPr>
          <p:cNvPr id="18" name="Text 16"/>
          <p:cNvSpPr/>
          <p:nvPr/>
        </p:nvSpPr>
        <p:spPr>
          <a:xfrm>
            <a:off x="1051560" y="470916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9" name="Text 17"/>
          <p:cNvSpPr/>
          <p:nvPr/>
        </p:nvSpPr>
        <p:spPr>
          <a:xfrm>
            <a:off x="1581912" y="425196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A search index such as Elasticsearch</a:t>
            </a:r>
            <a:endParaRPr lang="en-US" sz="1350" dirty="0"/>
          </a:p>
        </p:txBody>
      </p:sp>
      <p:sp>
        <p:nvSpPr>
          <p:cNvPr id="20" name="Shape 18"/>
          <p:cNvSpPr/>
          <p:nvPr/>
        </p:nvSpPr>
        <p:spPr>
          <a:xfrm>
            <a:off x="6172200" y="4251960"/>
            <a:ext cx="5120640" cy="1280160"/>
          </a:xfrm>
          <a:prstGeom prst="roundRect">
            <a:avLst>
              <a:gd name="adj" fmla="val 5000"/>
            </a:avLst>
          </a:prstGeom>
          <a:solidFill>
            <a:srgbClr val="1D3D52"/>
          </a:solidFill>
          <a:ln/>
        </p:spPr>
        <p:txBody>
          <a:bodyPr/>
          <a:lstStyle/>
          <a:p>
            <a:endParaRPr lang="en-US"/>
          </a:p>
        </p:txBody>
      </p:sp>
      <p:sp>
        <p:nvSpPr>
          <p:cNvPr id="21" name="Shape 19"/>
          <p:cNvSpPr/>
          <p:nvPr/>
        </p:nvSpPr>
        <p:spPr>
          <a:xfrm>
            <a:off x="6446520" y="4709160"/>
            <a:ext cx="384048" cy="384048"/>
          </a:xfrm>
          <a:prstGeom prst="ellipse">
            <a:avLst/>
          </a:prstGeom>
          <a:solidFill>
            <a:srgbClr val="1C7293"/>
          </a:solidFill>
          <a:ln/>
        </p:spPr>
        <p:txBody>
          <a:bodyPr/>
          <a:lstStyle/>
          <a:p>
            <a:endParaRPr lang="en-US"/>
          </a:p>
        </p:txBody>
      </p:sp>
      <p:sp>
        <p:nvSpPr>
          <p:cNvPr id="22" name="Text 20"/>
          <p:cNvSpPr/>
          <p:nvPr/>
        </p:nvSpPr>
        <p:spPr>
          <a:xfrm>
            <a:off x="6446520" y="470916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3" name="Text 21"/>
          <p:cNvSpPr/>
          <p:nvPr/>
        </p:nvSpPr>
        <p:spPr>
          <a:xfrm>
            <a:off x="6976872" y="425196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The CDN, using its cached copies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Q4 — Answer</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The database stores the truth; the index does the finding</a:t>
            </a:r>
            <a:endParaRPr lang="en-US" sz="1500" dirty="0"/>
          </a:p>
        </p:txBody>
      </p:sp>
      <p:sp>
        <p:nvSpPr>
          <p:cNvPr id="4" name="Shape 2"/>
          <p:cNvSpPr/>
          <p:nvPr/>
        </p:nvSpPr>
        <p:spPr>
          <a:xfrm>
            <a:off x="777240" y="1463040"/>
            <a:ext cx="10607040" cy="822960"/>
          </a:xfrm>
          <a:prstGeom prst="roundRect">
            <a:avLst>
              <a:gd name="adj" fmla="val 6667"/>
            </a:avLst>
          </a:prstGeom>
          <a:solidFill>
            <a:srgbClr val="2E7D5B"/>
          </a:solidFill>
          <a:ln/>
        </p:spPr>
        <p:txBody>
          <a:bodyPr/>
          <a:lstStyle/>
          <a:p>
            <a:endParaRPr lang="en-US"/>
          </a:p>
        </p:txBody>
      </p:sp>
      <p:sp>
        <p:nvSpPr>
          <p:cNvPr id="5" name="Text 3"/>
          <p:cNvSpPr/>
          <p:nvPr/>
        </p:nvSpPr>
        <p:spPr>
          <a:xfrm>
            <a:off x="1097280" y="1463040"/>
            <a:ext cx="10058400" cy="822960"/>
          </a:xfrm>
          <a:prstGeom prst="rect">
            <a:avLst/>
          </a:prstGeom>
          <a:noFill/>
          <a:ln/>
        </p:spPr>
        <p:txBody>
          <a:bodyPr wrap="square" lIns="0" tIns="0" rIns="0" bIns="0" rtlCol="0" anchor="ctr"/>
          <a:lstStyle/>
          <a:p>
            <a:pPr marL="0" indent="0">
              <a:lnSpc>
                <a:spcPts val="2100"/>
              </a:lnSpc>
              <a:buNone/>
            </a:pPr>
            <a:r>
              <a:rPr lang="en-US" sz="1600" b="1" dirty="0">
                <a:solidFill>
                  <a:srgbClr val="FFFFFF"/>
                </a:solidFill>
                <a:latin typeface="Calibri" pitchFamily="34" charset="0"/>
                <a:ea typeface="Calibri" pitchFamily="34" charset="-122"/>
                <a:cs typeface="Calibri" pitchFamily="34" charset="-120"/>
              </a:rPr>
              <a:t>C — A search index such as Elasticsearch</a:t>
            </a:r>
            <a:endParaRPr lang="en-US" sz="1600" dirty="0"/>
          </a:p>
        </p:txBody>
      </p:sp>
      <p:sp>
        <p:nvSpPr>
          <p:cNvPr id="6" name="Shape 4"/>
          <p:cNvSpPr/>
          <p:nvPr/>
        </p:nvSpPr>
        <p:spPr>
          <a:xfrm>
            <a:off x="777240" y="2423160"/>
            <a:ext cx="10607040" cy="960120"/>
          </a:xfrm>
          <a:prstGeom prst="roundRect">
            <a:avLst>
              <a:gd name="adj" fmla="val 5714"/>
            </a:avLst>
          </a:prstGeom>
          <a:solidFill>
            <a:srgbClr val="F4F7F9"/>
          </a:solidFill>
          <a:ln w="12700">
            <a:solidFill>
              <a:srgbClr val="E1E8ED"/>
            </a:solidFill>
            <a:prstDash val="solid"/>
          </a:ln>
        </p:spPr>
        <p:txBody>
          <a:bodyPr/>
          <a:lstStyle/>
          <a:p>
            <a:endParaRPr lang="en-US"/>
          </a:p>
        </p:txBody>
      </p:sp>
      <p:sp>
        <p:nvSpPr>
          <p:cNvPr id="7" name="Text 5"/>
          <p:cNvSpPr/>
          <p:nvPr/>
        </p:nvSpPr>
        <p:spPr>
          <a:xfrm>
            <a:off x="1097280" y="2423160"/>
            <a:ext cx="10058400" cy="960120"/>
          </a:xfrm>
          <a:prstGeom prst="rect">
            <a:avLst/>
          </a:prstGeom>
          <a:noFill/>
          <a:ln/>
        </p:spPr>
        <p:txBody>
          <a:bodyPr wrap="square" lIns="0" tIns="0" rIns="0" bIns="0" rtlCol="0" anchor="ctr"/>
          <a:lstStyle/>
          <a:p>
            <a:pPr marL="0" indent="0">
              <a:lnSpc>
                <a:spcPts val="1900"/>
              </a:lnSpc>
              <a:buNone/>
            </a:pPr>
            <a:r>
              <a:rPr lang="en-US" sz="1350" dirty="0">
                <a:solidFill>
                  <a:srgbClr val="1B2A33"/>
                </a:solidFill>
                <a:latin typeface="Calibri" pitchFamily="34" charset="0"/>
                <a:ea typeface="Calibri" pitchFamily="34" charset="-122"/>
                <a:cs typeface="Calibri" pitchFamily="34" charset="-120"/>
              </a:rPr>
              <a:t>A search index holds a pre-computed inverted list: the word "shirt" maps to a ranked set of product IDs. Lookup time barely grows with catalogue size. It returns IDs only, and the backend then fetches details for exactly those forty from the database.</a:t>
            </a:r>
            <a:endParaRPr lang="en-US" sz="1350" dirty="0"/>
          </a:p>
        </p:txBody>
      </p:sp>
      <p:sp>
        <p:nvSpPr>
          <p:cNvPr id="8" name="Text 6"/>
          <p:cNvSpPr/>
          <p:nvPr/>
        </p:nvSpPr>
        <p:spPr>
          <a:xfrm>
            <a:off x="777240" y="3520440"/>
            <a:ext cx="5486400" cy="320040"/>
          </a:xfrm>
          <a:prstGeom prst="rect">
            <a:avLst/>
          </a:prstGeom>
          <a:noFill/>
          <a:ln/>
        </p:spPr>
        <p:txBody>
          <a:bodyPr wrap="square" lIns="0" tIns="0" rIns="0" bIns="0" rtlCol="0" anchor="ctr"/>
          <a:lstStyle/>
          <a:p>
            <a:pPr marL="0" indent="0">
              <a:buNone/>
            </a:pPr>
            <a:r>
              <a:rPr lang="en-US" sz="1300" b="1" dirty="0">
                <a:solidFill>
                  <a:srgbClr val="A03A3A"/>
                </a:solidFill>
                <a:latin typeface="Calibri" pitchFamily="34" charset="0"/>
                <a:ea typeface="Calibri" pitchFamily="34" charset="-122"/>
                <a:cs typeface="Calibri" pitchFamily="34" charset="-120"/>
              </a:rPr>
              <a:t>Why the others fail</a:t>
            </a:r>
            <a:endParaRPr lang="en-US" sz="1300" dirty="0"/>
          </a:p>
        </p:txBody>
      </p:sp>
      <p:sp>
        <p:nvSpPr>
          <p:cNvPr id="9" name="Shape 7"/>
          <p:cNvSpPr/>
          <p:nvPr/>
        </p:nvSpPr>
        <p:spPr>
          <a:xfrm>
            <a:off x="777240" y="3886200"/>
            <a:ext cx="10607040" cy="493776"/>
          </a:xfrm>
          <a:prstGeom prst="roundRect">
            <a:avLst>
              <a:gd name="adj" fmla="val 7407"/>
            </a:avLst>
          </a:prstGeom>
          <a:solidFill>
            <a:srgbClr val="FFFFFF"/>
          </a:solidFill>
          <a:ln w="12700">
            <a:solidFill>
              <a:srgbClr val="E8D5D1"/>
            </a:solidFill>
            <a:prstDash val="solid"/>
          </a:ln>
        </p:spPr>
        <p:txBody>
          <a:bodyPr/>
          <a:lstStyle/>
          <a:p>
            <a:endParaRPr lang="en-US"/>
          </a:p>
        </p:txBody>
      </p:sp>
      <p:sp>
        <p:nvSpPr>
          <p:cNvPr id="10" name="Shape 8"/>
          <p:cNvSpPr/>
          <p:nvPr/>
        </p:nvSpPr>
        <p:spPr>
          <a:xfrm>
            <a:off x="1005840" y="3977640"/>
            <a:ext cx="310896" cy="310896"/>
          </a:xfrm>
          <a:prstGeom prst="ellipse">
            <a:avLst/>
          </a:prstGeom>
          <a:solidFill>
            <a:srgbClr val="A03A3A"/>
          </a:solidFill>
          <a:ln/>
        </p:spPr>
        <p:txBody>
          <a:bodyPr/>
          <a:lstStyle/>
          <a:p>
            <a:endParaRPr lang="en-US"/>
          </a:p>
        </p:txBody>
      </p:sp>
      <p:sp>
        <p:nvSpPr>
          <p:cNvPr id="11" name="Text 9"/>
          <p:cNvSpPr/>
          <p:nvPr/>
        </p:nvSpPr>
        <p:spPr>
          <a:xfrm>
            <a:off x="1005840" y="3977640"/>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2" name="Text 10"/>
          <p:cNvSpPr/>
          <p:nvPr/>
        </p:nvSpPr>
        <p:spPr>
          <a:xfrm>
            <a:off x="1463040" y="3886200"/>
            <a:ext cx="9692640" cy="49377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A text scan over two million rows takes minutes and gets slower as the catalogue grows — the one thing a growing business cannot accept.</a:t>
            </a:r>
            <a:endParaRPr lang="en-US" sz="1250" dirty="0"/>
          </a:p>
        </p:txBody>
      </p:sp>
      <p:sp>
        <p:nvSpPr>
          <p:cNvPr id="13" name="Shape 11"/>
          <p:cNvSpPr/>
          <p:nvPr/>
        </p:nvSpPr>
        <p:spPr>
          <a:xfrm>
            <a:off x="777240" y="4453128"/>
            <a:ext cx="10607040" cy="493776"/>
          </a:xfrm>
          <a:prstGeom prst="roundRect">
            <a:avLst>
              <a:gd name="adj" fmla="val 7407"/>
            </a:avLst>
          </a:prstGeom>
          <a:solidFill>
            <a:srgbClr val="FDF0EE"/>
          </a:solidFill>
          <a:ln w="12700">
            <a:solidFill>
              <a:srgbClr val="E8D5D1"/>
            </a:solidFill>
            <a:prstDash val="solid"/>
          </a:ln>
        </p:spPr>
        <p:txBody>
          <a:bodyPr/>
          <a:lstStyle/>
          <a:p>
            <a:endParaRPr lang="en-US"/>
          </a:p>
        </p:txBody>
      </p:sp>
      <p:sp>
        <p:nvSpPr>
          <p:cNvPr id="14" name="Shape 12"/>
          <p:cNvSpPr/>
          <p:nvPr/>
        </p:nvSpPr>
        <p:spPr>
          <a:xfrm>
            <a:off x="1005840" y="4544568"/>
            <a:ext cx="310896" cy="310896"/>
          </a:xfrm>
          <a:prstGeom prst="ellipse">
            <a:avLst/>
          </a:prstGeom>
          <a:solidFill>
            <a:srgbClr val="A03A3A"/>
          </a:solidFill>
          <a:ln/>
        </p:spPr>
        <p:txBody>
          <a:bodyPr/>
          <a:lstStyle/>
          <a:p>
            <a:endParaRPr lang="en-US"/>
          </a:p>
        </p:txBody>
      </p:sp>
      <p:sp>
        <p:nvSpPr>
          <p:cNvPr id="15" name="Text 13"/>
          <p:cNvSpPr/>
          <p:nvPr/>
        </p:nvSpPr>
        <p:spPr>
          <a:xfrm>
            <a:off x="1005840" y="4544568"/>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6" name="Text 14"/>
          <p:cNvSpPr/>
          <p:nvPr/>
        </p:nvSpPr>
        <p:spPr>
          <a:xfrm>
            <a:off x="1463040" y="4453128"/>
            <a:ext cx="9692640" cy="49377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Redis can cache the finished result of a popular search, but it cannot discover which products match an arbitrary phrase.</a:t>
            </a:r>
            <a:endParaRPr lang="en-US" sz="1250" dirty="0"/>
          </a:p>
        </p:txBody>
      </p:sp>
      <p:sp>
        <p:nvSpPr>
          <p:cNvPr id="17" name="Shape 15"/>
          <p:cNvSpPr/>
          <p:nvPr/>
        </p:nvSpPr>
        <p:spPr>
          <a:xfrm>
            <a:off x="777240" y="5020056"/>
            <a:ext cx="10607040" cy="493776"/>
          </a:xfrm>
          <a:prstGeom prst="roundRect">
            <a:avLst>
              <a:gd name="adj" fmla="val 7407"/>
            </a:avLst>
          </a:prstGeom>
          <a:solidFill>
            <a:srgbClr val="FFFFFF"/>
          </a:solidFill>
          <a:ln w="12700">
            <a:solidFill>
              <a:srgbClr val="E8D5D1"/>
            </a:solidFill>
            <a:prstDash val="solid"/>
          </a:ln>
        </p:spPr>
        <p:txBody>
          <a:bodyPr/>
          <a:lstStyle/>
          <a:p>
            <a:endParaRPr lang="en-US"/>
          </a:p>
        </p:txBody>
      </p:sp>
      <p:sp>
        <p:nvSpPr>
          <p:cNvPr id="18" name="Shape 16"/>
          <p:cNvSpPr/>
          <p:nvPr/>
        </p:nvSpPr>
        <p:spPr>
          <a:xfrm>
            <a:off x="1005840" y="5111496"/>
            <a:ext cx="310896" cy="310896"/>
          </a:xfrm>
          <a:prstGeom prst="ellipse">
            <a:avLst/>
          </a:prstGeom>
          <a:solidFill>
            <a:srgbClr val="A03A3A"/>
          </a:solidFill>
          <a:ln/>
        </p:spPr>
        <p:txBody>
          <a:bodyPr/>
          <a:lstStyle/>
          <a:p>
            <a:endParaRPr lang="en-US"/>
          </a:p>
        </p:txBody>
      </p:sp>
      <p:sp>
        <p:nvSpPr>
          <p:cNvPr id="19" name="Text 17"/>
          <p:cNvSpPr/>
          <p:nvPr/>
        </p:nvSpPr>
        <p:spPr>
          <a:xfrm>
            <a:off x="1005840" y="5111496"/>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0" name="Text 18"/>
          <p:cNvSpPr/>
          <p:nvPr/>
        </p:nvSpPr>
        <p:spPr>
          <a:xfrm>
            <a:off x="1463040" y="5020056"/>
            <a:ext cx="9692640" cy="49377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The CDN only stores static files such as images. It has no idea what a product is.</a:t>
            </a:r>
            <a:endParaRPr lang="en-US" sz="1250" dirty="0"/>
          </a:p>
        </p:txBody>
      </p:sp>
      <p:sp>
        <p:nvSpPr>
          <p:cNvPr id="21" name="Shape 19"/>
          <p:cNvSpPr/>
          <p:nvPr/>
        </p:nvSpPr>
        <p:spPr>
          <a:xfrm>
            <a:off x="777240" y="5751576"/>
            <a:ext cx="10607040" cy="713232"/>
          </a:xfrm>
          <a:prstGeom prst="roundRect">
            <a:avLst>
              <a:gd name="adj" fmla="val 7692"/>
            </a:avLst>
          </a:prstGeom>
          <a:solidFill>
            <a:srgbClr val="FDF3E3"/>
          </a:solidFill>
          <a:ln w="16510">
            <a:solidFill>
              <a:srgbClr val="E8A33D"/>
            </a:solidFill>
            <a:prstDash val="solid"/>
          </a:ln>
        </p:spPr>
        <p:txBody>
          <a:bodyPr/>
          <a:lstStyle/>
          <a:p>
            <a:endParaRPr lang="en-US"/>
          </a:p>
        </p:txBody>
      </p:sp>
      <p:sp>
        <p:nvSpPr>
          <p:cNvPr id="22" name="Text 20"/>
          <p:cNvSpPr/>
          <p:nvPr/>
        </p:nvSpPr>
        <p:spPr>
          <a:xfrm>
            <a:off x="1097280" y="5751576"/>
            <a:ext cx="10058400" cy="713232"/>
          </a:xfrm>
          <a:prstGeom prst="rect">
            <a:avLst/>
          </a:prstGeom>
          <a:noFill/>
          <a:ln/>
        </p:spPr>
        <p:txBody>
          <a:bodyPr wrap="square" lIns="0" tIns="0" rIns="0" bIns="0" rtlCol="0" anchor="ctr"/>
          <a:lstStyle/>
          <a:p>
            <a:pPr marL="0" indent="0">
              <a:lnSpc>
                <a:spcPts val="1800"/>
              </a:lnSpc>
              <a:buNone/>
            </a:pPr>
            <a:r>
              <a:rPr lang="en-US" sz="1300" b="1" dirty="0">
                <a:solidFill>
                  <a:srgbClr val="8A5A12"/>
                </a:solidFill>
                <a:latin typeface="Calibri" pitchFamily="34" charset="0"/>
                <a:ea typeface="Calibri" pitchFamily="34" charset="-122"/>
                <a:cs typeface="Calibri" pitchFamily="34" charset="-120"/>
              </a:rPr>
              <a:t>Interview follow-up:  </a:t>
            </a:r>
            <a:r>
              <a:rPr lang="en-US" sz="1300" dirty="0">
                <a:solidFill>
                  <a:srgbClr val="1B2A33"/>
                </a:solidFill>
                <a:latin typeface="Calibri" pitchFamily="34" charset="0"/>
                <a:ea typeface="Calibri" pitchFamily="34" charset="-122"/>
                <a:cs typeface="Calibri" pitchFamily="34" charset="-120"/>
              </a:rPr>
              <a:t>How does the index know about a product added thirty seconds ago?</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777240" y="548640"/>
            <a:ext cx="1234440" cy="457200"/>
          </a:xfrm>
          <a:prstGeom prst="roundRect">
            <a:avLst>
              <a:gd name="adj" fmla="val 40000"/>
            </a:avLst>
          </a:prstGeom>
          <a:solidFill>
            <a:srgbClr val="E8A33D"/>
          </a:solidFill>
          <a:ln/>
        </p:spPr>
        <p:txBody>
          <a:bodyPr/>
          <a:lstStyle/>
          <a:p>
            <a:endParaRPr lang="en-US"/>
          </a:p>
        </p:txBody>
      </p:sp>
      <p:sp>
        <p:nvSpPr>
          <p:cNvPr id="3" name="Text 1"/>
          <p:cNvSpPr/>
          <p:nvPr/>
        </p:nvSpPr>
        <p:spPr>
          <a:xfrm>
            <a:off x="777240" y="548640"/>
            <a:ext cx="1234440" cy="457200"/>
          </a:xfrm>
          <a:prstGeom prst="rect">
            <a:avLst/>
          </a:prstGeom>
          <a:noFill/>
          <a:ln/>
        </p:spPr>
        <p:txBody>
          <a:bodyPr wrap="square" rtlCol="0" anchor="ctr"/>
          <a:lstStyle/>
          <a:p>
            <a:pPr marL="0" indent="0" algn="ctr">
              <a:buNone/>
            </a:pPr>
            <a:r>
              <a:rPr lang="en-US" sz="1500" b="1" dirty="0">
                <a:solidFill>
                  <a:srgbClr val="13293D"/>
                </a:solidFill>
                <a:latin typeface="Calibri" pitchFamily="34" charset="0"/>
                <a:ea typeface="Calibri" pitchFamily="34" charset="-122"/>
                <a:cs typeface="Calibri" pitchFamily="34" charset="-120"/>
              </a:rPr>
              <a:t>Q5</a:t>
            </a:r>
            <a:endParaRPr lang="en-US" sz="1500" dirty="0"/>
          </a:p>
        </p:txBody>
      </p:sp>
      <p:sp>
        <p:nvSpPr>
          <p:cNvPr id="4" name="Shape 2"/>
          <p:cNvSpPr/>
          <p:nvPr/>
        </p:nvSpPr>
        <p:spPr>
          <a:xfrm>
            <a:off x="2194560" y="548640"/>
            <a:ext cx="2743200" cy="457200"/>
          </a:xfrm>
          <a:prstGeom prst="roundRect">
            <a:avLst>
              <a:gd name="adj" fmla="val 40000"/>
            </a:avLst>
          </a:prstGeom>
          <a:solidFill>
            <a:srgbClr val="1D3D52"/>
          </a:solidFill>
          <a:ln/>
        </p:spPr>
        <p:txBody>
          <a:bodyPr/>
          <a:lstStyle/>
          <a:p>
            <a:endParaRPr lang="en-US"/>
          </a:p>
        </p:txBody>
      </p:sp>
      <p:sp>
        <p:nvSpPr>
          <p:cNvPr id="5" name="Text 3"/>
          <p:cNvSpPr/>
          <p:nvPr/>
        </p:nvSpPr>
        <p:spPr>
          <a:xfrm>
            <a:off x="2194560" y="548640"/>
            <a:ext cx="2743200" cy="457200"/>
          </a:xfrm>
          <a:prstGeom prst="rect">
            <a:avLst/>
          </a:prstGeom>
          <a:noFill/>
          <a:ln/>
        </p:spPr>
        <p:txBody>
          <a:bodyPr wrap="square" rtlCol="0" anchor="ctr"/>
          <a:lstStyle/>
          <a:p>
            <a:pPr marL="0" indent="0" algn="ctr">
              <a:buNone/>
            </a:pPr>
            <a:r>
              <a:rPr lang="en-US" sz="1100" b="1" kern="0" spc="120" dirty="0">
                <a:solidFill>
                  <a:srgbClr val="9AD1D4"/>
                </a:solidFill>
                <a:latin typeface="Calibri" pitchFamily="34" charset="0"/>
                <a:ea typeface="Calibri" pitchFamily="34" charset="-122"/>
                <a:cs typeface="Calibri" pitchFamily="34" charset="-120"/>
              </a:rPr>
              <a:t>SELECT ONE</a:t>
            </a:r>
            <a:endParaRPr lang="en-US" sz="1100" dirty="0"/>
          </a:p>
        </p:txBody>
      </p:sp>
      <p:sp>
        <p:nvSpPr>
          <p:cNvPr id="7" name="Text 5"/>
          <p:cNvSpPr/>
          <p:nvPr/>
        </p:nvSpPr>
        <p:spPr>
          <a:xfrm>
            <a:off x="777240" y="1234440"/>
            <a:ext cx="10607040" cy="1325880"/>
          </a:xfrm>
          <a:prstGeom prst="rect">
            <a:avLst/>
          </a:prstGeom>
          <a:noFill/>
          <a:ln/>
        </p:spPr>
        <p:txBody>
          <a:bodyPr wrap="square" lIns="0" tIns="0" rIns="0" bIns="0" rtlCol="0" anchor="ctr"/>
          <a:lstStyle/>
          <a:p>
            <a:pPr marL="0" indent="0">
              <a:lnSpc>
                <a:spcPts val="3100"/>
              </a:lnSpc>
              <a:buNone/>
            </a:pPr>
            <a:r>
              <a:rPr lang="en-US" sz="2200" b="1" dirty="0">
                <a:solidFill>
                  <a:srgbClr val="FFFFFF"/>
                </a:solidFill>
                <a:latin typeface="Cambria" pitchFamily="34" charset="0"/>
                <a:ea typeface="Cambria" pitchFamily="34" charset="-122"/>
                <a:cs typeface="Cambria" pitchFamily="34" charset="-120"/>
              </a:rPr>
              <a:t>Nothing is cached anywhere. A resolver performs a fresh lookup for amazon.in and queries a root nameserver. What does the root nameserver return?</a:t>
            </a:r>
            <a:endParaRPr lang="en-US" sz="2200" dirty="0"/>
          </a:p>
        </p:txBody>
      </p:sp>
      <p:sp>
        <p:nvSpPr>
          <p:cNvPr id="8" name="Shape 6"/>
          <p:cNvSpPr/>
          <p:nvPr/>
        </p:nvSpPr>
        <p:spPr>
          <a:xfrm>
            <a:off x="777240" y="2788920"/>
            <a:ext cx="5120640" cy="1280160"/>
          </a:xfrm>
          <a:prstGeom prst="roundRect">
            <a:avLst>
              <a:gd name="adj" fmla="val 5000"/>
            </a:avLst>
          </a:prstGeom>
          <a:solidFill>
            <a:srgbClr val="1D3D52"/>
          </a:solidFill>
          <a:ln/>
        </p:spPr>
        <p:txBody>
          <a:bodyPr/>
          <a:lstStyle/>
          <a:p>
            <a:endParaRPr lang="en-US"/>
          </a:p>
        </p:txBody>
      </p:sp>
      <p:sp>
        <p:nvSpPr>
          <p:cNvPr id="9" name="Shape 7"/>
          <p:cNvSpPr/>
          <p:nvPr/>
        </p:nvSpPr>
        <p:spPr>
          <a:xfrm>
            <a:off x="1051560" y="3246120"/>
            <a:ext cx="384048" cy="384048"/>
          </a:xfrm>
          <a:prstGeom prst="ellipse">
            <a:avLst/>
          </a:prstGeom>
          <a:solidFill>
            <a:srgbClr val="1C7293"/>
          </a:solidFill>
          <a:ln/>
        </p:spPr>
        <p:txBody>
          <a:bodyPr/>
          <a:lstStyle/>
          <a:p>
            <a:endParaRPr lang="en-US"/>
          </a:p>
        </p:txBody>
      </p:sp>
      <p:sp>
        <p:nvSpPr>
          <p:cNvPr id="10" name="Text 8"/>
          <p:cNvSpPr/>
          <p:nvPr/>
        </p:nvSpPr>
        <p:spPr>
          <a:xfrm>
            <a:off x="1051560" y="324612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1" name="Text 9"/>
          <p:cNvSpPr/>
          <p:nvPr/>
        </p:nvSpPr>
        <p:spPr>
          <a:xfrm>
            <a:off x="1581912" y="278892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The IP address of amazon.in</a:t>
            </a:r>
            <a:endParaRPr lang="en-US" sz="1350" dirty="0"/>
          </a:p>
        </p:txBody>
      </p:sp>
      <p:sp>
        <p:nvSpPr>
          <p:cNvPr id="12" name="Shape 10"/>
          <p:cNvSpPr/>
          <p:nvPr/>
        </p:nvSpPr>
        <p:spPr>
          <a:xfrm>
            <a:off x="6172200" y="2788920"/>
            <a:ext cx="5120640" cy="1280160"/>
          </a:xfrm>
          <a:prstGeom prst="roundRect">
            <a:avLst>
              <a:gd name="adj" fmla="val 5000"/>
            </a:avLst>
          </a:prstGeom>
          <a:solidFill>
            <a:srgbClr val="1D3D52"/>
          </a:solidFill>
          <a:ln/>
        </p:spPr>
        <p:txBody>
          <a:bodyPr/>
          <a:lstStyle/>
          <a:p>
            <a:endParaRPr lang="en-US"/>
          </a:p>
        </p:txBody>
      </p:sp>
      <p:sp>
        <p:nvSpPr>
          <p:cNvPr id="13" name="Shape 11"/>
          <p:cNvSpPr/>
          <p:nvPr/>
        </p:nvSpPr>
        <p:spPr>
          <a:xfrm>
            <a:off x="6446520" y="3246120"/>
            <a:ext cx="384048" cy="384048"/>
          </a:xfrm>
          <a:prstGeom prst="ellipse">
            <a:avLst/>
          </a:prstGeom>
          <a:solidFill>
            <a:srgbClr val="1C7293"/>
          </a:solidFill>
          <a:ln/>
        </p:spPr>
        <p:txBody>
          <a:bodyPr/>
          <a:lstStyle/>
          <a:p>
            <a:endParaRPr lang="en-US"/>
          </a:p>
        </p:txBody>
      </p:sp>
      <p:sp>
        <p:nvSpPr>
          <p:cNvPr id="14" name="Text 12"/>
          <p:cNvSpPr/>
          <p:nvPr/>
        </p:nvSpPr>
        <p:spPr>
          <a:xfrm>
            <a:off x="6446520" y="324612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5" name="Text 13"/>
          <p:cNvSpPr/>
          <p:nvPr/>
        </p:nvSpPr>
        <p:spPr>
          <a:xfrm>
            <a:off x="6976872" y="278892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The address of the .in nameserver</a:t>
            </a:r>
            <a:endParaRPr lang="en-US" sz="1350" dirty="0"/>
          </a:p>
        </p:txBody>
      </p:sp>
      <p:sp>
        <p:nvSpPr>
          <p:cNvPr id="16" name="Shape 14"/>
          <p:cNvSpPr/>
          <p:nvPr/>
        </p:nvSpPr>
        <p:spPr>
          <a:xfrm>
            <a:off x="777240" y="4251960"/>
            <a:ext cx="5120640" cy="1280160"/>
          </a:xfrm>
          <a:prstGeom prst="roundRect">
            <a:avLst>
              <a:gd name="adj" fmla="val 5000"/>
            </a:avLst>
          </a:prstGeom>
          <a:solidFill>
            <a:srgbClr val="1D3D52"/>
          </a:solidFill>
          <a:ln/>
        </p:spPr>
        <p:txBody>
          <a:bodyPr/>
          <a:lstStyle/>
          <a:p>
            <a:endParaRPr lang="en-US"/>
          </a:p>
        </p:txBody>
      </p:sp>
      <p:sp>
        <p:nvSpPr>
          <p:cNvPr id="17" name="Shape 15"/>
          <p:cNvSpPr/>
          <p:nvPr/>
        </p:nvSpPr>
        <p:spPr>
          <a:xfrm>
            <a:off x="1051560" y="4709160"/>
            <a:ext cx="384048" cy="384048"/>
          </a:xfrm>
          <a:prstGeom prst="ellipse">
            <a:avLst/>
          </a:prstGeom>
          <a:solidFill>
            <a:srgbClr val="1C7293"/>
          </a:solidFill>
          <a:ln/>
        </p:spPr>
        <p:txBody>
          <a:bodyPr/>
          <a:lstStyle/>
          <a:p>
            <a:endParaRPr lang="en-US"/>
          </a:p>
        </p:txBody>
      </p:sp>
      <p:sp>
        <p:nvSpPr>
          <p:cNvPr id="18" name="Text 16"/>
          <p:cNvSpPr/>
          <p:nvPr/>
        </p:nvSpPr>
        <p:spPr>
          <a:xfrm>
            <a:off x="1051560" y="470916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9" name="Text 17"/>
          <p:cNvSpPr/>
          <p:nvPr/>
        </p:nvSpPr>
        <p:spPr>
          <a:xfrm>
            <a:off x="1581912" y="425196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The address of Amazon’s load balancer</a:t>
            </a:r>
            <a:endParaRPr lang="en-US" sz="1350" dirty="0"/>
          </a:p>
        </p:txBody>
      </p:sp>
      <p:sp>
        <p:nvSpPr>
          <p:cNvPr id="20" name="Shape 18"/>
          <p:cNvSpPr/>
          <p:nvPr/>
        </p:nvSpPr>
        <p:spPr>
          <a:xfrm>
            <a:off x="6172200" y="4251960"/>
            <a:ext cx="5120640" cy="1280160"/>
          </a:xfrm>
          <a:prstGeom prst="roundRect">
            <a:avLst>
              <a:gd name="adj" fmla="val 5000"/>
            </a:avLst>
          </a:prstGeom>
          <a:solidFill>
            <a:srgbClr val="1D3D52"/>
          </a:solidFill>
          <a:ln/>
        </p:spPr>
        <p:txBody>
          <a:bodyPr/>
          <a:lstStyle/>
          <a:p>
            <a:endParaRPr lang="en-US"/>
          </a:p>
        </p:txBody>
      </p:sp>
      <p:sp>
        <p:nvSpPr>
          <p:cNvPr id="21" name="Shape 19"/>
          <p:cNvSpPr/>
          <p:nvPr/>
        </p:nvSpPr>
        <p:spPr>
          <a:xfrm>
            <a:off x="6446520" y="4709160"/>
            <a:ext cx="384048" cy="384048"/>
          </a:xfrm>
          <a:prstGeom prst="ellipse">
            <a:avLst/>
          </a:prstGeom>
          <a:solidFill>
            <a:srgbClr val="1C7293"/>
          </a:solidFill>
          <a:ln/>
        </p:spPr>
        <p:txBody>
          <a:bodyPr/>
          <a:lstStyle/>
          <a:p>
            <a:endParaRPr lang="en-US"/>
          </a:p>
        </p:txBody>
      </p:sp>
      <p:sp>
        <p:nvSpPr>
          <p:cNvPr id="22" name="Text 20"/>
          <p:cNvSpPr/>
          <p:nvPr/>
        </p:nvSpPr>
        <p:spPr>
          <a:xfrm>
            <a:off x="6446520" y="470916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3" name="Text 21"/>
          <p:cNvSpPr/>
          <p:nvPr/>
        </p:nvSpPr>
        <p:spPr>
          <a:xfrm>
            <a:off x="6976872" y="425196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Nothing — it forwards the query onward itself</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Q5 — Answer</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Every level gives a referral, never the final answer</a:t>
            </a:r>
            <a:endParaRPr lang="en-US" sz="1500" dirty="0"/>
          </a:p>
        </p:txBody>
      </p:sp>
      <p:sp>
        <p:nvSpPr>
          <p:cNvPr id="4" name="Shape 2"/>
          <p:cNvSpPr/>
          <p:nvPr/>
        </p:nvSpPr>
        <p:spPr>
          <a:xfrm>
            <a:off x="777240" y="1463040"/>
            <a:ext cx="10607040" cy="822960"/>
          </a:xfrm>
          <a:prstGeom prst="roundRect">
            <a:avLst>
              <a:gd name="adj" fmla="val 6667"/>
            </a:avLst>
          </a:prstGeom>
          <a:solidFill>
            <a:srgbClr val="2E7D5B"/>
          </a:solidFill>
          <a:ln/>
        </p:spPr>
        <p:txBody>
          <a:bodyPr/>
          <a:lstStyle/>
          <a:p>
            <a:endParaRPr lang="en-US"/>
          </a:p>
        </p:txBody>
      </p:sp>
      <p:sp>
        <p:nvSpPr>
          <p:cNvPr id="5" name="Text 3"/>
          <p:cNvSpPr/>
          <p:nvPr/>
        </p:nvSpPr>
        <p:spPr>
          <a:xfrm>
            <a:off x="1097280" y="1463040"/>
            <a:ext cx="10058400" cy="822960"/>
          </a:xfrm>
          <a:prstGeom prst="rect">
            <a:avLst/>
          </a:prstGeom>
          <a:noFill/>
          <a:ln/>
        </p:spPr>
        <p:txBody>
          <a:bodyPr wrap="square" lIns="0" tIns="0" rIns="0" bIns="0" rtlCol="0" anchor="ctr"/>
          <a:lstStyle/>
          <a:p>
            <a:pPr marL="0" indent="0">
              <a:lnSpc>
                <a:spcPts val="2100"/>
              </a:lnSpc>
              <a:buNone/>
            </a:pPr>
            <a:r>
              <a:rPr lang="en-US" sz="1600" b="1" dirty="0">
                <a:solidFill>
                  <a:srgbClr val="FFFFFF"/>
                </a:solidFill>
                <a:latin typeface="Calibri" pitchFamily="34" charset="0"/>
                <a:ea typeface="Calibri" pitchFamily="34" charset="-122"/>
                <a:cs typeface="Calibri" pitchFamily="34" charset="-120"/>
              </a:rPr>
              <a:t>B — The address of the .in nameserver</a:t>
            </a:r>
            <a:endParaRPr lang="en-US" sz="1600" dirty="0"/>
          </a:p>
        </p:txBody>
      </p:sp>
      <p:sp>
        <p:nvSpPr>
          <p:cNvPr id="6" name="Shape 4"/>
          <p:cNvSpPr/>
          <p:nvPr/>
        </p:nvSpPr>
        <p:spPr>
          <a:xfrm>
            <a:off x="777240" y="2423160"/>
            <a:ext cx="10607040" cy="960120"/>
          </a:xfrm>
          <a:prstGeom prst="roundRect">
            <a:avLst>
              <a:gd name="adj" fmla="val 5714"/>
            </a:avLst>
          </a:prstGeom>
          <a:solidFill>
            <a:srgbClr val="F4F7F9"/>
          </a:solidFill>
          <a:ln w="12700">
            <a:solidFill>
              <a:srgbClr val="E1E8ED"/>
            </a:solidFill>
            <a:prstDash val="solid"/>
          </a:ln>
        </p:spPr>
        <p:txBody>
          <a:bodyPr/>
          <a:lstStyle/>
          <a:p>
            <a:endParaRPr lang="en-US"/>
          </a:p>
        </p:txBody>
      </p:sp>
      <p:sp>
        <p:nvSpPr>
          <p:cNvPr id="7" name="Text 5"/>
          <p:cNvSpPr/>
          <p:nvPr/>
        </p:nvSpPr>
        <p:spPr>
          <a:xfrm>
            <a:off x="1097280" y="2423160"/>
            <a:ext cx="10058400" cy="960120"/>
          </a:xfrm>
          <a:prstGeom prst="rect">
            <a:avLst/>
          </a:prstGeom>
          <a:noFill/>
          <a:ln/>
        </p:spPr>
        <p:txBody>
          <a:bodyPr wrap="square" lIns="0" tIns="0" rIns="0" bIns="0" rtlCol="0" anchor="ctr"/>
          <a:lstStyle/>
          <a:p>
            <a:pPr marL="0" indent="0">
              <a:lnSpc>
                <a:spcPts val="1900"/>
              </a:lnSpc>
              <a:buNone/>
            </a:pPr>
            <a:r>
              <a:rPr lang="en-US" sz="1350" dirty="0">
                <a:solidFill>
                  <a:srgbClr val="1B2A33"/>
                </a:solidFill>
                <a:latin typeface="Calibri" pitchFamily="34" charset="0"/>
                <a:ea typeface="Calibri" pitchFamily="34" charset="-122"/>
                <a:cs typeface="Calibri" pitchFamily="34" charset="-120"/>
              </a:rPr>
              <a:t>Root servers know only which nameservers handle each top-level domain. They reply "go ask the .in servers". The .in servers then reply "go ask Amazon’s own nameservers", and only those authoritative servers know the actual IP.</a:t>
            </a:r>
            <a:endParaRPr lang="en-US" sz="1350" dirty="0"/>
          </a:p>
        </p:txBody>
      </p:sp>
      <p:sp>
        <p:nvSpPr>
          <p:cNvPr id="8" name="Text 6"/>
          <p:cNvSpPr/>
          <p:nvPr/>
        </p:nvSpPr>
        <p:spPr>
          <a:xfrm>
            <a:off x="777240" y="3520440"/>
            <a:ext cx="5486400" cy="320040"/>
          </a:xfrm>
          <a:prstGeom prst="rect">
            <a:avLst/>
          </a:prstGeom>
          <a:noFill/>
          <a:ln/>
        </p:spPr>
        <p:txBody>
          <a:bodyPr wrap="square" lIns="0" tIns="0" rIns="0" bIns="0" rtlCol="0" anchor="ctr"/>
          <a:lstStyle/>
          <a:p>
            <a:pPr marL="0" indent="0">
              <a:buNone/>
            </a:pPr>
            <a:r>
              <a:rPr lang="en-US" sz="1300" b="1" dirty="0">
                <a:solidFill>
                  <a:srgbClr val="A03A3A"/>
                </a:solidFill>
                <a:latin typeface="Calibri" pitchFamily="34" charset="0"/>
                <a:ea typeface="Calibri" pitchFamily="34" charset="-122"/>
                <a:cs typeface="Calibri" pitchFamily="34" charset="-120"/>
              </a:rPr>
              <a:t>Why the others fail</a:t>
            </a:r>
            <a:endParaRPr lang="en-US" sz="1300" dirty="0"/>
          </a:p>
        </p:txBody>
      </p:sp>
      <p:sp>
        <p:nvSpPr>
          <p:cNvPr id="9" name="Shape 7"/>
          <p:cNvSpPr/>
          <p:nvPr/>
        </p:nvSpPr>
        <p:spPr>
          <a:xfrm>
            <a:off x="777240" y="3886200"/>
            <a:ext cx="10607040" cy="493776"/>
          </a:xfrm>
          <a:prstGeom prst="roundRect">
            <a:avLst>
              <a:gd name="adj" fmla="val 7407"/>
            </a:avLst>
          </a:prstGeom>
          <a:solidFill>
            <a:srgbClr val="FFFFFF"/>
          </a:solidFill>
          <a:ln w="12700">
            <a:solidFill>
              <a:srgbClr val="E8D5D1"/>
            </a:solidFill>
            <a:prstDash val="solid"/>
          </a:ln>
        </p:spPr>
        <p:txBody>
          <a:bodyPr/>
          <a:lstStyle/>
          <a:p>
            <a:endParaRPr lang="en-US"/>
          </a:p>
        </p:txBody>
      </p:sp>
      <p:sp>
        <p:nvSpPr>
          <p:cNvPr id="10" name="Shape 8"/>
          <p:cNvSpPr/>
          <p:nvPr/>
        </p:nvSpPr>
        <p:spPr>
          <a:xfrm>
            <a:off x="1005840" y="3977640"/>
            <a:ext cx="310896" cy="310896"/>
          </a:xfrm>
          <a:prstGeom prst="ellipse">
            <a:avLst/>
          </a:prstGeom>
          <a:solidFill>
            <a:srgbClr val="A03A3A"/>
          </a:solidFill>
          <a:ln/>
        </p:spPr>
        <p:txBody>
          <a:bodyPr/>
          <a:lstStyle/>
          <a:p>
            <a:endParaRPr lang="en-US"/>
          </a:p>
        </p:txBody>
      </p:sp>
      <p:sp>
        <p:nvSpPr>
          <p:cNvPr id="11" name="Text 9"/>
          <p:cNvSpPr/>
          <p:nvPr/>
        </p:nvSpPr>
        <p:spPr>
          <a:xfrm>
            <a:off x="1005840" y="3977640"/>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2" name="Text 10"/>
          <p:cNvSpPr/>
          <p:nvPr/>
        </p:nvSpPr>
        <p:spPr>
          <a:xfrm>
            <a:off x="1463040" y="3886200"/>
            <a:ext cx="9692640" cy="49377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No root server stores individual domain records. There are hundreds of millions of domains; that would not scale.</a:t>
            </a:r>
            <a:endParaRPr lang="en-US" sz="1250" dirty="0"/>
          </a:p>
        </p:txBody>
      </p:sp>
      <p:sp>
        <p:nvSpPr>
          <p:cNvPr id="13" name="Shape 11"/>
          <p:cNvSpPr/>
          <p:nvPr/>
        </p:nvSpPr>
        <p:spPr>
          <a:xfrm>
            <a:off x="777240" y="4453128"/>
            <a:ext cx="10607040" cy="493776"/>
          </a:xfrm>
          <a:prstGeom prst="roundRect">
            <a:avLst>
              <a:gd name="adj" fmla="val 7407"/>
            </a:avLst>
          </a:prstGeom>
          <a:solidFill>
            <a:srgbClr val="FDF0EE"/>
          </a:solidFill>
          <a:ln w="12700">
            <a:solidFill>
              <a:srgbClr val="E8D5D1"/>
            </a:solidFill>
            <a:prstDash val="solid"/>
          </a:ln>
        </p:spPr>
        <p:txBody>
          <a:bodyPr/>
          <a:lstStyle/>
          <a:p>
            <a:endParaRPr lang="en-US"/>
          </a:p>
        </p:txBody>
      </p:sp>
      <p:sp>
        <p:nvSpPr>
          <p:cNvPr id="14" name="Shape 12"/>
          <p:cNvSpPr/>
          <p:nvPr/>
        </p:nvSpPr>
        <p:spPr>
          <a:xfrm>
            <a:off x="1005840" y="4544568"/>
            <a:ext cx="310896" cy="310896"/>
          </a:xfrm>
          <a:prstGeom prst="ellipse">
            <a:avLst/>
          </a:prstGeom>
          <a:solidFill>
            <a:srgbClr val="A03A3A"/>
          </a:solidFill>
          <a:ln/>
        </p:spPr>
        <p:txBody>
          <a:bodyPr/>
          <a:lstStyle/>
          <a:p>
            <a:endParaRPr lang="en-US"/>
          </a:p>
        </p:txBody>
      </p:sp>
      <p:sp>
        <p:nvSpPr>
          <p:cNvPr id="15" name="Text 13"/>
          <p:cNvSpPr/>
          <p:nvPr/>
        </p:nvSpPr>
        <p:spPr>
          <a:xfrm>
            <a:off x="1005840" y="4544568"/>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16" name="Text 14"/>
          <p:cNvSpPr/>
          <p:nvPr/>
        </p:nvSpPr>
        <p:spPr>
          <a:xfrm>
            <a:off x="1463040" y="4453128"/>
            <a:ext cx="9692640" cy="49377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Root servers know nothing about any company’s infrastructure. That is Amazon’s own nameserver’s job.</a:t>
            </a:r>
            <a:endParaRPr lang="en-US" sz="1250" dirty="0"/>
          </a:p>
        </p:txBody>
      </p:sp>
      <p:sp>
        <p:nvSpPr>
          <p:cNvPr id="17" name="Shape 15"/>
          <p:cNvSpPr/>
          <p:nvPr/>
        </p:nvSpPr>
        <p:spPr>
          <a:xfrm>
            <a:off x="777240" y="5020056"/>
            <a:ext cx="10607040" cy="493776"/>
          </a:xfrm>
          <a:prstGeom prst="roundRect">
            <a:avLst>
              <a:gd name="adj" fmla="val 7407"/>
            </a:avLst>
          </a:prstGeom>
          <a:solidFill>
            <a:srgbClr val="FFFFFF"/>
          </a:solidFill>
          <a:ln w="12700">
            <a:solidFill>
              <a:srgbClr val="E8D5D1"/>
            </a:solidFill>
            <a:prstDash val="solid"/>
          </a:ln>
        </p:spPr>
        <p:txBody>
          <a:bodyPr/>
          <a:lstStyle/>
          <a:p>
            <a:endParaRPr lang="en-US"/>
          </a:p>
        </p:txBody>
      </p:sp>
      <p:sp>
        <p:nvSpPr>
          <p:cNvPr id="18" name="Shape 16"/>
          <p:cNvSpPr/>
          <p:nvPr/>
        </p:nvSpPr>
        <p:spPr>
          <a:xfrm>
            <a:off x="1005840" y="5111496"/>
            <a:ext cx="310896" cy="310896"/>
          </a:xfrm>
          <a:prstGeom prst="ellipse">
            <a:avLst/>
          </a:prstGeom>
          <a:solidFill>
            <a:srgbClr val="A03A3A"/>
          </a:solidFill>
          <a:ln/>
        </p:spPr>
        <p:txBody>
          <a:bodyPr/>
          <a:lstStyle/>
          <a:p>
            <a:endParaRPr lang="en-US"/>
          </a:p>
        </p:txBody>
      </p:sp>
      <p:sp>
        <p:nvSpPr>
          <p:cNvPr id="19" name="Text 17"/>
          <p:cNvSpPr/>
          <p:nvPr/>
        </p:nvSpPr>
        <p:spPr>
          <a:xfrm>
            <a:off x="1005840" y="5111496"/>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t>
            </a:r>
            <a:endParaRPr lang="en-US" sz="1100" dirty="0"/>
          </a:p>
        </p:txBody>
      </p:sp>
      <p:sp>
        <p:nvSpPr>
          <p:cNvPr id="20" name="Text 18"/>
          <p:cNvSpPr/>
          <p:nvPr/>
        </p:nvSpPr>
        <p:spPr>
          <a:xfrm>
            <a:off x="1463040" y="5020056"/>
            <a:ext cx="9692640" cy="49377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The resolver does the work of chasing referrals. Root servers answer and stop.</a:t>
            </a:r>
            <a:endParaRPr lang="en-US" sz="1250" dirty="0"/>
          </a:p>
        </p:txBody>
      </p:sp>
      <p:sp>
        <p:nvSpPr>
          <p:cNvPr id="21" name="Shape 19"/>
          <p:cNvSpPr/>
          <p:nvPr/>
        </p:nvSpPr>
        <p:spPr>
          <a:xfrm>
            <a:off x="777240" y="5751576"/>
            <a:ext cx="10607040" cy="713232"/>
          </a:xfrm>
          <a:prstGeom prst="roundRect">
            <a:avLst>
              <a:gd name="adj" fmla="val 7692"/>
            </a:avLst>
          </a:prstGeom>
          <a:solidFill>
            <a:srgbClr val="FDF3E3"/>
          </a:solidFill>
          <a:ln w="16510">
            <a:solidFill>
              <a:srgbClr val="E8A33D"/>
            </a:solidFill>
            <a:prstDash val="solid"/>
          </a:ln>
        </p:spPr>
        <p:txBody>
          <a:bodyPr/>
          <a:lstStyle/>
          <a:p>
            <a:endParaRPr lang="en-US"/>
          </a:p>
        </p:txBody>
      </p:sp>
      <p:sp>
        <p:nvSpPr>
          <p:cNvPr id="22" name="Text 20"/>
          <p:cNvSpPr/>
          <p:nvPr/>
        </p:nvSpPr>
        <p:spPr>
          <a:xfrm>
            <a:off x="1097280" y="5751576"/>
            <a:ext cx="10058400" cy="713232"/>
          </a:xfrm>
          <a:prstGeom prst="rect">
            <a:avLst/>
          </a:prstGeom>
          <a:noFill/>
          <a:ln/>
        </p:spPr>
        <p:txBody>
          <a:bodyPr wrap="square" lIns="0" tIns="0" rIns="0" bIns="0" rtlCol="0" anchor="ctr"/>
          <a:lstStyle/>
          <a:p>
            <a:pPr marL="0" indent="0">
              <a:lnSpc>
                <a:spcPts val="1800"/>
              </a:lnSpc>
              <a:buNone/>
            </a:pPr>
            <a:r>
              <a:rPr lang="en-US" sz="1300" b="1" dirty="0">
                <a:solidFill>
                  <a:srgbClr val="8A5A12"/>
                </a:solidFill>
                <a:latin typeface="Calibri" pitchFamily="34" charset="0"/>
                <a:ea typeface="Calibri" pitchFamily="34" charset="-122"/>
                <a:cs typeface="Calibri" pitchFamily="34" charset="-120"/>
              </a:rPr>
              <a:t>Interview follow-up:  </a:t>
            </a:r>
            <a:r>
              <a:rPr lang="en-US" sz="1300" dirty="0">
                <a:solidFill>
                  <a:srgbClr val="1B2A33"/>
                </a:solidFill>
                <a:latin typeface="Calibri" pitchFamily="34" charset="0"/>
                <a:ea typeface="Calibri" pitchFamily="34" charset="-122"/>
                <a:cs typeface="Calibri" pitchFamily="34" charset="-120"/>
              </a:rPr>
              <a:t>Two students run nslookup amazon.in and get different IPs. Is something broken?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777240" y="548640"/>
            <a:ext cx="1234440" cy="457200"/>
          </a:xfrm>
          <a:prstGeom prst="roundRect">
            <a:avLst>
              <a:gd name="adj" fmla="val 40000"/>
            </a:avLst>
          </a:prstGeom>
          <a:solidFill>
            <a:srgbClr val="E8A33D"/>
          </a:solidFill>
          <a:ln/>
        </p:spPr>
        <p:txBody>
          <a:bodyPr/>
          <a:lstStyle/>
          <a:p>
            <a:endParaRPr lang="en-US"/>
          </a:p>
        </p:txBody>
      </p:sp>
      <p:sp>
        <p:nvSpPr>
          <p:cNvPr id="3" name="Text 1"/>
          <p:cNvSpPr/>
          <p:nvPr/>
        </p:nvSpPr>
        <p:spPr>
          <a:xfrm>
            <a:off x="777240" y="548640"/>
            <a:ext cx="1234440" cy="457200"/>
          </a:xfrm>
          <a:prstGeom prst="rect">
            <a:avLst/>
          </a:prstGeom>
          <a:noFill/>
          <a:ln/>
        </p:spPr>
        <p:txBody>
          <a:bodyPr wrap="square" rtlCol="0" anchor="ctr"/>
          <a:lstStyle/>
          <a:p>
            <a:pPr marL="0" indent="0" algn="ctr">
              <a:buNone/>
            </a:pPr>
            <a:r>
              <a:rPr lang="en-US" sz="1500" b="1" dirty="0">
                <a:solidFill>
                  <a:srgbClr val="13293D"/>
                </a:solidFill>
                <a:latin typeface="Calibri" pitchFamily="34" charset="0"/>
                <a:ea typeface="Calibri" pitchFamily="34" charset="-122"/>
                <a:cs typeface="Calibri" pitchFamily="34" charset="-120"/>
              </a:rPr>
              <a:t>Q6</a:t>
            </a:r>
            <a:endParaRPr lang="en-US" sz="1500" dirty="0"/>
          </a:p>
        </p:txBody>
      </p:sp>
      <p:sp>
        <p:nvSpPr>
          <p:cNvPr id="4" name="Shape 2"/>
          <p:cNvSpPr/>
          <p:nvPr/>
        </p:nvSpPr>
        <p:spPr>
          <a:xfrm>
            <a:off x="2194560" y="548640"/>
            <a:ext cx="2743200" cy="457200"/>
          </a:xfrm>
          <a:prstGeom prst="roundRect">
            <a:avLst>
              <a:gd name="adj" fmla="val 40000"/>
            </a:avLst>
          </a:prstGeom>
          <a:solidFill>
            <a:srgbClr val="6B4E71"/>
          </a:solidFill>
          <a:ln/>
        </p:spPr>
        <p:txBody>
          <a:bodyPr/>
          <a:lstStyle/>
          <a:p>
            <a:endParaRPr lang="en-US"/>
          </a:p>
        </p:txBody>
      </p:sp>
      <p:sp>
        <p:nvSpPr>
          <p:cNvPr id="5" name="Text 3"/>
          <p:cNvSpPr/>
          <p:nvPr/>
        </p:nvSpPr>
        <p:spPr>
          <a:xfrm>
            <a:off x="2194560" y="548640"/>
            <a:ext cx="2743200" cy="457200"/>
          </a:xfrm>
          <a:prstGeom prst="rect">
            <a:avLst/>
          </a:prstGeom>
          <a:noFill/>
          <a:ln/>
        </p:spPr>
        <p:txBody>
          <a:bodyPr wrap="square" rtlCol="0" anchor="ctr"/>
          <a:lstStyle/>
          <a:p>
            <a:pPr marL="0" indent="0" algn="ctr">
              <a:buNone/>
            </a:pPr>
            <a:r>
              <a:rPr lang="en-US" sz="1100" b="1" kern="0" spc="120" dirty="0">
                <a:solidFill>
                  <a:srgbClr val="FFFFFF"/>
                </a:solidFill>
                <a:latin typeface="Calibri" pitchFamily="34" charset="0"/>
                <a:ea typeface="Calibri" pitchFamily="34" charset="-122"/>
                <a:cs typeface="Calibri" pitchFamily="34" charset="-120"/>
              </a:rPr>
              <a:t>SELECT ALL THAT APPLY</a:t>
            </a:r>
            <a:endParaRPr lang="en-US" sz="1100" dirty="0"/>
          </a:p>
        </p:txBody>
      </p:sp>
      <p:sp>
        <p:nvSpPr>
          <p:cNvPr id="7" name="Text 5"/>
          <p:cNvSpPr/>
          <p:nvPr/>
        </p:nvSpPr>
        <p:spPr>
          <a:xfrm>
            <a:off x="777240" y="1234440"/>
            <a:ext cx="10607040" cy="1325880"/>
          </a:xfrm>
          <a:prstGeom prst="rect">
            <a:avLst/>
          </a:prstGeom>
          <a:noFill/>
          <a:ln/>
        </p:spPr>
        <p:txBody>
          <a:bodyPr wrap="square" lIns="0" tIns="0" rIns="0" bIns="0" rtlCol="0" anchor="ctr"/>
          <a:lstStyle/>
          <a:p>
            <a:pPr marL="0" indent="0">
              <a:lnSpc>
                <a:spcPts val="3100"/>
              </a:lnSpc>
              <a:buNone/>
            </a:pPr>
            <a:r>
              <a:rPr lang="en-US" sz="2200" b="1" dirty="0">
                <a:solidFill>
                  <a:srgbClr val="FFFFFF"/>
                </a:solidFill>
                <a:latin typeface="Cambria" pitchFamily="34" charset="0"/>
                <a:ea typeface="Cambria" pitchFamily="34" charset="-122"/>
                <a:cs typeface="Cambria" pitchFamily="34" charset="-120"/>
              </a:rPr>
              <a:t>You open an HTTPS site for the first time, with nothing cached. Which of these must complete BEFORE the first byte of your HTTP request is sent?</a:t>
            </a:r>
            <a:endParaRPr lang="en-US" sz="2200" dirty="0"/>
          </a:p>
        </p:txBody>
      </p:sp>
      <p:sp>
        <p:nvSpPr>
          <p:cNvPr id="8" name="Shape 6"/>
          <p:cNvSpPr/>
          <p:nvPr/>
        </p:nvSpPr>
        <p:spPr>
          <a:xfrm>
            <a:off x="777240" y="2788920"/>
            <a:ext cx="5120640" cy="1280160"/>
          </a:xfrm>
          <a:prstGeom prst="roundRect">
            <a:avLst>
              <a:gd name="adj" fmla="val 5000"/>
            </a:avLst>
          </a:prstGeom>
          <a:solidFill>
            <a:srgbClr val="1D3D52"/>
          </a:solidFill>
          <a:ln/>
        </p:spPr>
        <p:txBody>
          <a:bodyPr/>
          <a:lstStyle/>
          <a:p>
            <a:endParaRPr lang="en-US"/>
          </a:p>
        </p:txBody>
      </p:sp>
      <p:sp>
        <p:nvSpPr>
          <p:cNvPr id="9" name="Shape 7"/>
          <p:cNvSpPr/>
          <p:nvPr/>
        </p:nvSpPr>
        <p:spPr>
          <a:xfrm>
            <a:off x="1051560" y="3246120"/>
            <a:ext cx="384048" cy="384048"/>
          </a:xfrm>
          <a:prstGeom prst="ellipse">
            <a:avLst/>
          </a:prstGeom>
          <a:solidFill>
            <a:srgbClr val="1C7293"/>
          </a:solidFill>
          <a:ln/>
        </p:spPr>
        <p:txBody>
          <a:bodyPr/>
          <a:lstStyle/>
          <a:p>
            <a:endParaRPr lang="en-US"/>
          </a:p>
        </p:txBody>
      </p:sp>
      <p:sp>
        <p:nvSpPr>
          <p:cNvPr id="10" name="Text 8"/>
          <p:cNvSpPr/>
          <p:nvPr/>
        </p:nvSpPr>
        <p:spPr>
          <a:xfrm>
            <a:off x="1051560" y="324612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1" name="Text 9"/>
          <p:cNvSpPr/>
          <p:nvPr/>
        </p:nvSpPr>
        <p:spPr>
          <a:xfrm>
            <a:off x="1581912" y="278892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DNS resolution</a:t>
            </a:r>
            <a:endParaRPr lang="en-US" sz="1350" dirty="0"/>
          </a:p>
        </p:txBody>
      </p:sp>
      <p:sp>
        <p:nvSpPr>
          <p:cNvPr id="12" name="Shape 10"/>
          <p:cNvSpPr/>
          <p:nvPr/>
        </p:nvSpPr>
        <p:spPr>
          <a:xfrm>
            <a:off x="6172200" y="2788920"/>
            <a:ext cx="5120640" cy="1280160"/>
          </a:xfrm>
          <a:prstGeom prst="roundRect">
            <a:avLst>
              <a:gd name="adj" fmla="val 5000"/>
            </a:avLst>
          </a:prstGeom>
          <a:solidFill>
            <a:srgbClr val="1D3D52"/>
          </a:solidFill>
          <a:ln/>
        </p:spPr>
        <p:txBody>
          <a:bodyPr/>
          <a:lstStyle/>
          <a:p>
            <a:endParaRPr lang="en-US"/>
          </a:p>
        </p:txBody>
      </p:sp>
      <p:sp>
        <p:nvSpPr>
          <p:cNvPr id="13" name="Shape 11"/>
          <p:cNvSpPr/>
          <p:nvPr/>
        </p:nvSpPr>
        <p:spPr>
          <a:xfrm>
            <a:off x="6446520" y="3246120"/>
            <a:ext cx="384048" cy="384048"/>
          </a:xfrm>
          <a:prstGeom prst="ellipse">
            <a:avLst/>
          </a:prstGeom>
          <a:solidFill>
            <a:srgbClr val="1C7293"/>
          </a:solidFill>
          <a:ln/>
        </p:spPr>
        <p:txBody>
          <a:bodyPr/>
          <a:lstStyle/>
          <a:p>
            <a:endParaRPr lang="en-US"/>
          </a:p>
        </p:txBody>
      </p:sp>
      <p:sp>
        <p:nvSpPr>
          <p:cNvPr id="14" name="Text 12"/>
          <p:cNvSpPr/>
          <p:nvPr/>
        </p:nvSpPr>
        <p:spPr>
          <a:xfrm>
            <a:off x="6446520" y="324612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5" name="Text 13"/>
          <p:cNvSpPr/>
          <p:nvPr/>
        </p:nvSpPr>
        <p:spPr>
          <a:xfrm>
            <a:off x="6976872" y="278892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The TCP three-way handshake</a:t>
            </a:r>
            <a:endParaRPr lang="en-US" sz="1350" dirty="0"/>
          </a:p>
        </p:txBody>
      </p:sp>
      <p:sp>
        <p:nvSpPr>
          <p:cNvPr id="16" name="Shape 14"/>
          <p:cNvSpPr/>
          <p:nvPr/>
        </p:nvSpPr>
        <p:spPr>
          <a:xfrm>
            <a:off x="777240" y="4251960"/>
            <a:ext cx="5120640" cy="1280160"/>
          </a:xfrm>
          <a:prstGeom prst="roundRect">
            <a:avLst>
              <a:gd name="adj" fmla="val 5000"/>
            </a:avLst>
          </a:prstGeom>
          <a:solidFill>
            <a:srgbClr val="1D3D52"/>
          </a:solidFill>
          <a:ln/>
        </p:spPr>
        <p:txBody>
          <a:bodyPr/>
          <a:lstStyle/>
          <a:p>
            <a:endParaRPr lang="en-US"/>
          </a:p>
        </p:txBody>
      </p:sp>
      <p:sp>
        <p:nvSpPr>
          <p:cNvPr id="17" name="Shape 15"/>
          <p:cNvSpPr/>
          <p:nvPr/>
        </p:nvSpPr>
        <p:spPr>
          <a:xfrm>
            <a:off x="1051560" y="4709160"/>
            <a:ext cx="384048" cy="384048"/>
          </a:xfrm>
          <a:prstGeom prst="ellipse">
            <a:avLst/>
          </a:prstGeom>
          <a:solidFill>
            <a:srgbClr val="1C7293"/>
          </a:solidFill>
          <a:ln/>
        </p:spPr>
        <p:txBody>
          <a:bodyPr/>
          <a:lstStyle/>
          <a:p>
            <a:endParaRPr lang="en-US"/>
          </a:p>
        </p:txBody>
      </p:sp>
      <p:sp>
        <p:nvSpPr>
          <p:cNvPr id="18" name="Text 16"/>
          <p:cNvSpPr/>
          <p:nvPr/>
        </p:nvSpPr>
        <p:spPr>
          <a:xfrm>
            <a:off x="1051560" y="470916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9" name="Text 17"/>
          <p:cNvSpPr/>
          <p:nvPr/>
        </p:nvSpPr>
        <p:spPr>
          <a:xfrm>
            <a:off x="1581912" y="425196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The TLS handshake</a:t>
            </a:r>
            <a:endParaRPr lang="en-US" sz="1350" dirty="0"/>
          </a:p>
        </p:txBody>
      </p:sp>
      <p:sp>
        <p:nvSpPr>
          <p:cNvPr id="20" name="Shape 18"/>
          <p:cNvSpPr/>
          <p:nvPr/>
        </p:nvSpPr>
        <p:spPr>
          <a:xfrm>
            <a:off x="6172200" y="4251960"/>
            <a:ext cx="5120640" cy="1280160"/>
          </a:xfrm>
          <a:prstGeom prst="roundRect">
            <a:avLst>
              <a:gd name="adj" fmla="val 5000"/>
            </a:avLst>
          </a:prstGeom>
          <a:solidFill>
            <a:srgbClr val="1D3D52"/>
          </a:solidFill>
          <a:ln/>
        </p:spPr>
        <p:txBody>
          <a:bodyPr/>
          <a:lstStyle/>
          <a:p>
            <a:endParaRPr lang="en-US"/>
          </a:p>
        </p:txBody>
      </p:sp>
      <p:sp>
        <p:nvSpPr>
          <p:cNvPr id="21" name="Shape 19"/>
          <p:cNvSpPr/>
          <p:nvPr/>
        </p:nvSpPr>
        <p:spPr>
          <a:xfrm>
            <a:off x="6446520" y="4709160"/>
            <a:ext cx="384048" cy="384048"/>
          </a:xfrm>
          <a:prstGeom prst="ellipse">
            <a:avLst/>
          </a:prstGeom>
          <a:solidFill>
            <a:srgbClr val="1C7293"/>
          </a:solidFill>
          <a:ln/>
        </p:spPr>
        <p:txBody>
          <a:bodyPr/>
          <a:lstStyle/>
          <a:p>
            <a:endParaRPr lang="en-US"/>
          </a:p>
        </p:txBody>
      </p:sp>
      <p:sp>
        <p:nvSpPr>
          <p:cNvPr id="22" name="Text 20"/>
          <p:cNvSpPr/>
          <p:nvPr/>
        </p:nvSpPr>
        <p:spPr>
          <a:xfrm>
            <a:off x="6446520" y="470916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3" name="Text 21"/>
          <p:cNvSpPr/>
          <p:nvPr/>
        </p:nvSpPr>
        <p:spPr>
          <a:xfrm>
            <a:off x="6976872" y="425196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The server’s database query</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Q6 — Answer</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Roughly three round trips happen before you send anything</a:t>
            </a:r>
            <a:endParaRPr lang="en-US" sz="1500" dirty="0"/>
          </a:p>
        </p:txBody>
      </p:sp>
      <p:sp>
        <p:nvSpPr>
          <p:cNvPr id="4" name="Shape 2"/>
          <p:cNvSpPr/>
          <p:nvPr/>
        </p:nvSpPr>
        <p:spPr>
          <a:xfrm>
            <a:off x="777240" y="1463040"/>
            <a:ext cx="10607040" cy="822960"/>
          </a:xfrm>
          <a:prstGeom prst="roundRect">
            <a:avLst>
              <a:gd name="adj" fmla="val 6667"/>
            </a:avLst>
          </a:prstGeom>
          <a:solidFill>
            <a:srgbClr val="2E7D5B"/>
          </a:solidFill>
          <a:ln/>
        </p:spPr>
        <p:txBody>
          <a:bodyPr/>
          <a:lstStyle/>
          <a:p>
            <a:endParaRPr lang="en-US"/>
          </a:p>
        </p:txBody>
      </p:sp>
      <p:sp>
        <p:nvSpPr>
          <p:cNvPr id="5" name="Text 3"/>
          <p:cNvSpPr/>
          <p:nvPr/>
        </p:nvSpPr>
        <p:spPr>
          <a:xfrm>
            <a:off x="1097280" y="1463040"/>
            <a:ext cx="10058400" cy="822960"/>
          </a:xfrm>
          <a:prstGeom prst="rect">
            <a:avLst/>
          </a:prstGeom>
          <a:noFill/>
          <a:ln/>
        </p:spPr>
        <p:txBody>
          <a:bodyPr wrap="square" lIns="0" tIns="0" rIns="0" bIns="0" rtlCol="0" anchor="ctr"/>
          <a:lstStyle/>
          <a:p>
            <a:pPr marL="0" indent="0">
              <a:lnSpc>
                <a:spcPts val="2100"/>
              </a:lnSpc>
              <a:buNone/>
            </a:pPr>
            <a:r>
              <a:rPr lang="en-US" sz="1600" b="1" dirty="0">
                <a:solidFill>
                  <a:srgbClr val="FFFFFF"/>
                </a:solidFill>
                <a:latin typeface="Calibri" pitchFamily="34" charset="0"/>
                <a:ea typeface="Calibri" pitchFamily="34" charset="-122"/>
                <a:cs typeface="Calibri" pitchFamily="34" charset="-120"/>
              </a:rPr>
              <a:t>A, B and C.  D happens afterwards.</a:t>
            </a:r>
            <a:endParaRPr lang="en-US" sz="1600" dirty="0"/>
          </a:p>
        </p:txBody>
      </p:sp>
      <p:sp>
        <p:nvSpPr>
          <p:cNvPr id="6" name="Shape 4"/>
          <p:cNvSpPr/>
          <p:nvPr/>
        </p:nvSpPr>
        <p:spPr>
          <a:xfrm>
            <a:off x="777240" y="2423160"/>
            <a:ext cx="10607040" cy="960120"/>
          </a:xfrm>
          <a:prstGeom prst="roundRect">
            <a:avLst>
              <a:gd name="adj" fmla="val 5714"/>
            </a:avLst>
          </a:prstGeom>
          <a:solidFill>
            <a:srgbClr val="F4F7F9"/>
          </a:solidFill>
          <a:ln w="12700">
            <a:solidFill>
              <a:srgbClr val="E1E8ED"/>
            </a:solidFill>
            <a:prstDash val="solid"/>
          </a:ln>
        </p:spPr>
        <p:txBody>
          <a:bodyPr/>
          <a:lstStyle/>
          <a:p>
            <a:endParaRPr lang="en-US"/>
          </a:p>
        </p:txBody>
      </p:sp>
      <p:sp>
        <p:nvSpPr>
          <p:cNvPr id="7" name="Text 5"/>
          <p:cNvSpPr/>
          <p:nvPr/>
        </p:nvSpPr>
        <p:spPr>
          <a:xfrm>
            <a:off x="1097280" y="2423160"/>
            <a:ext cx="10058400" cy="960120"/>
          </a:xfrm>
          <a:prstGeom prst="rect">
            <a:avLst/>
          </a:prstGeom>
          <a:noFill/>
          <a:ln/>
        </p:spPr>
        <p:txBody>
          <a:bodyPr wrap="square" lIns="0" tIns="0" rIns="0" bIns="0" rtlCol="0" anchor="ctr"/>
          <a:lstStyle/>
          <a:p>
            <a:pPr marL="0" indent="0">
              <a:lnSpc>
                <a:spcPts val="1900"/>
              </a:lnSpc>
              <a:buNone/>
            </a:pPr>
            <a:r>
              <a:rPr lang="en-US" sz="1350" dirty="0">
                <a:solidFill>
                  <a:srgbClr val="1B2A33"/>
                </a:solidFill>
                <a:latin typeface="Calibri" pitchFamily="34" charset="0"/>
                <a:ea typeface="Calibri" pitchFamily="34" charset="-122"/>
                <a:cs typeface="Calibri" pitchFamily="34" charset="-120"/>
              </a:rPr>
              <a:t>You cannot open a connection without an IP, so DNS comes first. You cannot send data without an established TCP connection. And on HTTPS, TLS must complete before any application data is encrypted and sent. Only then does the request leave.</a:t>
            </a:r>
            <a:endParaRPr lang="en-US" sz="1350" dirty="0"/>
          </a:p>
        </p:txBody>
      </p:sp>
      <p:sp>
        <p:nvSpPr>
          <p:cNvPr id="8" name="Text 6"/>
          <p:cNvSpPr/>
          <p:nvPr/>
        </p:nvSpPr>
        <p:spPr>
          <a:xfrm>
            <a:off x="777240" y="3520440"/>
            <a:ext cx="5486400" cy="320040"/>
          </a:xfrm>
          <a:prstGeom prst="rect">
            <a:avLst/>
          </a:prstGeom>
          <a:noFill/>
          <a:ln/>
        </p:spPr>
        <p:txBody>
          <a:bodyPr wrap="square" lIns="0" tIns="0" rIns="0" bIns="0" rtlCol="0" anchor="ctr"/>
          <a:lstStyle/>
          <a:p>
            <a:pPr marL="0" indent="0">
              <a:buNone/>
            </a:pPr>
            <a:r>
              <a:rPr lang="en-US" sz="1300" b="1" dirty="0">
                <a:solidFill>
                  <a:srgbClr val="A03A3A"/>
                </a:solidFill>
                <a:latin typeface="Calibri" pitchFamily="34" charset="0"/>
                <a:ea typeface="Calibri" pitchFamily="34" charset="-122"/>
                <a:cs typeface="Calibri" pitchFamily="34" charset="-120"/>
              </a:rPr>
              <a:t>Why the others fail</a:t>
            </a:r>
            <a:endParaRPr lang="en-US" sz="1300" dirty="0"/>
          </a:p>
        </p:txBody>
      </p:sp>
      <p:sp>
        <p:nvSpPr>
          <p:cNvPr id="9" name="Shape 7"/>
          <p:cNvSpPr/>
          <p:nvPr/>
        </p:nvSpPr>
        <p:spPr>
          <a:xfrm>
            <a:off x="777240" y="3886200"/>
            <a:ext cx="10607040" cy="493776"/>
          </a:xfrm>
          <a:prstGeom prst="roundRect">
            <a:avLst>
              <a:gd name="adj" fmla="val 7407"/>
            </a:avLst>
          </a:prstGeom>
          <a:solidFill>
            <a:srgbClr val="FFFFFF"/>
          </a:solidFill>
          <a:ln w="12700">
            <a:solidFill>
              <a:srgbClr val="E8D5D1"/>
            </a:solidFill>
            <a:prstDash val="solid"/>
          </a:ln>
        </p:spPr>
        <p:txBody>
          <a:bodyPr/>
          <a:lstStyle/>
          <a:p>
            <a:endParaRPr lang="en-US"/>
          </a:p>
        </p:txBody>
      </p:sp>
      <p:sp>
        <p:nvSpPr>
          <p:cNvPr id="10" name="Shape 8"/>
          <p:cNvSpPr/>
          <p:nvPr/>
        </p:nvSpPr>
        <p:spPr>
          <a:xfrm>
            <a:off x="1005840" y="3977640"/>
            <a:ext cx="310896" cy="310896"/>
          </a:xfrm>
          <a:prstGeom prst="ellipse">
            <a:avLst/>
          </a:prstGeom>
          <a:solidFill>
            <a:srgbClr val="A03A3A"/>
          </a:solidFill>
          <a:ln/>
        </p:spPr>
        <p:txBody>
          <a:bodyPr/>
          <a:lstStyle/>
          <a:p>
            <a:endParaRPr lang="en-US"/>
          </a:p>
        </p:txBody>
      </p:sp>
      <p:sp>
        <p:nvSpPr>
          <p:cNvPr id="11" name="Text 9"/>
          <p:cNvSpPr/>
          <p:nvPr/>
        </p:nvSpPr>
        <p:spPr>
          <a:xfrm>
            <a:off x="1005840" y="3977640"/>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t>
            </a:r>
            <a:endParaRPr lang="en-US" sz="1100" dirty="0"/>
          </a:p>
        </p:txBody>
      </p:sp>
      <p:sp>
        <p:nvSpPr>
          <p:cNvPr id="12" name="Text 10"/>
          <p:cNvSpPr/>
          <p:nvPr/>
        </p:nvSpPr>
        <p:spPr>
          <a:xfrm>
            <a:off x="1463040" y="3886200"/>
            <a:ext cx="9692640" cy="49377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The server can only query its database after it has received and read your request. It is a consequence of the request, not a prerequisite.</a:t>
            </a:r>
            <a:endParaRPr lang="en-US" sz="1250" dirty="0"/>
          </a:p>
        </p:txBody>
      </p:sp>
      <p:sp>
        <p:nvSpPr>
          <p:cNvPr id="13" name="Shape 11"/>
          <p:cNvSpPr/>
          <p:nvPr/>
        </p:nvSpPr>
        <p:spPr>
          <a:xfrm>
            <a:off x="777240" y="4617720"/>
            <a:ext cx="10607040" cy="713232"/>
          </a:xfrm>
          <a:prstGeom prst="roundRect">
            <a:avLst>
              <a:gd name="adj" fmla="val 7692"/>
            </a:avLst>
          </a:prstGeom>
          <a:solidFill>
            <a:srgbClr val="FDF3E3"/>
          </a:solidFill>
          <a:ln w="16510">
            <a:solidFill>
              <a:srgbClr val="E8A33D"/>
            </a:solidFill>
            <a:prstDash val="solid"/>
          </a:ln>
        </p:spPr>
        <p:txBody>
          <a:bodyPr/>
          <a:lstStyle/>
          <a:p>
            <a:endParaRPr lang="en-US"/>
          </a:p>
        </p:txBody>
      </p:sp>
      <p:sp>
        <p:nvSpPr>
          <p:cNvPr id="14" name="Text 12"/>
          <p:cNvSpPr/>
          <p:nvPr/>
        </p:nvSpPr>
        <p:spPr>
          <a:xfrm>
            <a:off x="1097280" y="4617720"/>
            <a:ext cx="10058400" cy="713232"/>
          </a:xfrm>
          <a:prstGeom prst="rect">
            <a:avLst/>
          </a:prstGeom>
          <a:noFill/>
          <a:ln/>
        </p:spPr>
        <p:txBody>
          <a:bodyPr wrap="square" lIns="0" tIns="0" rIns="0" bIns="0" rtlCol="0" anchor="ctr"/>
          <a:lstStyle/>
          <a:p>
            <a:pPr marL="0" indent="0">
              <a:lnSpc>
                <a:spcPts val="1800"/>
              </a:lnSpc>
              <a:buNone/>
            </a:pPr>
            <a:r>
              <a:rPr lang="en-US" sz="1300" b="1" dirty="0">
                <a:solidFill>
                  <a:srgbClr val="8A5A12"/>
                </a:solidFill>
                <a:latin typeface="Calibri" pitchFamily="34" charset="0"/>
                <a:ea typeface="Calibri" pitchFamily="34" charset="-122"/>
                <a:cs typeface="Calibri" pitchFamily="34" charset="-120"/>
              </a:rPr>
              <a:t>Interview follow-up:  </a:t>
            </a:r>
            <a:r>
              <a:rPr lang="en-US" sz="1300" dirty="0">
                <a:solidFill>
                  <a:srgbClr val="1B2A33"/>
                </a:solidFill>
                <a:latin typeface="Calibri" pitchFamily="34" charset="0"/>
                <a:ea typeface="Calibri" pitchFamily="34" charset="-122"/>
                <a:cs typeface="Calibri" pitchFamily="34" charset="-120"/>
              </a:rPr>
              <a:t>Your site loads in 300 ms but the server only worked for 90 ms. Where did the rest go, and how would you reduce it?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777240" y="548640"/>
            <a:ext cx="1234440" cy="457200"/>
          </a:xfrm>
          <a:prstGeom prst="roundRect">
            <a:avLst>
              <a:gd name="adj" fmla="val 40000"/>
            </a:avLst>
          </a:prstGeom>
          <a:solidFill>
            <a:srgbClr val="E8A33D"/>
          </a:solidFill>
          <a:ln/>
        </p:spPr>
        <p:txBody>
          <a:bodyPr/>
          <a:lstStyle/>
          <a:p>
            <a:endParaRPr lang="en-US"/>
          </a:p>
        </p:txBody>
      </p:sp>
      <p:sp>
        <p:nvSpPr>
          <p:cNvPr id="3" name="Text 1"/>
          <p:cNvSpPr/>
          <p:nvPr/>
        </p:nvSpPr>
        <p:spPr>
          <a:xfrm>
            <a:off x="777240" y="548640"/>
            <a:ext cx="1234440" cy="457200"/>
          </a:xfrm>
          <a:prstGeom prst="rect">
            <a:avLst/>
          </a:prstGeom>
          <a:noFill/>
          <a:ln/>
        </p:spPr>
        <p:txBody>
          <a:bodyPr wrap="square" rtlCol="0" anchor="ctr"/>
          <a:lstStyle/>
          <a:p>
            <a:pPr marL="0" indent="0" algn="ctr">
              <a:buNone/>
            </a:pPr>
            <a:r>
              <a:rPr lang="en-US" sz="1500" b="1" dirty="0">
                <a:solidFill>
                  <a:srgbClr val="13293D"/>
                </a:solidFill>
                <a:latin typeface="Calibri" pitchFamily="34" charset="0"/>
                <a:ea typeface="Calibri" pitchFamily="34" charset="-122"/>
                <a:cs typeface="Calibri" pitchFamily="34" charset="-120"/>
              </a:rPr>
              <a:t>Q7</a:t>
            </a:r>
            <a:endParaRPr lang="en-US" sz="1500" dirty="0"/>
          </a:p>
        </p:txBody>
      </p:sp>
      <p:sp>
        <p:nvSpPr>
          <p:cNvPr id="4" name="Shape 2"/>
          <p:cNvSpPr/>
          <p:nvPr/>
        </p:nvSpPr>
        <p:spPr>
          <a:xfrm>
            <a:off x="2194560" y="548640"/>
            <a:ext cx="2743200" cy="457200"/>
          </a:xfrm>
          <a:prstGeom prst="roundRect">
            <a:avLst>
              <a:gd name="adj" fmla="val 40000"/>
            </a:avLst>
          </a:prstGeom>
          <a:solidFill>
            <a:srgbClr val="1D3D52"/>
          </a:solidFill>
          <a:ln/>
        </p:spPr>
        <p:txBody>
          <a:bodyPr/>
          <a:lstStyle/>
          <a:p>
            <a:endParaRPr lang="en-US"/>
          </a:p>
        </p:txBody>
      </p:sp>
      <p:sp>
        <p:nvSpPr>
          <p:cNvPr id="5" name="Text 3"/>
          <p:cNvSpPr/>
          <p:nvPr/>
        </p:nvSpPr>
        <p:spPr>
          <a:xfrm>
            <a:off x="2194560" y="548640"/>
            <a:ext cx="2743200" cy="457200"/>
          </a:xfrm>
          <a:prstGeom prst="rect">
            <a:avLst/>
          </a:prstGeom>
          <a:noFill/>
          <a:ln/>
        </p:spPr>
        <p:txBody>
          <a:bodyPr wrap="square" rtlCol="0" anchor="ctr"/>
          <a:lstStyle/>
          <a:p>
            <a:pPr marL="0" indent="0" algn="ctr">
              <a:buNone/>
            </a:pPr>
            <a:r>
              <a:rPr lang="en-US" sz="1100" b="1" kern="0" spc="120" dirty="0">
                <a:solidFill>
                  <a:srgbClr val="9AD1D4"/>
                </a:solidFill>
                <a:latin typeface="Calibri" pitchFamily="34" charset="0"/>
                <a:ea typeface="Calibri" pitchFamily="34" charset="-122"/>
                <a:cs typeface="Calibri" pitchFamily="34" charset="-120"/>
              </a:rPr>
              <a:t>SELECT ONE</a:t>
            </a:r>
            <a:endParaRPr lang="en-US" sz="1100" dirty="0"/>
          </a:p>
        </p:txBody>
      </p:sp>
      <p:sp>
        <p:nvSpPr>
          <p:cNvPr id="7" name="Text 5"/>
          <p:cNvSpPr/>
          <p:nvPr/>
        </p:nvSpPr>
        <p:spPr>
          <a:xfrm>
            <a:off x="777240" y="1234440"/>
            <a:ext cx="10607040" cy="1325880"/>
          </a:xfrm>
          <a:prstGeom prst="rect">
            <a:avLst/>
          </a:prstGeom>
          <a:noFill/>
          <a:ln/>
        </p:spPr>
        <p:txBody>
          <a:bodyPr wrap="square" lIns="0" tIns="0" rIns="0" bIns="0" rtlCol="0" anchor="ctr"/>
          <a:lstStyle/>
          <a:p>
            <a:pPr marL="0" indent="0">
              <a:lnSpc>
                <a:spcPts val="3100"/>
              </a:lnSpc>
              <a:buNone/>
            </a:pPr>
            <a:r>
              <a:rPr lang="en-US" sz="2200" b="1" dirty="0">
                <a:solidFill>
                  <a:srgbClr val="FFFFFF"/>
                </a:solidFill>
                <a:latin typeface="Cambria" pitchFamily="34" charset="0"/>
                <a:ea typeface="Cambria" pitchFamily="34" charset="-122"/>
                <a:cs typeface="Cambria" pitchFamily="34" charset="-120"/>
              </a:rPr>
              <a:t>Your dashboard shows an average response time of 200 ms and the team considers this healthy. Yet complaints about slowness keep arriving. Which single metric would most likely expose the problem?</a:t>
            </a:r>
            <a:endParaRPr lang="en-US" sz="2200" dirty="0"/>
          </a:p>
        </p:txBody>
      </p:sp>
      <p:sp>
        <p:nvSpPr>
          <p:cNvPr id="8" name="Shape 6"/>
          <p:cNvSpPr/>
          <p:nvPr/>
        </p:nvSpPr>
        <p:spPr>
          <a:xfrm>
            <a:off x="777240" y="2788920"/>
            <a:ext cx="5120640" cy="1280160"/>
          </a:xfrm>
          <a:prstGeom prst="roundRect">
            <a:avLst>
              <a:gd name="adj" fmla="val 5000"/>
            </a:avLst>
          </a:prstGeom>
          <a:solidFill>
            <a:srgbClr val="1D3D52"/>
          </a:solidFill>
          <a:ln/>
        </p:spPr>
        <p:txBody>
          <a:bodyPr/>
          <a:lstStyle/>
          <a:p>
            <a:endParaRPr lang="en-US"/>
          </a:p>
        </p:txBody>
      </p:sp>
      <p:sp>
        <p:nvSpPr>
          <p:cNvPr id="9" name="Shape 7"/>
          <p:cNvSpPr/>
          <p:nvPr/>
        </p:nvSpPr>
        <p:spPr>
          <a:xfrm>
            <a:off x="1051560" y="3246120"/>
            <a:ext cx="384048" cy="384048"/>
          </a:xfrm>
          <a:prstGeom prst="ellipse">
            <a:avLst/>
          </a:prstGeom>
          <a:solidFill>
            <a:srgbClr val="1C7293"/>
          </a:solidFill>
          <a:ln/>
        </p:spPr>
        <p:txBody>
          <a:bodyPr/>
          <a:lstStyle/>
          <a:p>
            <a:endParaRPr lang="en-US"/>
          </a:p>
        </p:txBody>
      </p:sp>
      <p:sp>
        <p:nvSpPr>
          <p:cNvPr id="10" name="Text 8"/>
          <p:cNvSpPr/>
          <p:nvPr/>
        </p:nvSpPr>
        <p:spPr>
          <a:xfrm>
            <a:off x="1051560" y="324612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1" name="Text 9"/>
          <p:cNvSpPr/>
          <p:nvPr/>
        </p:nvSpPr>
        <p:spPr>
          <a:xfrm>
            <a:off x="1581912" y="278892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Mean latency measured over a longer window</a:t>
            </a:r>
            <a:endParaRPr lang="en-US" sz="1350" dirty="0"/>
          </a:p>
        </p:txBody>
      </p:sp>
      <p:sp>
        <p:nvSpPr>
          <p:cNvPr id="12" name="Shape 10"/>
          <p:cNvSpPr/>
          <p:nvPr/>
        </p:nvSpPr>
        <p:spPr>
          <a:xfrm>
            <a:off x="6172200" y="2788920"/>
            <a:ext cx="5120640" cy="1280160"/>
          </a:xfrm>
          <a:prstGeom prst="roundRect">
            <a:avLst>
              <a:gd name="adj" fmla="val 5000"/>
            </a:avLst>
          </a:prstGeom>
          <a:solidFill>
            <a:srgbClr val="1D3D52"/>
          </a:solidFill>
          <a:ln/>
        </p:spPr>
        <p:txBody>
          <a:bodyPr/>
          <a:lstStyle/>
          <a:p>
            <a:endParaRPr lang="en-US"/>
          </a:p>
        </p:txBody>
      </p:sp>
      <p:sp>
        <p:nvSpPr>
          <p:cNvPr id="13" name="Shape 11"/>
          <p:cNvSpPr/>
          <p:nvPr/>
        </p:nvSpPr>
        <p:spPr>
          <a:xfrm>
            <a:off x="6446520" y="3246120"/>
            <a:ext cx="384048" cy="384048"/>
          </a:xfrm>
          <a:prstGeom prst="ellipse">
            <a:avLst/>
          </a:prstGeom>
          <a:solidFill>
            <a:srgbClr val="1C7293"/>
          </a:solidFill>
          <a:ln/>
        </p:spPr>
        <p:txBody>
          <a:bodyPr/>
          <a:lstStyle/>
          <a:p>
            <a:endParaRPr lang="en-US"/>
          </a:p>
        </p:txBody>
      </p:sp>
      <p:sp>
        <p:nvSpPr>
          <p:cNvPr id="14" name="Text 12"/>
          <p:cNvSpPr/>
          <p:nvPr/>
        </p:nvSpPr>
        <p:spPr>
          <a:xfrm>
            <a:off x="6446520" y="324612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5" name="Text 13"/>
          <p:cNvSpPr/>
          <p:nvPr/>
        </p:nvSpPr>
        <p:spPr>
          <a:xfrm>
            <a:off x="6976872" y="278892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Total requests per second</a:t>
            </a:r>
            <a:endParaRPr lang="en-US" sz="1350" dirty="0"/>
          </a:p>
        </p:txBody>
      </p:sp>
      <p:sp>
        <p:nvSpPr>
          <p:cNvPr id="16" name="Shape 14"/>
          <p:cNvSpPr/>
          <p:nvPr/>
        </p:nvSpPr>
        <p:spPr>
          <a:xfrm>
            <a:off x="777240" y="4251960"/>
            <a:ext cx="5120640" cy="1280160"/>
          </a:xfrm>
          <a:prstGeom prst="roundRect">
            <a:avLst>
              <a:gd name="adj" fmla="val 5000"/>
            </a:avLst>
          </a:prstGeom>
          <a:solidFill>
            <a:srgbClr val="1D3D52"/>
          </a:solidFill>
          <a:ln/>
        </p:spPr>
        <p:txBody>
          <a:bodyPr/>
          <a:lstStyle/>
          <a:p>
            <a:endParaRPr lang="en-US"/>
          </a:p>
        </p:txBody>
      </p:sp>
      <p:sp>
        <p:nvSpPr>
          <p:cNvPr id="17" name="Shape 15"/>
          <p:cNvSpPr/>
          <p:nvPr/>
        </p:nvSpPr>
        <p:spPr>
          <a:xfrm>
            <a:off x="1051560" y="4709160"/>
            <a:ext cx="384048" cy="384048"/>
          </a:xfrm>
          <a:prstGeom prst="ellipse">
            <a:avLst/>
          </a:prstGeom>
          <a:solidFill>
            <a:srgbClr val="1C7293"/>
          </a:solidFill>
          <a:ln/>
        </p:spPr>
        <p:txBody>
          <a:bodyPr/>
          <a:lstStyle/>
          <a:p>
            <a:endParaRPr lang="en-US"/>
          </a:p>
        </p:txBody>
      </p:sp>
      <p:sp>
        <p:nvSpPr>
          <p:cNvPr id="18" name="Text 16"/>
          <p:cNvSpPr/>
          <p:nvPr/>
        </p:nvSpPr>
        <p:spPr>
          <a:xfrm>
            <a:off x="1051560" y="470916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9" name="Text 17"/>
          <p:cNvSpPr/>
          <p:nvPr/>
        </p:nvSpPr>
        <p:spPr>
          <a:xfrm>
            <a:off x="1581912" y="425196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p99 latency</a:t>
            </a:r>
            <a:endParaRPr lang="en-US" sz="1350" dirty="0"/>
          </a:p>
        </p:txBody>
      </p:sp>
      <p:sp>
        <p:nvSpPr>
          <p:cNvPr id="20" name="Shape 18"/>
          <p:cNvSpPr/>
          <p:nvPr/>
        </p:nvSpPr>
        <p:spPr>
          <a:xfrm>
            <a:off x="6172200" y="4251960"/>
            <a:ext cx="5120640" cy="1280160"/>
          </a:xfrm>
          <a:prstGeom prst="roundRect">
            <a:avLst>
              <a:gd name="adj" fmla="val 5000"/>
            </a:avLst>
          </a:prstGeom>
          <a:solidFill>
            <a:srgbClr val="1D3D52"/>
          </a:solidFill>
          <a:ln/>
        </p:spPr>
        <p:txBody>
          <a:bodyPr/>
          <a:lstStyle/>
          <a:p>
            <a:endParaRPr lang="en-US"/>
          </a:p>
        </p:txBody>
      </p:sp>
      <p:sp>
        <p:nvSpPr>
          <p:cNvPr id="21" name="Shape 19"/>
          <p:cNvSpPr/>
          <p:nvPr/>
        </p:nvSpPr>
        <p:spPr>
          <a:xfrm>
            <a:off x="6446520" y="4709160"/>
            <a:ext cx="384048" cy="384048"/>
          </a:xfrm>
          <a:prstGeom prst="ellipse">
            <a:avLst/>
          </a:prstGeom>
          <a:solidFill>
            <a:srgbClr val="1C7293"/>
          </a:solidFill>
          <a:ln/>
        </p:spPr>
        <p:txBody>
          <a:bodyPr/>
          <a:lstStyle/>
          <a:p>
            <a:endParaRPr lang="en-US"/>
          </a:p>
        </p:txBody>
      </p:sp>
      <p:sp>
        <p:nvSpPr>
          <p:cNvPr id="22" name="Text 20"/>
          <p:cNvSpPr/>
          <p:nvPr/>
        </p:nvSpPr>
        <p:spPr>
          <a:xfrm>
            <a:off x="6446520" y="470916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3" name="Text 21"/>
          <p:cNvSpPr/>
          <p:nvPr/>
        </p:nvSpPr>
        <p:spPr>
          <a:xfrm>
            <a:off x="6976872" y="425196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Average CPU utilisation across servers</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Q7 — Answer</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An average blends the lucky and the unlucky into one comfortable number</a:t>
            </a:r>
            <a:endParaRPr lang="en-US" sz="1500" dirty="0"/>
          </a:p>
        </p:txBody>
      </p:sp>
      <p:sp>
        <p:nvSpPr>
          <p:cNvPr id="4" name="Shape 2"/>
          <p:cNvSpPr/>
          <p:nvPr/>
        </p:nvSpPr>
        <p:spPr>
          <a:xfrm>
            <a:off x="777240" y="1463040"/>
            <a:ext cx="10607040" cy="822960"/>
          </a:xfrm>
          <a:prstGeom prst="roundRect">
            <a:avLst>
              <a:gd name="adj" fmla="val 6667"/>
            </a:avLst>
          </a:prstGeom>
          <a:solidFill>
            <a:srgbClr val="2E7D5B"/>
          </a:solidFill>
          <a:ln/>
        </p:spPr>
        <p:txBody>
          <a:bodyPr/>
          <a:lstStyle/>
          <a:p>
            <a:endParaRPr lang="en-US"/>
          </a:p>
        </p:txBody>
      </p:sp>
      <p:sp>
        <p:nvSpPr>
          <p:cNvPr id="5" name="Text 3"/>
          <p:cNvSpPr/>
          <p:nvPr/>
        </p:nvSpPr>
        <p:spPr>
          <a:xfrm>
            <a:off x="1097280" y="1463040"/>
            <a:ext cx="10058400" cy="822960"/>
          </a:xfrm>
          <a:prstGeom prst="rect">
            <a:avLst/>
          </a:prstGeom>
          <a:noFill/>
          <a:ln/>
        </p:spPr>
        <p:txBody>
          <a:bodyPr wrap="square" lIns="0" tIns="0" rIns="0" bIns="0" rtlCol="0" anchor="ctr"/>
          <a:lstStyle/>
          <a:p>
            <a:pPr marL="0" indent="0">
              <a:lnSpc>
                <a:spcPts val="2100"/>
              </a:lnSpc>
              <a:buNone/>
            </a:pPr>
            <a:r>
              <a:rPr lang="en-US" sz="1600" b="1" dirty="0">
                <a:solidFill>
                  <a:srgbClr val="FFFFFF"/>
                </a:solidFill>
                <a:latin typeface="Calibri" pitchFamily="34" charset="0"/>
                <a:ea typeface="Calibri" pitchFamily="34" charset="-122"/>
                <a:cs typeface="Calibri" pitchFamily="34" charset="-120"/>
              </a:rPr>
              <a:t>C — p99 latency</a:t>
            </a:r>
            <a:endParaRPr lang="en-US" sz="1600" dirty="0"/>
          </a:p>
        </p:txBody>
      </p:sp>
      <p:sp>
        <p:nvSpPr>
          <p:cNvPr id="6" name="Shape 4"/>
          <p:cNvSpPr/>
          <p:nvPr/>
        </p:nvSpPr>
        <p:spPr>
          <a:xfrm>
            <a:off x="777240" y="2423160"/>
            <a:ext cx="10607040" cy="960120"/>
          </a:xfrm>
          <a:prstGeom prst="roundRect">
            <a:avLst>
              <a:gd name="adj" fmla="val 5714"/>
            </a:avLst>
          </a:prstGeom>
          <a:solidFill>
            <a:srgbClr val="F4F7F9"/>
          </a:solidFill>
          <a:ln w="12700">
            <a:solidFill>
              <a:srgbClr val="E1E8ED"/>
            </a:solidFill>
            <a:prstDash val="solid"/>
          </a:ln>
        </p:spPr>
        <p:txBody>
          <a:bodyPr/>
          <a:lstStyle/>
          <a:p>
            <a:endParaRPr lang="en-US"/>
          </a:p>
        </p:txBody>
      </p:sp>
      <p:sp>
        <p:nvSpPr>
          <p:cNvPr id="7" name="Text 5"/>
          <p:cNvSpPr/>
          <p:nvPr/>
        </p:nvSpPr>
        <p:spPr>
          <a:xfrm>
            <a:off x="1097280" y="2423160"/>
            <a:ext cx="10058400" cy="960120"/>
          </a:xfrm>
          <a:prstGeom prst="rect">
            <a:avLst/>
          </a:prstGeom>
          <a:noFill/>
          <a:ln/>
        </p:spPr>
        <p:txBody>
          <a:bodyPr wrap="square" lIns="0" tIns="0" rIns="0" bIns="0" rtlCol="0" anchor="ctr"/>
          <a:lstStyle/>
          <a:p>
            <a:pPr marL="0" indent="0">
              <a:lnSpc>
                <a:spcPts val="1900"/>
              </a:lnSpc>
              <a:buNone/>
            </a:pPr>
            <a:r>
              <a:rPr lang="en-US" sz="1350" dirty="0">
                <a:solidFill>
                  <a:srgbClr val="1B2A33"/>
                </a:solidFill>
                <a:latin typeface="Calibri" pitchFamily="34" charset="0"/>
                <a:ea typeface="Calibri" pitchFamily="34" charset="-122"/>
                <a:cs typeface="Calibri" pitchFamily="34" charset="-120"/>
              </a:rPr>
              <a:t>If nine requests take 100 ms and one takes 1.1 seconds, the average is a reassuring 200 ms — while one user in ten had a terrible experience. p99 refuses to hide that: it reports what the worst one percent actually endured.</a:t>
            </a:r>
            <a:endParaRPr lang="en-US" sz="1350" dirty="0"/>
          </a:p>
        </p:txBody>
      </p:sp>
      <p:sp>
        <p:nvSpPr>
          <p:cNvPr id="8" name="Text 6"/>
          <p:cNvSpPr/>
          <p:nvPr/>
        </p:nvSpPr>
        <p:spPr>
          <a:xfrm>
            <a:off x="777240" y="3520440"/>
            <a:ext cx="5486400" cy="320040"/>
          </a:xfrm>
          <a:prstGeom prst="rect">
            <a:avLst/>
          </a:prstGeom>
          <a:noFill/>
          <a:ln/>
        </p:spPr>
        <p:txBody>
          <a:bodyPr wrap="square" lIns="0" tIns="0" rIns="0" bIns="0" rtlCol="0" anchor="ctr"/>
          <a:lstStyle/>
          <a:p>
            <a:pPr marL="0" indent="0">
              <a:buNone/>
            </a:pPr>
            <a:r>
              <a:rPr lang="en-US" sz="1300" b="1" dirty="0">
                <a:solidFill>
                  <a:srgbClr val="A03A3A"/>
                </a:solidFill>
                <a:latin typeface="Calibri" pitchFamily="34" charset="0"/>
                <a:ea typeface="Calibri" pitchFamily="34" charset="-122"/>
                <a:cs typeface="Calibri" pitchFamily="34" charset="-120"/>
              </a:rPr>
              <a:t>Why the others fail</a:t>
            </a:r>
            <a:endParaRPr lang="en-US" sz="1300" dirty="0"/>
          </a:p>
        </p:txBody>
      </p:sp>
      <p:sp>
        <p:nvSpPr>
          <p:cNvPr id="9" name="Shape 7"/>
          <p:cNvSpPr/>
          <p:nvPr/>
        </p:nvSpPr>
        <p:spPr>
          <a:xfrm>
            <a:off x="777240" y="3886200"/>
            <a:ext cx="10607040" cy="493776"/>
          </a:xfrm>
          <a:prstGeom prst="roundRect">
            <a:avLst>
              <a:gd name="adj" fmla="val 7407"/>
            </a:avLst>
          </a:prstGeom>
          <a:solidFill>
            <a:srgbClr val="FFFFFF"/>
          </a:solidFill>
          <a:ln w="12700">
            <a:solidFill>
              <a:srgbClr val="E8D5D1"/>
            </a:solidFill>
            <a:prstDash val="solid"/>
          </a:ln>
        </p:spPr>
        <p:txBody>
          <a:bodyPr/>
          <a:lstStyle/>
          <a:p>
            <a:endParaRPr lang="en-US"/>
          </a:p>
        </p:txBody>
      </p:sp>
      <p:sp>
        <p:nvSpPr>
          <p:cNvPr id="10" name="Shape 8"/>
          <p:cNvSpPr/>
          <p:nvPr/>
        </p:nvSpPr>
        <p:spPr>
          <a:xfrm>
            <a:off x="1005840" y="3977640"/>
            <a:ext cx="310896" cy="310896"/>
          </a:xfrm>
          <a:prstGeom prst="ellipse">
            <a:avLst/>
          </a:prstGeom>
          <a:solidFill>
            <a:srgbClr val="A03A3A"/>
          </a:solidFill>
          <a:ln/>
        </p:spPr>
        <p:txBody>
          <a:bodyPr/>
          <a:lstStyle/>
          <a:p>
            <a:endParaRPr lang="en-US"/>
          </a:p>
        </p:txBody>
      </p:sp>
      <p:sp>
        <p:nvSpPr>
          <p:cNvPr id="11" name="Text 9"/>
          <p:cNvSpPr/>
          <p:nvPr/>
        </p:nvSpPr>
        <p:spPr>
          <a:xfrm>
            <a:off x="1005840" y="3977640"/>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2" name="Text 10"/>
          <p:cNvSpPr/>
          <p:nvPr/>
        </p:nvSpPr>
        <p:spPr>
          <a:xfrm>
            <a:off x="1463040" y="3886200"/>
            <a:ext cx="9692640" cy="49377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Averaging over a longer window hides the tail even more thoroughly, not less.</a:t>
            </a:r>
            <a:endParaRPr lang="en-US" sz="1250" dirty="0"/>
          </a:p>
        </p:txBody>
      </p:sp>
      <p:sp>
        <p:nvSpPr>
          <p:cNvPr id="13" name="Shape 11"/>
          <p:cNvSpPr/>
          <p:nvPr/>
        </p:nvSpPr>
        <p:spPr>
          <a:xfrm>
            <a:off x="777240" y="4453128"/>
            <a:ext cx="10607040" cy="493776"/>
          </a:xfrm>
          <a:prstGeom prst="roundRect">
            <a:avLst>
              <a:gd name="adj" fmla="val 7407"/>
            </a:avLst>
          </a:prstGeom>
          <a:solidFill>
            <a:srgbClr val="FDF0EE"/>
          </a:solidFill>
          <a:ln w="12700">
            <a:solidFill>
              <a:srgbClr val="E8D5D1"/>
            </a:solidFill>
            <a:prstDash val="solid"/>
          </a:ln>
        </p:spPr>
        <p:txBody>
          <a:bodyPr/>
          <a:lstStyle/>
          <a:p>
            <a:endParaRPr lang="en-US"/>
          </a:p>
        </p:txBody>
      </p:sp>
      <p:sp>
        <p:nvSpPr>
          <p:cNvPr id="14" name="Shape 12"/>
          <p:cNvSpPr/>
          <p:nvPr/>
        </p:nvSpPr>
        <p:spPr>
          <a:xfrm>
            <a:off x="1005840" y="4544568"/>
            <a:ext cx="310896" cy="310896"/>
          </a:xfrm>
          <a:prstGeom prst="ellipse">
            <a:avLst/>
          </a:prstGeom>
          <a:solidFill>
            <a:srgbClr val="A03A3A"/>
          </a:solidFill>
          <a:ln/>
        </p:spPr>
        <p:txBody>
          <a:bodyPr/>
          <a:lstStyle/>
          <a:p>
            <a:endParaRPr lang="en-US"/>
          </a:p>
        </p:txBody>
      </p:sp>
      <p:sp>
        <p:nvSpPr>
          <p:cNvPr id="15" name="Text 13"/>
          <p:cNvSpPr/>
          <p:nvPr/>
        </p:nvSpPr>
        <p:spPr>
          <a:xfrm>
            <a:off x="1005840" y="4544568"/>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6" name="Text 14"/>
          <p:cNvSpPr/>
          <p:nvPr/>
        </p:nvSpPr>
        <p:spPr>
          <a:xfrm>
            <a:off x="1463040" y="4453128"/>
            <a:ext cx="9692640" cy="49377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Throughput tells you how many requests you served, never how long any of them took.</a:t>
            </a:r>
            <a:endParaRPr lang="en-US" sz="1250" dirty="0"/>
          </a:p>
        </p:txBody>
      </p:sp>
      <p:sp>
        <p:nvSpPr>
          <p:cNvPr id="17" name="Shape 15"/>
          <p:cNvSpPr/>
          <p:nvPr/>
        </p:nvSpPr>
        <p:spPr>
          <a:xfrm>
            <a:off x="777240" y="5020056"/>
            <a:ext cx="10607040" cy="493776"/>
          </a:xfrm>
          <a:prstGeom prst="roundRect">
            <a:avLst>
              <a:gd name="adj" fmla="val 7407"/>
            </a:avLst>
          </a:prstGeom>
          <a:solidFill>
            <a:srgbClr val="FFFFFF"/>
          </a:solidFill>
          <a:ln w="12700">
            <a:solidFill>
              <a:srgbClr val="E8D5D1"/>
            </a:solidFill>
            <a:prstDash val="solid"/>
          </a:ln>
        </p:spPr>
        <p:txBody>
          <a:bodyPr/>
          <a:lstStyle/>
          <a:p>
            <a:endParaRPr lang="en-US"/>
          </a:p>
        </p:txBody>
      </p:sp>
      <p:sp>
        <p:nvSpPr>
          <p:cNvPr id="18" name="Shape 16"/>
          <p:cNvSpPr/>
          <p:nvPr/>
        </p:nvSpPr>
        <p:spPr>
          <a:xfrm>
            <a:off x="1005840" y="5111496"/>
            <a:ext cx="310896" cy="310896"/>
          </a:xfrm>
          <a:prstGeom prst="ellipse">
            <a:avLst/>
          </a:prstGeom>
          <a:solidFill>
            <a:srgbClr val="A03A3A"/>
          </a:solidFill>
          <a:ln/>
        </p:spPr>
        <p:txBody>
          <a:bodyPr/>
          <a:lstStyle/>
          <a:p>
            <a:endParaRPr lang="en-US"/>
          </a:p>
        </p:txBody>
      </p:sp>
      <p:sp>
        <p:nvSpPr>
          <p:cNvPr id="19" name="Text 17"/>
          <p:cNvSpPr/>
          <p:nvPr/>
        </p:nvSpPr>
        <p:spPr>
          <a:xfrm>
            <a:off x="1005840" y="5111496"/>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t>
            </a:r>
            <a:endParaRPr lang="en-US" sz="1100" dirty="0"/>
          </a:p>
        </p:txBody>
      </p:sp>
      <p:sp>
        <p:nvSpPr>
          <p:cNvPr id="20" name="Text 18"/>
          <p:cNvSpPr/>
          <p:nvPr/>
        </p:nvSpPr>
        <p:spPr>
          <a:xfrm>
            <a:off x="1463040" y="5020056"/>
            <a:ext cx="9692640" cy="49377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CPU can look perfectly calm while requests queue behind a slow database call or a lock.</a:t>
            </a:r>
            <a:endParaRPr lang="en-US" sz="1250" dirty="0"/>
          </a:p>
        </p:txBody>
      </p:sp>
      <p:sp>
        <p:nvSpPr>
          <p:cNvPr id="21" name="Shape 19"/>
          <p:cNvSpPr/>
          <p:nvPr/>
        </p:nvSpPr>
        <p:spPr>
          <a:xfrm>
            <a:off x="777240" y="5751576"/>
            <a:ext cx="10607040" cy="713232"/>
          </a:xfrm>
          <a:prstGeom prst="roundRect">
            <a:avLst>
              <a:gd name="adj" fmla="val 7692"/>
            </a:avLst>
          </a:prstGeom>
          <a:solidFill>
            <a:srgbClr val="FDF3E3"/>
          </a:solidFill>
          <a:ln w="16510">
            <a:solidFill>
              <a:srgbClr val="E8A33D"/>
            </a:solidFill>
            <a:prstDash val="solid"/>
          </a:ln>
        </p:spPr>
        <p:txBody>
          <a:bodyPr/>
          <a:lstStyle/>
          <a:p>
            <a:endParaRPr lang="en-US"/>
          </a:p>
        </p:txBody>
      </p:sp>
      <p:sp>
        <p:nvSpPr>
          <p:cNvPr id="22" name="Text 20"/>
          <p:cNvSpPr/>
          <p:nvPr/>
        </p:nvSpPr>
        <p:spPr>
          <a:xfrm>
            <a:off x="1097280" y="5751576"/>
            <a:ext cx="10058400" cy="713232"/>
          </a:xfrm>
          <a:prstGeom prst="rect">
            <a:avLst/>
          </a:prstGeom>
          <a:noFill/>
          <a:ln/>
        </p:spPr>
        <p:txBody>
          <a:bodyPr wrap="square" lIns="0" tIns="0" rIns="0" bIns="0" rtlCol="0" anchor="ctr"/>
          <a:lstStyle/>
          <a:p>
            <a:pPr marL="0" indent="0">
              <a:lnSpc>
                <a:spcPts val="1800"/>
              </a:lnSpc>
              <a:buNone/>
            </a:pPr>
            <a:r>
              <a:rPr lang="en-US" sz="1300" b="1" dirty="0">
                <a:solidFill>
                  <a:srgbClr val="8A5A12"/>
                </a:solidFill>
                <a:latin typeface="Calibri" pitchFamily="34" charset="0"/>
                <a:ea typeface="Calibri" pitchFamily="34" charset="-122"/>
                <a:cs typeface="Calibri" pitchFamily="34" charset="-120"/>
              </a:rPr>
              <a:t>Interview follow-up:  </a:t>
            </a:r>
            <a:r>
              <a:rPr lang="en-US" sz="1300" dirty="0">
                <a:solidFill>
                  <a:srgbClr val="1B2A33"/>
                </a:solidFill>
                <a:latin typeface="Calibri" pitchFamily="34" charset="0"/>
                <a:ea typeface="Calibri" pitchFamily="34" charset="-122"/>
                <a:cs typeface="Calibri" pitchFamily="34" charset="-120"/>
              </a:rPr>
              <a:t>Your p99 is fine but users still complain. What would you look at next?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777240" y="548640"/>
            <a:ext cx="1234440" cy="457200"/>
          </a:xfrm>
          <a:prstGeom prst="roundRect">
            <a:avLst>
              <a:gd name="adj" fmla="val 40000"/>
            </a:avLst>
          </a:prstGeom>
          <a:solidFill>
            <a:srgbClr val="E8A33D"/>
          </a:solidFill>
          <a:ln/>
        </p:spPr>
        <p:txBody>
          <a:bodyPr/>
          <a:lstStyle/>
          <a:p>
            <a:endParaRPr lang="en-US"/>
          </a:p>
        </p:txBody>
      </p:sp>
      <p:sp>
        <p:nvSpPr>
          <p:cNvPr id="3" name="Text 1"/>
          <p:cNvSpPr/>
          <p:nvPr/>
        </p:nvSpPr>
        <p:spPr>
          <a:xfrm>
            <a:off x="777240" y="548640"/>
            <a:ext cx="1234440" cy="457200"/>
          </a:xfrm>
          <a:prstGeom prst="rect">
            <a:avLst/>
          </a:prstGeom>
          <a:noFill/>
          <a:ln/>
        </p:spPr>
        <p:txBody>
          <a:bodyPr wrap="square" rtlCol="0" anchor="ctr"/>
          <a:lstStyle/>
          <a:p>
            <a:pPr marL="0" indent="0" algn="ctr">
              <a:buNone/>
            </a:pPr>
            <a:r>
              <a:rPr lang="en-US" sz="1500" b="1" dirty="0">
                <a:solidFill>
                  <a:srgbClr val="13293D"/>
                </a:solidFill>
                <a:latin typeface="Calibri" pitchFamily="34" charset="0"/>
                <a:ea typeface="Calibri" pitchFamily="34" charset="-122"/>
                <a:cs typeface="Calibri" pitchFamily="34" charset="-120"/>
              </a:rPr>
              <a:t>Q8</a:t>
            </a:r>
            <a:endParaRPr lang="en-US" sz="1500" dirty="0"/>
          </a:p>
        </p:txBody>
      </p:sp>
      <p:sp>
        <p:nvSpPr>
          <p:cNvPr id="4" name="Shape 2"/>
          <p:cNvSpPr/>
          <p:nvPr/>
        </p:nvSpPr>
        <p:spPr>
          <a:xfrm>
            <a:off x="2194560" y="548640"/>
            <a:ext cx="2743200" cy="457200"/>
          </a:xfrm>
          <a:prstGeom prst="roundRect">
            <a:avLst>
              <a:gd name="adj" fmla="val 40000"/>
            </a:avLst>
          </a:prstGeom>
          <a:solidFill>
            <a:srgbClr val="1D3D52"/>
          </a:solidFill>
          <a:ln/>
        </p:spPr>
        <p:txBody>
          <a:bodyPr/>
          <a:lstStyle/>
          <a:p>
            <a:endParaRPr lang="en-US"/>
          </a:p>
        </p:txBody>
      </p:sp>
      <p:sp>
        <p:nvSpPr>
          <p:cNvPr id="5" name="Text 3"/>
          <p:cNvSpPr/>
          <p:nvPr/>
        </p:nvSpPr>
        <p:spPr>
          <a:xfrm>
            <a:off x="2194560" y="548640"/>
            <a:ext cx="2743200" cy="457200"/>
          </a:xfrm>
          <a:prstGeom prst="rect">
            <a:avLst/>
          </a:prstGeom>
          <a:noFill/>
          <a:ln/>
        </p:spPr>
        <p:txBody>
          <a:bodyPr wrap="square" rtlCol="0" anchor="ctr"/>
          <a:lstStyle/>
          <a:p>
            <a:pPr marL="0" indent="0" algn="ctr">
              <a:buNone/>
            </a:pPr>
            <a:r>
              <a:rPr lang="en-US" sz="1100" b="1" kern="0" spc="120" dirty="0">
                <a:solidFill>
                  <a:srgbClr val="9AD1D4"/>
                </a:solidFill>
                <a:latin typeface="Calibri" pitchFamily="34" charset="0"/>
                <a:ea typeface="Calibri" pitchFamily="34" charset="-122"/>
                <a:cs typeface="Calibri" pitchFamily="34" charset="-120"/>
              </a:rPr>
              <a:t>SELECT ONE</a:t>
            </a:r>
            <a:endParaRPr lang="en-US" sz="1100" dirty="0"/>
          </a:p>
        </p:txBody>
      </p:sp>
      <p:sp>
        <p:nvSpPr>
          <p:cNvPr id="7" name="Text 5"/>
          <p:cNvSpPr/>
          <p:nvPr/>
        </p:nvSpPr>
        <p:spPr>
          <a:xfrm>
            <a:off x="777240" y="1234440"/>
            <a:ext cx="10607040" cy="1325880"/>
          </a:xfrm>
          <a:prstGeom prst="rect">
            <a:avLst/>
          </a:prstGeom>
          <a:noFill/>
          <a:ln/>
        </p:spPr>
        <p:txBody>
          <a:bodyPr wrap="square" lIns="0" tIns="0" rIns="0" bIns="0" rtlCol="0" anchor="ctr"/>
          <a:lstStyle/>
          <a:p>
            <a:pPr marL="0" indent="0">
              <a:lnSpc>
                <a:spcPts val="3100"/>
              </a:lnSpc>
              <a:buNone/>
            </a:pPr>
            <a:r>
              <a:rPr lang="en-US" sz="2200" b="1" dirty="0">
                <a:solidFill>
                  <a:srgbClr val="FFFFFF"/>
                </a:solidFill>
                <a:latin typeface="Cambria" pitchFamily="34" charset="0"/>
                <a:ea typeface="Cambria" pitchFamily="34" charset="-122"/>
                <a:cs typeface="Cambria" pitchFamily="34" charset="-120"/>
              </a:rPr>
              <a:t>Your service cannot respond unless five other internal services each reply successfully. Each of those five is independently 99.9% available. What is the best estimate of your own maximum availability?</a:t>
            </a:r>
            <a:endParaRPr lang="en-US" sz="2200" dirty="0"/>
          </a:p>
        </p:txBody>
      </p:sp>
      <p:sp>
        <p:nvSpPr>
          <p:cNvPr id="8" name="Shape 6"/>
          <p:cNvSpPr/>
          <p:nvPr/>
        </p:nvSpPr>
        <p:spPr>
          <a:xfrm>
            <a:off x="777240" y="2788920"/>
            <a:ext cx="5120640" cy="1280160"/>
          </a:xfrm>
          <a:prstGeom prst="roundRect">
            <a:avLst>
              <a:gd name="adj" fmla="val 5000"/>
            </a:avLst>
          </a:prstGeom>
          <a:solidFill>
            <a:srgbClr val="1D3D52"/>
          </a:solidFill>
          <a:ln/>
        </p:spPr>
        <p:txBody>
          <a:bodyPr/>
          <a:lstStyle/>
          <a:p>
            <a:endParaRPr lang="en-US"/>
          </a:p>
        </p:txBody>
      </p:sp>
      <p:sp>
        <p:nvSpPr>
          <p:cNvPr id="9" name="Shape 7"/>
          <p:cNvSpPr/>
          <p:nvPr/>
        </p:nvSpPr>
        <p:spPr>
          <a:xfrm>
            <a:off x="1051560" y="3246120"/>
            <a:ext cx="384048" cy="384048"/>
          </a:xfrm>
          <a:prstGeom prst="ellipse">
            <a:avLst/>
          </a:prstGeom>
          <a:solidFill>
            <a:srgbClr val="1C7293"/>
          </a:solidFill>
          <a:ln/>
        </p:spPr>
        <p:txBody>
          <a:bodyPr/>
          <a:lstStyle/>
          <a:p>
            <a:endParaRPr lang="en-US"/>
          </a:p>
        </p:txBody>
      </p:sp>
      <p:sp>
        <p:nvSpPr>
          <p:cNvPr id="10" name="Text 8"/>
          <p:cNvSpPr/>
          <p:nvPr/>
        </p:nvSpPr>
        <p:spPr>
          <a:xfrm>
            <a:off x="1051560" y="324612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1" name="Text 9"/>
          <p:cNvSpPr/>
          <p:nvPr/>
        </p:nvSpPr>
        <p:spPr>
          <a:xfrm>
            <a:off x="1581912" y="278892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99.9% — the same as each dependency</a:t>
            </a:r>
            <a:endParaRPr lang="en-US" sz="1350" dirty="0"/>
          </a:p>
        </p:txBody>
      </p:sp>
      <p:sp>
        <p:nvSpPr>
          <p:cNvPr id="12" name="Shape 10"/>
          <p:cNvSpPr/>
          <p:nvPr/>
        </p:nvSpPr>
        <p:spPr>
          <a:xfrm>
            <a:off x="6172200" y="2788920"/>
            <a:ext cx="5120640" cy="1280160"/>
          </a:xfrm>
          <a:prstGeom prst="roundRect">
            <a:avLst>
              <a:gd name="adj" fmla="val 5000"/>
            </a:avLst>
          </a:prstGeom>
          <a:solidFill>
            <a:srgbClr val="1D3D52"/>
          </a:solidFill>
          <a:ln/>
        </p:spPr>
        <p:txBody>
          <a:bodyPr/>
          <a:lstStyle/>
          <a:p>
            <a:endParaRPr lang="en-US"/>
          </a:p>
        </p:txBody>
      </p:sp>
      <p:sp>
        <p:nvSpPr>
          <p:cNvPr id="13" name="Shape 11"/>
          <p:cNvSpPr/>
          <p:nvPr/>
        </p:nvSpPr>
        <p:spPr>
          <a:xfrm>
            <a:off x="6446520" y="3246120"/>
            <a:ext cx="384048" cy="384048"/>
          </a:xfrm>
          <a:prstGeom prst="ellipse">
            <a:avLst/>
          </a:prstGeom>
          <a:solidFill>
            <a:srgbClr val="1C7293"/>
          </a:solidFill>
          <a:ln/>
        </p:spPr>
        <p:txBody>
          <a:bodyPr/>
          <a:lstStyle/>
          <a:p>
            <a:endParaRPr lang="en-US"/>
          </a:p>
        </p:txBody>
      </p:sp>
      <p:sp>
        <p:nvSpPr>
          <p:cNvPr id="14" name="Text 12"/>
          <p:cNvSpPr/>
          <p:nvPr/>
        </p:nvSpPr>
        <p:spPr>
          <a:xfrm>
            <a:off x="6446520" y="324612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5" name="Text 13"/>
          <p:cNvSpPr/>
          <p:nvPr/>
        </p:nvSpPr>
        <p:spPr>
          <a:xfrm>
            <a:off x="6976872" y="278892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About 99.5%</a:t>
            </a:r>
            <a:endParaRPr lang="en-US" sz="1350" dirty="0"/>
          </a:p>
        </p:txBody>
      </p:sp>
      <p:sp>
        <p:nvSpPr>
          <p:cNvPr id="16" name="Shape 14"/>
          <p:cNvSpPr/>
          <p:nvPr/>
        </p:nvSpPr>
        <p:spPr>
          <a:xfrm>
            <a:off x="777240" y="4251960"/>
            <a:ext cx="5120640" cy="1280160"/>
          </a:xfrm>
          <a:prstGeom prst="roundRect">
            <a:avLst>
              <a:gd name="adj" fmla="val 5000"/>
            </a:avLst>
          </a:prstGeom>
          <a:solidFill>
            <a:srgbClr val="1D3D52"/>
          </a:solidFill>
          <a:ln/>
        </p:spPr>
        <p:txBody>
          <a:bodyPr/>
          <a:lstStyle/>
          <a:p>
            <a:endParaRPr lang="en-US"/>
          </a:p>
        </p:txBody>
      </p:sp>
      <p:sp>
        <p:nvSpPr>
          <p:cNvPr id="17" name="Shape 15"/>
          <p:cNvSpPr/>
          <p:nvPr/>
        </p:nvSpPr>
        <p:spPr>
          <a:xfrm>
            <a:off x="1051560" y="4709160"/>
            <a:ext cx="384048" cy="384048"/>
          </a:xfrm>
          <a:prstGeom prst="ellipse">
            <a:avLst/>
          </a:prstGeom>
          <a:solidFill>
            <a:srgbClr val="1C7293"/>
          </a:solidFill>
          <a:ln/>
        </p:spPr>
        <p:txBody>
          <a:bodyPr/>
          <a:lstStyle/>
          <a:p>
            <a:endParaRPr lang="en-US"/>
          </a:p>
        </p:txBody>
      </p:sp>
      <p:sp>
        <p:nvSpPr>
          <p:cNvPr id="18" name="Text 16"/>
          <p:cNvSpPr/>
          <p:nvPr/>
        </p:nvSpPr>
        <p:spPr>
          <a:xfrm>
            <a:off x="1051560" y="470916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9" name="Text 17"/>
          <p:cNvSpPr/>
          <p:nvPr/>
        </p:nvSpPr>
        <p:spPr>
          <a:xfrm>
            <a:off x="1581912" y="425196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About 95%</a:t>
            </a:r>
            <a:endParaRPr lang="en-US" sz="1350" dirty="0"/>
          </a:p>
        </p:txBody>
      </p:sp>
      <p:sp>
        <p:nvSpPr>
          <p:cNvPr id="20" name="Shape 18"/>
          <p:cNvSpPr/>
          <p:nvPr/>
        </p:nvSpPr>
        <p:spPr>
          <a:xfrm>
            <a:off x="6172200" y="4251960"/>
            <a:ext cx="5120640" cy="1280160"/>
          </a:xfrm>
          <a:prstGeom prst="roundRect">
            <a:avLst>
              <a:gd name="adj" fmla="val 5000"/>
            </a:avLst>
          </a:prstGeom>
          <a:solidFill>
            <a:srgbClr val="1D3D52"/>
          </a:solidFill>
          <a:ln/>
        </p:spPr>
        <p:txBody>
          <a:bodyPr/>
          <a:lstStyle/>
          <a:p>
            <a:endParaRPr lang="en-US"/>
          </a:p>
        </p:txBody>
      </p:sp>
      <p:sp>
        <p:nvSpPr>
          <p:cNvPr id="21" name="Shape 19"/>
          <p:cNvSpPr/>
          <p:nvPr/>
        </p:nvSpPr>
        <p:spPr>
          <a:xfrm>
            <a:off x="6446520" y="4709160"/>
            <a:ext cx="384048" cy="384048"/>
          </a:xfrm>
          <a:prstGeom prst="ellipse">
            <a:avLst/>
          </a:prstGeom>
          <a:solidFill>
            <a:srgbClr val="1C7293"/>
          </a:solidFill>
          <a:ln/>
        </p:spPr>
        <p:txBody>
          <a:bodyPr/>
          <a:lstStyle/>
          <a:p>
            <a:endParaRPr lang="en-US"/>
          </a:p>
        </p:txBody>
      </p:sp>
      <p:sp>
        <p:nvSpPr>
          <p:cNvPr id="22" name="Text 20"/>
          <p:cNvSpPr/>
          <p:nvPr/>
        </p:nvSpPr>
        <p:spPr>
          <a:xfrm>
            <a:off x="6446520" y="470916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3" name="Text 21"/>
          <p:cNvSpPr/>
          <p:nvPr/>
        </p:nvSpPr>
        <p:spPr>
          <a:xfrm>
            <a:off x="6976872" y="425196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99.99% — redundancy improves it</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Q8 — Answer</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Dependencies multiply; you are less reliable than every part you use</a:t>
            </a:r>
            <a:endParaRPr lang="en-US" sz="1500" dirty="0"/>
          </a:p>
        </p:txBody>
      </p:sp>
      <p:sp>
        <p:nvSpPr>
          <p:cNvPr id="4" name="Shape 2"/>
          <p:cNvSpPr/>
          <p:nvPr/>
        </p:nvSpPr>
        <p:spPr>
          <a:xfrm>
            <a:off x="777240" y="1463040"/>
            <a:ext cx="10607040" cy="822960"/>
          </a:xfrm>
          <a:prstGeom prst="roundRect">
            <a:avLst>
              <a:gd name="adj" fmla="val 6667"/>
            </a:avLst>
          </a:prstGeom>
          <a:solidFill>
            <a:srgbClr val="2E7D5B"/>
          </a:solidFill>
          <a:ln/>
        </p:spPr>
        <p:txBody>
          <a:bodyPr/>
          <a:lstStyle/>
          <a:p>
            <a:endParaRPr lang="en-US"/>
          </a:p>
        </p:txBody>
      </p:sp>
      <p:sp>
        <p:nvSpPr>
          <p:cNvPr id="5" name="Text 3"/>
          <p:cNvSpPr/>
          <p:nvPr/>
        </p:nvSpPr>
        <p:spPr>
          <a:xfrm>
            <a:off x="1097280" y="1463040"/>
            <a:ext cx="10058400" cy="822960"/>
          </a:xfrm>
          <a:prstGeom prst="rect">
            <a:avLst/>
          </a:prstGeom>
          <a:noFill/>
          <a:ln/>
        </p:spPr>
        <p:txBody>
          <a:bodyPr wrap="square" lIns="0" tIns="0" rIns="0" bIns="0" rtlCol="0" anchor="ctr"/>
          <a:lstStyle/>
          <a:p>
            <a:pPr marL="0" indent="0">
              <a:lnSpc>
                <a:spcPts val="2100"/>
              </a:lnSpc>
              <a:buNone/>
            </a:pPr>
            <a:r>
              <a:rPr lang="en-US" sz="1600" b="1" dirty="0">
                <a:solidFill>
                  <a:srgbClr val="FFFFFF"/>
                </a:solidFill>
                <a:latin typeface="Calibri" pitchFamily="34" charset="0"/>
                <a:ea typeface="Calibri" pitchFamily="34" charset="-122"/>
                <a:cs typeface="Calibri" pitchFamily="34" charset="-120"/>
              </a:rPr>
              <a:t>B — About 99.5%</a:t>
            </a:r>
            <a:endParaRPr lang="en-US" sz="1600" dirty="0"/>
          </a:p>
        </p:txBody>
      </p:sp>
      <p:sp>
        <p:nvSpPr>
          <p:cNvPr id="6" name="Shape 4"/>
          <p:cNvSpPr/>
          <p:nvPr/>
        </p:nvSpPr>
        <p:spPr>
          <a:xfrm>
            <a:off x="777240" y="2423160"/>
            <a:ext cx="10607040" cy="960120"/>
          </a:xfrm>
          <a:prstGeom prst="roundRect">
            <a:avLst>
              <a:gd name="adj" fmla="val 5714"/>
            </a:avLst>
          </a:prstGeom>
          <a:solidFill>
            <a:srgbClr val="F4F7F9"/>
          </a:solidFill>
          <a:ln w="12700">
            <a:solidFill>
              <a:srgbClr val="E1E8ED"/>
            </a:solidFill>
            <a:prstDash val="solid"/>
          </a:ln>
        </p:spPr>
        <p:txBody>
          <a:bodyPr/>
          <a:lstStyle/>
          <a:p>
            <a:endParaRPr lang="en-US"/>
          </a:p>
        </p:txBody>
      </p:sp>
      <p:sp>
        <p:nvSpPr>
          <p:cNvPr id="7" name="Text 5"/>
          <p:cNvSpPr/>
          <p:nvPr/>
        </p:nvSpPr>
        <p:spPr>
          <a:xfrm>
            <a:off x="1097280" y="2423160"/>
            <a:ext cx="10058400" cy="960120"/>
          </a:xfrm>
          <a:prstGeom prst="rect">
            <a:avLst/>
          </a:prstGeom>
          <a:noFill/>
          <a:ln/>
        </p:spPr>
        <p:txBody>
          <a:bodyPr wrap="square" lIns="0" tIns="0" rIns="0" bIns="0" rtlCol="0" anchor="ctr"/>
          <a:lstStyle/>
          <a:p>
            <a:pPr marL="0" indent="0">
              <a:lnSpc>
                <a:spcPts val="1900"/>
              </a:lnSpc>
              <a:buNone/>
            </a:pPr>
            <a:r>
              <a:rPr lang="en-US" sz="1350" dirty="0">
                <a:solidFill>
                  <a:srgbClr val="1B2A33"/>
                </a:solidFill>
                <a:latin typeface="Calibri" pitchFamily="34" charset="0"/>
                <a:ea typeface="Calibri" pitchFamily="34" charset="-122"/>
                <a:cs typeface="Calibri" pitchFamily="34" charset="-120"/>
              </a:rPr>
              <a:t>Availability of a chain is the product of its parts: 0.999 multiplied by itself five times is about 0.995. That turns roughly 8.8 hours of yearly downtime into roughly 44 hours — five times worse, purely from having five dependencies.</a:t>
            </a:r>
            <a:endParaRPr lang="en-US" sz="1350" dirty="0"/>
          </a:p>
        </p:txBody>
      </p:sp>
      <p:sp>
        <p:nvSpPr>
          <p:cNvPr id="8" name="Text 6"/>
          <p:cNvSpPr/>
          <p:nvPr/>
        </p:nvSpPr>
        <p:spPr>
          <a:xfrm>
            <a:off x="777240" y="3520440"/>
            <a:ext cx="5486400" cy="320040"/>
          </a:xfrm>
          <a:prstGeom prst="rect">
            <a:avLst/>
          </a:prstGeom>
          <a:noFill/>
          <a:ln/>
        </p:spPr>
        <p:txBody>
          <a:bodyPr wrap="square" lIns="0" tIns="0" rIns="0" bIns="0" rtlCol="0" anchor="ctr"/>
          <a:lstStyle/>
          <a:p>
            <a:pPr marL="0" indent="0">
              <a:buNone/>
            </a:pPr>
            <a:r>
              <a:rPr lang="en-US" sz="1300" b="1" dirty="0">
                <a:solidFill>
                  <a:srgbClr val="A03A3A"/>
                </a:solidFill>
                <a:latin typeface="Calibri" pitchFamily="34" charset="0"/>
                <a:ea typeface="Calibri" pitchFamily="34" charset="-122"/>
                <a:cs typeface="Calibri" pitchFamily="34" charset="-120"/>
              </a:rPr>
              <a:t>Why the others fail</a:t>
            </a:r>
            <a:endParaRPr lang="en-US" sz="1300" dirty="0"/>
          </a:p>
        </p:txBody>
      </p:sp>
      <p:sp>
        <p:nvSpPr>
          <p:cNvPr id="9" name="Shape 7"/>
          <p:cNvSpPr/>
          <p:nvPr/>
        </p:nvSpPr>
        <p:spPr>
          <a:xfrm>
            <a:off x="777240" y="3886200"/>
            <a:ext cx="10607040" cy="493776"/>
          </a:xfrm>
          <a:prstGeom prst="roundRect">
            <a:avLst>
              <a:gd name="adj" fmla="val 7407"/>
            </a:avLst>
          </a:prstGeom>
          <a:solidFill>
            <a:srgbClr val="FFFFFF"/>
          </a:solidFill>
          <a:ln w="12700">
            <a:solidFill>
              <a:srgbClr val="E8D5D1"/>
            </a:solidFill>
            <a:prstDash val="solid"/>
          </a:ln>
        </p:spPr>
        <p:txBody>
          <a:bodyPr/>
          <a:lstStyle/>
          <a:p>
            <a:endParaRPr lang="en-US"/>
          </a:p>
        </p:txBody>
      </p:sp>
      <p:sp>
        <p:nvSpPr>
          <p:cNvPr id="10" name="Shape 8"/>
          <p:cNvSpPr/>
          <p:nvPr/>
        </p:nvSpPr>
        <p:spPr>
          <a:xfrm>
            <a:off x="1005840" y="3977640"/>
            <a:ext cx="310896" cy="310896"/>
          </a:xfrm>
          <a:prstGeom prst="ellipse">
            <a:avLst/>
          </a:prstGeom>
          <a:solidFill>
            <a:srgbClr val="A03A3A"/>
          </a:solidFill>
          <a:ln/>
        </p:spPr>
        <p:txBody>
          <a:bodyPr/>
          <a:lstStyle/>
          <a:p>
            <a:endParaRPr lang="en-US"/>
          </a:p>
        </p:txBody>
      </p:sp>
      <p:sp>
        <p:nvSpPr>
          <p:cNvPr id="11" name="Text 9"/>
          <p:cNvSpPr/>
          <p:nvPr/>
        </p:nvSpPr>
        <p:spPr>
          <a:xfrm>
            <a:off x="1005840" y="3977640"/>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2" name="Text 10"/>
          <p:cNvSpPr/>
          <p:nvPr/>
        </p:nvSpPr>
        <p:spPr>
          <a:xfrm>
            <a:off x="1463040" y="3886200"/>
            <a:ext cx="9692640" cy="49377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Your availability can never exceed that of the weakest thing you depend on, let alone match it while depending on five.</a:t>
            </a:r>
            <a:endParaRPr lang="en-US" sz="1250" dirty="0"/>
          </a:p>
        </p:txBody>
      </p:sp>
      <p:sp>
        <p:nvSpPr>
          <p:cNvPr id="13" name="Shape 11"/>
          <p:cNvSpPr/>
          <p:nvPr/>
        </p:nvSpPr>
        <p:spPr>
          <a:xfrm>
            <a:off x="777240" y="4453128"/>
            <a:ext cx="10607040" cy="493776"/>
          </a:xfrm>
          <a:prstGeom prst="roundRect">
            <a:avLst>
              <a:gd name="adj" fmla="val 7407"/>
            </a:avLst>
          </a:prstGeom>
          <a:solidFill>
            <a:srgbClr val="FDF0EE"/>
          </a:solidFill>
          <a:ln w="12700">
            <a:solidFill>
              <a:srgbClr val="E8D5D1"/>
            </a:solidFill>
            <a:prstDash val="solid"/>
          </a:ln>
        </p:spPr>
        <p:txBody>
          <a:bodyPr/>
          <a:lstStyle/>
          <a:p>
            <a:endParaRPr lang="en-US"/>
          </a:p>
        </p:txBody>
      </p:sp>
      <p:sp>
        <p:nvSpPr>
          <p:cNvPr id="14" name="Shape 12"/>
          <p:cNvSpPr/>
          <p:nvPr/>
        </p:nvSpPr>
        <p:spPr>
          <a:xfrm>
            <a:off x="1005840" y="4544568"/>
            <a:ext cx="310896" cy="310896"/>
          </a:xfrm>
          <a:prstGeom prst="ellipse">
            <a:avLst/>
          </a:prstGeom>
          <a:solidFill>
            <a:srgbClr val="A03A3A"/>
          </a:solidFill>
          <a:ln/>
        </p:spPr>
        <p:txBody>
          <a:bodyPr/>
          <a:lstStyle/>
          <a:p>
            <a:endParaRPr lang="en-US"/>
          </a:p>
        </p:txBody>
      </p:sp>
      <p:sp>
        <p:nvSpPr>
          <p:cNvPr id="15" name="Text 13"/>
          <p:cNvSpPr/>
          <p:nvPr/>
        </p:nvSpPr>
        <p:spPr>
          <a:xfrm>
            <a:off x="1005840" y="4544568"/>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16" name="Text 14"/>
          <p:cNvSpPr/>
          <p:nvPr/>
        </p:nvSpPr>
        <p:spPr>
          <a:xfrm>
            <a:off x="1463040" y="4453128"/>
            <a:ext cx="9692640" cy="49377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That would be the result if each dependency were around 99%, not 99.9%. An order of magnitude too pessimistic.</a:t>
            </a:r>
            <a:endParaRPr lang="en-US" sz="1250" dirty="0"/>
          </a:p>
        </p:txBody>
      </p:sp>
      <p:sp>
        <p:nvSpPr>
          <p:cNvPr id="17" name="Shape 15"/>
          <p:cNvSpPr/>
          <p:nvPr/>
        </p:nvSpPr>
        <p:spPr>
          <a:xfrm>
            <a:off x="777240" y="5020056"/>
            <a:ext cx="10607040" cy="493776"/>
          </a:xfrm>
          <a:prstGeom prst="roundRect">
            <a:avLst>
              <a:gd name="adj" fmla="val 7407"/>
            </a:avLst>
          </a:prstGeom>
          <a:solidFill>
            <a:srgbClr val="FFFFFF"/>
          </a:solidFill>
          <a:ln w="12700">
            <a:solidFill>
              <a:srgbClr val="E8D5D1"/>
            </a:solidFill>
            <a:prstDash val="solid"/>
          </a:ln>
        </p:spPr>
        <p:txBody>
          <a:bodyPr/>
          <a:lstStyle/>
          <a:p>
            <a:endParaRPr lang="en-US"/>
          </a:p>
        </p:txBody>
      </p:sp>
      <p:sp>
        <p:nvSpPr>
          <p:cNvPr id="18" name="Shape 16"/>
          <p:cNvSpPr/>
          <p:nvPr/>
        </p:nvSpPr>
        <p:spPr>
          <a:xfrm>
            <a:off x="1005840" y="5111496"/>
            <a:ext cx="310896" cy="310896"/>
          </a:xfrm>
          <a:prstGeom prst="ellipse">
            <a:avLst/>
          </a:prstGeom>
          <a:solidFill>
            <a:srgbClr val="A03A3A"/>
          </a:solidFill>
          <a:ln/>
        </p:spPr>
        <p:txBody>
          <a:bodyPr/>
          <a:lstStyle/>
          <a:p>
            <a:endParaRPr lang="en-US"/>
          </a:p>
        </p:txBody>
      </p:sp>
      <p:sp>
        <p:nvSpPr>
          <p:cNvPr id="19" name="Text 17"/>
          <p:cNvSpPr/>
          <p:nvPr/>
        </p:nvSpPr>
        <p:spPr>
          <a:xfrm>
            <a:off x="1005840" y="5111496"/>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t>
            </a:r>
            <a:endParaRPr lang="en-US" sz="1100" dirty="0"/>
          </a:p>
        </p:txBody>
      </p:sp>
      <p:sp>
        <p:nvSpPr>
          <p:cNvPr id="20" name="Text 18"/>
          <p:cNvSpPr/>
          <p:nvPr/>
        </p:nvSpPr>
        <p:spPr>
          <a:xfrm>
            <a:off x="1463040" y="5020056"/>
            <a:ext cx="9692640" cy="49377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Redundancy adds nines only when components are parallel alternatives. These five are all required, so they are in series.</a:t>
            </a:r>
            <a:endParaRPr lang="en-US" sz="1250" dirty="0"/>
          </a:p>
        </p:txBody>
      </p:sp>
      <p:sp>
        <p:nvSpPr>
          <p:cNvPr id="21" name="Shape 19"/>
          <p:cNvSpPr/>
          <p:nvPr/>
        </p:nvSpPr>
        <p:spPr>
          <a:xfrm>
            <a:off x="777240" y="5751576"/>
            <a:ext cx="10607040" cy="713232"/>
          </a:xfrm>
          <a:prstGeom prst="roundRect">
            <a:avLst>
              <a:gd name="adj" fmla="val 7692"/>
            </a:avLst>
          </a:prstGeom>
          <a:solidFill>
            <a:srgbClr val="FDF3E3"/>
          </a:solidFill>
          <a:ln w="16510">
            <a:solidFill>
              <a:srgbClr val="E8A33D"/>
            </a:solidFill>
            <a:prstDash val="solid"/>
          </a:ln>
        </p:spPr>
        <p:txBody>
          <a:bodyPr/>
          <a:lstStyle/>
          <a:p>
            <a:endParaRPr lang="en-US"/>
          </a:p>
        </p:txBody>
      </p:sp>
      <p:sp>
        <p:nvSpPr>
          <p:cNvPr id="22" name="Text 20"/>
          <p:cNvSpPr/>
          <p:nvPr/>
        </p:nvSpPr>
        <p:spPr>
          <a:xfrm>
            <a:off x="1097280" y="5751576"/>
            <a:ext cx="10058400" cy="713232"/>
          </a:xfrm>
          <a:prstGeom prst="rect">
            <a:avLst/>
          </a:prstGeom>
          <a:noFill/>
          <a:ln/>
        </p:spPr>
        <p:txBody>
          <a:bodyPr wrap="square" lIns="0" tIns="0" rIns="0" bIns="0" rtlCol="0" anchor="ctr"/>
          <a:lstStyle/>
          <a:p>
            <a:pPr marL="0" indent="0">
              <a:lnSpc>
                <a:spcPts val="1800"/>
              </a:lnSpc>
              <a:buNone/>
            </a:pPr>
            <a:r>
              <a:rPr lang="en-US" sz="1300" b="1" dirty="0">
                <a:solidFill>
                  <a:srgbClr val="8A5A12"/>
                </a:solidFill>
                <a:latin typeface="Calibri" pitchFamily="34" charset="0"/>
                <a:ea typeface="Calibri" pitchFamily="34" charset="-122"/>
                <a:cs typeface="Calibri" pitchFamily="34" charset="-120"/>
              </a:rPr>
              <a:t>Interview follow-up:  </a:t>
            </a:r>
            <a:r>
              <a:rPr lang="en-US" sz="1300" dirty="0">
                <a:solidFill>
                  <a:srgbClr val="1B2A33"/>
                </a:solidFill>
                <a:latin typeface="Calibri" pitchFamily="34" charset="0"/>
                <a:ea typeface="Calibri" pitchFamily="34" charset="-122"/>
                <a:cs typeface="Calibri" pitchFamily="34" charset="-120"/>
              </a:rPr>
              <a:t>Redesign it so one slow dependency cannot take the whole page down.</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777240" y="548640"/>
            <a:ext cx="1234440" cy="457200"/>
          </a:xfrm>
          <a:prstGeom prst="roundRect">
            <a:avLst>
              <a:gd name="adj" fmla="val 40000"/>
            </a:avLst>
          </a:prstGeom>
          <a:solidFill>
            <a:srgbClr val="E8A33D"/>
          </a:solidFill>
          <a:ln/>
        </p:spPr>
        <p:txBody>
          <a:bodyPr/>
          <a:lstStyle/>
          <a:p>
            <a:endParaRPr lang="en-US"/>
          </a:p>
        </p:txBody>
      </p:sp>
      <p:sp>
        <p:nvSpPr>
          <p:cNvPr id="3" name="Text 1"/>
          <p:cNvSpPr/>
          <p:nvPr/>
        </p:nvSpPr>
        <p:spPr>
          <a:xfrm>
            <a:off x="777240" y="548640"/>
            <a:ext cx="1234440" cy="457200"/>
          </a:xfrm>
          <a:prstGeom prst="rect">
            <a:avLst/>
          </a:prstGeom>
          <a:noFill/>
          <a:ln/>
        </p:spPr>
        <p:txBody>
          <a:bodyPr wrap="square" rtlCol="0" anchor="ctr"/>
          <a:lstStyle/>
          <a:p>
            <a:pPr marL="0" indent="0" algn="ctr">
              <a:buNone/>
            </a:pPr>
            <a:r>
              <a:rPr lang="en-US" sz="1500" b="1" dirty="0">
                <a:solidFill>
                  <a:srgbClr val="13293D"/>
                </a:solidFill>
                <a:latin typeface="Calibri" pitchFamily="34" charset="0"/>
                <a:ea typeface="Calibri" pitchFamily="34" charset="-122"/>
                <a:cs typeface="Calibri" pitchFamily="34" charset="-120"/>
              </a:rPr>
              <a:t>Q9</a:t>
            </a:r>
            <a:endParaRPr lang="en-US" sz="1500" dirty="0"/>
          </a:p>
        </p:txBody>
      </p:sp>
      <p:sp>
        <p:nvSpPr>
          <p:cNvPr id="4" name="Shape 2"/>
          <p:cNvSpPr/>
          <p:nvPr/>
        </p:nvSpPr>
        <p:spPr>
          <a:xfrm>
            <a:off x="2194560" y="548640"/>
            <a:ext cx="2743200" cy="457200"/>
          </a:xfrm>
          <a:prstGeom prst="roundRect">
            <a:avLst>
              <a:gd name="adj" fmla="val 40000"/>
            </a:avLst>
          </a:prstGeom>
          <a:solidFill>
            <a:srgbClr val="6B4E71"/>
          </a:solidFill>
          <a:ln/>
        </p:spPr>
        <p:txBody>
          <a:bodyPr/>
          <a:lstStyle/>
          <a:p>
            <a:endParaRPr lang="en-US"/>
          </a:p>
        </p:txBody>
      </p:sp>
      <p:sp>
        <p:nvSpPr>
          <p:cNvPr id="5" name="Text 3"/>
          <p:cNvSpPr/>
          <p:nvPr/>
        </p:nvSpPr>
        <p:spPr>
          <a:xfrm>
            <a:off x="2194560" y="548640"/>
            <a:ext cx="2743200" cy="457200"/>
          </a:xfrm>
          <a:prstGeom prst="rect">
            <a:avLst/>
          </a:prstGeom>
          <a:noFill/>
          <a:ln/>
        </p:spPr>
        <p:txBody>
          <a:bodyPr wrap="square" rtlCol="0" anchor="ctr"/>
          <a:lstStyle/>
          <a:p>
            <a:pPr marL="0" indent="0" algn="ctr">
              <a:buNone/>
            </a:pPr>
            <a:r>
              <a:rPr lang="en-US" sz="1100" b="1" kern="0" spc="120" dirty="0">
                <a:solidFill>
                  <a:srgbClr val="FFFFFF"/>
                </a:solidFill>
                <a:latin typeface="Calibri" pitchFamily="34" charset="0"/>
                <a:ea typeface="Calibri" pitchFamily="34" charset="-122"/>
                <a:cs typeface="Calibri" pitchFamily="34" charset="-120"/>
              </a:rPr>
              <a:t>SELECT ALL THAT APPLY</a:t>
            </a:r>
            <a:endParaRPr lang="en-US" sz="1100" dirty="0"/>
          </a:p>
        </p:txBody>
      </p:sp>
      <p:sp>
        <p:nvSpPr>
          <p:cNvPr id="7" name="Text 5"/>
          <p:cNvSpPr/>
          <p:nvPr/>
        </p:nvSpPr>
        <p:spPr>
          <a:xfrm>
            <a:off x="777240" y="1234440"/>
            <a:ext cx="10607040" cy="1325880"/>
          </a:xfrm>
          <a:prstGeom prst="rect">
            <a:avLst/>
          </a:prstGeom>
          <a:noFill/>
          <a:ln/>
        </p:spPr>
        <p:txBody>
          <a:bodyPr wrap="square" lIns="0" tIns="0" rIns="0" bIns="0" rtlCol="0" anchor="ctr"/>
          <a:lstStyle/>
          <a:p>
            <a:pPr marL="0" indent="0">
              <a:lnSpc>
                <a:spcPts val="3100"/>
              </a:lnSpc>
              <a:buNone/>
            </a:pPr>
            <a:r>
              <a:rPr lang="en-US" sz="2200" b="1" dirty="0">
                <a:solidFill>
                  <a:srgbClr val="FFFFFF"/>
                </a:solidFill>
                <a:latin typeface="Cambria" pitchFamily="34" charset="0"/>
                <a:ea typeface="Cambria" pitchFamily="34" charset="-122"/>
                <a:cs typeface="Cambria" pitchFamily="34" charset="-120"/>
              </a:rPr>
              <a:t>Which of the following are poor candidates for a shared Redis cache?</a:t>
            </a:r>
            <a:endParaRPr lang="en-US" sz="2200" dirty="0"/>
          </a:p>
        </p:txBody>
      </p:sp>
      <p:sp>
        <p:nvSpPr>
          <p:cNvPr id="8" name="Shape 6"/>
          <p:cNvSpPr/>
          <p:nvPr/>
        </p:nvSpPr>
        <p:spPr>
          <a:xfrm>
            <a:off x="777240" y="2788920"/>
            <a:ext cx="5120640" cy="1280160"/>
          </a:xfrm>
          <a:prstGeom prst="roundRect">
            <a:avLst>
              <a:gd name="adj" fmla="val 5000"/>
            </a:avLst>
          </a:prstGeom>
          <a:solidFill>
            <a:srgbClr val="1D3D52"/>
          </a:solidFill>
          <a:ln/>
        </p:spPr>
        <p:txBody>
          <a:bodyPr/>
          <a:lstStyle/>
          <a:p>
            <a:endParaRPr lang="en-US"/>
          </a:p>
        </p:txBody>
      </p:sp>
      <p:sp>
        <p:nvSpPr>
          <p:cNvPr id="9" name="Shape 7"/>
          <p:cNvSpPr/>
          <p:nvPr/>
        </p:nvSpPr>
        <p:spPr>
          <a:xfrm>
            <a:off x="1051560" y="3246120"/>
            <a:ext cx="384048" cy="384048"/>
          </a:xfrm>
          <a:prstGeom prst="ellipse">
            <a:avLst/>
          </a:prstGeom>
          <a:solidFill>
            <a:srgbClr val="1C7293"/>
          </a:solidFill>
          <a:ln/>
        </p:spPr>
        <p:txBody>
          <a:bodyPr/>
          <a:lstStyle/>
          <a:p>
            <a:endParaRPr lang="en-US"/>
          </a:p>
        </p:txBody>
      </p:sp>
      <p:sp>
        <p:nvSpPr>
          <p:cNvPr id="10" name="Text 8"/>
          <p:cNvSpPr/>
          <p:nvPr/>
        </p:nvSpPr>
        <p:spPr>
          <a:xfrm>
            <a:off x="1051560" y="324612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1" name="Text 9"/>
          <p:cNvSpPr/>
          <p:nvPr/>
        </p:nvSpPr>
        <p:spPr>
          <a:xfrm>
            <a:off x="1581912" y="278892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The result of the popular query "men’s shirt"</a:t>
            </a:r>
            <a:endParaRPr lang="en-US" sz="1350" dirty="0"/>
          </a:p>
        </p:txBody>
      </p:sp>
      <p:sp>
        <p:nvSpPr>
          <p:cNvPr id="12" name="Shape 10"/>
          <p:cNvSpPr/>
          <p:nvPr/>
        </p:nvSpPr>
        <p:spPr>
          <a:xfrm>
            <a:off x="6172200" y="2788920"/>
            <a:ext cx="5120640" cy="1280160"/>
          </a:xfrm>
          <a:prstGeom prst="roundRect">
            <a:avLst>
              <a:gd name="adj" fmla="val 5000"/>
            </a:avLst>
          </a:prstGeom>
          <a:solidFill>
            <a:srgbClr val="1D3D52"/>
          </a:solidFill>
          <a:ln/>
        </p:spPr>
        <p:txBody>
          <a:bodyPr/>
          <a:lstStyle/>
          <a:p>
            <a:endParaRPr lang="en-US"/>
          </a:p>
        </p:txBody>
      </p:sp>
      <p:sp>
        <p:nvSpPr>
          <p:cNvPr id="13" name="Shape 11"/>
          <p:cNvSpPr/>
          <p:nvPr/>
        </p:nvSpPr>
        <p:spPr>
          <a:xfrm>
            <a:off x="6446520" y="3246120"/>
            <a:ext cx="384048" cy="384048"/>
          </a:xfrm>
          <a:prstGeom prst="ellipse">
            <a:avLst/>
          </a:prstGeom>
          <a:solidFill>
            <a:srgbClr val="1C7293"/>
          </a:solidFill>
          <a:ln/>
        </p:spPr>
        <p:txBody>
          <a:bodyPr/>
          <a:lstStyle/>
          <a:p>
            <a:endParaRPr lang="en-US"/>
          </a:p>
        </p:txBody>
      </p:sp>
      <p:sp>
        <p:nvSpPr>
          <p:cNvPr id="14" name="Text 12"/>
          <p:cNvSpPr/>
          <p:nvPr/>
        </p:nvSpPr>
        <p:spPr>
          <a:xfrm>
            <a:off x="6446520" y="324612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5" name="Text 13"/>
          <p:cNvSpPr/>
          <p:nvPr/>
        </p:nvSpPr>
        <p:spPr>
          <a:xfrm>
            <a:off x="6976872" y="278892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A user’s shopping cart, stored only in Redis</a:t>
            </a:r>
            <a:endParaRPr lang="en-US" sz="1350" dirty="0"/>
          </a:p>
        </p:txBody>
      </p:sp>
      <p:sp>
        <p:nvSpPr>
          <p:cNvPr id="16" name="Shape 14"/>
          <p:cNvSpPr/>
          <p:nvPr/>
        </p:nvSpPr>
        <p:spPr>
          <a:xfrm>
            <a:off x="777240" y="4251960"/>
            <a:ext cx="5120640" cy="1280160"/>
          </a:xfrm>
          <a:prstGeom prst="roundRect">
            <a:avLst>
              <a:gd name="adj" fmla="val 5000"/>
            </a:avLst>
          </a:prstGeom>
          <a:solidFill>
            <a:srgbClr val="1D3D52"/>
          </a:solidFill>
          <a:ln/>
        </p:spPr>
        <p:txBody>
          <a:bodyPr/>
          <a:lstStyle/>
          <a:p>
            <a:endParaRPr lang="en-US"/>
          </a:p>
        </p:txBody>
      </p:sp>
      <p:sp>
        <p:nvSpPr>
          <p:cNvPr id="17" name="Shape 15"/>
          <p:cNvSpPr/>
          <p:nvPr/>
        </p:nvSpPr>
        <p:spPr>
          <a:xfrm>
            <a:off x="1051560" y="4709160"/>
            <a:ext cx="384048" cy="384048"/>
          </a:xfrm>
          <a:prstGeom prst="ellipse">
            <a:avLst/>
          </a:prstGeom>
          <a:solidFill>
            <a:srgbClr val="1C7293"/>
          </a:solidFill>
          <a:ln/>
        </p:spPr>
        <p:txBody>
          <a:bodyPr/>
          <a:lstStyle/>
          <a:p>
            <a:endParaRPr lang="en-US"/>
          </a:p>
        </p:txBody>
      </p:sp>
      <p:sp>
        <p:nvSpPr>
          <p:cNvPr id="18" name="Text 16"/>
          <p:cNvSpPr/>
          <p:nvPr/>
        </p:nvSpPr>
        <p:spPr>
          <a:xfrm>
            <a:off x="1051560" y="470916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9" name="Text 17"/>
          <p:cNvSpPr/>
          <p:nvPr/>
        </p:nvSpPr>
        <p:spPr>
          <a:xfrm>
            <a:off x="1581912" y="425196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A rare query like "blue slim cotton shirt size 42 under 800"</a:t>
            </a:r>
            <a:endParaRPr lang="en-US" sz="1350" dirty="0"/>
          </a:p>
        </p:txBody>
      </p:sp>
      <p:sp>
        <p:nvSpPr>
          <p:cNvPr id="20" name="Shape 18"/>
          <p:cNvSpPr/>
          <p:nvPr/>
        </p:nvSpPr>
        <p:spPr>
          <a:xfrm>
            <a:off x="6172200" y="4251960"/>
            <a:ext cx="5120640" cy="1280160"/>
          </a:xfrm>
          <a:prstGeom prst="roundRect">
            <a:avLst>
              <a:gd name="adj" fmla="val 5000"/>
            </a:avLst>
          </a:prstGeom>
          <a:solidFill>
            <a:srgbClr val="1D3D52"/>
          </a:solidFill>
          <a:ln/>
        </p:spPr>
        <p:txBody>
          <a:bodyPr/>
          <a:lstStyle/>
          <a:p>
            <a:endParaRPr lang="en-US"/>
          </a:p>
        </p:txBody>
      </p:sp>
      <p:sp>
        <p:nvSpPr>
          <p:cNvPr id="21" name="Shape 19"/>
          <p:cNvSpPr/>
          <p:nvPr/>
        </p:nvSpPr>
        <p:spPr>
          <a:xfrm>
            <a:off x="6446520" y="4709160"/>
            <a:ext cx="384048" cy="384048"/>
          </a:xfrm>
          <a:prstGeom prst="ellipse">
            <a:avLst/>
          </a:prstGeom>
          <a:solidFill>
            <a:srgbClr val="1C7293"/>
          </a:solidFill>
          <a:ln/>
        </p:spPr>
        <p:txBody>
          <a:bodyPr/>
          <a:lstStyle/>
          <a:p>
            <a:endParaRPr lang="en-US"/>
          </a:p>
        </p:txBody>
      </p:sp>
      <p:sp>
        <p:nvSpPr>
          <p:cNvPr id="22" name="Text 20"/>
          <p:cNvSpPr/>
          <p:nvPr/>
        </p:nvSpPr>
        <p:spPr>
          <a:xfrm>
            <a:off x="6446520" y="470916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3" name="Text 21"/>
          <p:cNvSpPr/>
          <p:nvPr/>
        </p:nvSpPr>
        <p:spPr>
          <a:xfrm>
            <a:off x="6976872" y="425196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Catalogue details for current best-selling products</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Q9 — Answer</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Cache what is popular, repeated and reproducible</a:t>
            </a:r>
            <a:endParaRPr lang="en-US" sz="1500" dirty="0"/>
          </a:p>
        </p:txBody>
      </p:sp>
      <p:sp>
        <p:nvSpPr>
          <p:cNvPr id="4" name="Shape 2"/>
          <p:cNvSpPr/>
          <p:nvPr/>
        </p:nvSpPr>
        <p:spPr>
          <a:xfrm>
            <a:off x="777240" y="1463040"/>
            <a:ext cx="10607040" cy="822960"/>
          </a:xfrm>
          <a:prstGeom prst="roundRect">
            <a:avLst>
              <a:gd name="adj" fmla="val 6667"/>
            </a:avLst>
          </a:prstGeom>
          <a:solidFill>
            <a:srgbClr val="2E7D5B"/>
          </a:solidFill>
          <a:ln/>
        </p:spPr>
        <p:txBody>
          <a:bodyPr/>
          <a:lstStyle/>
          <a:p>
            <a:endParaRPr lang="en-US"/>
          </a:p>
        </p:txBody>
      </p:sp>
      <p:sp>
        <p:nvSpPr>
          <p:cNvPr id="5" name="Text 3"/>
          <p:cNvSpPr/>
          <p:nvPr/>
        </p:nvSpPr>
        <p:spPr>
          <a:xfrm>
            <a:off x="1097280" y="1463040"/>
            <a:ext cx="10058400" cy="822960"/>
          </a:xfrm>
          <a:prstGeom prst="rect">
            <a:avLst/>
          </a:prstGeom>
          <a:noFill/>
          <a:ln/>
        </p:spPr>
        <p:txBody>
          <a:bodyPr wrap="square" lIns="0" tIns="0" rIns="0" bIns="0" rtlCol="0" anchor="ctr"/>
          <a:lstStyle/>
          <a:p>
            <a:pPr marL="0" indent="0">
              <a:lnSpc>
                <a:spcPts val="2100"/>
              </a:lnSpc>
              <a:buNone/>
            </a:pPr>
            <a:r>
              <a:rPr lang="en-US" sz="1600" b="1" dirty="0">
                <a:solidFill>
                  <a:srgbClr val="FFFFFF"/>
                </a:solidFill>
                <a:latin typeface="Calibri" pitchFamily="34" charset="0"/>
                <a:ea typeface="Calibri" pitchFamily="34" charset="-122"/>
                <a:cs typeface="Calibri" pitchFamily="34" charset="-120"/>
              </a:rPr>
              <a:t>B and C are poor candidates.  A and D are ideal.</a:t>
            </a:r>
            <a:endParaRPr lang="en-US" sz="1600" dirty="0"/>
          </a:p>
        </p:txBody>
      </p:sp>
      <p:sp>
        <p:nvSpPr>
          <p:cNvPr id="6" name="Shape 4"/>
          <p:cNvSpPr/>
          <p:nvPr/>
        </p:nvSpPr>
        <p:spPr>
          <a:xfrm>
            <a:off x="777240" y="2423160"/>
            <a:ext cx="10607040" cy="960120"/>
          </a:xfrm>
          <a:prstGeom prst="roundRect">
            <a:avLst>
              <a:gd name="adj" fmla="val 5714"/>
            </a:avLst>
          </a:prstGeom>
          <a:solidFill>
            <a:srgbClr val="F4F7F9"/>
          </a:solidFill>
          <a:ln w="12700">
            <a:solidFill>
              <a:srgbClr val="E1E8ED"/>
            </a:solidFill>
            <a:prstDash val="solid"/>
          </a:ln>
        </p:spPr>
        <p:txBody>
          <a:bodyPr/>
          <a:lstStyle/>
          <a:p>
            <a:endParaRPr lang="en-US"/>
          </a:p>
        </p:txBody>
      </p:sp>
      <p:sp>
        <p:nvSpPr>
          <p:cNvPr id="7" name="Text 5"/>
          <p:cNvSpPr/>
          <p:nvPr/>
        </p:nvSpPr>
        <p:spPr>
          <a:xfrm>
            <a:off x="1097280" y="2423160"/>
            <a:ext cx="10058400" cy="960120"/>
          </a:xfrm>
          <a:prstGeom prst="rect">
            <a:avLst/>
          </a:prstGeom>
          <a:noFill/>
          <a:ln/>
        </p:spPr>
        <p:txBody>
          <a:bodyPr wrap="square" lIns="0" tIns="0" rIns="0" bIns="0" rtlCol="0" anchor="ctr"/>
          <a:lstStyle/>
          <a:p>
            <a:pPr marL="0" indent="0">
              <a:lnSpc>
                <a:spcPts val="1900"/>
              </a:lnSpc>
              <a:buNone/>
            </a:pPr>
            <a:r>
              <a:rPr lang="en-US" sz="1350" dirty="0">
                <a:solidFill>
                  <a:srgbClr val="1B2A33"/>
                </a:solidFill>
                <a:latin typeface="Calibri" pitchFamily="34" charset="0"/>
                <a:ea typeface="Calibri" pitchFamily="34" charset="-122"/>
                <a:cs typeface="Calibri" pitchFamily="34" charset="-120"/>
              </a:rPr>
              <a:t>A cache is fast but expendable — entries expire and get evicted under memory pressure. Good candidates are read often, change rarely, and can always be rebuilt from the database. A and D fit that perfectly.</a:t>
            </a:r>
            <a:endParaRPr lang="en-US" sz="1350" dirty="0"/>
          </a:p>
        </p:txBody>
      </p:sp>
      <p:sp>
        <p:nvSpPr>
          <p:cNvPr id="8" name="Text 6"/>
          <p:cNvSpPr/>
          <p:nvPr/>
        </p:nvSpPr>
        <p:spPr>
          <a:xfrm>
            <a:off x="777240" y="3520440"/>
            <a:ext cx="5486400" cy="320040"/>
          </a:xfrm>
          <a:prstGeom prst="rect">
            <a:avLst/>
          </a:prstGeom>
          <a:noFill/>
          <a:ln/>
        </p:spPr>
        <p:txBody>
          <a:bodyPr wrap="square" lIns="0" tIns="0" rIns="0" bIns="0" rtlCol="0" anchor="ctr"/>
          <a:lstStyle/>
          <a:p>
            <a:pPr marL="0" indent="0">
              <a:buNone/>
            </a:pPr>
            <a:r>
              <a:rPr lang="en-US" sz="1300" b="1" dirty="0">
                <a:solidFill>
                  <a:srgbClr val="A03A3A"/>
                </a:solidFill>
                <a:latin typeface="Calibri" pitchFamily="34" charset="0"/>
                <a:ea typeface="Calibri" pitchFamily="34" charset="-122"/>
                <a:cs typeface="Calibri" pitchFamily="34" charset="-120"/>
              </a:rPr>
              <a:t>Why the others fail</a:t>
            </a:r>
            <a:endParaRPr lang="en-US" sz="1300" dirty="0"/>
          </a:p>
        </p:txBody>
      </p:sp>
      <p:sp>
        <p:nvSpPr>
          <p:cNvPr id="9" name="Shape 7"/>
          <p:cNvSpPr/>
          <p:nvPr/>
        </p:nvSpPr>
        <p:spPr>
          <a:xfrm>
            <a:off x="777240" y="3886200"/>
            <a:ext cx="10607040" cy="493776"/>
          </a:xfrm>
          <a:prstGeom prst="roundRect">
            <a:avLst>
              <a:gd name="adj" fmla="val 7407"/>
            </a:avLst>
          </a:prstGeom>
          <a:solidFill>
            <a:srgbClr val="FFFFFF"/>
          </a:solidFill>
          <a:ln w="12700">
            <a:solidFill>
              <a:srgbClr val="E8D5D1"/>
            </a:solidFill>
            <a:prstDash val="solid"/>
          </a:ln>
        </p:spPr>
        <p:txBody>
          <a:bodyPr/>
          <a:lstStyle/>
          <a:p>
            <a:endParaRPr lang="en-US"/>
          </a:p>
        </p:txBody>
      </p:sp>
      <p:sp>
        <p:nvSpPr>
          <p:cNvPr id="10" name="Shape 8"/>
          <p:cNvSpPr/>
          <p:nvPr/>
        </p:nvSpPr>
        <p:spPr>
          <a:xfrm>
            <a:off x="1005840" y="3977640"/>
            <a:ext cx="310896" cy="310896"/>
          </a:xfrm>
          <a:prstGeom prst="ellipse">
            <a:avLst/>
          </a:prstGeom>
          <a:solidFill>
            <a:srgbClr val="A03A3A"/>
          </a:solidFill>
          <a:ln/>
        </p:spPr>
        <p:txBody>
          <a:bodyPr/>
          <a:lstStyle/>
          <a:p>
            <a:endParaRPr lang="en-US"/>
          </a:p>
        </p:txBody>
      </p:sp>
      <p:sp>
        <p:nvSpPr>
          <p:cNvPr id="11" name="Text 9"/>
          <p:cNvSpPr/>
          <p:nvPr/>
        </p:nvSpPr>
        <p:spPr>
          <a:xfrm>
            <a:off x="1005840" y="3977640"/>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2" name="Text 10"/>
          <p:cNvSpPr/>
          <p:nvPr/>
        </p:nvSpPr>
        <p:spPr>
          <a:xfrm>
            <a:off x="1463040" y="3886200"/>
            <a:ext cx="9692640" cy="49377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A cart is durable, personal data. If Redis evicts it, the user’s cart is simply gone. Store it in a database and cache it if needed.</a:t>
            </a:r>
            <a:endParaRPr lang="en-US" sz="1250" dirty="0"/>
          </a:p>
        </p:txBody>
      </p:sp>
      <p:sp>
        <p:nvSpPr>
          <p:cNvPr id="13" name="Shape 11"/>
          <p:cNvSpPr/>
          <p:nvPr/>
        </p:nvSpPr>
        <p:spPr>
          <a:xfrm>
            <a:off x="777240" y="4453128"/>
            <a:ext cx="10607040" cy="493776"/>
          </a:xfrm>
          <a:prstGeom prst="roundRect">
            <a:avLst>
              <a:gd name="adj" fmla="val 7407"/>
            </a:avLst>
          </a:prstGeom>
          <a:solidFill>
            <a:srgbClr val="FDF0EE"/>
          </a:solidFill>
          <a:ln w="12700">
            <a:solidFill>
              <a:srgbClr val="E8D5D1"/>
            </a:solidFill>
            <a:prstDash val="solid"/>
          </a:ln>
        </p:spPr>
        <p:txBody>
          <a:bodyPr/>
          <a:lstStyle/>
          <a:p>
            <a:endParaRPr lang="en-US"/>
          </a:p>
        </p:txBody>
      </p:sp>
      <p:sp>
        <p:nvSpPr>
          <p:cNvPr id="14" name="Shape 12"/>
          <p:cNvSpPr/>
          <p:nvPr/>
        </p:nvSpPr>
        <p:spPr>
          <a:xfrm>
            <a:off x="1005840" y="4544568"/>
            <a:ext cx="310896" cy="310896"/>
          </a:xfrm>
          <a:prstGeom prst="ellipse">
            <a:avLst/>
          </a:prstGeom>
          <a:solidFill>
            <a:srgbClr val="A03A3A"/>
          </a:solidFill>
          <a:ln/>
        </p:spPr>
        <p:txBody>
          <a:bodyPr/>
          <a:lstStyle/>
          <a:p>
            <a:endParaRPr lang="en-US"/>
          </a:p>
        </p:txBody>
      </p:sp>
      <p:sp>
        <p:nvSpPr>
          <p:cNvPr id="15" name="Text 13"/>
          <p:cNvSpPr/>
          <p:nvPr/>
        </p:nvSpPr>
        <p:spPr>
          <a:xfrm>
            <a:off x="1005840" y="4544568"/>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16" name="Text 14"/>
          <p:cNvSpPr/>
          <p:nvPr/>
        </p:nvSpPr>
        <p:spPr>
          <a:xfrm>
            <a:off x="1463040" y="4453128"/>
            <a:ext cx="9692640" cy="49377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A query almost nobody repeats has a near-zero hit rate. It occupies memory that a popular query could have used.</a:t>
            </a:r>
            <a:endParaRPr lang="en-US" sz="1250" dirty="0"/>
          </a:p>
        </p:txBody>
      </p:sp>
      <p:sp>
        <p:nvSpPr>
          <p:cNvPr id="17" name="Shape 15"/>
          <p:cNvSpPr/>
          <p:nvPr/>
        </p:nvSpPr>
        <p:spPr>
          <a:xfrm>
            <a:off x="777240" y="5184648"/>
            <a:ext cx="10607040" cy="713232"/>
          </a:xfrm>
          <a:prstGeom prst="roundRect">
            <a:avLst>
              <a:gd name="adj" fmla="val 7692"/>
            </a:avLst>
          </a:prstGeom>
          <a:solidFill>
            <a:srgbClr val="FDF3E3"/>
          </a:solidFill>
          <a:ln w="16510">
            <a:solidFill>
              <a:srgbClr val="E8A33D"/>
            </a:solidFill>
            <a:prstDash val="solid"/>
          </a:ln>
        </p:spPr>
        <p:txBody>
          <a:bodyPr/>
          <a:lstStyle/>
          <a:p>
            <a:endParaRPr lang="en-US"/>
          </a:p>
        </p:txBody>
      </p:sp>
      <p:sp>
        <p:nvSpPr>
          <p:cNvPr id="18" name="Text 16"/>
          <p:cNvSpPr/>
          <p:nvPr/>
        </p:nvSpPr>
        <p:spPr>
          <a:xfrm>
            <a:off x="1097280" y="5184648"/>
            <a:ext cx="10058400" cy="713232"/>
          </a:xfrm>
          <a:prstGeom prst="rect">
            <a:avLst/>
          </a:prstGeom>
          <a:noFill/>
          <a:ln/>
        </p:spPr>
        <p:txBody>
          <a:bodyPr wrap="square" lIns="0" tIns="0" rIns="0" bIns="0" rtlCol="0" anchor="ctr"/>
          <a:lstStyle/>
          <a:p>
            <a:pPr marL="0" indent="0">
              <a:lnSpc>
                <a:spcPts val="1800"/>
              </a:lnSpc>
              <a:buNone/>
            </a:pPr>
            <a:r>
              <a:rPr lang="en-US" sz="1300" b="1" dirty="0">
                <a:solidFill>
                  <a:srgbClr val="8A5A12"/>
                </a:solidFill>
                <a:latin typeface="Calibri" pitchFamily="34" charset="0"/>
                <a:ea typeface="Calibri" pitchFamily="34" charset="-122"/>
                <a:cs typeface="Calibri" pitchFamily="34" charset="-120"/>
              </a:rPr>
              <a:t>Interview follow-up:  </a:t>
            </a:r>
            <a:r>
              <a:rPr lang="en-US" sz="1300" dirty="0">
                <a:solidFill>
                  <a:srgbClr val="1B2A33"/>
                </a:solidFill>
                <a:latin typeface="Calibri" pitchFamily="34" charset="0"/>
                <a:ea typeface="Calibri" pitchFamily="34" charset="-122"/>
                <a:cs typeface="Calibri" pitchFamily="34" charset="-120"/>
              </a:rPr>
              <a:t>A product’s price changes. What happens to the cached search results, and what would you do about it?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777240" y="548640"/>
            <a:ext cx="1234440" cy="457200"/>
          </a:xfrm>
          <a:prstGeom prst="roundRect">
            <a:avLst>
              <a:gd name="adj" fmla="val 40000"/>
            </a:avLst>
          </a:prstGeom>
          <a:solidFill>
            <a:srgbClr val="E8A33D"/>
          </a:solidFill>
          <a:ln/>
        </p:spPr>
        <p:txBody>
          <a:bodyPr/>
          <a:lstStyle/>
          <a:p>
            <a:endParaRPr lang="en-US"/>
          </a:p>
        </p:txBody>
      </p:sp>
      <p:sp>
        <p:nvSpPr>
          <p:cNvPr id="3" name="Text 1"/>
          <p:cNvSpPr/>
          <p:nvPr/>
        </p:nvSpPr>
        <p:spPr>
          <a:xfrm>
            <a:off x="777240" y="548640"/>
            <a:ext cx="1234440" cy="457200"/>
          </a:xfrm>
          <a:prstGeom prst="rect">
            <a:avLst/>
          </a:prstGeom>
          <a:noFill/>
          <a:ln/>
        </p:spPr>
        <p:txBody>
          <a:bodyPr wrap="square" rtlCol="0" anchor="ctr"/>
          <a:lstStyle/>
          <a:p>
            <a:pPr marL="0" indent="0" algn="ctr">
              <a:buNone/>
            </a:pPr>
            <a:r>
              <a:rPr lang="en-US" sz="1500" b="1" dirty="0">
                <a:solidFill>
                  <a:srgbClr val="13293D"/>
                </a:solidFill>
                <a:latin typeface="Calibri" pitchFamily="34" charset="0"/>
                <a:ea typeface="Calibri" pitchFamily="34" charset="-122"/>
                <a:cs typeface="Calibri" pitchFamily="34" charset="-120"/>
              </a:rPr>
              <a:t>Q10</a:t>
            </a:r>
            <a:endParaRPr lang="en-US" sz="1500" dirty="0"/>
          </a:p>
        </p:txBody>
      </p:sp>
      <p:sp>
        <p:nvSpPr>
          <p:cNvPr id="4" name="Shape 2"/>
          <p:cNvSpPr/>
          <p:nvPr/>
        </p:nvSpPr>
        <p:spPr>
          <a:xfrm>
            <a:off x="2194560" y="548640"/>
            <a:ext cx="2743200" cy="457200"/>
          </a:xfrm>
          <a:prstGeom prst="roundRect">
            <a:avLst>
              <a:gd name="adj" fmla="val 40000"/>
            </a:avLst>
          </a:prstGeom>
          <a:solidFill>
            <a:srgbClr val="1D3D52"/>
          </a:solidFill>
          <a:ln/>
        </p:spPr>
        <p:txBody>
          <a:bodyPr/>
          <a:lstStyle/>
          <a:p>
            <a:endParaRPr lang="en-US"/>
          </a:p>
        </p:txBody>
      </p:sp>
      <p:sp>
        <p:nvSpPr>
          <p:cNvPr id="5" name="Text 3"/>
          <p:cNvSpPr/>
          <p:nvPr/>
        </p:nvSpPr>
        <p:spPr>
          <a:xfrm>
            <a:off x="2194560" y="548640"/>
            <a:ext cx="2743200" cy="457200"/>
          </a:xfrm>
          <a:prstGeom prst="rect">
            <a:avLst/>
          </a:prstGeom>
          <a:noFill/>
          <a:ln/>
        </p:spPr>
        <p:txBody>
          <a:bodyPr wrap="square" rtlCol="0" anchor="ctr"/>
          <a:lstStyle/>
          <a:p>
            <a:pPr marL="0" indent="0" algn="ctr">
              <a:buNone/>
            </a:pPr>
            <a:r>
              <a:rPr lang="en-US" sz="1100" b="1" kern="0" spc="120" dirty="0">
                <a:solidFill>
                  <a:srgbClr val="9AD1D4"/>
                </a:solidFill>
                <a:latin typeface="Calibri" pitchFamily="34" charset="0"/>
                <a:ea typeface="Calibri" pitchFamily="34" charset="-122"/>
                <a:cs typeface="Calibri" pitchFamily="34" charset="-120"/>
              </a:rPr>
              <a:t>SELECT ONE</a:t>
            </a:r>
            <a:endParaRPr lang="en-US" sz="1100" dirty="0"/>
          </a:p>
        </p:txBody>
      </p:sp>
      <p:sp>
        <p:nvSpPr>
          <p:cNvPr id="7" name="Text 5"/>
          <p:cNvSpPr/>
          <p:nvPr/>
        </p:nvSpPr>
        <p:spPr>
          <a:xfrm>
            <a:off x="777240" y="1234440"/>
            <a:ext cx="10607040" cy="1325880"/>
          </a:xfrm>
          <a:prstGeom prst="rect">
            <a:avLst/>
          </a:prstGeom>
          <a:noFill/>
          <a:ln/>
        </p:spPr>
        <p:txBody>
          <a:bodyPr wrap="square" lIns="0" tIns="0" rIns="0" bIns="0" rtlCol="0" anchor="ctr"/>
          <a:lstStyle/>
          <a:p>
            <a:pPr marL="0" indent="0">
              <a:lnSpc>
                <a:spcPts val="3100"/>
              </a:lnSpc>
              <a:buNone/>
            </a:pPr>
            <a:r>
              <a:rPr lang="en-US" sz="2200" b="1" dirty="0">
                <a:solidFill>
                  <a:srgbClr val="FFFFFF"/>
                </a:solidFill>
                <a:latin typeface="Cambria" pitchFamily="34" charset="0"/>
                <a:ea typeface="Cambria" pitchFamily="34" charset="-122"/>
                <a:cs typeface="Cambria" pitchFamily="34" charset="-120"/>
              </a:rPr>
              <a:t>A user posts a review. The write to the primary database succeeds. The page reloads immediately and the review is missing — but it appears about two seconds later. What is the most likely cause?</a:t>
            </a:r>
            <a:endParaRPr lang="en-US" sz="2200" dirty="0"/>
          </a:p>
        </p:txBody>
      </p:sp>
      <p:sp>
        <p:nvSpPr>
          <p:cNvPr id="8" name="Shape 6"/>
          <p:cNvSpPr/>
          <p:nvPr/>
        </p:nvSpPr>
        <p:spPr>
          <a:xfrm>
            <a:off x="777240" y="2788920"/>
            <a:ext cx="5120640" cy="1280160"/>
          </a:xfrm>
          <a:prstGeom prst="roundRect">
            <a:avLst>
              <a:gd name="adj" fmla="val 5000"/>
            </a:avLst>
          </a:prstGeom>
          <a:solidFill>
            <a:srgbClr val="1D3D52"/>
          </a:solidFill>
          <a:ln/>
        </p:spPr>
        <p:txBody>
          <a:bodyPr/>
          <a:lstStyle/>
          <a:p>
            <a:endParaRPr lang="en-US"/>
          </a:p>
        </p:txBody>
      </p:sp>
      <p:sp>
        <p:nvSpPr>
          <p:cNvPr id="9" name="Shape 7"/>
          <p:cNvSpPr/>
          <p:nvPr/>
        </p:nvSpPr>
        <p:spPr>
          <a:xfrm>
            <a:off x="1051560" y="3246120"/>
            <a:ext cx="384048" cy="384048"/>
          </a:xfrm>
          <a:prstGeom prst="ellipse">
            <a:avLst/>
          </a:prstGeom>
          <a:solidFill>
            <a:srgbClr val="1C7293"/>
          </a:solidFill>
          <a:ln/>
        </p:spPr>
        <p:txBody>
          <a:bodyPr/>
          <a:lstStyle/>
          <a:p>
            <a:endParaRPr lang="en-US"/>
          </a:p>
        </p:txBody>
      </p:sp>
      <p:sp>
        <p:nvSpPr>
          <p:cNvPr id="10" name="Text 8"/>
          <p:cNvSpPr/>
          <p:nvPr/>
        </p:nvSpPr>
        <p:spPr>
          <a:xfrm>
            <a:off x="1051560" y="324612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1" name="Text 9"/>
          <p:cNvSpPr/>
          <p:nvPr/>
        </p:nvSpPr>
        <p:spPr>
          <a:xfrm>
            <a:off x="1581912" y="278892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The write silently failed and was retried in the background</a:t>
            </a:r>
            <a:endParaRPr lang="en-US" sz="1350" dirty="0"/>
          </a:p>
        </p:txBody>
      </p:sp>
      <p:sp>
        <p:nvSpPr>
          <p:cNvPr id="12" name="Shape 10"/>
          <p:cNvSpPr/>
          <p:nvPr/>
        </p:nvSpPr>
        <p:spPr>
          <a:xfrm>
            <a:off x="6172200" y="2788920"/>
            <a:ext cx="5120640" cy="1280160"/>
          </a:xfrm>
          <a:prstGeom prst="roundRect">
            <a:avLst>
              <a:gd name="adj" fmla="val 5000"/>
            </a:avLst>
          </a:prstGeom>
          <a:solidFill>
            <a:srgbClr val="1D3D52"/>
          </a:solidFill>
          <a:ln/>
        </p:spPr>
        <p:txBody>
          <a:bodyPr/>
          <a:lstStyle/>
          <a:p>
            <a:endParaRPr lang="en-US"/>
          </a:p>
        </p:txBody>
      </p:sp>
      <p:sp>
        <p:nvSpPr>
          <p:cNvPr id="13" name="Shape 11"/>
          <p:cNvSpPr/>
          <p:nvPr/>
        </p:nvSpPr>
        <p:spPr>
          <a:xfrm>
            <a:off x="6446520" y="3246120"/>
            <a:ext cx="384048" cy="384048"/>
          </a:xfrm>
          <a:prstGeom prst="ellipse">
            <a:avLst/>
          </a:prstGeom>
          <a:solidFill>
            <a:srgbClr val="1C7293"/>
          </a:solidFill>
          <a:ln/>
        </p:spPr>
        <p:txBody>
          <a:bodyPr/>
          <a:lstStyle/>
          <a:p>
            <a:endParaRPr lang="en-US"/>
          </a:p>
        </p:txBody>
      </p:sp>
      <p:sp>
        <p:nvSpPr>
          <p:cNvPr id="14" name="Text 12"/>
          <p:cNvSpPr/>
          <p:nvPr/>
        </p:nvSpPr>
        <p:spPr>
          <a:xfrm>
            <a:off x="6446520" y="324612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5" name="Text 13"/>
          <p:cNvSpPr/>
          <p:nvPr/>
        </p:nvSpPr>
        <p:spPr>
          <a:xfrm>
            <a:off x="6976872" y="278892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Replication lag — the read was served by a replica</a:t>
            </a:r>
            <a:endParaRPr lang="en-US" sz="1350" dirty="0"/>
          </a:p>
        </p:txBody>
      </p:sp>
      <p:sp>
        <p:nvSpPr>
          <p:cNvPr id="16" name="Shape 14"/>
          <p:cNvSpPr/>
          <p:nvPr/>
        </p:nvSpPr>
        <p:spPr>
          <a:xfrm>
            <a:off x="777240" y="4251960"/>
            <a:ext cx="5120640" cy="1280160"/>
          </a:xfrm>
          <a:prstGeom prst="roundRect">
            <a:avLst>
              <a:gd name="adj" fmla="val 5000"/>
            </a:avLst>
          </a:prstGeom>
          <a:solidFill>
            <a:srgbClr val="1D3D52"/>
          </a:solidFill>
          <a:ln/>
        </p:spPr>
        <p:txBody>
          <a:bodyPr/>
          <a:lstStyle/>
          <a:p>
            <a:endParaRPr lang="en-US"/>
          </a:p>
        </p:txBody>
      </p:sp>
      <p:sp>
        <p:nvSpPr>
          <p:cNvPr id="17" name="Shape 15"/>
          <p:cNvSpPr/>
          <p:nvPr/>
        </p:nvSpPr>
        <p:spPr>
          <a:xfrm>
            <a:off x="1051560" y="4709160"/>
            <a:ext cx="384048" cy="384048"/>
          </a:xfrm>
          <a:prstGeom prst="ellipse">
            <a:avLst/>
          </a:prstGeom>
          <a:solidFill>
            <a:srgbClr val="1C7293"/>
          </a:solidFill>
          <a:ln/>
        </p:spPr>
        <p:txBody>
          <a:bodyPr/>
          <a:lstStyle/>
          <a:p>
            <a:endParaRPr lang="en-US"/>
          </a:p>
        </p:txBody>
      </p:sp>
      <p:sp>
        <p:nvSpPr>
          <p:cNvPr id="18" name="Text 16"/>
          <p:cNvSpPr/>
          <p:nvPr/>
        </p:nvSpPr>
        <p:spPr>
          <a:xfrm>
            <a:off x="1051560" y="470916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9" name="Text 17"/>
          <p:cNvSpPr/>
          <p:nvPr/>
        </p:nvSpPr>
        <p:spPr>
          <a:xfrm>
            <a:off x="1581912" y="425196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Redis evicted the review from the cache</a:t>
            </a:r>
            <a:endParaRPr lang="en-US" sz="1350" dirty="0"/>
          </a:p>
        </p:txBody>
      </p:sp>
      <p:sp>
        <p:nvSpPr>
          <p:cNvPr id="20" name="Shape 18"/>
          <p:cNvSpPr/>
          <p:nvPr/>
        </p:nvSpPr>
        <p:spPr>
          <a:xfrm>
            <a:off x="6172200" y="4251960"/>
            <a:ext cx="5120640" cy="1280160"/>
          </a:xfrm>
          <a:prstGeom prst="roundRect">
            <a:avLst>
              <a:gd name="adj" fmla="val 5000"/>
            </a:avLst>
          </a:prstGeom>
          <a:solidFill>
            <a:srgbClr val="1D3D52"/>
          </a:solidFill>
          <a:ln/>
        </p:spPr>
        <p:txBody>
          <a:bodyPr/>
          <a:lstStyle/>
          <a:p>
            <a:endParaRPr lang="en-US"/>
          </a:p>
        </p:txBody>
      </p:sp>
      <p:sp>
        <p:nvSpPr>
          <p:cNvPr id="21" name="Shape 19"/>
          <p:cNvSpPr/>
          <p:nvPr/>
        </p:nvSpPr>
        <p:spPr>
          <a:xfrm>
            <a:off x="6446520" y="4709160"/>
            <a:ext cx="384048" cy="384048"/>
          </a:xfrm>
          <a:prstGeom prst="ellipse">
            <a:avLst/>
          </a:prstGeom>
          <a:solidFill>
            <a:srgbClr val="1C7293"/>
          </a:solidFill>
          <a:ln/>
        </p:spPr>
        <p:txBody>
          <a:bodyPr/>
          <a:lstStyle/>
          <a:p>
            <a:endParaRPr lang="en-US"/>
          </a:p>
        </p:txBody>
      </p:sp>
      <p:sp>
        <p:nvSpPr>
          <p:cNvPr id="22" name="Text 20"/>
          <p:cNvSpPr/>
          <p:nvPr/>
        </p:nvSpPr>
        <p:spPr>
          <a:xfrm>
            <a:off x="6446520" y="470916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3" name="Text 21"/>
          <p:cNvSpPr/>
          <p:nvPr/>
        </p:nvSpPr>
        <p:spPr>
          <a:xfrm>
            <a:off x="6976872" y="4251960"/>
            <a:ext cx="4114800" cy="1280160"/>
          </a:xfrm>
          <a:prstGeom prst="rect">
            <a:avLst/>
          </a:prstGeom>
          <a:noFill/>
          <a:ln/>
        </p:spPr>
        <p:txBody>
          <a:bodyPr wrap="square" lIns="0" tIns="0" rIns="0" bIns="0" rtlCol="0" anchor="ctr"/>
          <a:lstStyle/>
          <a:p>
            <a:pPr marL="0" indent="0">
              <a:lnSpc>
                <a:spcPts val="1900"/>
              </a:lnSpc>
              <a:buNone/>
            </a:pPr>
            <a:r>
              <a:rPr lang="en-US" sz="1350" dirty="0">
                <a:solidFill>
                  <a:srgbClr val="DCEAEF"/>
                </a:solidFill>
                <a:latin typeface="Calibri" pitchFamily="34" charset="0"/>
                <a:ea typeface="Calibri" pitchFamily="34" charset="-122"/>
                <a:cs typeface="Calibri" pitchFamily="34" charset="-120"/>
              </a:rPr>
              <a:t>The browser rendered before the response arrived</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Q10 — Answer</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The write went to the primary; the read came from a copy that had not caught up</a:t>
            </a:r>
            <a:endParaRPr lang="en-US" sz="1500" dirty="0"/>
          </a:p>
        </p:txBody>
      </p:sp>
      <p:sp>
        <p:nvSpPr>
          <p:cNvPr id="4" name="Shape 2"/>
          <p:cNvSpPr/>
          <p:nvPr/>
        </p:nvSpPr>
        <p:spPr>
          <a:xfrm>
            <a:off x="777240" y="1463040"/>
            <a:ext cx="10607040" cy="822960"/>
          </a:xfrm>
          <a:prstGeom prst="roundRect">
            <a:avLst>
              <a:gd name="adj" fmla="val 6667"/>
            </a:avLst>
          </a:prstGeom>
          <a:solidFill>
            <a:srgbClr val="2E7D5B"/>
          </a:solidFill>
          <a:ln/>
        </p:spPr>
        <p:txBody>
          <a:bodyPr/>
          <a:lstStyle/>
          <a:p>
            <a:endParaRPr lang="en-US"/>
          </a:p>
        </p:txBody>
      </p:sp>
      <p:sp>
        <p:nvSpPr>
          <p:cNvPr id="5" name="Text 3"/>
          <p:cNvSpPr/>
          <p:nvPr/>
        </p:nvSpPr>
        <p:spPr>
          <a:xfrm>
            <a:off x="1097280" y="1463040"/>
            <a:ext cx="10058400" cy="822960"/>
          </a:xfrm>
          <a:prstGeom prst="rect">
            <a:avLst/>
          </a:prstGeom>
          <a:noFill/>
          <a:ln/>
        </p:spPr>
        <p:txBody>
          <a:bodyPr wrap="square" lIns="0" tIns="0" rIns="0" bIns="0" rtlCol="0" anchor="ctr"/>
          <a:lstStyle/>
          <a:p>
            <a:pPr marL="0" indent="0">
              <a:lnSpc>
                <a:spcPts val="2100"/>
              </a:lnSpc>
              <a:buNone/>
            </a:pPr>
            <a:r>
              <a:rPr lang="en-US" sz="1600" b="1" dirty="0">
                <a:solidFill>
                  <a:srgbClr val="FFFFFF"/>
                </a:solidFill>
                <a:latin typeface="Calibri" pitchFamily="34" charset="0"/>
                <a:ea typeface="Calibri" pitchFamily="34" charset="-122"/>
                <a:cs typeface="Calibri" pitchFamily="34" charset="-120"/>
              </a:rPr>
              <a:t>B — Replication lag</a:t>
            </a:r>
            <a:endParaRPr lang="en-US" sz="1600" dirty="0"/>
          </a:p>
        </p:txBody>
      </p:sp>
      <p:sp>
        <p:nvSpPr>
          <p:cNvPr id="6" name="Shape 4"/>
          <p:cNvSpPr/>
          <p:nvPr/>
        </p:nvSpPr>
        <p:spPr>
          <a:xfrm>
            <a:off x="777240" y="2423160"/>
            <a:ext cx="10607040" cy="960120"/>
          </a:xfrm>
          <a:prstGeom prst="roundRect">
            <a:avLst>
              <a:gd name="adj" fmla="val 5714"/>
            </a:avLst>
          </a:prstGeom>
          <a:solidFill>
            <a:srgbClr val="F4F7F9"/>
          </a:solidFill>
          <a:ln w="12700">
            <a:solidFill>
              <a:srgbClr val="E1E8ED"/>
            </a:solidFill>
            <a:prstDash val="solid"/>
          </a:ln>
        </p:spPr>
        <p:txBody>
          <a:bodyPr/>
          <a:lstStyle/>
          <a:p>
            <a:endParaRPr lang="en-US"/>
          </a:p>
        </p:txBody>
      </p:sp>
      <p:sp>
        <p:nvSpPr>
          <p:cNvPr id="7" name="Text 5"/>
          <p:cNvSpPr/>
          <p:nvPr/>
        </p:nvSpPr>
        <p:spPr>
          <a:xfrm>
            <a:off x="1097280" y="2423160"/>
            <a:ext cx="10058400" cy="960120"/>
          </a:xfrm>
          <a:prstGeom prst="rect">
            <a:avLst/>
          </a:prstGeom>
          <a:noFill/>
          <a:ln/>
        </p:spPr>
        <p:txBody>
          <a:bodyPr wrap="square" lIns="0" tIns="0" rIns="0" bIns="0" rtlCol="0" anchor="ctr"/>
          <a:lstStyle/>
          <a:p>
            <a:pPr marL="0" indent="0">
              <a:lnSpc>
                <a:spcPts val="1900"/>
              </a:lnSpc>
              <a:buNone/>
            </a:pPr>
            <a:r>
              <a:rPr lang="en-US" sz="1350" dirty="0">
                <a:solidFill>
                  <a:srgbClr val="1B2A33"/>
                </a:solidFill>
                <a:latin typeface="Calibri" pitchFamily="34" charset="0"/>
                <a:ea typeface="Calibri" pitchFamily="34" charset="-122"/>
                <a:cs typeface="Calibri" pitchFamily="34" charset="-120"/>
              </a:rPr>
              <a:t>Writes go to the primary, reads are spread across replicas. The primary streams its change log to the replicas continuously, but that takes time. Reload within that window and your read hits a replica that has not yet applied your own write.</a:t>
            </a:r>
            <a:endParaRPr lang="en-US" sz="1350" dirty="0"/>
          </a:p>
        </p:txBody>
      </p:sp>
      <p:sp>
        <p:nvSpPr>
          <p:cNvPr id="8" name="Text 6"/>
          <p:cNvSpPr/>
          <p:nvPr/>
        </p:nvSpPr>
        <p:spPr>
          <a:xfrm>
            <a:off x="777240" y="3520440"/>
            <a:ext cx="5486400" cy="320040"/>
          </a:xfrm>
          <a:prstGeom prst="rect">
            <a:avLst/>
          </a:prstGeom>
          <a:noFill/>
          <a:ln/>
        </p:spPr>
        <p:txBody>
          <a:bodyPr wrap="square" lIns="0" tIns="0" rIns="0" bIns="0" rtlCol="0" anchor="ctr"/>
          <a:lstStyle/>
          <a:p>
            <a:pPr marL="0" indent="0">
              <a:buNone/>
            </a:pPr>
            <a:r>
              <a:rPr lang="en-US" sz="1300" b="1" dirty="0">
                <a:solidFill>
                  <a:srgbClr val="A03A3A"/>
                </a:solidFill>
                <a:latin typeface="Calibri" pitchFamily="34" charset="0"/>
                <a:ea typeface="Calibri" pitchFamily="34" charset="-122"/>
                <a:cs typeface="Calibri" pitchFamily="34" charset="-120"/>
              </a:rPr>
              <a:t>Why the others fail</a:t>
            </a:r>
            <a:endParaRPr lang="en-US" sz="1300" dirty="0"/>
          </a:p>
        </p:txBody>
      </p:sp>
      <p:sp>
        <p:nvSpPr>
          <p:cNvPr id="9" name="Shape 7"/>
          <p:cNvSpPr/>
          <p:nvPr/>
        </p:nvSpPr>
        <p:spPr>
          <a:xfrm>
            <a:off x="777240" y="3886200"/>
            <a:ext cx="10607040" cy="493776"/>
          </a:xfrm>
          <a:prstGeom prst="roundRect">
            <a:avLst>
              <a:gd name="adj" fmla="val 7407"/>
            </a:avLst>
          </a:prstGeom>
          <a:solidFill>
            <a:srgbClr val="FFFFFF"/>
          </a:solidFill>
          <a:ln w="12700">
            <a:solidFill>
              <a:srgbClr val="E8D5D1"/>
            </a:solidFill>
            <a:prstDash val="solid"/>
          </a:ln>
        </p:spPr>
        <p:txBody>
          <a:bodyPr/>
          <a:lstStyle/>
          <a:p>
            <a:endParaRPr lang="en-US"/>
          </a:p>
        </p:txBody>
      </p:sp>
      <p:sp>
        <p:nvSpPr>
          <p:cNvPr id="10" name="Shape 8"/>
          <p:cNvSpPr/>
          <p:nvPr/>
        </p:nvSpPr>
        <p:spPr>
          <a:xfrm>
            <a:off x="1005840" y="3977640"/>
            <a:ext cx="310896" cy="310896"/>
          </a:xfrm>
          <a:prstGeom prst="ellipse">
            <a:avLst/>
          </a:prstGeom>
          <a:solidFill>
            <a:srgbClr val="A03A3A"/>
          </a:solidFill>
          <a:ln/>
        </p:spPr>
        <p:txBody>
          <a:bodyPr/>
          <a:lstStyle/>
          <a:p>
            <a:endParaRPr lang="en-US"/>
          </a:p>
        </p:txBody>
      </p:sp>
      <p:sp>
        <p:nvSpPr>
          <p:cNvPr id="11" name="Text 9"/>
          <p:cNvSpPr/>
          <p:nvPr/>
        </p:nvSpPr>
        <p:spPr>
          <a:xfrm>
            <a:off x="1005840" y="3977640"/>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2" name="Text 10"/>
          <p:cNvSpPr/>
          <p:nvPr/>
        </p:nvSpPr>
        <p:spPr>
          <a:xfrm>
            <a:off x="1463040" y="3886200"/>
            <a:ext cx="9692640" cy="49377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The question states the write succeeded, and a genuinely failed write would not appear correctly two seconds later.</a:t>
            </a:r>
            <a:endParaRPr lang="en-US" sz="1250" dirty="0"/>
          </a:p>
        </p:txBody>
      </p:sp>
      <p:sp>
        <p:nvSpPr>
          <p:cNvPr id="13" name="Shape 11"/>
          <p:cNvSpPr/>
          <p:nvPr/>
        </p:nvSpPr>
        <p:spPr>
          <a:xfrm>
            <a:off x="777240" y="4453128"/>
            <a:ext cx="10607040" cy="493776"/>
          </a:xfrm>
          <a:prstGeom prst="roundRect">
            <a:avLst>
              <a:gd name="adj" fmla="val 7407"/>
            </a:avLst>
          </a:prstGeom>
          <a:solidFill>
            <a:srgbClr val="FDF0EE"/>
          </a:solidFill>
          <a:ln w="12700">
            <a:solidFill>
              <a:srgbClr val="E8D5D1"/>
            </a:solidFill>
            <a:prstDash val="solid"/>
          </a:ln>
        </p:spPr>
        <p:txBody>
          <a:bodyPr/>
          <a:lstStyle/>
          <a:p>
            <a:endParaRPr lang="en-US"/>
          </a:p>
        </p:txBody>
      </p:sp>
      <p:sp>
        <p:nvSpPr>
          <p:cNvPr id="14" name="Shape 12"/>
          <p:cNvSpPr/>
          <p:nvPr/>
        </p:nvSpPr>
        <p:spPr>
          <a:xfrm>
            <a:off x="1005840" y="4544568"/>
            <a:ext cx="310896" cy="310896"/>
          </a:xfrm>
          <a:prstGeom prst="ellipse">
            <a:avLst/>
          </a:prstGeom>
          <a:solidFill>
            <a:srgbClr val="A03A3A"/>
          </a:solidFill>
          <a:ln/>
        </p:spPr>
        <p:txBody>
          <a:bodyPr/>
          <a:lstStyle/>
          <a:p>
            <a:endParaRPr lang="en-US"/>
          </a:p>
        </p:txBody>
      </p:sp>
      <p:sp>
        <p:nvSpPr>
          <p:cNvPr id="15" name="Text 13"/>
          <p:cNvSpPr/>
          <p:nvPr/>
        </p:nvSpPr>
        <p:spPr>
          <a:xfrm>
            <a:off x="1005840" y="4544568"/>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16" name="Text 14"/>
          <p:cNvSpPr/>
          <p:nvPr/>
        </p:nvSpPr>
        <p:spPr>
          <a:xfrm>
            <a:off x="1463040" y="4453128"/>
            <a:ext cx="9692640" cy="49377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Eviction would remove something already cached. This review was never there — the problem is that it had not arrived yet.</a:t>
            </a:r>
            <a:endParaRPr lang="en-US" sz="1250" dirty="0"/>
          </a:p>
        </p:txBody>
      </p:sp>
      <p:sp>
        <p:nvSpPr>
          <p:cNvPr id="17" name="Shape 15"/>
          <p:cNvSpPr/>
          <p:nvPr/>
        </p:nvSpPr>
        <p:spPr>
          <a:xfrm>
            <a:off x="777240" y="5020056"/>
            <a:ext cx="10607040" cy="493776"/>
          </a:xfrm>
          <a:prstGeom prst="roundRect">
            <a:avLst>
              <a:gd name="adj" fmla="val 7407"/>
            </a:avLst>
          </a:prstGeom>
          <a:solidFill>
            <a:srgbClr val="FFFFFF"/>
          </a:solidFill>
          <a:ln w="12700">
            <a:solidFill>
              <a:srgbClr val="E8D5D1"/>
            </a:solidFill>
            <a:prstDash val="solid"/>
          </a:ln>
        </p:spPr>
        <p:txBody>
          <a:bodyPr/>
          <a:lstStyle/>
          <a:p>
            <a:endParaRPr lang="en-US"/>
          </a:p>
        </p:txBody>
      </p:sp>
      <p:sp>
        <p:nvSpPr>
          <p:cNvPr id="18" name="Shape 16"/>
          <p:cNvSpPr/>
          <p:nvPr/>
        </p:nvSpPr>
        <p:spPr>
          <a:xfrm>
            <a:off x="1005840" y="5111496"/>
            <a:ext cx="310896" cy="310896"/>
          </a:xfrm>
          <a:prstGeom prst="ellipse">
            <a:avLst/>
          </a:prstGeom>
          <a:solidFill>
            <a:srgbClr val="A03A3A"/>
          </a:solidFill>
          <a:ln/>
        </p:spPr>
        <p:txBody>
          <a:bodyPr/>
          <a:lstStyle/>
          <a:p>
            <a:endParaRPr lang="en-US"/>
          </a:p>
        </p:txBody>
      </p:sp>
      <p:sp>
        <p:nvSpPr>
          <p:cNvPr id="19" name="Text 17"/>
          <p:cNvSpPr/>
          <p:nvPr/>
        </p:nvSpPr>
        <p:spPr>
          <a:xfrm>
            <a:off x="1005840" y="5111496"/>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t>
            </a:r>
            <a:endParaRPr lang="en-US" sz="1100" dirty="0"/>
          </a:p>
        </p:txBody>
      </p:sp>
      <p:sp>
        <p:nvSpPr>
          <p:cNvPr id="20" name="Text 18"/>
          <p:cNvSpPr/>
          <p:nvPr/>
        </p:nvSpPr>
        <p:spPr>
          <a:xfrm>
            <a:off x="1463040" y="5020056"/>
            <a:ext cx="9692640" cy="49377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The response did arrive and was rendered correctly. It simply did not contain the new review.</a:t>
            </a:r>
            <a:endParaRPr lang="en-US" sz="1250" dirty="0"/>
          </a:p>
        </p:txBody>
      </p:sp>
      <p:sp>
        <p:nvSpPr>
          <p:cNvPr id="21" name="Shape 19"/>
          <p:cNvSpPr/>
          <p:nvPr/>
        </p:nvSpPr>
        <p:spPr>
          <a:xfrm>
            <a:off x="777240" y="5751576"/>
            <a:ext cx="10607040" cy="713232"/>
          </a:xfrm>
          <a:prstGeom prst="roundRect">
            <a:avLst>
              <a:gd name="adj" fmla="val 7692"/>
            </a:avLst>
          </a:prstGeom>
          <a:solidFill>
            <a:srgbClr val="FDF3E3"/>
          </a:solidFill>
          <a:ln w="16510">
            <a:solidFill>
              <a:srgbClr val="E8A33D"/>
            </a:solidFill>
            <a:prstDash val="solid"/>
          </a:ln>
        </p:spPr>
        <p:txBody>
          <a:bodyPr/>
          <a:lstStyle/>
          <a:p>
            <a:endParaRPr lang="en-US"/>
          </a:p>
        </p:txBody>
      </p:sp>
      <p:sp>
        <p:nvSpPr>
          <p:cNvPr id="22" name="Text 20"/>
          <p:cNvSpPr/>
          <p:nvPr/>
        </p:nvSpPr>
        <p:spPr>
          <a:xfrm>
            <a:off x="1097280" y="5751576"/>
            <a:ext cx="10058400" cy="713232"/>
          </a:xfrm>
          <a:prstGeom prst="rect">
            <a:avLst/>
          </a:prstGeom>
          <a:noFill/>
          <a:ln/>
        </p:spPr>
        <p:txBody>
          <a:bodyPr wrap="square" lIns="0" tIns="0" rIns="0" bIns="0" rtlCol="0" anchor="ctr"/>
          <a:lstStyle/>
          <a:p>
            <a:pPr marL="0" indent="0">
              <a:lnSpc>
                <a:spcPts val="1800"/>
              </a:lnSpc>
              <a:buNone/>
            </a:pPr>
            <a:r>
              <a:rPr lang="en-US" sz="1300" b="1" dirty="0">
                <a:solidFill>
                  <a:srgbClr val="8A5A12"/>
                </a:solidFill>
                <a:latin typeface="Calibri" pitchFamily="34" charset="0"/>
                <a:ea typeface="Calibri" pitchFamily="34" charset="-122"/>
                <a:cs typeface="Calibri" pitchFamily="34" charset="-120"/>
              </a:rPr>
              <a:t>Interview follow-up:  </a:t>
            </a:r>
            <a:r>
              <a:rPr lang="en-US" sz="1300" dirty="0">
                <a:solidFill>
                  <a:srgbClr val="1B2A33"/>
                </a:solidFill>
                <a:latin typeface="Calibri" pitchFamily="34" charset="0"/>
                <a:ea typeface="Calibri" pitchFamily="34" charset="-122"/>
                <a:cs typeface="Calibri" pitchFamily="34" charset="-120"/>
              </a:rPr>
              <a:t>How would you fix this specific user’s experience without giving up read replicas?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What These Ten Were Really Testing</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Six ideas, dressed up as ten questions</a:t>
            </a:r>
            <a:endParaRPr lang="en-US" sz="1500" dirty="0"/>
          </a:p>
        </p:txBody>
      </p:sp>
      <p:sp>
        <p:nvSpPr>
          <p:cNvPr id="4" name="Shape 2"/>
          <p:cNvSpPr/>
          <p:nvPr/>
        </p:nvSpPr>
        <p:spPr>
          <a:xfrm>
            <a:off x="777240" y="1600200"/>
            <a:ext cx="10607040" cy="676656"/>
          </a:xfrm>
          <a:prstGeom prst="roundRect">
            <a:avLst>
              <a:gd name="adj" fmla="val 6757"/>
            </a:avLst>
          </a:prstGeom>
          <a:solidFill>
            <a:srgbClr val="FFFFFF"/>
          </a:solidFill>
          <a:ln w="12700">
            <a:solidFill>
              <a:srgbClr val="E1E8ED"/>
            </a:solidFill>
            <a:prstDash val="solid"/>
          </a:ln>
        </p:spPr>
        <p:txBody>
          <a:bodyPr/>
          <a:lstStyle/>
          <a:p>
            <a:endParaRPr lang="en-US"/>
          </a:p>
        </p:txBody>
      </p:sp>
      <p:sp>
        <p:nvSpPr>
          <p:cNvPr id="5" name="Shape 3"/>
          <p:cNvSpPr/>
          <p:nvPr/>
        </p:nvSpPr>
        <p:spPr>
          <a:xfrm>
            <a:off x="777240" y="1600200"/>
            <a:ext cx="109728" cy="676656"/>
          </a:xfrm>
          <a:prstGeom prst="rect">
            <a:avLst/>
          </a:prstGeom>
          <a:solidFill>
            <a:srgbClr val="065A82"/>
          </a:solidFill>
          <a:ln/>
        </p:spPr>
        <p:txBody>
          <a:bodyPr/>
          <a:lstStyle/>
          <a:p>
            <a:endParaRPr lang="en-US"/>
          </a:p>
        </p:txBody>
      </p:sp>
      <p:sp>
        <p:nvSpPr>
          <p:cNvPr id="6" name="Text 4"/>
          <p:cNvSpPr/>
          <p:nvPr/>
        </p:nvSpPr>
        <p:spPr>
          <a:xfrm>
            <a:off x="1097280" y="1600200"/>
            <a:ext cx="3200400" cy="676656"/>
          </a:xfrm>
          <a:prstGeom prst="rect">
            <a:avLst/>
          </a:prstGeom>
          <a:noFill/>
          <a:ln/>
        </p:spPr>
        <p:txBody>
          <a:bodyPr wrap="square" lIns="0" tIns="0" rIns="0" bIns="0" rtlCol="0" anchor="ctr"/>
          <a:lstStyle/>
          <a:p>
            <a:pPr marL="0" indent="0">
              <a:buNone/>
            </a:pPr>
            <a:r>
              <a:rPr lang="en-US" sz="1450" b="1" dirty="0">
                <a:solidFill>
                  <a:srgbClr val="13293D"/>
                </a:solidFill>
                <a:latin typeface="Calibri" pitchFamily="34" charset="0"/>
                <a:ea typeface="Calibri" pitchFamily="34" charset="-122"/>
                <a:cs typeface="Calibri" pitchFamily="34" charset="-120"/>
              </a:rPr>
              <a:t>Find the actual bottleneck</a:t>
            </a:r>
            <a:endParaRPr lang="en-US" sz="1450" dirty="0"/>
          </a:p>
        </p:txBody>
      </p:sp>
      <p:sp>
        <p:nvSpPr>
          <p:cNvPr id="7" name="Text 5"/>
          <p:cNvSpPr/>
          <p:nvPr/>
        </p:nvSpPr>
        <p:spPr>
          <a:xfrm>
            <a:off x="4297680" y="1600200"/>
            <a:ext cx="1005840" cy="676656"/>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Q1, Q7</a:t>
            </a:r>
            <a:endParaRPr lang="en-US" sz="1200" dirty="0"/>
          </a:p>
        </p:txBody>
      </p:sp>
      <p:sp>
        <p:nvSpPr>
          <p:cNvPr id="8" name="Text 6"/>
          <p:cNvSpPr/>
          <p:nvPr/>
        </p:nvSpPr>
        <p:spPr>
          <a:xfrm>
            <a:off x="5394960" y="1600200"/>
            <a:ext cx="5760720" cy="67665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Do not widen a road that is already fast. Measure which path is slow first.</a:t>
            </a:r>
            <a:endParaRPr lang="en-US" sz="1250" dirty="0"/>
          </a:p>
        </p:txBody>
      </p:sp>
      <p:sp>
        <p:nvSpPr>
          <p:cNvPr id="9" name="Shape 7"/>
          <p:cNvSpPr/>
          <p:nvPr/>
        </p:nvSpPr>
        <p:spPr>
          <a:xfrm>
            <a:off x="777240" y="2377440"/>
            <a:ext cx="10607040" cy="676656"/>
          </a:xfrm>
          <a:prstGeom prst="roundRect">
            <a:avLst>
              <a:gd name="adj" fmla="val 6757"/>
            </a:avLst>
          </a:prstGeom>
          <a:solidFill>
            <a:srgbClr val="F4F7F9"/>
          </a:solidFill>
          <a:ln w="12700">
            <a:solidFill>
              <a:srgbClr val="E1E8ED"/>
            </a:solidFill>
            <a:prstDash val="solid"/>
          </a:ln>
        </p:spPr>
        <p:txBody>
          <a:bodyPr/>
          <a:lstStyle/>
          <a:p>
            <a:endParaRPr lang="en-US"/>
          </a:p>
        </p:txBody>
      </p:sp>
      <p:sp>
        <p:nvSpPr>
          <p:cNvPr id="10" name="Shape 8"/>
          <p:cNvSpPr/>
          <p:nvPr/>
        </p:nvSpPr>
        <p:spPr>
          <a:xfrm>
            <a:off x="777240" y="2377440"/>
            <a:ext cx="109728" cy="676656"/>
          </a:xfrm>
          <a:prstGeom prst="rect">
            <a:avLst/>
          </a:prstGeom>
          <a:solidFill>
            <a:srgbClr val="A03A3A"/>
          </a:solidFill>
          <a:ln/>
        </p:spPr>
        <p:txBody>
          <a:bodyPr/>
          <a:lstStyle/>
          <a:p>
            <a:endParaRPr lang="en-US"/>
          </a:p>
        </p:txBody>
      </p:sp>
      <p:sp>
        <p:nvSpPr>
          <p:cNvPr id="11" name="Text 9"/>
          <p:cNvSpPr/>
          <p:nvPr/>
        </p:nvSpPr>
        <p:spPr>
          <a:xfrm>
            <a:off x="1097280" y="2377440"/>
            <a:ext cx="3200400" cy="676656"/>
          </a:xfrm>
          <a:prstGeom prst="rect">
            <a:avLst/>
          </a:prstGeom>
          <a:noFill/>
          <a:ln/>
        </p:spPr>
        <p:txBody>
          <a:bodyPr wrap="square" lIns="0" tIns="0" rIns="0" bIns="0" rtlCol="0" anchor="ctr"/>
          <a:lstStyle/>
          <a:p>
            <a:pPr marL="0" indent="0">
              <a:buNone/>
            </a:pPr>
            <a:r>
              <a:rPr lang="en-US" sz="1450" b="1" dirty="0">
                <a:solidFill>
                  <a:srgbClr val="13293D"/>
                </a:solidFill>
                <a:latin typeface="Calibri" pitchFamily="34" charset="0"/>
                <a:ea typeface="Calibri" pitchFamily="34" charset="-122"/>
                <a:cs typeface="Calibri" pitchFamily="34" charset="-120"/>
              </a:rPr>
              <a:t>Nothing is free</a:t>
            </a:r>
            <a:endParaRPr lang="en-US" sz="1450" dirty="0"/>
          </a:p>
        </p:txBody>
      </p:sp>
      <p:sp>
        <p:nvSpPr>
          <p:cNvPr id="12" name="Text 10"/>
          <p:cNvSpPr/>
          <p:nvPr/>
        </p:nvSpPr>
        <p:spPr>
          <a:xfrm>
            <a:off x="4297680" y="2377440"/>
            <a:ext cx="1005840" cy="676656"/>
          </a:xfrm>
          <a:prstGeom prst="rect">
            <a:avLst/>
          </a:prstGeom>
          <a:noFill/>
          <a:ln/>
        </p:spPr>
        <p:txBody>
          <a:bodyPr wrap="square" lIns="0" tIns="0" rIns="0" bIns="0" rtlCol="0" anchor="ctr"/>
          <a:lstStyle/>
          <a:p>
            <a:pPr marL="0" indent="0">
              <a:buNone/>
            </a:pPr>
            <a:r>
              <a:rPr lang="en-US" sz="1200" b="1" dirty="0">
                <a:solidFill>
                  <a:srgbClr val="A03A3A"/>
                </a:solidFill>
                <a:latin typeface="Calibri" pitchFamily="34" charset="0"/>
                <a:ea typeface="Calibri" pitchFamily="34" charset="-122"/>
                <a:cs typeface="Calibri" pitchFamily="34" charset="-120"/>
              </a:rPr>
              <a:t>Q2, Q8</a:t>
            </a:r>
            <a:endParaRPr lang="en-US" sz="1200" dirty="0"/>
          </a:p>
        </p:txBody>
      </p:sp>
      <p:sp>
        <p:nvSpPr>
          <p:cNvPr id="13" name="Text 11"/>
          <p:cNvSpPr/>
          <p:nvPr/>
        </p:nvSpPr>
        <p:spPr>
          <a:xfrm>
            <a:off x="5394960" y="2377440"/>
            <a:ext cx="5760720" cy="67665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Splitting services costs transactions and tail latency. Dependencies multiply.</a:t>
            </a:r>
            <a:endParaRPr lang="en-US" sz="1250" dirty="0"/>
          </a:p>
        </p:txBody>
      </p:sp>
      <p:sp>
        <p:nvSpPr>
          <p:cNvPr id="14" name="Shape 12"/>
          <p:cNvSpPr/>
          <p:nvPr/>
        </p:nvSpPr>
        <p:spPr>
          <a:xfrm>
            <a:off x="777240" y="3154680"/>
            <a:ext cx="10607040" cy="676656"/>
          </a:xfrm>
          <a:prstGeom prst="roundRect">
            <a:avLst>
              <a:gd name="adj" fmla="val 6757"/>
            </a:avLst>
          </a:prstGeom>
          <a:solidFill>
            <a:srgbClr val="FFFFFF"/>
          </a:solidFill>
          <a:ln w="12700">
            <a:solidFill>
              <a:srgbClr val="E1E8ED"/>
            </a:solidFill>
            <a:prstDash val="solid"/>
          </a:ln>
        </p:spPr>
        <p:txBody>
          <a:bodyPr/>
          <a:lstStyle/>
          <a:p>
            <a:endParaRPr lang="en-US"/>
          </a:p>
        </p:txBody>
      </p:sp>
      <p:sp>
        <p:nvSpPr>
          <p:cNvPr id="15" name="Shape 13"/>
          <p:cNvSpPr/>
          <p:nvPr/>
        </p:nvSpPr>
        <p:spPr>
          <a:xfrm>
            <a:off x="777240" y="3154680"/>
            <a:ext cx="109728" cy="676656"/>
          </a:xfrm>
          <a:prstGeom prst="rect">
            <a:avLst/>
          </a:prstGeom>
          <a:solidFill>
            <a:srgbClr val="1C7293"/>
          </a:solidFill>
          <a:ln/>
        </p:spPr>
        <p:txBody>
          <a:bodyPr/>
          <a:lstStyle/>
          <a:p>
            <a:endParaRPr lang="en-US"/>
          </a:p>
        </p:txBody>
      </p:sp>
      <p:sp>
        <p:nvSpPr>
          <p:cNvPr id="16" name="Text 14"/>
          <p:cNvSpPr/>
          <p:nvPr/>
        </p:nvSpPr>
        <p:spPr>
          <a:xfrm>
            <a:off x="1097280" y="3154680"/>
            <a:ext cx="3200400" cy="676656"/>
          </a:xfrm>
          <a:prstGeom prst="rect">
            <a:avLst/>
          </a:prstGeom>
          <a:noFill/>
          <a:ln/>
        </p:spPr>
        <p:txBody>
          <a:bodyPr wrap="square" lIns="0" tIns="0" rIns="0" bIns="0" rtlCol="0" anchor="ctr"/>
          <a:lstStyle/>
          <a:p>
            <a:pPr marL="0" indent="0">
              <a:buNone/>
            </a:pPr>
            <a:r>
              <a:rPr lang="en-US" sz="1450" b="1" dirty="0">
                <a:solidFill>
                  <a:srgbClr val="13293D"/>
                </a:solidFill>
                <a:latin typeface="Calibri" pitchFamily="34" charset="0"/>
                <a:ea typeface="Calibri" pitchFamily="34" charset="-122"/>
                <a:cs typeface="Calibri" pitchFamily="34" charset="-120"/>
              </a:rPr>
              <a:t>Never move more data than needed</a:t>
            </a:r>
            <a:endParaRPr lang="en-US" sz="1450" dirty="0"/>
          </a:p>
        </p:txBody>
      </p:sp>
      <p:sp>
        <p:nvSpPr>
          <p:cNvPr id="17" name="Text 15"/>
          <p:cNvSpPr/>
          <p:nvPr/>
        </p:nvSpPr>
        <p:spPr>
          <a:xfrm>
            <a:off x="4297680" y="3154680"/>
            <a:ext cx="1005840" cy="676656"/>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Q3</a:t>
            </a:r>
            <a:endParaRPr lang="en-US" sz="1200" dirty="0"/>
          </a:p>
        </p:txBody>
      </p:sp>
      <p:sp>
        <p:nvSpPr>
          <p:cNvPr id="18" name="Text 16"/>
          <p:cNvSpPr/>
          <p:nvPr/>
        </p:nvSpPr>
        <p:spPr>
          <a:xfrm>
            <a:off x="5394960" y="3154680"/>
            <a:ext cx="5760720" cy="67665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Two million exist, forty are sent, twelve are drawn.</a:t>
            </a:r>
            <a:endParaRPr lang="en-US" sz="1250" dirty="0"/>
          </a:p>
        </p:txBody>
      </p:sp>
      <p:sp>
        <p:nvSpPr>
          <p:cNvPr id="19" name="Shape 17"/>
          <p:cNvSpPr/>
          <p:nvPr/>
        </p:nvSpPr>
        <p:spPr>
          <a:xfrm>
            <a:off x="777240" y="3931920"/>
            <a:ext cx="10607040" cy="676656"/>
          </a:xfrm>
          <a:prstGeom prst="roundRect">
            <a:avLst>
              <a:gd name="adj" fmla="val 6757"/>
            </a:avLst>
          </a:prstGeom>
          <a:solidFill>
            <a:srgbClr val="F4F7F9"/>
          </a:solidFill>
          <a:ln w="12700">
            <a:solidFill>
              <a:srgbClr val="E1E8ED"/>
            </a:solidFill>
            <a:prstDash val="solid"/>
          </a:ln>
        </p:spPr>
        <p:txBody>
          <a:bodyPr/>
          <a:lstStyle/>
          <a:p>
            <a:endParaRPr lang="en-US"/>
          </a:p>
        </p:txBody>
      </p:sp>
      <p:sp>
        <p:nvSpPr>
          <p:cNvPr id="20" name="Shape 18"/>
          <p:cNvSpPr/>
          <p:nvPr/>
        </p:nvSpPr>
        <p:spPr>
          <a:xfrm>
            <a:off x="777240" y="3931920"/>
            <a:ext cx="109728" cy="676656"/>
          </a:xfrm>
          <a:prstGeom prst="rect">
            <a:avLst/>
          </a:prstGeom>
          <a:solidFill>
            <a:srgbClr val="2E7D5B"/>
          </a:solidFill>
          <a:ln/>
        </p:spPr>
        <p:txBody>
          <a:bodyPr/>
          <a:lstStyle/>
          <a:p>
            <a:endParaRPr lang="en-US"/>
          </a:p>
        </p:txBody>
      </p:sp>
      <p:sp>
        <p:nvSpPr>
          <p:cNvPr id="21" name="Text 19"/>
          <p:cNvSpPr/>
          <p:nvPr/>
        </p:nvSpPr>
        <p:spPr>
          <a:xfrm>
            <a:off x="1097280" y="3931920"/>
            <a:ext cx="3200400" cy="676656"/>
          </a:xfrm>
          <a:prstGeom prst="rect">
            <a:avLst/>
          </a:prstGeom>
          <a:noFill/>
          <a:ln/>
        </p:spPr>
        <p:txBody>
          <a:bodyPr wrap="square" lIns="0" tIns="0" rIns="0" bIns="0" rtlCol="0" anchor="ctr"/>
          <a:lstStyle/>
          <a:p>
            <a:pPr marL="0" indent="0">
              <a:buNone/>
            </a:pPr>
            <a:r>
              <a:rPr lang="en-US" sz="1450" b="1" dirty="0">
                <a:solidFill>
                  <a:srgbClr val="13293D"/>
                </a:solidFill>
                <a:latin typeface="Calibri" pitchFamily="34" charset="0"/>
                <a:ea typeface="Calibri" pitchFamily="34" charset="-122"/>
                <a:cs typeface="Calibri" pitchFamily="34" charset="-120"/>
              </a:rPr>
              <a:t>Use the right tool per job</a:t>
            </a:r>
            <a:endParaRPr lang="en-US" sz="1450" dirty="0"/>
          </a:p>
        </p:txBody>
      </p:sp>
      <p:sp>
        <p:nvSpPr>
          <p:cNvPr id="22" name="Text 20"/>
          <p:cNvSpPr/>
          <p:nvPr/>
        </p:nvSpPr>
        <p:spPr>
          <a:xfrm>
            <a:off x="4297680" y="3931920"/>
            <a:ext cx="1005840" cy="676656"/>
          </a:xfrm>
          <a:prstGeom prst="rect">
            <a:avLst/>
          </a:prstGeom>
          <a:noFill/>
          <a:ln/>
        </p:spPr>
        <p:txBody>
          <a:bodyPr wrap="square" lIns="0" tIns="0" rIns="0" bIns="0" rtlCol="0" anchor="ctr"/>
          <a:lstStyle/>
          <a:p>
            <a:pPr marL="0" indent="0">
              <a:buNone/>
            </a:pPr>
            <a:r>
              <a:rPr lang="en-US" sz="1200" b="1" dirty="0">
                <a:solidFill>
                  <a:srgbClr val="2E7D5B"/>
                </a:solidFill>
                <a:latin typeface="Calibri" pitchFamily="34" charset="0"/>
                <a:ea typeface="Calibri" pitchFamily="34" charset="-122"/>
                <a:cs typeface="Calibri" pitchFamily="34" charset="-120"/>
              </a:rPr>
              <a:t>Q4, Q9</a:t>
            </a:r>
            <a:endParaRPr lang="en-US" sz="1200" dirty="0"/>
          </a:p>
        </p:txBody>
      </p:sp>
      <p:sp>
        <p:nvSpPr>
          <p:cNvPr id="23" name="Text 21"/>
          <p:cNvSpPr/>
          <p:nvPr/>
        </p:nvSpPr>
        <p:spPr>
          <a:xfrm>
            <a:off x="5394960" y="3931920"/>
            <a:ext cx="5760720" cy="67665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Index finds, database stores, cache accelerates, CDN delivers.</a:t>
            </a:r>
            <a:endParaRPr lang="en-US" sz="1250" dirty="0"/>
          </a:p>
        </p:txBody>
      </p:sp>
      <p:sp>
        <p:nvSpPr>
          <p:cNvPr id="24" name="Shape 22"/>
          <p:cNvSpPr/>
          <p:nvPr/>
        </p:nvSpPr>
        <p:spPr>
          <a:xfrm>
            <a:off x="777240" y="4709160"/>
            <a:ext cx="10607040" cy="676656"/>
          </a:xfrm>
          <a:prstGeom prst="roundRect">
            <a:avLst>
              <a:gd name="adj" fmla="val 6757"/>
            </a:avLst>
          </a:prstGeom>
          <a:solidFill>
            <a:srgbClr val="FFFFFF"/>
          </a:solidFill>
          <a:ln w="12700">
            <a:solidFill>
              <a:srgbClr val="E1E8ED"/>
            </a:solidFill>
            <a:prstDash val="solid"/>
          </a:ln>
        </p:spPr>
        <p:txBody>
          <a:bodyPr/>
          <a:lstStyle/>
          <a:p>
            <a:endParaRPr lang="en-US"/>
          </a:p>
        </p:txBody>
      </p:sp>
      <p:sp>
        <p:nvSpPr>
          <p:cNvPr id="25" name="Shape 23"/>
          <p:cNvSpPr/>
          <p:nvPr/>
        </p:nvSpPr>
        <p:spPr>
          <a:xfrm>
            <a:off x="777240" y="4709160"/>
            <a:ext cx="109728" cy="676656"/>
          </a:xfrm>
          <a:prstGeom prst="rect">
            <a:avLst/>
          </a:prstGeom>
          <a:solidFill>
            <a:srgbClr val="6B4E71"/>
          </a:solidFill>
          <a:ln/>
        </p:spPr>
        <p:txBody>
          <a:bodyPr/>
          <a:lstStyle/>
          <a:p>
            <a:endParaRPr lang="en-US"/>
          </a:p>
        </p:txBody>
      </p:sp>
      <p:sp>
        <p:nvSpPr>
          <p:cNvPr id="26" name="Text 24"/>
          <p:cNvSpPr/>
          <p:nvPr/>
        </p:nvSpPr>
        <p:spPr>
          <a:xfrm>
            <a:off x="1097280" y="4709160"/>
            <a:ext cx="3200400" cy="676656"/>
          </a:xfrm>
          <a:prstGeom prst="rect">
            <a:avLst/>
          </a:prstGeom>
          <a:noFill/>
          <a:ln/>
        </p:spPr>
        <p:txBody>
          <a:bodyPr wrap="square" lIns="0" tIns="0" rIns="0" bIns="0" rtlCol="0" anchor="ctr"/>
          <a:lstStyle/>
          <a:p>
            <a:pPr marL="0" indent="0">
              <a:buNone/>
            </a:pPr>
            <a:r>
              <a:rPr lang="en-US" sz="1450" b="1" dirty="0">
                <a:solidFill>
                  <a:srgbClr val="13293D"/>
                </a:solidFill>
                <a:latin typeface="Calibri" pitchFamily="34" charset="0"/>
                <a:ea typeface="Calibri" pitchFamily="34" charset="-122"/>
                <a:cs typeface="Calibri" pitchFamily="34" charset="-120"/>
              </a:rPr>
              <a:t>Referral beats central knowledge</a:t>
            </a:r>
            <a:endParaRPr lang="en-US" sz="1450" dirty="0"/>
          </a:p>
        </p:txBody>
      </p:sp>
      <p:sp>
        <p:nvSpPr>
          <p:cNvPr id="27" name="Text 25"/>
          <p:cNvSpPr/>
          <p:nvPr/>
        </p:nvSpPr>
        <p:spPr>
          <a:xfrm>
            <a:off x="4297680" y="4709160"/>
            <a:ext cx="1005840" cy="676656"/>
          </a:xfrm>
          <a:prstGeom prst="rect">
            <a:avLst/>
          </a:prstGeom>
          <a:noFill/>
          <a:ln/>
        </p:spPr>
        <p:txBody>
          <a:bodyPr wrap="square" lIns="0" tIns="0" rIns="0" bIns="0" rtlCol="0" anchor="ctr"/>
          <a:lstStyle/>
          <a:p>
            <a:pPr marL="0" indent="0">
              <a:buNone/>
            </a:pPr>
            <a:r>
              <a:rPr lang="en-US" sz="1200" b="1" dirty="0">
                <a:solidFill>
                  <a:srgbClr val="6B4E71"/>
                </a:solidFill>
                <a:latin typeface="Calibri" pitchFamily="34" charset="0"/>
                <a:ea typeface="Calibri" pitchFamily="34" charset="-122"/>
                <a:cs typeface="Calibri" pitchFamily="34" charset="-120"/>
              </a:rPr>
              <a:t>Q5</a:t>
            </a:r>
            <a:endParaRPr lang="en-US" sz="1200" dirty="0"/>
          </a:p>
        </p:txBody>
      </p:sp>
      <p:sp>
        <p:nvSpPr>
          <p:cNvPr id="28" name="Text 26"/>
          <p:cNvSpPr/>
          <p:nvPr/>
        </p:nvSpPr>
        <p:spPr>
          <a:xfrm>
            <a:off x="5394960" y="4709160"/>
            <a:ext cx="5760720" cy="67665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DNS scales because no server knows everything.</a:t>
            </a:r>
            <a:endParaRPr lang="en-US" sz="1250" dirty="0"/>
          </a:p>
        </p:txBody>
      </p:sp>
      <p:sp>
        <p:nvSpPr>
          <p:cNvPr id="29" name="Shape 27"/>
          <p:cNvSpPr/>
          <p:nvPr/>
        </p:nvSpPr>
        <p:spPr>
          <a:xfrm>
            <a:off x="777240" y="5486400"/>
            <a:ext cx="10607040" cy="676656"/>
          </a:xfrm>
          <a:prstGeom prst="roundRect">
            <a:avLst>
              <a:gd name="adj" fmla="val 6757"/>
            </a:avLst>
          </a:prstGeom>
          <a:solidFill>
            <a:srgbClr val="F4F7F9"/>
          </a:solidFill>
          <a:ln w="12700">
            <a:solidFill>
              <a:srgbClr val="E1E8ED"/>
            </a:solidFill>
            <a:prstDash val="solid"/>
          </a:ln>
        </p:spPr>
        <p:txBody>
          <a:bodyPr/>
          <a:lstStyle/>
          <a:p>
            <a:endParaRPr lang="en-US"/>
          </a:p>
        </p:txBody>
      </p:sp>
      <p:sp>
        <p:nvSpPr>
          <p:cNvPr id="30" name="Shape 28"/>
          <p:cNvSpPr/>
          <p:nvPr/>
        </p:nvSpPr>
        <p:spPr>
          <a:xfrm>
            <a:off x="777240" y="5486400"/>
            <a:ext cx="109728" cy="676656"/>
          </a:xfrm>
          <a:prstGeom prst="rect">
            <a:avLst/>
          </a:prstGeom>
          <a:solidFill>
            <a:srgbClr val="13293D"/>
          </a:solidFill>
          <a:ln/>
        </p:spPr>
        <p:txBody>
          <a:bodyPr/>
          <a:lstStyle/>
          <a:p>
            <a:endParaRPr lang="en-US"/>
          </a:p>
        </p:txBody>
      </p:sp>
      <p:sp>
        <p:nvSpPr>
          <p:cNvPr id="31" name="Text 29"/>
          <p:cNvSpPr/>
          <p:nvPr/>
        </p:nvSpPr>
        <p:spPr>
          <a:xfrm>
            <a:off x="1097280" y="5486400"/>
            <a:ext cx="3200400" cy="676656"/>
          </a:xfrm>
          <a:prstGeom prst="rect">
            <a:avLst/>
          </a:prstGeom>
          <a:noFill/>
          <a:ln/>
        </p:spPr>
        <p:txBody>
          <a:bodyPr wrap="square" lIns="0" tIns="0" rIns="0" bIns="0" rtlCol="0" anchor="ctr"/>
          <a:lstStyle/>
          <a:p>
            <a:pPr marL="0" indent="0">
              <a:buNone/>
            </a:pPr>
            <a:r>
              <a:rPr lang="en-US" sz="1450" b="1" dirty="0">
                <a:solidFill>
                  <a:srgbClr val="13293D"/>
                </a:solidFill>
                <a:latin typeface="Calibri" pitchFamily="34" charset="0"/>
                <a:ea typeface="Calibri" pitchFamily="34" charset="-122"/>
                <a:cs typeface="Calibri" pitchFamily="34" charset="-120"/>
              </a:rPr>
              <a:t>The network dominates</a:t>
            </a:r>
            <a:endParaRPr lang="en-US" sz="1450" dirty="0"/>
          </a:p>
        </p:txBody>
      </p:sp>
      <p:sp>
        <p:nvSpPr>
          <p:cNvPr id="32" name="Text 30"/>
          <p:cNvSpPr/>
          <p:nvPr/>
        </p:nvSpPr>
        <p:spPr>
          <a:xfrm>
            <a:off x="4297680" y="5486400"/>
            <a:ext cx="1005840" cy="676656"/>
          </a:xfrm>
          <a:prstGeom prst="rect">
            <a:avLst/>
          </a:prstGeom>
          <a:noFill/>
          <a:ln/>
        </p:spPr>
        <p:txBody>
          <a:bodyPr wrap="square" lIns="0" tIns="0" rIns="0" bIns="0" rtlCol="0" anchor="ctr"/>
          <a:lstStyle/>
          <a:p>
            <a:pPr marL="0" indent="0">
              <a:buNone/>
            </a:pPr>
            <a:r>
              <a:rPr lang="en-US" sz="1200" b="1" dirty="0">
                <a:solidFill>
                  <a:srgbClr val="13293D"/>
                </a:solidFill>
                <a:latin typeface="Calibri" pitchFamily="34" charset="0"/>
                <a:ea typeface="Calibri" pitchFamily="34" charset="-122"/>
                <a:cs typeface="Calibri" pitchFamily="34" charset="-120"/>
              </a:rPr>
              <a:t>Q6, Q10</a:t>
            </a:r>
            <a:endParaRPr lang="en-US" sz="1200" dirty="0"/>
          </a:p>
        </p:txBody>
      </p:sp>
      <p:sp>
        <p:nvSpPr>
          <p:cNvPr id="33" name="Text 31"/>
          <p:cNvSpPr/>
          <p:nvPr/>
        </p:nvSpPr>
        <p:spPr>
          <a:xfrm>
            <a:off x="5394960" y="5486400"/>
            <a:ext cx="5760720" cy="676656"/>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Round trips and replication lag explain most mysterious behaviour.</a:t>
            </a:r>
            <a:endParaRPr lang="en-US" sz="1250" dirty="0"/>
          </a:p>
        </p:txBody>
      </p:sp>
      <p:sp>
        <p:nvSpPr>
          <p:cNvPr id="34" name="Shape 32"/>
          <p:cNvSpPr/>
          <p:nvPr/>
        </p:nvSpPr>
        <p:spPr>
          <a:xfrm>
            <a:off x="777240" y="6309360"/>
            <a:ext cx="10607040" cy="0"/>
          </a:xfrm>
          <a:prstGeom prst="roundRect">
            <a:avLst>
              <a:gd name="adj" fmla="val Infinity"/>
            </a:avLst>
          </a:prstGeom>
          <a:solidFill>
            <a:srgbClr val="FFFFFF"/>
          </a:solidFill>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2774</Words>
  <Application>Microsoft Macintosh PowerPoint</Application>
  <PresentationFormat>Widescreen</PresentationFormat>
  <Paragraphs>298</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Gaurav Raj</cp:lastModifiedBy>
  <cp:revision>2</cp:revision>
  <dcterms:created xsi:type="dcterms:W3CDTF">2026-08-27T02:10:17Z</dcterms:created>
  <dcterms:modified xsi:type="dcterms:W3CDTF">2026-08-27T02:30:35Z</dcterms:modified>
</cp:coreProperties>
</file>