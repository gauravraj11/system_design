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474720" cy="34747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DATABASES FOR THE REAL WORLD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Sharding &amp; Partitioning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Netflix, Amazon, Ola and Instagram keep their databases fast at massive scale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7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C67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036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9516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C218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9516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Database Isn't Enough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big product starts with a single, simple database — until growth breaks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718304" y="178308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1911096"/>
            <a:ext cx="100584" cy="100584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6" name="Shape 4"/>
          <p:cNvSpPr/>
          <p:nvPr/>
        </p:nvSpPr>
        <p:spPr>
          <a:xfrm>
            <a:off x="5404104" y="2148840"/>
            <a:ext cx="1371600" cy="1371600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4708" y="2820924"/>
            <a:ext cx="850392" cy="192024"/>
          </a:xfrm>
          <a:prstGeom prst="roundRect">
            <a:avLst>
              <a:gd name="adj" fmla="val 9524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18304" y="4123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Database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450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new rows every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23960" y="18288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4505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concurrent users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087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99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get slower and slower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23960" y="39776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23960" y="4087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💥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599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simply runs out of room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423160"/>
            <a:ext cx="1463040" cy="365760"/>
          </a:xfrm>
          <a:prstGeom prst="line">
            <a:avLst/>
          </a:prstGeom>
          <a:noFill/>
          <a:ln w="19050">
            <a:solidFill>
              <a:srgbClr val="DCE6E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461504" y="2788920"/>
            <a:ext cx="1371600" cy="-365760"/>
          </a:xfrm>
          <a:prstGeom prst="line">
            <a:avLst/>
          </a:prstGeom>
          <a:noFill/>
          <a:ln w="19050">
            <a:solidFill>
              <a:srgbClr val="DCE6E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46120" y="3977640"/>
            <a:ext cx="1463040" cy="365760"/>
          </a:xfrm>
          <a:prstGeom prst="line">
            <a:avLst/>
          </a:prstGeom>
          <a:noFill/>
          <a:ln w="19050">
            <a:solidFill>
              <a:srgbClr val="DCE6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moves fix this: split the DATA (partitioning) and split the MACHINES (sharding).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Moves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split your rows into smaller pieces — the difference is WHERE those pieces live.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5059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machine. Sliced 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35658" y="2971800"/>
            <a:ext cx="2743200" cy="1965960"/>
          </a:xfrm>
          <a:prstGeom prst="roundRect">
            <a:avLst>
              <a:gd name="adj" fmla="val 465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3674" y="309981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0" name="Shape 8"/>
          <p:cNvSpPr/>
          <p:nvPr/>
        </p:nvSpPr>
        <p:spPr>
          <a:xfrm>
            <a:off x="2521458" y="3286354"/>
            <a:ext cx="1371600" cy="1179576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2062" y="3616635"/>
            <a:ext cx="850392" cy="165141"/>
          </a:xfrm>
          <a:prstGeom prst="roundRect">
            <a:avLst>
              <a:gd name="adj" fmla="val 11074"/>
            </a:avLst>
          </a:prstGeom>
          <a:solidFill>
            <a:srgbClr val="0F8B8D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2062" y="3864346"/>
            <a:ext cx="850392" cy="165141"/>
          </a:xfrm>
          <a:prstGeom prst="roundRect">
            <a:avLst>
              <a:gd name="adj" fmla="val 11074"/>
            </a:avLst>
          </a:prstGeom>
          <a:solidFill>
            <a:srgbClr val="D9720C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2062" y="4112057"/>
            <a:ext cx="850392" cy="165141"/>
          </a:xfrm>
          <a:prstGeom prst="roundRect">
            <a:avLst>
              <a:gd name="adj" fmla="val 11074"/>
            </a:avLst>
          </a:prstGeom>
          <a:solidFill>
            <a:srgbClr val="6C4A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35658" y="4992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— Table Split by Slice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orders table split into Jan / Feb / Mar chunks so old-month queries don't scan everything.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3076" y="169164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6C4A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3116" y="192024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3116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43116" y="245059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machines. Split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43116" y="2971800"/>
            <a:ext cx="1371600" cy="1965960"/>
          </a:xfrm>
          <a:prstGeom prst="roundRect">
            <a:avLst>
              <a:gd name="adj" fmla="val 6667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1132" y="309981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2" name="Shape 20"/>
          <p:cNvSpPr/>
          <p:nvPr/>
        </p:nvSpPr>
        <p:spPr>
          <a:xfrm>
            <a:off x="6986016" y="3286354"/>
            <a:ext cx="685800" cy="1179576"/>
          </a:xfrm>
          <a:prstGeom prst="can">
            <a:avLst/>
          </a:prstGeom>
          <a:solidFill>
            <a:srgbClr val="D9720C"/>
          </a:solidFill>
          <a:ln w="19050">
            <a:solidFill>
              <a:srgbClr val="A85A0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6318" y="3864346"/>
            <a:ext cx="425196" cy="165141"/>
          </a:xfrm>
          <a:prstGeom prst="roundRect">
            <a:avLst>
              <a:gd name="adj" fmla="val 11074"/>
            </a:avLst>
          </a:prstGeom>
          <a:solidFill>
            <a:srgbClr val="D9720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43116" y="4992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48672" y="2971800"/>
            <a:ext cx="1371600" cy="1965960"/>
          </a:xfrm>
          <a:prstGeom prst="roundRect">
            <a:avLst>
              <a:gd name="adj" fmla="val 6667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76688" y="309981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91572" y="3286354"/>
            <a:ext cx="685800" cy="1179576"/>
          </a:xfrm>
          <a:prstGeom prst="can">
            <a:avLst/>
          </a:prstGeom>
          <a:solidFill>
            <a:srgbClr val="6C4AB6"/>
          </a:solidFill>
          <a:ln w="19050">
            <a:solidFill>
              <a:srgbClr val="4E34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1874" y="3864346"/>
            <a:ext cx="425196" cy="165141"/>
          </a:xfrm>
          <a:prstGeom prst="roundRect">
            <a:avLst>
              <a:gd name="adj" fmla="val 11074"/>
            </a:avLst>
          </a:prstGeom>
          <a:solidFill>
            <a:srgbClr val="6C4AB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48672" y="4992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43116" y="525780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users A–M live on Server A, users N–Z live on Server B — each machine only holds part of the data.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Real Combinations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and Partitioning are independent choices — you can mix them.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481328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82880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DCE6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4620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DCE6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746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777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19659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07568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4144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26180" y="2258568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4196" y="238658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069080" y="2419502"/>
            <a:ext cx="685800" cy="603504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99382" y="2715219"/>
            <a:ext cx="425196" cy="84491"/>
          </a:xfrm>
          <a:prstGeom prst="roundRect">
            <a:avLst>
              <a:gd name="adj" fmla="val 21645"/>
            </a:avLst>
          </a:prstGeom>
          <a:solidFill>
            <a:srgbClr val="0F8B8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31720" y="3383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9659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207568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2200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06740" y="2258568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4756" y="238658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2419502"/>
            <a:ext cx="685800" cy="603504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79942" y="2651851"/>
            <a:ext cx="425196" cy="84491"/>
          </a:xfrm>
          <a:prstGeom prst="roundRect">
            <a:avLst>
              <a:gd name="adj" fmla="val 21645"/>
            </a:avLst>
          </a:prstGeom>
          <a:solidFill>
            <a:srgbClr val="0F8B8D"/>
          </a:solidFill>
          <a:ln/>
        </p:spPr>
      </p:sp>
      <p:sp>
        <p:nvSpPr>
          <p:cNvPr id="29" name="Shape 27"/>
          <p:cNvSpPr/>
          <p:nvPr/>
        </p:nvSpPr>
        <p:spPr>
          <a:xfrm>
            <a:off x="8679942" y="2778587"/>
            <a:ext cx="425196" cy="84491"/>
          </a:xfrm>
          <a:prstGeom prst="roundRect">
            <a:avLst>
              <a:gd name="adj" fmla="val 21645"/>
            </a:avLst>
          </a:prstGeom>
          <a:solidFill>
            <a:srgbClr val="D9720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3383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31720" y="4069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41448" y="417880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44144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903220" y="4361688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1236" y="448970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6" name="Shape 34"/>
          <p:cNvSpPr/>
          <p:nvPr/>
        </p:nvSpPr>
        <p:spPr>
          <a:xfrm>
            <a:off x="3211830" y="4522622"/>
            <a:ext cx="617220" cy="603504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9102" y="4818339"/>
            <a:ext cx="382676" cy="84491"/>
          </a:xfrm>
          <a:prstGeom prst="roundRect">
            <a:avLst>
              <a:gd name="adj" fmla="val 21645"/>
            </a:avLst>
          </a:prstGeom>
          <a:solidFill>
            <a:srgbClr val="0F8B8D"/>
          </a:solidFill>
          <a:ln/>
        </p:spPr>
      </p:sp>
      <p:sp>
        <p:nvSpPr>
          <p:cNvPr id="38" name="Shape 36"/>
          <p:cNvSpPr/>
          <p:nvPr/>
        </p:nvSpPr>
        <p:spPr>
          <a:xfrm>
            <a:off x="4686300" y="4361688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4316" y="448970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0" name="Shape 38"/>
          <p:cNvSpPr/>
          <p:nvPr/>
        </p:nvSpPr>
        <p:spPr>
          <a:xfrm>
            <a:off x="4994910" y="4522622"/>
            <a:ext cx="617220" cy="603504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12182" y="4818339"/>
            <a:ext cx="382676" cy="84491"/>
          </a:xfrm>
          <a:prstGeom prst="roundRect">
            <a:avLst>
              <a:gd name="adj" fmla="val 21645"/>
            </a:avLst>
          </a:prstGeom>
          <a:solidFill>
            <a:srgbClr val="0F8B8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331720" y="5486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12280" y="4069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22008" y="4178808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2200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383780" y="4361688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11796" y="448970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48" name="Shape 46"/>
          <p:cNvSpPr/>
          <p:nvPr/>
        </p:nvSpPr>
        <p:spPr>
          <a:xfrm>
            <a:off x="7692390" y="4522622"/>
            <a:ext cx="617220" cy="603504"/>
          </a:xfrm>
          <a:prstGeom prst="can">
            <a:avLst/>
          </a:prstGeom>
          <a:solidFill>
            <a:srgbClr val="D9720C"/>
          </a:solidFill>
          <a:ln w="19050">
            <a:solidFill>
              <a:srgbClr val="A85A0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09662" y="4754971"/>
            <a:ext cx="382676" cy="84491"/>
          </a:xfrm>
          <a:prstGeom prst="roundRect">
            <a:avLst>
              <a:gd name="adj" fmla="val 21645"/>
            </a:avLst>
          </a:prstGeom>
          <a:solidFill>
            <a:srgbClr val="D9720C"/>
          </a:solidFill>
          <a:ln/>
        </p:spPr>
      </p:sp>
      <p:sp>
        <p:nvSpPr>
          <p:cNvPr id="50" name="Shape 48"/>
          <p:cNvSpPr/>
          <p:nvPr/>
        </p:nvSpPr>
        <p:spPr>
          <a:xfrm>
            <a:off x="7809662" y="4881707"/>
            <a:ext cx="382676" cy="84491"/>
          </a:xfrm>
          <a:prstGeom prst="roundRect">
            <a:avLst>
              <a:gd name="adj" fmla="val 21645"/>
            </a:avLst>
          </a:prstGeom>
          <a:solidFill>
            <a:srgbClr val="C23B3B"/>
          </a:solidFill>
          <a:ln/>
        </p:spPr>
      </p:sp>
      <p:sp>
        <p:nvSpPr>
          <p:cNvPr id="51" name="Shape 49"/>
          <p:cNvSpPr/>
          <p:nvPr/>
        </p:nvSpPr>
        <p:spPr>
          <a:xfrm>
            <a:off x="9166860" y="4361688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94876" y="448970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53" name="Shape 51"/>
          <p:cNvSpPr/>
          <p:nvPr/>
        </p:nvSpPr>
        <p:spPr>
          <a:xfrm>
            <a:off x="9475470" y="4522622"/>
            <a:ext cx="617220" cy="603504"/>
          </a:xfrm>
          <a:prstGeom prst="can">
            <a:avLst/>
          </a:prstGeom>
          <a:solidFill>
            <a:srgbClr val="6C4AB6"/>
          </a:solidFill>
          <a:ln w="19050">
            <a:solidFill>
              <a:srgbClr val="4E348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92742" y="4754971"/>
            <a:ext cx="382676" cy="84491"/>
          </a:xfrm>
          <a:prstGeom prst="roundRect">
            <a:avLst>
              <a:gd name="adj" fmla="val 21645"/>
            </a:avLst>
          </a:prstGeom>
          <a:solidFill>
            <a:srgbClr val="6C4AB6"/>
          </a:solidFill>
          <a:ln/>
        </p:spPr>
      </p:sp>
      <p:sp>
        <p:nvSpPr>
          <p:cNvPr id="55" name="Shape 53"/>
          <p:cNvSpPr/>
          <p:nvPr/>
        </p:nvSpPr>
        <p:spPr>
          <a:xfrm>
            <a:off x="9592742" y="4881707"/>
            <a:ext cx="382676" cy="84491"/>
          </a:xfrm>
          <a:prstGeom prst="roundRect">
            <a:avLst>
              <a:gd name="adj" fmla="val 21645"/>
            </a:avLst>
          </a:prstGeom>
          <a:solidFill>
            <a:srgbClr val="1E6FD9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812280" y="5486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+ Partitioned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Quadrant 1 — No Sharding, No Partitioning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· ONE MACHINE · SIMPLE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191109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119579"/>
            <a:ext cx="1280160" cy="1261872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54910" y="2737896"/>
            <a:ext cx="793699" cy="176662"/>
          </a:xfrm>
          <a:prstGeom prst="roundRect">
            <a:avLst>
              <a:gd name="adj" fmla="val 10352"/>
            </a:avLst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3941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PostgreSQL Server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965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— every user, every post — lives on one disk, on one machine, in one simple table.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691640"/>
            <a:ext cx="41879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C218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6952" y="1837944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218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16952" y="1837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16952" y="231343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One, 2010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2" y="2697480"/>
            <a:ext cx="3858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launched on a SINGLE PostgreSQL server running on one Amazon EC2 instance. Every photo, like and follow for every early user sat in that one database — and it worked fine at that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72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this is the RIGHT choice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Early-stage products with a small, predictable user base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58968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comfortably fits on one disk with room to grow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43016"/>
            <a:ext cx="10543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Simplest to build, deploy, back up and debug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Quadrant 2 — Partitioning Only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D972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· SLICED TABLE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186537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2088490"/>
            <a:ext cx="1371600" cy="1316736"/>
          </a:xfrm>
          <a:prstGeom prst="can">
            <a:avLst/>
          </a:prstGeom>
          <a:solidFill>
            <a:srgbClr val="D9720C"/>
          </a:solidFill>
          <a:ln w="19050">
            <a:solidFill>
              <a:srgbClr val="A85A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6564" y="2457176"/>
            <a:ext cx="850392" cy="184343"/>
          </a:xfrm>
          <a:prstGeom prst="roundRect">
            <a:avLst>
              <a:gd name="adj" fmla="val 9921"/>
            </a:avLst>
          </a:prstGeom>
          <a:solidFill>
            <a:srgbClr val="D9720C"/>
          </a:solidFill>
          <a:ln/>
        </p:spPr>
      </p:sp>
      <p:sp>
        <p:nvSpPr>
          <p:cNvPr id="9" name="Shape 7"/>
          <p:cNvSpPr/>
          <p:nvPr/>
        </p:nvSpPr>
        <p:spPr>
          <a:xfrm>
            <a:off x="2226564" y="2733690"/>
            <a:ext cx="850392" cy="184343"/>
          </a:xfrm>
          <a:prstGeom prst="roundRect">
            <a:avLst>
              <a:gd name="adj" fmla="val 9921"/>
            </a:avLst>
          </a:prstGeom>
          <a:solidFill>
            <a:srgbClr val="6C4AB6"/>
          </a:solidFill>
          <a:ln/>
        </p:spPr>
      </p:sp>
      <p:sp>
        <p:nvSpPr>
          <p:cNvPr id="10" name="Shape 8"/>
          <p:cNvSpPr/>
          <p:nvPr/>
        </p:nvSpPr>
        <p:spPr>
          <a:xfrm>
            <a:off x="2226564" y="3010205"/>
            <a:ext cx="850392" cy="184343"/>
          </a:xfrm>
          <a:prstGeom prst="roundRect">
            <a:avLst>
              <a:gd name="adj" fmla="val 9921"/>
            </a:avLst>
          </a:prstGeom>
          <a:solidFill>
            <a:srgbClr val="0F8B8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3986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Server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920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ONE machine — but the table is sliced into logical chunks, usually by date or region, so queries only scan the slice they need.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418795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C67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16952" y="1837944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673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16952" y="1837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16952" y="231343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History, Partitioned by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2" y="2697480"/>
            <a:ext cx="3858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“orders” table can be range-partitioned by order_date. “Show my last 30 days” only touches this month's slice — not years of history — while it all still lives on one server.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EXAMPLE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463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 order_id INT, order_date DATE, ... 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 RANGE (YEAR(order_date))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p2024 VALUES LESS THAN (2025),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p2025 VALUES LESS THAN (2026)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Quadrant 3 — Sharding Only (Read Replicas)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212080" cy="384048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FULL DATA · COPIED ACROSS MACHINES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002536"/>
            <a:ext cx="100584" cy="100584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7" name="Shape 5"/>
          <p:cNvSpPr/>
          <p:nvPr/>
        </p:nvSpPr>
        <p:spPr>
          <a:xfrm>
            <a:off x="1108710" y="2086661"/>
            <a:ext cx="845820" cy="795528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9416" y="2476470"/>
            <a:ext cx="524408" cy="111374"/>
          </a:xfrm>
          <a:prstGeom prst="roundRect">
            <a:avLst>
              <a:gd name="adj" fmla="val 16420"/>
            </a:avLst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2552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(Writes)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2377440"/>
            <a:ext cx="731520" cy="320040"/>
          </a:xfrm>
          <a:prstGeom prst="rightArrow">
            <a:avLst/>
          </a:prstGeom>
          <a:solidFill>
            <a:srgbClr val="5B6B7C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572768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5576" y="1700784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0460" y="1741018"/>
            <a:ext cx="685800" cy="630936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0762" y="2050176"/>
            <a:ext cx="425196" cy="88331"/>
          </a:xfrm>
          <a:prstGeom prst="roundRect">
            <a:avLst>
              <a:gd name="adj" fmla="val 20704"/>
            </a:avLst>
          </a:prstGeom>
          <a:solidFill>
            <a:srgbClr val="0F8B8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37560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— Delhi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999232"/>
            <a:ext cx="1371600" cy="1051560"/>
          </a:xfrm>
          <a:prstGeom prst="roundRect">
            <a:avLst>
              <a:gd name="adj" fmla="val 8696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5576" y="3127248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0460" y="3167482"/>
            <a:ext cx="685800" cy="630936"/>
          </a:xfrm>
          <a:prstGeom prst="can">
            <a:avLst/>
          </a:prstGeom>
          <a:solidFill>
            <a:srgbClr val="0F8B8D"/>
          </a:solidFill>
          <a:ln w="19050">
            <a:solidFill>
              <a:srgbClr val="0A65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762" y="3476640"/>
            <a:ext cx="425196" cy="88331"/>
          </a:xfrm>
          <a:prstGeom prst="roundRect">
            <a:avLst>
              <a:gd name="adj" fmla="val 20704"/>
            </a:avLst>
          </a:prstGeom>
          <a:solidFill>
            <a:srgbClr val="0F8B8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3756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— Chennai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011680"/>
            <a:ext cx="822960" cy="9144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468880" y="2834640"/>
            <a:ext cx="822960" cy="-91440"/>
          </a:xfrm>
          <a:prstGeom prst="line">
            <a:avLst/>
          </a:prstGeom>
          <a:noFill/>
          <a:ln w="19050">
            <a:solidFill>
              <a:srgbClr val="5B6B7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212080" y="173736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replica holds a FULL, unpartitioned copy of the same data — no slicing, just duplication for read speed.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50215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78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1837944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02752" y="1837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231343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Reads in Every City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69748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ride bookings WRITE to one primary database. Read replicas in each region serve the app's read traffic (fares, ride status) locally and fast — each replica is a full copy, not a partition.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46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reach for this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285232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Reads vastly outnumber writes — typical for booking &amp; content apps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614416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are spread across regions and want low-latency local reads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4360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need to split the data itself — just spread out the copies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Quadrant 4 — Sharded AND Partitioned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760720" cy="384048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· SPLIT FURTHER INSIDE EACH MACHINE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186537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Shape 5"/>
          <p:cNvSpPr/>
          <p:nvPr/>
        </p:nvSpPr>
        <p:spPr>
          <a:xfrm>
            <a:off x="1303020" y="2000707"/>
            <a:ext cx="777240" cy="987552"/>
          </a:xfrm>
          <a:prstGeom prst="can">
            <a:avLst/>
          </a:prstGeom>
          <a:solidFill>
            <a:srgbClr val="D9720C"/>
          </a:solidFill>
          <a:ln w="19050">
            <a:solidFill>
              <a:srgbClr val="A85A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0696" y="2380915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D9720C"/>
          </a:solidFill>
          <a:ln/>
        </p:spPr>
      </p:sp>
      <p:sp>
        <p:nvSpPr>
          <p:cNvPr id="9" name="Shape 7"/>
          <p:cNvSpPr/>
          <p:nvPr/>
        </p:nvSpPr>
        <p:spPr>
          <a:xfrm>
            <a:off x="1450696" y="2588301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A85A0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186537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Shape 11"/>
          <p:cNvSpPr/>
          <p:nvPr/>
        </p:nvSpPr>
        <p:spPr>
          <a:xfrm>
            <a:off x="3131820" y="2000707"/>
            <a:ext cx="777240" cy="987552"/>
          </a:xfrm>
          <a:prstGeom prst="can">
            <a:avLst/>
          </a:prstGeom>
          <a:solidFill>
            <a:srgbClr val="6C4AB6"/>
          </a:solidFill>
          <a:ln w="19050">
            <a:solidFill>
              <a:srgbClr val="4E34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9496" y="2380915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6C4AB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9496" y="2588301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4E34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103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C"/>
                </a:solidFill>
              </a:rPr>
              <a:t>⋯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D8E9E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02936" y="1865376"/>
            <a:ext cx="100584" cy="100584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63540" y="2000707"/>
            <a:ext cx="777240" cy="987552"/>
          </a:xfrm>
          <a:prstGeom prst="can">
            <a:avLst/>
          </a:prstGeom>
          <a:solidFill>
            <a:srgbClr val="1E6FD9"/>
          </a:solidFill>
          <a:ln w="19050">
            <a:solidFill>
              <a:srgbClr val="134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11216" y="2380915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1E6FD9"/>
          </a:solidFill>
          <a:ln/>
        </p:spPr>
      </p:sp>
      <p:sp>
        <p:nvSpPr>
          <p:cNvPr id="22" name="Shape 20"/>
          <p:cNvSpPr/>
          <p:nvPr/>
        </p:nvSpPr>
        <p:spPr>
          <a:xfrm>
            <a:off x="5611216" y="2588301"/>
            <a:ext cx="481889" cy="138257"/>
          </a:xfrm>
          <a:prstGeom prst="roundRect">
            <a:avLst>
              <a:gd name="adj" fmla="val 13228"/>
            </a:avLst>
          </a:prstGeom>
          <a:solidFill>
            <a:srgbClr val="134A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7492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86600" y="1554480"/>
            <a:ext cx="455371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C218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1192" y="1700784"/>
            <a:ext cx="1371600" cy="365760"/>
          </a:xfrm>
          <a:prstGeom prst="roundRect">
            <a:avLst>
              <a:gd name="adj" fmla="val 17500"/>
            </a:avLst>
          </a:prstGeom>
          <a:solidFill>
            <a:srgbClr val="C218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51192" y="1700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251192" y="2176272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Billions of Photos (2012)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51192" y="2560320"/>
            <a:ext cx="42245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Instagram grew past its single server, engineers sharded PostgreSQL by hashing user_id across thousands of logical shards spread over many physical machines — and partitioned data further inside each shard. This combination is documented in Instagram's own engineering blog.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7091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FULL horizontal scale — the combination that lets a product serve billions of users: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16636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Storage capacity scales with every new machine added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53212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Each shard is small enough to stay fast on its own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89788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single server ever becomes the bottleneck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Sharding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take on the extra complexity once they outgrow one machine.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8340" y="2029968"/>
            <a:ext cx="694944" cy="694944"/>
          </a:xfrm>
          <a:prstGeom prst="ellipse">
            <a:avLst/>
          </a:prstGeom>
          <a:solidFill>
            <a:srgbClr val="E9F7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58340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Large Reads &amp; Writes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spreads across many machines instead of hammering one — each shard handles only its own slice of load.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7004" y="2029968"/>
            <a:ext cx="694944" cy="694944"/>
          </a:xfrm>
          <a:prstGeom prst="ellipse">
            <a:avLst/>
          </a:prstGeom>
          <a:solidFill>
            <a:srgbClr val="E9F7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47004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20184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Total Storage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space? Add another shard. Total capacity grows with every machine you bring online.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5668" y="2029968"/>
            <a:ext cx="694944" cy="694944"/>
          </a:xfrm>
          <a:prstGeom prst="ellipse">
            <a:avLst/>
          </a:prstGeom>
          <a:solidFill>
            <a:srgbClr val="E9F7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35668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08848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9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Availability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shard going down doesn't take the whole product offline — only that slice of users is affected.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9F7EF"/>
          </a:solidFill>
          <a:ln w="1524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949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catalog and viewing-activity data is spread this way across many nodes — no single node ever has to serve the whole world.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Sharding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you pay for spreading data across machines.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8340" y="2029968"/>
            <a:ext cx="694944" cy="694944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58340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Operationally Complex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machines to deploy, monitor, patch, back up and recover — every operation multiplies.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7004" y="2029968"/>
            <a:ext cx="694944" cy="694944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47004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20184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Cross-Shard Queries Are Expensive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all orders over ₹5000” now means asking every shard and merging results yourself.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1828800"/>
            <a:ext cx="3514344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5668" y="2029968"/>
            <a:ext cx="694944" cy="694944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35668" y="2029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08848" y="2816352"/>
            <a:ext cx="3148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Rebalancing Is Painful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3218688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shard growing too big means moving live data between machines — carefully, without downtime.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BEAEA"/>
          </a:solidFill>
          <a:ln w="15240">
            <a:solidFill>
              <a:srgbClr val="C23B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949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don't shard until a single, well-tuned machine (or a replica setup) genuinely can't keep up.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vs NoSQL — Who Shards Natively?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families support this. The difference is how much MySQL/Postgres leave to you.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1E6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Oracle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27198" y="2926080"/>
            <a:ext cx="1005840" cy="1005840"/>
          </a:xfrm>
          <a:prstGeom prst="ellipse">
            <a:avLst/>
          </a:prstGeom>
          <a:solidFill>
            <a:srgbClr val="D8E9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27198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🧰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tool-assisted sharding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RANGE / LIST / HASH partitioning is built in. But spreading data across many SERVERS needs an extra layer — tools like Vitess (used by YouTube) or Citus for Postgres.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7356" y="1691640"/>
            <a:ext cx="5362956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6C4A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1676" y="19202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6C4A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1676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2450592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Cassandra · DynamoDB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55914" y="2926080"/>
            <a:ext cx="1005840" cy="1005840"/>
          </a:xfrm>
          <a:prstGeom prst="ellipse">
            <a:avLst/>
          </a:prstGeom>
          <a:solidFill>
            <a:srgbClr val="EFE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5914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0690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sharding, built in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4480560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a partition/shard key, and the database automatically spreads and rebalances data across nodes. This is WHY Amazon built DynamoDB and Netflix leans on Cassandra for their largest datasets.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Real Products Sit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our four examples back onto the framework.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481328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82880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DCE6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82880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74620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DCE6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746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600200" cy="365760"/>
          </a:xfrm>
          <a:prstGeom prst="roundRect">
            <a:avLst>
              <a:gd name="adj" fmla="val 17500"/>
            </a:avLst>
          </a:prstGeom>
          <a:solidFill>
            <a:srgbClr val="6C4A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777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19659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22219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218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06040" y="2221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8803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 2010 — single Postgres server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12280" y="19659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2219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67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86600" y="2221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8803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partitioned by month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31720" y="4069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432511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06040" y="4325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9834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read replicas of the booking DB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406908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432511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218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86600" y="4325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9834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scale — sharded + partitioned Postgres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5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9893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blends several of these ideas at once — Cassandra shards its viewing data automatically, replicated across regions for reads.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Decide?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 w="19050">
            <a:solidFill>
              <a:srgbClr val="D972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18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queries slow because they scan too many rows on one machine?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PARTITION the table (Quadrant 2).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 w="19050">
            <a:solidFill>
              <a:srgbClr val="6C4A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852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reads overwhelming one machine, but writes are fine?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READ REPLICAS (Quadrant 3).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 w="19050">
            <a:solidFill>
              <a:srgbClr val="C23B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087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data itself outgrown any single machine's disk or CPU?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SHARD across machines — and partition inside each shard (Quadrant 4).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3315C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218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everything still small and simple?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Stay right where you are (Quadrant 1). Don't add complexity you don't need yet.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2026-09-29T09:12:42Z</dcterms:created>
  <dcterms:modified xsi:type="dcterms:W3CDTF">2026-09-29T09:12:42Z</dcterms:modified>
</cp:coreProperties>
</file>