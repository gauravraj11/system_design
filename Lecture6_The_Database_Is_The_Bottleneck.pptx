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36"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80598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them CampusEats is the campus food delivery app from Lecture 2. We left it at 5 million users with five microservices.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red row. Say plainly: this is the last unsolved piece, and it is the piece every case study depends 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Roughly 10 minutes per round. Round 4 needs the most board time.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them notice "low CPU on every server" is the clue. Idle servers means they are blocked, not busy.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cashier queue analogy lands well. Twenty people queueing at one counter is not solved by adding more people to the queue.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this shape on the board too: a funnel. It is the mental image students should keep for the rest of the unit.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for the warning in Lecture 1. Ask if anyone remembers it before revealing.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Sticky sessions come up in interviews constantly. Students should know it exists and know why it is a workaround, not a fix.</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them to articulate: reads do not change anything, so they can be answered by any correct copy.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the free bonus: if the primary dies, promote a replica. That is how managed services do failover.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Callback to Q10 of the quiz. Now they must explain rather than recognise.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Plant the word eventual consistency here. It returns properly when we do CAP.</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hint is the key: this is the same full-scan problem, and the same shape of solution.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routinely think indexes are free. Hammer the write cost — it sets up Round 5 perfectly.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have a lab machine handy, run EXPLAIN on a query live. It is more convincing than any slide.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is the deliverable of the lecture. Ask them to copy it before moving to Round 5.</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no, and they should be able to reason it out. Do not resolve it fully — Lecture 7 does.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cliffhanger deliberately. Do not explain sharding today, however much they ask.</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 answers to the three questions at the start of Lecture 7 — they map exactly onto shard key, hot shards, and routing.</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93D"/>
        </a:solidFill>
        <a:effectLst/>
      </p:bgPr>
    </p:bg>
    <p:spTree>
      <p:nvGrpSpPr>
        <p:cNvPr id="1" name=""/>
        <p:cNvGrpSpPr/>
        <p:nvPr/>
      </p:nvGrpSpPr>
      <p:grpSpPr>
        <a:xfrm>
          <a:off x="0" y="0"/>
          <a:ext cx="0" cy="0"/>
          <a:chOff x="0" y="0"/>
          <a:chExt cx="0" cy="0"/>
        </a:xfrm>
      </p:grpSpPr>
      <p:sp>
        <p:nvSpPr>
          <p:cNvPr id="2" name="Shape 0"/>
          <p:cNvSpPr/>
          <p:nvPr/>
        </p:nvSpPr>
        <p:spPr>
          <a:xfrm>
            <a:off x="822960" y="1097280"/>
            <a:ext cx="2377440" cy="457200"/>
          </a:xfrm>
          <a:prstGeom prst="roundRect">
            <a:avLst>
              <a:gd name="adj" fmla="val 44000"/>
            </a:avLst>
          </a:prstGeom>
          <a:solidFill>
            <a:srgbClr val="1D3D52"/>
          </a:solidFill>
          <a:ln/>
        </p:spPr>
        <p:txBody>
          <a:bodyPr/>
          <a:lstStyle/>
          <a:p>
            <a:endParaRPr lang="en-US"/>
          </a:p>
        </p:txBody>
      </p:sp>
      <p:sp>
        <p:nvSpPr>
          <p:cNvPr id="3" name="Text 1"/>
          <p:cNvSpPr/>
          <p:nvPr/>
        </p:nvSpPr>
        <p:spPr>
          <a:xfrm>
            <a:off x="822960" y="1097280"/>
            <a:ext cx="2377440" cy="457200"/>
          </a:xfrm>
          <a:prstGeom prst="rect">
            <a:avLst/>
          </a:prstGeom>
          <a:noFill/>
          <a:ln/>
        </p:spPr>
        <p:txBody>
          <a:bodyPr wrap="square" rtlCol="0" anchor="ctr"/>
          <a:lstStyle/>
          <a:p>
            <a:pPr marL="0" indent="0" algn="ctr">
              <a:buNone/>
            </a:pPr>
            <a:r>
              <a:rPr lang="en-US" sz="1600" b="1" kern="0" spc="200" dirty="0">
                <a:solidFill>
                  <a:srgbClr val="E8A33D"/>
                </a:solidFill>
                <a:latin typeface="Calibri" pitchFamily="34" charset="0"/>
                <a:ea typeface="Calibri" pitchFamily="34" charset="-122"/>
                <a:cs typeface="Calibri" pitchFamily="34" charset="-120"/>
              </a:rPr>
              <a:t>LECTURE 6</a:t>
            </a:r>
            <a:endParaRPr lang="en-US" sz="1600" dirty="0"/>
          </a:p>
        </p:txBody>
      </p:sp>
      <p:sp>
        <p:nvSpPr>
          <p:cNvPr id="4" name="Text 2"/>
          <p:cNvSpPr/>
          <p:nvPr/>
        </p:nvSpPr>
        <p:spPr>
          <a:xfrm>
            <a:off x="822960" y="1783080"/>
            <a:ext cx="9601200" cy="1828800"/>
          </a:xfrm>
          <a:prstGeom prst="rect">
            <a:avLst/>
          </a:prstGeom>
          <a:noFill/>
          <a:ln/>
        </p:spPr>
        <p:txBody>
          <a:bodyPr wrap="square" rtlCol="0" anchor="ctr"/>
          <a:lstStyle/>
          <a:p>
            <a:pPr marL="0" indent="0">
              <a:lnSpc>
                <a:spcPts val="5000"/>
              </a:lnSpc>
              <a:buNone/>
            </a:pPr>
            <a:r>
              <a:rPr lang="en-US" sz="4400" b="1" dirty="0">
                <a:solidFill>
                  <a:srgbClr val="FFFFFF"/>
                </a:solidFill>
                <a:latin typeface="Cambria" pitchFamily="34" charset="0"/>
                <a:ea typeface="Cambria" pitchFamily="34" charset="-122"/>
                <a:cs typeface="Cambria" pitchFamily="34" charset="-120"/>
              </a:rPr>
              <a:t>The Database Is</a:t>
            </a:r>
            <a:r>
              <a:rPr lang="en-US" sz="4400" dirty="0"/>
              <a:t> </a:t>
            </a:r>
            <a:r>
              <a:rPr lang="en-US" sz="4400" b="1" dirty="0">
                <a:solidFill>
                  <a:srgbClr val="FFFFFF"/>
                </a:solidFill>
                <a:latin typeface="Cambria" pitchFamily="34" charset="0"/>
                <a:ea typeface="Cambria" pitchFamily="34" charset="-122"/>
                <a:cs typeface="Cambria" pitchFamily="34" charset="-120"/>
              </a:rPr>
              <a:t>the Bottleneck</a:t>
            </a:r>
            <a:endParaRPr lang="en-US" sz="4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40080"/>
          </a:xfrm>
          <a:prstGeom prst="rect">
            <a:avLst/>
          </a:prstGeom>
          <a:noFill/>
          <a:ln/>
        </p:spPr>
        <p:txBody>
          <a:bodyPr wrap="square" lIns="0" tIns="0" rIns="0" bIns="0" rtlCol="0" anchor="ctr"/>
          <a:lstStyle/>
          <a:p>
            <a:pPr marL="0" indent="0">
              <a:buNone/>
            </a:pPr>
            <a:r>
              <a:rPr lang="en-US" sz="3100" b="1" dirty="0">
                <a:solidFill>
                  <a:srgbClr val="13293D"/>
                </a:solidFill>
                <a:latin typeface="Cambria" pitchFamily="34" charset="0"/>
                <a:ea typeface="Cambria" pitchFamily="34" charset="-122"/>
                <a:cs typeface="Cambria" pitchFamily="34" charset="-120"/>
              </a:rPr>
              <a:t>Where CampusEats Stands Today</a:t>
            </a:r>
            <a:endParaRPr lang="en-US" sz="3100" dirty="0"/>
          </a:p>
        </p:txBody>
      </p:sp>
      <p:sp>
        <p:nvSpPr>
          <p:cNvPr id="3" name="Text 1"/>
          <p:cNvSpPr/>
          <p:nvPr/>
        </p:nvSpPr>
        <p:spPr>
          <a:xfrm>
            <a:off x="658368" y="1005840"/>
            <a:ext cx="10972800" cy="384048"/>
          </a:xfrm>
          <a:prstGeom prst="rect">
            <a:avLst/>
          </a:prstGeom>
          <a:noFill/>
          <a:ln/>
        </p:spPr>
        <p:txBody>
          <a:bodyPr wrap="square" lIns="0" tIns="0" rIns="0" bIns="0" rtlCol="0" anchor="ctr"/>
          <a:lstStyle/>
          <a:p>
            <a:pPr marL="0" indent="0">
              <a:buNone/>
            </a:pPr>
            <a:r>
              <a:rPr lang="en-US" sz="1500" i="1" dirty="0">
                <a:solidFill>
                  <a:srgbClr val="5A6B76"/>
                </a:solidFill>
                <a:latin typeface="Calibri" pitchFamily="34" charset="0"/>
                <a:ea typeface="Calibri" pitchFamily="34" charset="-122"/>
                <a:cs typeface="Calibri" pitchFamily="34" charset="-120"/>
              </a:rPr>
              <a:t>Everything in front of the data layer has been solved</a:t>
            </a:r>
            <a:endParaRPr lang="en-US" sz="1500" dirty="0"/>
          </a:p>
        </p:txBody>
      </p:sp>
      <p:sp>
        <p:nvSpPr>
          <p:cNvPr id="4" name="Shape 2"/>
          <p:cNvSpPr/>
          <p:nvPr/>
        </p:nvSpPr>
        <p:spPr>
          <a:xfrm>
            <a:off x="777240" y="1645920"/>
            <a:ext cx="10607040" cy="731520"/>
          </a:xfrm>
          <a:prstGeom prst="roundRect">
            <a:avLst>
              <a:gd name="adj" fmla="val 6250"/>
            </a:avLst>
          </a:prstGeom>
          <a:solidFill>
            <a:srgbClr val="FFFFFF"/>
          </a:solidFill>
          <a:ln w="12700">
            <a:solidFill>
              <a:srgbClr val="E1E8ED"/>
            </a:solidFill>
            <a:prstDash val="solid"/>
          </a:ln>
        </p:spPr>
        <p:txBody>
          <a:bodyPr/>
          <a:lstStyle/>
          <a:p>
            <a:endParaRPr lang="en-US"/>
          </a:p>
        </p:txBody>
      </p:sp>
      <p:sp>
        <p:nvSpPr>
          <p:cNvPr id="5" name="Shape 3"/>
          <p:cNvSpPr/>
          <p:nvPr/>
        </p:nvSpPr>
        <p:spPr>
          <a:xfrm>
            <a:off x="777240" y="1645920"/>
            <a:ext cx="109728" cy="731520"/>
          </a:xfrm>
          <a:prstGeom prst="rect">
            <a:avLst/>
          </a:prstGeom>
          <a:solidFill>
            <a:srgbClr val="2E7D5B"/>
          </a:solidFill>
          <a:ln/>
        </p:spPr>
        <p:txBody>
          <a:bodyPr/>
          <a:lstStyle/>
          <a:p>
            <a:endParaRPr lang="en-US"/>
          </a:p>
        </p:txBody>
      </p:sp>
      <p:sp>
        <p:nvSpPr>
          <p:cNvPr id="6" name="Text 4"/>
          <p:cNvSpPr/>
          <p:nvPr/>
        </p:nvSpPr>
        <p:spPr>
          <a:xfrm>
            <a:off x="1097280" y="1645920"/>
            <a:ext cx="2743200" cy="731520"/>
          </a:xfrm>
          <a:prstGeom prst="rect">
            <a:avLst/>
          </a:prstGeom>
          <a:noFill/>
          <a:ln/>
        </p:spPr>
        <p:txBody>
          <a:bodyPr wrap="square" lIns="0" tIns="0" rIns="0" bIns="0" rtlCol="0" anchor="ctr"/>
          <a:lstStyle/>
          <a:p>
            <a:pPr marL="0" indent="0">
              <a:buNone/>
            </a:pPr>
            <a:r>
              <a:rPr lang="en-US" sz="1500" b="1" dirty="0">
                <a:solidFill>
                  <a:srgbClr val="13293D"/>
                </a:solidFill>
                <a:latin typeface="Calibri" pitchFamily="34" charset="0"/>
                <a:ea typeface="Calibri" pitchFamily="34" charset="-122"/>
                <a:cs typeface="Calibri" pitchFamily="34" charset="-120"/>
              </a:rPr>
              <a:t>Load balancer</a:t>
            </a:r>
            <a:endParaRPr lang="en-US" sz="1500" dirty="0"/>
          </a:p>
        </p:txBody>
      </p:sp>
      <p:sp>
        <p:nvSpPr>
          <p:cNvPr id="7" name="Text 5"/>
          <p:cNvSpPr/>
          <p:nvPr/>
        </p:nvSpPr>
        <p:spPr>
          <a:xfrm>
            <a:off x="3931920" y="1645920"/>
            <a:ext cx="5394960" cy="731520"/>
          </a:xfrm>
          <a:prstGeom prst="rect">
            <a:avLst/>
          </a:prstGeom>
          <a:noFill/>
          <a:ln/>
        </p:spPr>
        <p:txBody>
          <a:bodyPr wrap="square" lIns="0" tIns="0" rIns="0" bIns="0" rtlCol="0" anchor="ctr"/>
          <a:lstStyle/>
          <a:p>
            <a:pPr marL="0" indent="0">
              <a:buNone/>
            </a:pPr>
            <a:r>
              <a:rPr lang="en-US" sz="1300" dirty="0">
                <a:solidFill>
                  <a:srgbClr val="1B2A33"/>
                </a:solidFill>
                <a:latin typeface="Calibri" pitchFamily="34" charset="0"/>
                <a:ea typeface="Calibri" pitchFamily="34" charset="-122"/>
                <a:cs typeface="Calibri" pitchFamily="34" charset="-120"/>
              </a:rPr>
              <a:t>Traffic spread across many app servers</a:t>
            </a:r>
            <a:endParaRPr lang="en-US" sz="1300" dirty="0"/>
          </a:p>
        </p:txBody>
      </p:sp>
      <p:sp>
        <p:nvSpPr>
          <p:cNvPr id="9" name="Shape 7"/>
          <p:cNvSpPr/>
          <p:nvPr/>
        </p:nvSpPr>
        <p:spPr>
          <a:xfrm>
            <a:off x="777240" y="2487168"/>
            <a:ext cx="10607040" cy="731520"/>
          </a:xfrm>
          <a:prstGeom prst="roundRect">
            <a:avLst>
              <a:gd name="adj" fmla="val 6250"/>
            </a:avLst>
          </a:prstGeom>
          <a:solidFill>
            <a:srgbClr val="F4F7F9"/>
          </a:solidFill>
          <a:ln w="12700">
            <a:solidFill>
              <a:srgbClr val="E1E8ED"/>
            </a:solidFill>
            <a:prstDash val="solid"/>
          </a:ln>
        </p:spPr>
        <p:txBody>
          <a:bodyPr/>
          <a:lstStyle/>
          <a:p>
            <a:endParaRPr lang="en-US"/>
          </a:p>
        </p:txBody>
      </p:sp>
      <p:sp>
        <p:nvSpPr>
          <p:cNvPr id="10" name="Shape 8"/>
          <p:cNvSpPr/>
          <p:nvPr/>
        </p:nvSpPr>
        <p:spPr>
          <a:xfrm>
            <a:off x="777240" y="2487168"/>
            <a:ext cx="109728" cy="731520"/>
          </a:xfrm>
          <a:prstGeom prst="rect">
            <a:avLst/>
          </a:prstGeom>
          <a:solidFill>
            <a:srgbClr val="2E7D5B"/>
          </a:solidFill>
          <a:ln/>
        </p:spPr>
        <p:txBody>
          <a:bodyPr/>
          <a:lstStyle/>
          <a:p>
            <a:endParaRPr lang="en-US"/>
          </a:p>
        </p:txBody>
      </p:sp>
      <p:sp>
        <p:nvSpPr>
          <p:cNvPr id="11" name="Text 9"/>
          <p:cNvSpPr/>
          <p:nvPr/>
        </p:nvSpPr>
        <p:spPr>
          <a:xfrm>
            <a:off x="1097280" y="2487168"/>
            <a:ext cx="2743200" cy="731520"/>
          </a:xfrm>
          <a:prstGeom prst="rect">
            <a:avLst/>
          </a:prstGeom>
          <a:noFill/>
          <a:ln/>
        </p:spPr>
        <p:txBody>
          <a:bodyPr wrap="square" lIns="0" tIns="0" rIns="0" bIns="0" rtlCol="0" anchor="ctr"/>
          <a:lstStyle/>
          <a:p>
            <a:pPr marL="0" indent="0">
              <a:buNone/>
            </a:pPr>
            <a:r>
              <a:rPr lang="en-US" sz="1500" b="1" dirty="0">
                <a:solidFill>
                  <a:srgbClr val="13293D"/>
                </a:solidFill>
                <a:latin typeface="Calibri" pitchFamily="34" charset="0"/>
                <a:ea typeface="Calibri" pitchFamily="34" charset="-122"/>
                <a:cs typeface="Calibri" pitchFamily="34" charset="-120"/>
              </a:rPr>
              <a:t>CDN</a:t>
            </a:r>
            <a:endParaRPr lang="en-US" sz="1500" dirty="0"/>
          </a:p>
        </p:txBody>
      </p:sp>
      <p:sp>
        <p:nvSpPr>
          <p:cNvPr id="12" name="Text 10"/>
          <p:cNvSpPr/>
          <p:nvPr/>
        </p:nvSpPr>
        <p:spPr>
          <a:xfrm>
            <a:off x="3931920" y="2487168"/>
            <a:ext cx="5394960" cy="731520"/>
          </a:xfrm>
          <a:prstGeom prst="rect">
            <a:avLst/>
          </a:prstGeom>
          <a:noFill/>
          <a:ln/>
        </p:spPr>
        <p:txBody>
          <a:bodyPr wrap="square" lIns="0" tIns="0" rIns="0" bIns="0" rtlCol="0" anchor="ctr"/>
          <a:lstStyle/>
          <a:p>
            <a:pPr marL="0" indent="0">
              <a:buNone/>
            </a:pPr>
            <a:r>
              <a:rPr lang="en-US" sz="1300" dirty="0">
                <a:solidFill>
                  <a:srgbClr val="1B2A33"/>
                </a:solidFill>
                <a:latin typeface="Calibri" pitchFamily="34" charset="0"/>
                <a:ea typeface="Calibri" pitchFamily="34" charset="-122"/>
                <a:cs typeface="Calibri" pitchFamily="34" charset="-120"/>
              </a:rPr>
              <a:t>Images served from edge servers near users</a:t>
            </a:r>
            <a:endParaRPr lang="en-US" sz="1300" dirty="0"/>
          </a:p>
        </p:txBody>
      </p:sp>
      <p:sp>
        <p:nvSpPr>
          <p:cNvPr id="14" name="Shape 12"/>
          <p:cNvSpPr/>
          <p:nvPr/>
        </p:nvSpPr>
        <p:spPr>
          <a:xfrm>
            <a:off x="777240" y="3328416"/>
            <a:ext cx="10607040" cy="731520"/>
          </a:xfrm>
          <a:prstGeom prst="roundRect">
            <a:avLst>
              <a:gd name="adj" fmla="val 6250"/>
            </a:avLst>
          </a:prstGeom>
          <a:solidFill>
            <a:srgbClr val="FFFFFF"/>
          </a:solidFill>
          <a:ln w="12700">
            <a:solidFill>
              <a:srgbClr val="E1E8ED"/>
            </a:solidFill>
            <a:prstDash val="solid"/>
          </a:ln>
        </p:spPr>
        <p:txBody>
          <a:bodyPr/>
          <a:lstStyle/>
          <a:p>
            <a:endParaRPr lang="en-US"/>
          </a:p>
        </p:txBody>
      </p:sp>
      <p:sp>
        <p:nvSpPr>
          <p:cNvPr id="15" name="Shape 13"/>
          <p:cNvSpPr/>
          <p:nvPr/>
        </p:nvSpPr>
        <p:spPr>
          <a:xfrm>
            <a:off x="777240" y="3328416"/>
            <a:ext cx="109728" cy="731520"/>
          </a:xfrm>
          <a:prstGeom prst="rect">
            <a:avLst/>
          </a:prstGeom>
          <a:solidFill>
            <a:srgbClr val="2E7D5B"/>
          </a:solidFill>
          <a:ln/>
        </p:spPr>
        <p:txBody>
          <a:bodyPr/>
          <a:lstStyle/>
          <a:p>
            <a:endParaRPr lang="en-US"/>
          </a:p>
        </p:txBody>
      </p:sp>
      <p:sp>
        <p:nvSpPr>
          <p:cNvPr id="16" name="Text 14"/>
          <p:cNvSpPr/>
          <p:nvPr/>
        </p:nvSpPr>
        <p:spPr>
          <a:xfrm>
            <a:off x="1097280" y="3328416"/>
            <a:ext cx="2743200" cy="731520"/>
          </a:xfrm>
          <a:prstGeom prst="rect">
            <a:avLst/>
          </a:prstGeom>
          <a:noFill/>
          <a:ln/>
        </p:spPr>
        <p:txBody>
          <a:bodyPr wrap="square" lIns="0" tIns="0" rIns="0" bIns="0" rtlCol="0" anchor="ctr"/>
          <a:lstStyle/>
          <a:p>
            <a:pPr marL="0" indent="0">
              <a:buNone/>
            </a:pPr>
            <a:r>
              <a:rPr lang="en-US" sz="1500" b="1" dirty="0">
                <a:solidFill>
                  <a:srgbClr val="13293D"/>
                </a:solidFill>
                <a:latin typeface="Calibri" pitchFamily="34" charset="0"/>
                <a:ea typeface="Calibri" pitchFamily="34" charset="-122"/>
                <a:cs typeface="Calibri" pitchFamily="34" charset="-120"/>
              </a:rPr>
              <a:t>Search index</a:t>
            </a:r>
            <a:endParaRPr lang="en-US" sz="1500" dirty="0"/>
          </a:p>
        </p:txBody>
      </p:sp>
      <p:sp>
        <p:nvSpPr>
          <p:cNvPr id="17" name="Text 15"/>
          <p:cNvSpPr/>
          <p:nvPr/>
        </p:nvSpPr>
        <p:spPr>
          <a:xfrm>
            <a:off x="3931920" y="3328416"/>
            <a:ext cx="5394960" cy="731520"/>
          </a:xfrm>
          <a:prstGeom prst="rect">
            <a:avLst/>
          </a:prstGeom>
          <a:noFill/>
          <a:ln/>
        </p:spPr>
        <p:txBody>
          <a:bodyPr wrap="square" lIns="0" tIns="0" rIns="0" bIns="0" rtlCol="0" anchor="ctr"/>
          <a:lstStyle/>
          <a:p>
            <a:pPr marL="0" indent="0">
              <a:buNone/>
            </a:pPr>
            <a:r>
              <a:rPr lang="en-US" sz="1300" dirty="0">
                <a:solidFill>
                  <a:srgbClr val="1B2A33"/>
                </a:solidFill>
                <a:latin typeface="Calibri" pitchFamily="34" charset="0"/>
                <a:ea typeface="Calibri" pitchFamily="34" charset="-122"/>
                <a:cs typeface="Calibri" pitchFamily="34" charset="-120"/>
              </a:rPr>
              <a:t>Finds matching restaurants and dishes fast</a:t>
            </a:r>
            <a:endParaRPr lang="en-US" sz="1300" dirty="0"/>
          </a:p>
        </p:txBody>
      </p:sp>
      <p:sp>
        <p:nvSpPr>
          <p:cNvPr id="19" name="Shape 17"/>
          <p:cNvSpPr/>
          <p:nvPr/>
        </p:nvSpPr>
        <p:spPr>
          <a:xfrm>
            <a:off x="777240" y="4169664"/>
            <a:ext cx="10607040" cy="731520"/>
          </a:xfrm>
          <a:prstGeom prst="roundRect">
            <a:avLst>
              <a:gd name="adj" fmla="val 6250"/>
            </a:avLst>
          </a:prstGeom>
          <a:solidFill>
            <a:srgbClr val="F4F7F9"/>
          </a:solidFill>
          <a:ln w="12700">
            <a:solidFill>
              <a:srgbClr val="E1E8ED"/>
            </a:solidFill>
            <a:prstDash val="solid"/>
          </a:ln>
        </p:spPr>
        <p:txBody>
          <a:bodyPr/>
          <a:lstStyle/>
          <a:p>
            <a:endParaRPr lang="en-US"/>
          </a:p>
        </p:txBody>
      </p:sp>
      <p:sp>
        <p:nvSpPr>
          <p:cNvPr id="20" name="Shape 18"/>
          <p:cNvSpPr/>
          <p:nvPr/>
        </p:nvSpPr>
        <p:spPr>
          <a:xfrm>
            <a:off x="777240" y="4169664"/>
            <a:ext cx="109728" cy="731520"/>
          </a:xfrm>
          <a:prstGeom prst="rect">
            <a:avLst/>
          </a:prstGeom>
          <a:solidFill>
            <a:srgbClr val="2E7D5B"/>
          </a:solidFill>
          <a:ln/>
        </p:spPr>
        <p:txBody>
          <a:bodyPr/>
          <a:lstStyle/>
          <a:p>
            <a:endParaRPr lang="en-US"/>
          </a:p>
        </p:txBody>
      </p:sp>
      <p:sp>
        <p:nvSpPr>
          <p:cNvPr id="21" name="Text 19"/>
          <p:cNvSpPr/>
          <p:nvPr/>
        </p:nvSpPr>
        <p:spPr>
          <a:xfrm>
            <a:off x="1097280" y="4169664"/>
            <a:ext cx="2743200" cy="731520"/>
          </a:xfrm>
          <a:prstGeom prst="rect">
            <a:avLst/>
          </a:prstGeom>
          <a:noFill/>
          <a:ln/>
        </p:spPr>
        <p:txBody>
          <a:bodyPr wrap="square" lIns="0" tIns="0" rIns="0" bIns="0" rtlCol="0" anchor="ctr"/>
          <a:lstStyle/>
          <a:p>
            <a:pPr marL="0" indent="0">
              <a:buNone/>
            </a:pPr>
            <a:r>
              <a:rPr lang="en-US" sz="1500" b="1" dirty="0">
                <a:solidFill>
                  <a:srgbClr val="13293D"/>
                </a:solidFill>
                <a:latin typeface="Calibri" pitchFamily="34" charset="0"/>
                <a:ea typeface="Calibri" pitchFamily="34" charset="-122"/>
                <a:cs typeface="Calibri" pitchFamily="34" charset="-120"/>
              </a:rPr>
              <a:t>Redis cache</a:t>
            </a:r>
            <a:endParaRPr lang="en-US" sz="1500" dirty="0"/>
          </a:p>
        </p:txBody>
      </p:sp>
      <p:sp>
        <p:nvSpPr>
          <p:cNvPr id="22" name="Text 20"/>
          <p:cNvSpPr/>
          <p:nvPr/>
        </p:nvSpPr>
        <p:spPr>
          <a:xfrm>
            <a:off x="3931920" y="4169664"/>
            <a:ext cx="5394960" cy="731520"/>
          </a:xfrm>
          <a:prstGeom prst="rect">
            <a:avLst/>
          </a:prstGeom>
          <a:noFill/>
          <a:ln/>
        </p:spPr>
        <p:txBody>
          <a:bodyPr wrap="square" lIns="0" tIns="0" rIns="0" bIns="0" rtlCol="0" anchor="ctr"/>
          <a:lstStyle/>
          <a:p>
            <a:pPr marL="0" indent="0">
              <a:buNone/>
            </a:pPr>
            <a:r>
              <a:rPr lang="en-US" sz="1300" dirty="0">
                <a:solidFill>
                  <a:srgbClr val="1B2A33"/>
                </a:solidFill>
                <a:latin typeface="Calibri" pitchFamily="34" charset="0"/>
                <a:ea typeface="Calibri" pitchFamily="34" charset="-122"/>
                <a:cs typeface="Calibri" pitchFamily="34" charset="-120"/>
              </a:rPr>
              <a:t>Popular menus served from memory</a:t>
            </a:r>
            <a:endParaRPr lang="en-US" sz="1300" dirty="0"/>
          </a:p>
        </p:txBody>
      </p:sp>
      <p:sp>
        <p:nvSpPr>
          <p:cNvPr id="24" name="Shape 22"/>
          <p:cNvSpPr/>
          <p:nvPr/>
        </p:nvSpPr>
        <p:spPr>
          <a:xfrm>
            <a:off x="777240" y="5010912"/>
            <a:ext cx="10607040" cy="731520"/>
          </a:xfrm>
          <a:prstGeom prst="roundRect">
            <a:avLst>
              <a:gd name="adj" fmla="val 6250"/>
            </a:avLst>
          </a:prstGeom>
          <a:solidFill>
            <a:srgbClr val="FDF0EE"/>
          </a:solidFill>
          <a:ln w="17780">
            <a:solidFill>
              <a:srgbClr val="E8C4BE"/>
            </a:solidFill>
            <a:prstDash val="solid"/>
          </a:ln>
        </p:spPr>
        <p:txBody>
          <a:bodyPr/>
          <a:lstStyle/>
          <a:p>
            <a:endParaRPr lang="en-US"/>
          </a:p>
        </p:txBody>
      </p:sp>
      <p:sp>
        <p:nvSpPr>
          <p:cNvPr id="25" name="Shape 23"/>
          <p:cNvSpPr/>
          <p:nvPr/>
        </p:nvSpPr>
        <p:spPr>
          <a:xfrm>
            <a:off x="777240" y="5010912"/>
            <a:ext cx="109728" cy="731520"/>
          </a:xfrm>
          <a:prstGeom prst="rect">
            <a:avLst/>
          </a:prstGeom>
          <a:solidFill>
            <a:srgbClr val="A03A3A"/>
          </a:solidFill>
          <a:ln/>
        </p:spPr>
        <p:txBody>
          <a:bodyPr/>
          <a:lstStyle/>
          <a:p>
            <a:endParaRPr lang="en-US"/>
          </a:p>
        </p:txBody>
      </p:sp>
      <p:sp>
        <p:nvSpPr>
          <p:cNvPr id="26" name="Text 24"/>
          <p:cNvSpPr/>
          <p:nvPr/>
        </p:nvSpPr>
        <p:spPr>
          <a:xfrm>
            <a:off x="1097280" y="5010912"/>
            <a:ext cx="2743200" cy="731520"/>
          </a:xfrm>
          <a:prstGeom prst="rect">
            <a:avLst/>
          </a:prstGeom>
          <a:noFill/>
          <a:ln/>
        </p:spPr>
        <p:txBody>
          <a:bodyPr wrap="square" lIns="0" tIns="0" rIns="0" bIns="0" rtlCol="0" anchor="ctr"/>
          <a:lstStyle/>
          <a:p>
            <a:pPr marL="0" indent="0">
              <a:buNone/>
            </a:pPr>
            <a:r>
              <a:rPr lang="en-US" sz="1500" b="1" dirty="0">
                <a:solidFill>
                  <a:srgbClr val="A03A3A"/>
                </a:solidFill>
                <a:latin typeface="Calibri" pitchFamily="34" charset="0"/>
                <a:ea typeface="Calibri" pitchFamily="34" charset="-122"/>
                <a:cs typeface="Calibri" pitchFamily="34" charset="-120"/>
              </a:rPr>
              <a:t>The database</a:t>
            </a:r>
            <a:endParaRPr lang="en-US" sz="1500" dirty="0"/>
          </a:p>
        </p:txBody>
      </p:sp>
      <p:sp>
        <p:nvSpPr>
          <p:cNvPr id="27" name="Text 25"/>
          <p:cNvSpPr/>
          <p:nvPr/>
        </p:nvSpPr>
        <p:spPr>
          <a:xfrm>
            <a:off x="3931920" y="5010912"/>
            <a:ext cx="5394960" cy="731520"/>
          </a:xfrm>
          <a:prstGeom prst="rect">
            <a:avLst/>
          </a:prstGeom>
          <a:noFill/>
          <a:ln/>
        </p:spPr>
        <p:txBody>
          <a:bodyPr wrap="square" lIns="0" tIns="0" rIns="0" bIns="0" rtlCol="0" anchor="ctr"/>
          <a:lstStyle/>
          <a:p>
            <a:pPr marL="0" indent="0">
              <a:buNone/>
            </a:pPr>
            <a:r>
              <a:rPr lang="en-US" sz="1300" dirty="0">
                <a:solidFill>
                  <a:srgbClr val="1B2A33"/>
                </a:solidFill>
                <a:latin typeface="Calibri" pitchFamily="34" charset="0"/>
                <a:ea typeface="Calibri" pitchFamily="34" charset="-122"/>
                <a:cs typeface="Calibri" pitchFamily="34" charset="-120"/>
              </a:rPr>
              <a:t>One machine. Still doing all the real work.</a:t>
            </a:r>
            <a:endParaRPr lang="en-US" sz="1300" dirty="0"/>
          </a:p>
        </p:txBody>
      </p:sp>
      <p:sp>
        <p:nvSpPr>
          <p:cNvPr id="29" name="Text 27"/>
          <p:cNvSpPr/>
          <p:nvPr/>
        </p:nvSpPr>
        <p:spPr>
          <a:xfrm>
            <a:off x="777240" y="5943600"/>
            <a:ext cx="10607040" cy="411480"/>
          </a:xfrm>
          <a:prstGeom prst="rect">
            <a:avLst/>
          </a:prstGeom>
          <a:noFill/>
          <a:ln/>
        </p:spPr>
        <p:txBody>
          <a:bodyPr wrap="square" lIns="0" tIns="0" rIns="0" bIns="0" rtlCol="0" anchor="ctr"/>
          <a:lstStyle/>
          <a:p>
            <a:pPr marL="0" indent="0">
              <a:buNone/>
            </a:pPr>
            <a:r>
              <a:rPr lang="en-US" sz="1500" b="1" dirty="0">
                <a:solidFill>
                  <a:srgbClr val="065A82"/>
                </a:solidFill>
                <a:latin typeface="Calibri" pitchFamily="34" charset="0"/>
                <a:ea typeface="Calibri" pitchFamily="34" charset="-122"/>
                <a:cs typeface="Calibri" pitchFamily="34" charset="-120"/>
              </a:rPr>
              <a:t>Every request that is not served from a cache still ends at that one machine. Today is about what happens there.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40080"/>
          </a:xfrm>
          <a:prstGeom prst="rect">
            <a:avLst/>
          </a:prstGeom>
          <a:noFill/>
          <a:ln/>
        </p:spPr>
        <p:txBody>
          <a:bodyPr wrap="square" lIns="0" tIns="0" rIns="0" bIns="0" rtlCol="0" anchor="ctr"/>
          <a:lstStyle/>
          <a:p>
            <a:pPr marL="0" indent="0">
              <a:buNone/>
            </a:pPr>
            <a:r>
              <a:rPr lang="en-US" sz="3100" b="1" dirty="0">
                <a:solidFill>
                  <a:srgbClr val="13293D"/>
                </a:solidFill>
                <a:latin typeface="Cambria" pitchFamily="34" charset="0"/>
                <a:ea typeface="Cambria" pitchFamily="34" charset="-122"/>
                <a:cs typeface="Cambria" pitchFamily="34" charset="-120"/>
              </a:rPr>
              <a:t>Today's Five Rounds</a:t>
            </a:r>
            <a:endParaRPr lang="en-US" sz="3100" dirty="0"/>
          </a:p>
        </p:txBody>
      </p:sp>
      <p:sp>
        <p:nvSpPr>
          <p:cNvPr id="3" name="Text 1"/>
          <p:cNvSpPr/>
          <p:nvPr/>
        </p:nvSpPr>
        <p:spPr>
          <a:xfrm>
            <a:off x="658368" y="1005840"/>
            <a:ext cx="10972800" cy="384048"/>
          </a:xfrm>
          <a:prstGeom prst="rect">
            <a:avLst/>
          </a:prstGeom>
          <a:noFill/>
          <a:ln/>
        </p:spPr>
        <p:txBody>
          <a:bodyPr wrap="square" lIns="0" tIns="0" rIns="0" bIns="0" rtlCol="0" anchor="ctr"/>
          <a:lstStyle/>
          <a:p>
            <a:pPr marL="0" indent="0">
              <a:buNone/>
            </a:pPr>
            <a:r>
              <a:rPr lang="en-US" sz="1500" i="1" dirty="0">
                <a:solidFill>
                  <a:srgbClr val="5A6B76"/>
                </a:solidFill>
                <a:latin typeface="Calibri" pitchFamily="34" charset="0"/>
                <a:ea typeface="Calibri" pitchFamily="34" charset="-122"/>
                <a:cs typeface="Calibri" pitchFamily="34" charset="-120"/>
              </a:rPr>
              <a:t>Each one is a symptom before it is a solution</a:t>
            </a:r>
            <a:endParaRPr lang="en-US" sz="1500" dirty="0"/>
          </a:p>
        </p:txBody>
      </p:sp>
      <p:sp>
        <p:nvSpPr>
          <p:cNvPr id="4" name="Shape 2"/>
          <p:cNvSpPr/>
          <p:nvPr/>
        </p:nvSpPr>
        <p:spPr>
          <a:xfrm>
            <a:off x="777240" y="1691640"/>
            <a:ext cx="10607040" cy="786384"/>
          </a:xfrm>
          <a:prstGeom prst="roundRect">
            <a:avLst>
              <a:gd name="adj" fmla="val 6977"/>
            </a:avLst>
          </a:prstGeom>
          <a:solidFill>
            <a:srgbClr val="FFFFFF"/>
          </a:solidFill>
          <a:ln w="12700">
            <a:solidFill>
              <a:srgbClr val="E1E8ED"/>
            </a:solidFill>
            <a:prstDash val="solid"/>
          </a:ln>
        </p:spPr>
        <p:txBody>
          <a:bodyPr/>
          <a:lstStyle/>
          <a:p>
            <a:endParaRPr lang="en-US"/>
          </a:p>
        </p:txBody>
      </p:sp>
      <p:sp>
        <p:nvSpPr>
          <p:cNvPr id="5" name="Shape 3"/>
          <p:cNvSpPr/>
          <p:nvPr/>
        </p:nvSpPr>
        <p:spPr>
          <a:xfrm>
            <a:off x="1005840" y="1865376"/>
            <a:ext cx="1325880" cy="438912"/>
          </a:xfrm>
          <a:prstGeom prst="roundRect">
            <a:avLst>
              <a:gd name="adj" fmla="val 41667"/>
            </a:avLst>
          </a:prstGeom>
          <a:solidFill>
            <a:srgbClr val="065A82"/>
          </a:solidFill>
          <a:ln/>
        </p:spPr>
        <p:txBody>
          <a:bodyPr/>
          <a:lstStyle/>
          <a:p>
            <a:endParaRPr lang="en-US"/>
          </a:p>
        </p:txBody>
      </p:sp>
      <p:sp>
        <p:nvSpPr>
          <p:cNvPr id="6" name="Text 4"/>
          <p:cNvSpPr/>
          <p:nvPr/>
        </p:nvSpPr>
        <p:spPr>
          <a:xfrm>
            <a:off x="1005840" y="1865376"/>
            <a:ext cx="1325880" cy="438912"/>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Round 1</a:t>
            </a:r>
            <a:endParaRPr lang="en-US" sz="1150" dirty="0"/>
          </a:p>
        </p:txBody>
      </p:sp>
      <p:sp>
        <p:nvSpPr>
          <p:cNvPr id="7" name="Text 5"/>
          <p:cNvSpPr/>
          <p:nvPr/>
        </p:nvSpPr>
        <p:spPr>
          <a:xfrm>
            <a:off x="2606040" y="1691640"/>
            <a:ext cx="3566160" cy="786384"/>
          </a:xfrm>
          <a:prstGeom prst="rect">
            <a:avLst/>
          </a:prstGeom>
          <a:noFill/>
          <a:ln/>
        </p:spPr>
        <p:txBody>
          <a:bodyPr wrap="square" lIns="0" tIns="0" rIns="0" bIns="0" rtlCol="0" anchor="ctr"/>
          <a:lstStyle/>
          <a:p>
            <a:pPr marL="0" indent="0">
              <a:buNone/>
            </a:pPr>
            <a:r>
              <a:rPr lang="en-US" sz="1600" b="1" dirty="0">
                <a:solidFill>
                  <a:srgbClr val="13293D"/>
                </a:solidFill>
                <a:latin typeface="Calibri" pitchFamily="34" charset="0"/>
                <a:ea typeface="Calibri" pitchFamily="34" charset="-122"/>
                <a:cs typeface="Calibri" pitchFamily="34" charset="-120"/>
              </a:rPr>
              <a:t>The twenty-first server</a:t>
            </a:r>
            <a:endParaRPr lang="en-US" sz="1600" dirty="0"/>
          </a:p>
        </p:txBody>
      </p:sp>
      <p:sp>
        <p:nvSpPr>
          <p:cNvPr id="8" name="Text 6"/>
          <p:cNvSpPr/>
          <p:nvPr/>
        </p:nvSpPr>
        <p:spPr>
          <a:xfrm>
            <a:off x="6263640" y="1691640"/>
            <a:ext cx="4937760" cy="786384"/>
          </a:xfrm>
          <a:prstGeom prst="rect">
            <a:avLst/>
          </a:prstGeom>
          <a:noFill/>
          <a:ln/>
        </p:spPr>
        <p:txBody>
          <a:bodyPr wrap="square" lIns="0" tIns="0" rIns="0" bIns="0" rtlCol="0" anchor="ctr"/>
          <a:lstStyle/>
          <a:p>
            <a:pPr marL="0" indent="0">
              <a:buNone/>
            </a:pPr>
            <a:r>
              <a:rPr lang="en-US" sz="1300" dirty="0">
                <a:solidFill>
                  <a:srgbClr val="5A6B76"/>
                </a:solidFill>
                <a:latin typeface="Calibri" pitchFamily="34" charset="0"/>
                <a:ea typeface="Calibri" pitchFamily="34" charset="-122"/>
                <a:cs typeface="Calibri" pitchFamily="34" charset="-120"/>
              </a:rPr>
              <a:t>Why adding more app servers stops helping</a:t>
            </a:r>
            <a:endParaRPr lang="en-US" sz="1300" dirty="0"/>
          </a:p>
        </p:txBody>
      </p:sp>
      <p:sp>
        <p:nvSpPr>
          <p:cNvPr id="9" name="Shape 7"/>
          <p:cNvSpPr/>
          <p:nvPr/>
        </p:nvSpPr>
        <p:spPr>
          <a:xfrm>
            <a:off x="777240" y="2606040"/>
            <a:ext cx="10607040" cy="786384"/>
          </a:xfrm>
          <a:prstGeom prst="roundRect">
            <a:avLst>
              <a:gd name="adj" fmla="val 6977"/>
            </a:avLst>
          </a:prstGeom>
          <a:solidFill>
            <a:srgbClr val="F4F7F9"/>
          </a:solidFill>
          <a:ln w="12700">
            <a:solidFill>
              <a:srgbClr val="E1E8ED"/>
            </a:solidFill>
            <a:prstDash val="solid"/>
          </a:ln>
        </p:spPr>
        <p:txBody>
          <a:bodyPr/>
          <a:lstStyle/>
          <a:p>
            <a:endParaRPr lang="en-US"/>
          </a:p>
        </p:txBody>
      </p:sp>
      <p:sp>
        <p:nvSpPr>
          <p:cNvPr id="10" name="Shape 8"/>
          <p:cNvSpPr/>
          <p:nvPr/>
        </p:nvSpPr>
        <p:spPr>
          <a:xfrm>
            <a:off x="1005840" y="2779776"/>
            <a:ext cx="1325880" cy="438912"/>
          </a:xfrm>
          <a:prstGeom prst="roundRect">
            <a:avLst>
              <a:gd name="adj" fmla="val 41667"/>
            </a:avLst>
          </a:prstGeom>
          <a:solidFill>
            <a:srgbClr val="1C7293"/>
          </a:solidFill>
          <a:ln/>
        </p:spPr>
        <p:txBody>
          <a:bodyPr/>
          <a:lstStyle/>
          <a:p>
            <a:endParaRPr lang="en-US"/>
          </a:p>
        </p:txBody>
      </p:sp>
      <p:sp>
        <p:nvSpPr>
          <p:cNvPr id="11" name="Text 9"/>
          <p:cNvSpPr/>
          <p:nvPr/>
        </p:nvSpPr>
        <p:spPr>
          <a:xfrm>
            <a:off x="1005840" y="2779776"/>
            <a:ext cx="1325880" cy="438912"/>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Round 2</a:t>
            </a:r>
            <a:endParaRPr lang="en-US" sz="1150" dirty="0"/>
          </a:p>
        </p:txBody>
      </p:sp>
      <p:sp>
        <p:nvSpPr>
          <p:cNvPr id="12" name="Text 10"/>
          <p:cNvSpPr/>
          <p:nvPr/>
        </p:nvSpPr>
        <p:spPr>
          <a:xfrm>
            <a:off x="2606040" y="2606040"/>
            <a:ext cx="3566160" cy="786384"/>
          </a:xfrm>
          <a:prstGeom prst="rect">
            <a:avLst/>
          </a:prstGeom>
          <a:noFill/>
          <a:ln/>
        </p:spPr>
        <p:txBody>
          <a:bodyPr wrap="square" lIns="0" tIns="0" rIns="0" bIns="0" rtlCol="0" anchor="ctr"/>
          <a:lstStyle/>
          <a:p>
            <a:pPr marL="0" indent="0">
              <a:buNone/>
            </a:pPr>
            <a:r>
              <a:rPr lang="en-US" sz="1600" b="1" dirty="0">
                <a:solidFill>
                  <a:srgbClr val="13293D"/>
                </a:solidFill>
                <a:latin typeface="Calibri" pitchFamily="34" charset="0"/>
                <a:ea typeface="Calibri" pitchFamily="34" charset="-122"/>
                <a:cs typeface="Calibri" pitchFamily="34" charset="-120"/>
              </a:rPr>
              <a:t>The mystery logouts</a:t>
            </a:r>
            <a:endParaRPr lang="en-US" sz="1600" dirty="0"/>
          </a:p>
        </p:txBody>
      </p:sp>
      <p:sp>
        <p:nvSpPr>
          <p:cNvPr id="13" name="Text 11"/>
          <p:cNvSpPr/>
          <p:nvPr/>
        </p:nvSpPr>
        <p:spPr>
          <a:xfrm>
            <a:off x="6263640" y="2606040"/>
            <a:ext cx="4937760" cy="786384"/>
          </a:xfrm>
          <a:prstGeom prst="rect">
            <a:avLst/>
          </a:prstGeom>
          <a:noFill/>
          <a:ln/>
        </p:spPr>
        <p:txBody>
          <a:bodyPr wrap="square" lIns="0" tIns="0" rIns="0" bIns="0" rtlCol="0" anchor="ctr"/>
          <a:lstStyle/>
          <a:p>
            <a:pPr marL="0" indent="0">
              <a:buNone/>
            </a:pPr>
            <a:r>
              <a:rPr lang="en-US" sz="1300" dirty="0">
                <a:solidFill>
                  <a:srgbClr val="5A6B76"/>
                </a:solidFill>
                <a:latin typeface="Calibri" pitchFamily="34" charset="0"/>
                <a:ea typeface="Calibri" pitchFamily="34" charset="-122"/>
                <a:cs typeface="Calibri" pitchFamily="34" charset="-120"/>
              </a:rPr>
              <a:t>Something broke the moment we scaled out</a:t>
            </a:r>
            <a:endParaRPr lang="en-US" sz="1300" dirty="0"/>
          </a:p>
        </p:txBody>
      </p:sp>
      <p:sp>
        <p:nvSpPr>
          <p:cNvPr id="14" name="Shape 12"/>
          <p:cNvSpPr/>
          <p:nvPr/>
        </p:nvSpPr>
        <p:spPr>
          <a:xfrm>
            <a:off x="777240" y="3520440"/>
            <a:ext cx="10607040" cy="786384"/>
          </a:xfrm>
          <a:prstGeom prst="roundRect">
            <a:avLst>
              <a:gd name="adj" fmla="val 6977"/>
            </a:avLst>
          </a:prstGeom>
          <a:solidFill>
            <a:srgbClr val="FFFFFF"/>
          </a:solidFill>
          <a:ln w="12700">
            <a:solidFill>
              <a:srgbClr val="E1E8ED"/>
            </a:solidFill>
            <a:prstDash val="solid"/>
          </a:ln>
        </p:spPr>
        <p:txBody>
          <a:bodyPr/>
          <a:lstStyle/>
          <a:p>
            <a:endParaRPr lang="en-US"/>
          </a:p>
        </p:txBody>
      </p:sp>
      <p:sp>
        <p:nvSpPr>
          <p:cNvPr id="15" name="Shape 13"/>
          <p:cNvSpPr/>
          <p:nvPr/>
        </p:nvSpPr>
        <p:spPr>
          <a:xfrm>
            <a:off x="1005840" y="3694176"/>
            <a:ext cx="1325880" cy="438912"/>
          </a:xfrm>
          <a:prstGeom prst="roundRect">
            <a:avLst>
              <a:gd name="adj" fmla="val 41667"/>
            </a:avLst>
          </a:prstGeom>
          <a:solidFill>
            <a:srgbClr val="065A82"/>
          </a:solidFill>
          <a:ln/>
        </p:spPr>
        <p:txBody>
          <a:bodyPr/>
          <a:lstStyle/>
          <a:p>
            <a:endParaRPr lang="en-US"/>
          </a:p>
        </p:txBody>
      </p:sp>
      <p:sp>
        <p:nvSpPr>
          <p:cNvPr id="16" name="Text 14"/>
          <p:cNvSpPr/>
          <p:nvPr/>
        </p:nvSpPr>
        <p:spPr>
          <a:xfrm>
            <a:off x="1005840" y="3694176"/>
            <a:ext cx="1325880" cy="438912"/>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Round 3</a:t>
            </a:r>
            <a:endParaRPr lang="en-US" sz="1150" dirty="0"/>
          </a:p>
        </p:txBody>
      </p:sp>
      <p:sp>
        <p:nvSpPr>
          <p:cNvPr id="17" name="Text 15"/>
          <p:cNvSpPr/>
          <p:nvPr/>
        </p:nvSpPr>
        <p:spPr>
          <a:xfrm>
            <a:off x="2606040" y="3520440"/>
            <a:ext cx="3566160" cy="786384"/>
          </a:xfrm>
          <a:prstGeom prst="rect">
            <a:avLst/>
          </a:prstGeom>
          <a:noFill/>
          <a:ln/>
        </p:spPr>
        <p:txBody>
          <a:bodyPr wrap="square" lIns="0" tIns="0" rIns="0" bIns="0" rtlCol="0" anchor="ctr"/>
          <a:lstStyle/>
          <a:p>
            <a:pPr marL="0" indent="0">
              <a:buNone/>
            </a:pPr>
            <a:r>
              <a:rPr lang="en-US" sz="1600" b="1" dirty="0">
                <a:solidFill>
                  <a:srgbClr val="13293D"/>
                </a:solidFill>
                <a:latin typeface="Calibri" pitchFamily="34" charset="0"/>
                <a:ea typeface="Calibri" pitchFamily="34" charset="-122"/>
                <a:cs typeface="Calibri" pitchFamily="34" charset="-120"/>
              </a:rPr>
              <a:t>One machine, all the reading</a:t>
            </a:r>
            <a:endParaRPr lang="en-US" sz="1600" dirty="0"/>
          </a:p>
        </p:txBody>
      </p:sp>
      <p:sp>
        <p:nvSpPr>
          <p:cNvPr id="18" name="Text 16"/>
          <p:cNvSpPr/>
          <p:nvPr/>
        </p:nvSpPr>
        <p:spPr>
          <a:xfrm>
            <a:off x="6263640" y="3520440"/>
            <a:ext cx="4937760" cy="786384"/>
          </a:xfrm>
          <a:prstGeom prst="rect">
            <a:avLst/>
          </a:prstGeom>
          <a:noFill/>
          <a:ln/>
        </p:spPr>
        <p:txBody>
          <a:bodyPr wrap="square" lIns="0" tIns="0" rIns="0" bIns="0" rtlCol="0" anchor="ctr"/>
          <a:lstStyle/>
          <a:p>
            <a:pPr marL="0" indent="0">
              <a:buNone/>
            </a:pPr>
            <a:r>
              <a:rPr lang="en-US" sz="1300" dirty="0">
                <a:solidFill>
                  <a:srgbClr val="5A6B76"/>
                </a:solidFill>
                <a:latin typeface="Calibri" pitchFamily="34" charset="0"/>
                <a:ea typeface="Calibri" pitchFamily="34" charset="-122"/>
                <a:cs typeface="Calibri" pitchFamily="34" charset="-120"/>
              </a:rPr>
              <a:t>95% of traffic is reads. Why is one box doing it?</a:t>
            </a:r>
            <a:endParaRPr lang="en-US" sz="1300" dirty="0"/>
          </a:p>
        </p:txBody>
      </p:sp>
      <p:sp>
        <p:nvSpPr>
          <p:cNvPr id="19" name="Shape 17"/>
          <p:cNvSpPr/>
          <p:nvPr/>
        </p:nvSpPr>
        <p:spPr>
          <a:xfrm>
            <a:off x="777240" y="4434840"/>
            <a:ext cx="10607040" cy="786384"/>
          </a:xfrm>
          <a:prstGeom prst="roundRect">
            <a:avLst>
              <a:gd name="adj" fmla="val 6977"/>
            </a:avLst>
          </a:prstGeom>
          <a:solidFill>
            <a:srgbClr val="F4F7F9"/>
          </a:solidFill>
          <a:ln w="12700">
            <a:solidFill>
              <a:srgbClr val="E1E8ED"/>
            </a:solidFill>
            <a:prstDash val="solid"/>
          </a:ln>
        </p:spPr>
        <p:txBody>
          <a:bodyPr/>
          <a:lstStyle/>
          <a:p>
            <a:endParaRPr lang="en-US"/>
          </a:p>
        </p:txBody>
      </p:sp>
      <p:sp>
        <p:nvSpPr>
          <p:cNvPr id="20" name="Shape 18"/>
          <p:cNvSpPr/>
          <p:nvPr/>
        </p:nvSpPr>
        <p:spPr>
          <a:xfrm>
            <a:off x="1005840" y="4608576"/>
            <a:ext cx="1325880" cy="438912"/>
          </a:xfrm>
          <a:prstGeom prst="roundRect">
            <a:avLst>
              <a:gd name="adj" fmla="val 41667"/>
            </a:avLst>
          </a:prstGeom>
          <a:solidFill>
            <a:srgbClr val="1C7293"/>
          </a:solidFill>
          <a:ln/>
        </p:spPr>
        <p:txBody>
          <a:bodyPr/>
          <a:lstStyle/>
          <a:p>
            <a:endParaRPr lang="en-US"/>
          </a:p>
        </p:txBody>
      </p:sp>
      <p:sp>
        <p:nvSpPr>
          <p:cNvPr id="21" name="Text 19"/>
          <p:cNvSpPr/>
          <p:nvPr/>
        </p:nvSpPr>
        <p:spPr>
          <a:xfrm>
            <a:off x="1005840" y="4608576"/>
            <a:ext cx="1325880" cy="438912"/>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Round 4</a:t>
            </a:r>
            <a:endParaRPr lang="en-US" sz="1150" dirty="0"/>
          </a:p>
        </p:txBody>
      </p:sp>
      <p:sp>
        <p:nvSpPr>
          <p:cNvPr id="22" name="Text 20"/>
          <p:cNvSpPr/>
          <p:nvPr/>
        </p:nvSpPr>
        <p:spPr>
          <a:xfrm>
            <a:off x="2606040" y="4434840"/>
            <a:ext cx="3566160" cy="786384"/>
          </a:xfrm>
          <a:prstGeom prst="rect">
            <a:avLst/>
          </a:prstGeom>
          <a:noFill/>
          <a:ln/>
        </p:spPr>
        <p:txBody>
          <a:bodyPr wrap="square" lIns="0" tIns="0" rIns="0" bIns="0" rtlCol="0" anchor="ctr"/>
          <a:lstStyle/>
          <a:p>
            <a:pPr marL="0" indent="0">
              <a:buNone/>
            </a:pPr>
            <a:r>
              <a:rPr lang="en-US" sz="1600" b="1" dirty="0">
                <a:solidFill>
                  <a:srgbClr val="13293D"/>
                </a:solidFill>
                <a:latin typeface="Calibri" pitchFamily="34" charset="0"/>
                <a:ea typeface="Calibri" pitchFamily="34" charset="-122"/>
                <a:cs typeface="Calibri" pitchFamily="34" charset="-120"/>
              </a:rPr>
              <a:t>The eight-second query</a:t>
            </a:r>
            <a:endParaRPr lang="en-US" sz="1600" dirty="0"/>
          </a:p>
        </p:txBody>
      </p:sp>
      <p:sp>
        <p:nvSpPr>
          <p:cNvPr id="23" name="Text 21"/>
          <p:cNvSpPr/>
          <p:nvPr/>
        </p:nvSpPr>
        <p:spPr>
          <a:xfrm>
            <a:off x="6263640" y="4434840"/>
            <a:ext cx="4937760" cy="786384"/>
          </a:xfrm>
          <a:prstGeom prst="rect">
            <a:avLst/>
          </a:prstGeom>
          <a:noFill/>
          <a:ln/>
        </p:spPr>
        <p:txBody>
          <a:bodyPr wrap="square" lIns="0" tIns="0" rIns="0" bIns="0" rtlCol="0" anchor="ctr"/>
          <a:lstStyle/>
          <a:p>
            <a:pPr marL="0" indent="0">
              <a:buNone/>
            </a:pPr>
            <a:r>
              <a:rPr lang="en-US" sz="1300" dirty="0">
                <a:solidFill>
                  <a:srgbClr val="5A6B76"/>
                </a:solidFill>
                <a:latin typeface="Calibri" pitchFamily="34" charset="0"/>
                <a:ea typeface="Calibri" pitchFamily="34" charset="-122"/>
                <a:cs typeface="Calibri" pitchFamily="34" charset="-120"/>
              </a:rPr>
              <a:t>Fifty million rows and no shortcut</a:t>
            </a:r>
            <a:endParaRPr lang="en-US" sz="1300" dirty="0"/>
          </a:p>
        </p:txBody>
      </p:sp>
      <p:sp>
        <p:nvSpPr>
          <p:cNvPr id="24" name="Shape 22"/>
          <p:cNvSpPr/>
          <p:nvPr/>
        </p:nvSpPr>
        <p:spPr>
          <a:xfrm>
            <a:off x="777240" y="5349240"/>
            <a:ext cx="10607040" cy="786384"/>
          </a:xfrm>
          <a:prstGeom prst="roundRect">
            <a:avLst>
              <a:gd name="adj" fmla="val 6977"/>
            </a:avLst>
          </a:prstGeom>
          <a:solidFill>
            <a:srgbClr val="FFFFFF"/>
          </a:solidFill>
          <a:ln w="12700">
            <a:solidFill>
              <a:srgbClr val="E1E8ED"/>
            </a:solidFill>
            <a:prstDash val="solid"/>
          </a:ln>
        </p:spPr>
        <p:txBody>
          <a:bodyPr/>
          <a:lstStyle/>
          <a:p>
            <a:endParaRPr lang="en-US"/>
          </a:p>
        </p:txBody>
      </p:sp>
      <p:sp>
        <p:nvSpPr>
          <p:cNvPr id="25" name="Shape 23"/>
          <p:cNvSpPr/>
          <p:nvPr/>
        </p:nvSpPr>
        <p:spPr>
          <a:xfrm>
            <a:off x="1005840" y="5522976"/>
            <a:ext cx="1325880" cy="438912"/>
          </a:xfrm>
          <a:prstGeom prst="roundRect">
            <a:avLst>
              <a:gd name="adj" fmla="val 41667"/>
            </a:avLst>
          </a:prstGeom>
          <a:solidFill>
            <a:srgbClr val="6B4E71"/>
          </a:solidFill>
          <a:ln/>
        </p:spPr>
        <p:txBody>
          <a:bodyPr/>
          <a:lstStyle/>
          <a:p>
            <a:endParaRPr lang="en-US"/>
          </a:p>
        </p:txBody>
      </p:sp>
      <p:sp>
        <p:nvSpPr>
          <p:cNvPr id="26" name="Text 24"/>
          <p:cNvSpPr/>
          <p:nvPr/>
        </p:nvSpPr>
        <p:spPr>
          <a:xfrm>
            <a:off x="1005840" y="5522976"/>
            <a:ext cx="1325880" cy="438912"/>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Round 5</a:t>
            </a:r>
            <a:endParaRPr lang="en-US" sz="1150" dirty="0"/>
          </a:p>
        </p:txBody>
      </p:sp>
      <p:sp>
        <p:nvSpPr>
          <p:cNvPr id="27" name="Text 25"/>
          <p:cNvSpPr/>
          <p:nvPr/>
        </p:nvSpPr>
        <p:spPr>
          <a:xfrm>
            <a:off x="2606040" y="5349240"/>
            <a:ext cx="3566160" cy="786384"/>
          </a:xfrm>
          <a:prstGeom prst="rect">
            <a:avLst/>
          </a:prstGeom>
          <a:noFill/>
          <a:ln/>
        </p:spPr>
        <p:txBody>
          <a:bodyPr wrap="square" lIns="0" tIns="0" rIns="0" bIns="0" rtlCol="0" anchor="ctr"/>
          <a:lstStyle/>
          <a:p>
            <a:pPr marL="0" indent="0">
              <a:buNone/>
            </a:pPr>
            <a:r>
              <a:rPr lang="en-US" sz="1600" b="1" dirty="0">
                <a:solidFill>
                  <a:srgbClr val="13293D"/>
                </a:solidFill>
                <a:latin typeface="Calibri" pitchFamily="34" charset="0"/>
                <a:ea typeface="Calibri" pitchFamily="34" charset="-122"/>
                <a:cs typeface="Calibri" pitchFamily="34" charset="-120"/>
              </a:rPr>
              <a:t>The writes are still stuck</a:t>
            </a:r>
            <a:endParaRPr lang="en-US" sz="1600" dirty="0"/>
          </a:p>
        </p:txBody>
      </p:sp>
      <p:sp>
        <p:nvSpPr>
          <p:cNvPr id="28" name="Text 26"/>
          <p:cNvSpPr/>
          <p:nvPr/>
        </p:nvSpPr>
        <p:spPr>
          <a:xfrm>
            <a:off x="6263640" y="5349240"/>
            <a:ext cx="4937760" cy="786384"/>
          </a:xfrm>
          <a:prstGeom prst="rect">
            <a:avLst/>
          </a:prstGeom>
          <a:noFill/>
          <a:ln/>
        </p:spPr>
        <p:txBody>
          <a:bodyPr wrap="square" lIns="0" tIns="0" rIns="0" bIns="0" rtlCol="0" anchor="ctr"/>
          <a:lstStyle/>
          <a:p>
            <a:pPr marL="0" indent="0">
              <a:buNone/>
            </a:pPr>
            <a:r>
              <a:rPr lang="en-US" sz="1300" dirty="0">
                <a:solidFill>
                  <a:srgbClr val="5A6B76"/>
                </a:solidFill>
                <a:latin typeface="Calibri" pitchFamily="34" charset="0"/>
                <a:ea typeface="Calibri" pitchFamily="34" charset="-122"/>
                <a:cs typeface="Calibri" pitchFamily="34" charset="-120"/>
              </a:rPr>
              <a:t>What replication cannot fix</a:t>
            </a:r>
            <a:endParaRPr lang="en-US" sz="1300" dirty="0"/>
          </a:p>
        </p:txBody>
      </p:sp>
      <p:sp>
        <p:nvSpPr>
          <p:cNvPr id="29" name="Text 27"/>
          <p:cNvSpPr/>
          <p:nvPr/>
        </p:nvSpPr>
        <p:spPr>
          <a:xfrm>
            <a:off x="777240" y="6309360"/>
            <a:ext cx="10607040" cy="365760"/>
          </a:xfrm>
          <a:prstGeom prst="rect">
            <a:avLst/>
          </a:prstGeom>
          <a:noFill/>
          <a:ln/>
        </p:spPr>
        <p:txBody>
          <a:bodyPr wrap="square" lIns="0" tIns="0" rIns="0" bIns="0" rtlCol="0" anchor="ctr"/>
          <a:lstStyle/>
          <a:p>
            <a:pPr marL="0" indent="0">
              <a:buNone/>
            </a:pPr>
            <a:r>
              <a:rPr lang="en-US" sz="1350" i="1" dirty="0">
                <a:solidFill>
                  <a:srgbClr val="6B4E71"/>
                </a:solidFill>
                <a:latin typeface="Calibri" pitchFamily="34" charset="0"/>
                <a:ea typeface="Calibri" pitchFamily="34" charset="-122"/>
                <a:cs typeface="Calibri" pitchFamily="34" charset="-120"/>
              </a:rPr>
              <a:t>Round 5 does not get an answer today. It is next lecture.</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3293D"/>
        </a:solidFill>
        <a:effectLst/>
      </p:bgPr>
    </p:bg>
    <p:spTree>
      <p:nvGrpSpPr>
        <p:cNvPr id="1" name=""/>
        <p:cNvGrpSpPr/>
        <p:nvPr/>
      </p:nvGrpSpPr>
      <p:grpSpPr>
        <a:xfrm>
          <a:off x="0" y="0"/>
          <a:ext cx="0" cy="0"/>
          <a:chOff x="0" y="0"/>
          <a:chExt cx="0" cy="0"/>
        </a:xfrm>
      </p:grpSpPr>
      <p:sp>
        <p:nvSpPr>
          <p:cNvPr id="2" name="Shape 0"/>
          <p:cNvSpPr/>
          <p:nvPr/>
        </p:nvSpPr>
        <p:spPr>
          <a:xfrm>
            <a:off x="822960" y="640080"/>
            <a:ext cx="3291840" cy="411480"/>
          </a:xfrm>
          <a:prstGeom prst="roundRect">
            <a:avLst>
              <a:gd name="adj" fmla="val 44444"/>
            </a:avLst>
          </a:prstGeom>
          <a:solidFill>
            <a:srgbClr val="E8A33D"/>
          </a:solidFill>
          <a:ln/>
        </p:spPr>
        <p:txBody>
          <a:bodyPr/>
          <a:lstStyle/>
          <a:p>
            <a:endParaRPr lang="en-US"/>
          </a:p>
        </p:txBody>
      </p:sp>
      <p:sp>
        <p:nvSpPr>
          <p:cNvPr id="3" name="Text 1"/>
          <p:cNvSpPr/>
          <p:nvPr/>
        </p:nvSpPr>
        <p:spPr>
          <a:xfrm>
            <a:off x="822960" y="640080"/>
            <a:ext cx="3291840" cy="411480"/>
          </a:xfrm>
          <a:prstGeom prst="rect">
            <a:avLst/>
          </a:prstGeom>
          <a:noFill/>
          <a:ln/>
        </p:spPr>
        <p:txBody>
          <a:bodyPr wrap="square" rtlCol="0" anchor="ctr"/>
          <a:lstStyle/>
          <a:p>
            <a:pPr marL="0" indent="0" algn="ctr">
              <a:buNone/>
            </a:pPr>
            <a:r>
              <a:rPr lang="en-US" sz="1200" b="1" kern="0" spc="140" dirty="0">
                <a:solidFill>
                  <a:srgbClr val="13293D"/>
                </a:solidFill>
                <a:latin typeface="Calibri" pitchFamily="34" charset="0"/>
                <a:ea typeface="Calibri" pitchFamily="34" charset="-122"/>
                <a:cs typeface="Calibri" pitchFamily="34" charset="-120"/>
              </a:rPr>
              <a:t>ROUND 1  ·  QUESTION</a:t>
            </a:r>
            <a:endParaRPr lang="en-US" sz="1200" dirty="0"/>
          </a:p>
        </p:txBody>
      </p:sp>
      <p:sp>
        <p:nvSpPr>
          <p:cNvPr id="4" name="Text 2"/>
          <p:cNvSpPr/>
          <p:nvPr/>
        </p:nvSpPr>
        <p:spPr>
          <a:xfrm>
            <a:off x="822960" y="1325880"/>
            <a:ext cx="10515600" cy="1554480"/>
          </a:xfrm>
          <a:prstGeom prst="rect">
            <a:avLst/>
          </a:prstGeom>
          <a:noFill/>
          <a:ln/>
        </p:spPr>
        <p:txBody>
          <a:bodyPr wrap="square" lIns="0" tIns="0" rIns="0" bIns="0" rtlCol="0" anchor="ctr"/>
          <a:lstStyle/>
          <a:p>
            <a:pPr marL="0" indent="0">
              <a:lnSpc>
                <a:spcPts val="2600"/>
              </a:lnSpc>
              <a:buNone/>
            </a:pPr>
            <a:r>
              <a:rPr lang="en-US" sz="1700" dirty="0">
                <a:solidFill>
                  <a:srgbClr val="9AD1D4"/>
                </a:solidFill>
                <a:latin typeface="Calibri" pitchFamily="34" charset="0"/>
                <a:ea typeface="Calibri" pitchFamily="34" charset="-122"/>
                <a:cs typeface="Calibri" pitchFamily="34" charset="-120"/>
              </a:rPr>
              <a:t>Dinner rush. You add a fifth app server and things improve. A tenth: slightly better. A twentieth: no change at all. The load balancer is healthy, every server shows low CPU.</a:t>
            </a:r>
            <a:endParaRPr lang="en-US" sz="1700" dirty="0"/>
          </a:p>
        </p:txBody>
      </p:sp>
      <p:sp>
        <p:nvSpPr>
          <p:cNvPr id="5" name="Shape 3"/>
          <p:cNvSpPr/>
          <p:nvPr/>
        </p:nvSpPr>
        <p:spPr>
          <a:xfrm>
            <a:off x="822960" y="3017520"/>
            <a:ext cx="10515600" cy="1600200"/>
          </a:xfrm>
          <a:prstGeom prst="roundRect">
            <a:avLst>
              <a:gd name="adj" fmla="val 4571"/>
            </a:avLst>
          </a:prstGeom>
          <a:solidFill>
            <a:srgbClr val="1D3D52"/>
          </a:solidFill>
          <a:ln/>
        </p:spPr>
        <p:txBody>
          <a:bodyPr/>
          <a:lstStyle/>
          <a:p>
            <a:endParaRPr lang="en-US"/>
          </a:p>
        </p:txBody>
      </p:sp>
      <p:sp>
        <p:nvSpPr>
          <p:cNvPr id="6" name="Text 4"/>
          <p:cNvSpPr/>
          <p:nvPr/>
        </p:nvSpPr>
        <p:spPr>
          <a:xfrm>
            <a:off x="1188720" y="3017520"/>
            <a:ext cx="9784080" cy="1600200"/>
          </a:xfrm>
          <a:prstGeom prst="rect">
            <a:avLst/>
          </a:prstGeom>
          <a:noFill/>
          <a:ln/>
        </p:spPr>
        <p:txBody>
          <a:bodyPr wrap="square" lIns="0" tIns="0" rIns="0" bIns="0" rtlCol="0" anchor="ctr"/>
          <a:lstStyle/>
          <a:p>
            <a:pPr marL="0" indent="0">
              <a:lnSpc>
                <a:spcPts val="3400"/>
              </a:lnSpc>
              <a:buNone/>
            </a:pPr>
            <a:r>
              <a:rPr lang="en-US" sz="2600" b="1" dirty="0">
                <a:solidFill>
                  <a:srgbClr val="FFFFFF"/>
                </a:solidFill>
                <a:latin typeface="Cambria" pitchFamily="34" charset="0"/>
                <a:ea typeface="Cambria" pitchFamily="34" charset="-122"/>
                <a:cs typeface="Cambria" pitchFamily="34" charset="-120"/>
              </a:rPr>
              <a:t>Twenty servers, all idle,</a:t>
            </a:r>
            <a:endParaRPr lang="en-US" sz="2600" dirty="0"/>
          </a:p>
          <a:p>
            <a:pPr marL="0" indent="0">
              <a:lnSpc>
                <a:spcPts val="3400"/>
              </a:lnSpc>
              <a:buNone/>
            </a:pPr>
            <a:r>
              <a:rPr lang="en-US" sz="2600" b="1" dirty="0">
                <a:solidFill>
                  <a:srgbClr val="FFFFFF"/>
                </a:solidFill>
                <a:latin typeface="Cambria" pitchFamily="34" charset="0"/>
                <a:ea typeface="Cambria" pitchFamily="34" charset="-122"/>
                <a:cs typeface="Cambria" pitchFamily="34" charset="-120"/>
              </a:rPr>
              <a:t>and the app is still slow. Why?</a:t>
            </a:r>
            <a:endParaRPr lang="en-US" sz="2600" dirty="0"/>
          </a:p>
        </p:txBody>
      </p:sp>
      <p:sp>
        <p:nvSpPr>
          <p:cNvPr id="7" name="Text 5"/>
          <p:cNvSpPr/>
          <p:nvPr/>
        </p:nvSpPr>
        <p:spPr>
          <a:xfrm>
            <a:off x="868680" y="4892040"/>
            <a:ext cx="10424160" cy="548640"/>
          </a:xfrm>
          <a:prstGeom prst="rect">
            <a:avLst/>
          </a:prstGeom>
          <a:noFill/>
          <a:ln/>
        </p:spPr>
        <p:txBody>
          <a:bodyPr wrap="square" lIns="0" tIns="0" rIns="0" bIns="0" rtlCol="0" anchor="ctr"/>
          <a:lstStyle/>
          <a:p>
            <a:pPr marL="0" indent="0">
              <a:buNone/>
            </a:pPr>
            <a:r>
              <a:rPr lang="en-US" sz="1400" i="1" dirty="0">
                <a:solidFill>
                  <a:srgbClr val="E8A33D"/>
                </a:solidFill>
                <a:latin typeface="Calibri" pitchFamily="34" charset="0"/>
                <a:ea typeface="Calibri" pitchFamily="34" charset="-122"/>
                <a:cs typeface="Calibri" pitchFamily="34" charset="-120"/>
              </a:rPr>
              <a:t>If every server is idle, they are all waiting for the same thing. What?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40080"/>
          </a:xfrm>
          <a:prstGeom prst="rect">
            <a:avLst/>
          </a:prstGeom>
          <a:noFill/>
          <a:ln/>
        </p:spPr>
        <p:txBody>
          <a:bodyPr wrap="square" lIns="0" tIns="0" rIns="0" bIns="0" rtlCol="0" anchor="ctr"/>
          <a:lstStyle/>
          <a:p>
            <a:pPr marL="0" indent="0">
              <a:buNone/>
            </a:pPr>
            <a:r>
              <a:rPr lang="en-US" sz="3100" b="1" dirty="0">
                <a:solidFill>
                  <a:srgbClr val="13293D"/>
                </a:solidFill>
                <a:latin typeface="Cambria" pitchFamily="34" charset="0"/>
                <a:ea typeface="Cambria" pitchFamily="34" charset="-122"/>
                <a:cs typeface="Cambria" pitchFamily="34" charset="-120"/>
              </a:rPr>
              <a:t>Round 1 — The Answer</a:t>
            </a:r>
            <a:endParaRPr lang="en-US" sz="3100" dirty="0"/>
          </a:p>
        </p:txBody>
      </p:sp>
      <p:sp>
        <p:nvSpPr>
          <p:cNvPr id="3" name="Text 1"/>
          <p:cNvSpPr/>
          <p:nvPr/>
        </p:nvSpPr>
        <p:spPr>
          <a:xfrm>
            <a:off x="658368" y="1005840"/>
            <a:ext cx="10972800" cy="384048"/>
          </a:xfrm>
          <a:prstGeom prst="rect">
            <a:avLst/>
          </a:prstGeom>
          <a:noFill/>
          <a:ln/>
        </p:spPr>
        <p:txBody>
          <a:bodyPr wrap="square" lIns="0" tIns="0" rIns="0" bIns="0" rtlCol="0" anchor="ctr"/>
          <a:lstStyle/>
          <a:p>
            <a:pPr marL="0" indent="0">
              <a:buNone/>
            </a:pPr>
            <a:r>
              <a:rPr lang="en-US" sz="1500" i="1" dirty="0">
                <a:solidFill>
                  <a:srgbClr val="5A6B76"/>
                </a:solidFill>
                <a:latin typeface="Calibri" pitchFamily="34" charset="0"/>
                <a:ea typeface="Calibri" pitchFamily="34" charset="-122"/>
                <a:cs typeface="Calibri" pitchFamily="34" charset="-120"/>
              </a:rPr>
              <a:t>You scaled the tier that was never the problem</a:t>
            </a:r>
            <a:endParaRPr lang="en-US" sz="1500" dirty="0"/>
          </a:p>
        </p:txBody>
      </p:sp>
      <p:sp>
        <p:nvSpPr>
          <p:cNvPr id="4" name="Shape 2"/>
          <p:cNvSpPr/>
          <p:nvPr/>
        </p:nvSpPr>
        <p:spPr>
          <a:xfrm>
            <a:off x="777240" y="1463040"/>
            <a:ext cx="10607040" cy="841248"/>
          </a:xfrm>
          <a:prstGeom prst="roundRect">
            <a:avLst>
              <a:gd name="adj" fmla="val 6522"/>
            </a:avLst>
          </a:prstGeom>
          <a:solidFill>
            <a:srgbClr val="13293D"/>
          </a:solidFill>
          <a:ln/>
        </p:spPr>
        <p:txBody>
          <a:bodyPr/>
          <a:lstStyle/>
          <a:p>
            <a:endParaRPr lang="en-US"/>
          </a:p>
        </p:txBody>
      </p:sp>
      <p:sp>
        <p:nvSpPr>
          <p:cNvPr id="5" name="Text 3"/>
          <p:cNvSpPr/>
          <p:nvPr/>
        </p:nvSpPr>
        <p:spPr>
          <a:xfrm>
            <a:off x="1097280" y="1463040"/>
            <a:ext cx="10058400" cy="841248"/>
          </a:xfrm>
          <a:prstGeom prst="rect">
            <a:avLst/>
          </a:prstGeom>
          <a:noFill/>
          <a:ln/>
        </p:spPr>
        <p:txBody>
          <a:bodyPr wrap="square" lIns="0" tIns="0" rIns="0" bIns="0" rtlCol="0" anchor="ctr"/>
          <a:lstStyle/>
          <a:p>
            <a:pPr marL="0" indent="0">
              <a:lnSpc>
                <a:spcPts val="2100"/>
              </a:lnSpc>
              <a:buNone/>
            </a:pPr>
            <a:r>
              <a:rPr lang="en-US" sz="1550" dirty="0">
                <a:solidFill>
                  <a:srgbClr val="FFFFFF"/>
                </a:solidFill>
                <a:latin typeface="Calibri" pitchFamily="34" charset="0"/>
                <a:ea typeface="Calibri" pitchFamily="34" charset="-122"/>
                <a:cs typeface="Calibri" pitchFamily="34" charset="-120"/>
              </a:rPr>
              <a:t>All twenty servers connect to the same single database. It has a fixed number of connections, CPUs and disks. Adding a twenty-first customer to a queue does not make the one cashier any faster.</a:t>
            </a:r>
            <a:endParaRPr lang="en-US" sz="1550" dirty="0"/>
          </a:p>
        </p:txBody>
      </p:sp>
      <p:sp>
        <p:nvSpPr>
          <p:cNvPr id="6" name="Text 4"/>
          <p:cNvSpPr/>
          <p:nvPr/>
        </p:nvSpPr>
        <p:spPr>
          <a:xfrm>
            <a:off x="777240" y="2514600"/>
            <a:ext cx="10607040" cy="365760"/>
          </a:xfrm>
          <a:prstGeom prst="rect">
            <a:avLst/>
          </a:prstGeom>
          <a:noFill/>
          <a:ln/>
        </p:spPr>
        <p:txBody>
          <a:bodyPr wrap="square" lIns="0" tIns="0" rIns="0" bIns="0" rtlCol="0" anchor="ctr"/>
          <a:lstStyle/>
          <a:p>
            <a:pPr marL="0" indent="0">
              <a:buNone/>
            </a:pPr>
            <a:r>
              <a:rPr lang="en-US" sz="1650" b="1" dirty="0">
                <a:solidFill>
                  <a:srgbClr val="13293D"/>
                </a:solidFill>
                <a:latin typeface="Calibri" pitchFamily="34" charset="0"/>
                <a:ea typeface="Calibri" pitchFamily="34" charset="-122"/>
                <a:cs typeface="Calibri" pitchFamily="34" charset="-120"/>
              </a:rPr>
              <a:t>The two ways to grow anything</a:t>
            </a:r>
            <a:endParaRPr lang="en-US" sz="1650" dirty="0"/>
          </a:p>
        </p:txBody>
      </p:sp>
      <p:sp>
        <p:nvSpPr>
          <p:cNvPr id="7" name="Shape 5"/>
          <p:cNvSpPr/>
          <p:nvPr/>
        </p:nvSpPr>
        <p:spPr>
          <a:xfrm>
            <a:off x="777240" y="2971800"/>
            <a:ext cx="5212080" cy="2377440"/>
          </a:xfrm>
          <a:prstGeom prst="roundRect">
            <a:avLst>
              <a:gd name="adj" fmla="val 2308"/>
            </a:avLst>
          </a:prstGeom>
          <a:solidFill>
            <a:srgbClr val="F4F7F9"/>
          </a:solidFill>
          <a:ln w="12700">
            <a:solidFill>
              <a:srgbClr val="E1E8ED"/>
            </a:solidFill>
            <a:prstDash val="solid"/>
          </a:ln>
        </p:spPr>
        <p:txBody>
          <a:bodyPr/>
          <a:lstStyle/>
          <a:p>
            <a:endParaRPr lang="en-US"/>
          </a:p>
        </p:txBody>
      </p:sp>
      <p:sp>
        <p:nvSpPr>
          <p:cNvPr id="8" name="Text 6"/>
          <p:cNvSpPr/>
          <p:nvPr/>
        </p:nvSpPr>
        <p:spPr>
          <a:xfrm>
            <a:off x="1033272" y="3154680"/>
            <a:ext cx="4754880" cy="365760"/>
          </a:xfrm>
          <a:prstGeom prst="rect">
            <a:avLst/>
          </a:prstGeom>
          <a:noFill/>
          <a:ln/>
        </p:spPr>
        <p:txBody>
          <a:bodyPr wrap="square" lIns="0" tIns="0" rIns="0" bIns="0" rtlCol="0" anchor="ctr"/>
          <a:lstStyle/>
          <a:p>
            <a:pPr marL="0" indent="0">
              <a:buNone/>
            </a:pPr>
            <a:r>
              <a:rPr lang="en-US" sz="1550" b="1" dirty="0">
                <a:solidFill>
                  <a:srgbClr val="1C7293"/>
                </a:solidFill>
                <a:latin typeface="Calibri" pitchFamily="34" charset="0"/>
                <a:ea typeface="Calibri" pitchFamily="34" charset="-122"/>
                <a:cs typeface="Calibri" pitchFamily="34" charset="-120"/>
              </a:rPr>
              <a:t>Vertical — make one machine bigger</a:t>
            </a:r>
            <a:endParaRPr lang="en-US" sz="1550" dirty="0"/>
          </a:p>
        </p:txBody>
      </p:sp>
      <p:sp>
        <p:nvSpPr>
          <p:cNvPr id="9" name="Text 7"/>
          <p:cNvSpPr/>
          <p:nvPr/>
        </p:nvSpPr>
        <p:spPr>
          <a:xfrm>
            <a:off x="1033272" y="3547872"/>
            <a:ext cx="4754880" cy="1600200"/>
          </a:xfrm>
          <a:prstGeom prst="rect">
            <a:avLst/>
          </a:prstGeom>
          <a:noFill/>
          <a:ln/>
        </p:spPr>
        <p:txBody>
          <a:bodyPr wrap="square" lIns="0" tIns="0" rIns="0" bIns="0" rtlCol="0" anchor="ctr"/>
          <a:lstStyle/>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More RAM, faster CPU, better disks</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Zero code changes. Works immediately.</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But: there is a largest machine you can buy</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And: it is still one machine that can fail</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Cost rises far faster than capability</a:t>
            </a:r>
            <a:endParaRPr lang="en-US" sz="1250" dirty="0"/>
          </a:p>
        </p:txBody>
      </p:sp>
      <p:sp>
        <p:nvSpPr>
          <p:cNvPr id="10" name="Shape 8"/>
          <p:cNvSpPr/>
          <p:nvPr/>
        </p:nvSpPr>
        <p:spPr>
          <a:xfrm>
            <a:off x="6172200" y="2971800"/>
            <a:ext cx="5212080" cy="2377440"/>
          </a:xfrm>
          <a:prstGeom prst="roundRect">
            <a:avLst>
              <a:gd name="adj" fmla="val 2308"/>
            </a:avLst>
          </a:prstGeom>
          <a:solidFill>
            <a:srgbClr val="EEF6F7"/>
          </a:solidFill>
          <a:ln w="12700">
            <a:solidFill>
              <a:srgbClr val="E1E8ED"/>
            </a:solidFill>
            <a:prstDash val="solid"/>
          </a:ln>
        </p:spPr>
        <p:txBody>
          <a:bodyPr/>
          <a:lstStyle/>
          <a:p>
            <a:endParaRPr lang="en-US"/>
          </a:p>
        </p:txBody>
      </p:sp>
      <p:sp>
        <p:nvSpPr>
          <p:cNvPr id="11" name="Text 9"/>
          <p:cNvSpPr/>
          <p:nvPr/>
        </p:nvSpPr>
        <p:spPr>
          <a:xfrm>
            <a:off x="6428232" y="3154680"/>
            <a:ext cx="4754880" cy="365760"/>
          </a:xfrm>
          <a:prstGeom prst="rect">
            <a:avLst/>
          </a:prstGeom>
          <a:noFill/>
          <a:ln/>
        </p:spPr>
        <p:txBody>
          <a:bodyPr wrap="square" lIns="0" tIns="0" rIns="0" bIns="0" rtlCol="0" anchor="ctr"/>
          <a:lstStyle/>
          <a:p>
            <a:pPr marL="0" indent="0">
              <a:buNone/>
            </a:pPr>
            <a:r>
              <a:rPr lang="en-US" sz="1550" b="1" dirty="0">
                <a:solidFill>
                  <a:srgbClr val="065A82"/>
                </a:solidFill>
                <a:latin typeface="Calibri" pitchFamily="34" charset="0"/>
                <a:ea typeface="Calibri" pitchFamily="34" charset="-122"/>
                <a:cs typeface="Calibri" pitchFamily="34" charset="-120"/>
              </a:rPr>
              <a:t>Horizontal — use more machines</a:t>
            </a:r>
            <a:endParaRPr lang="en-US" sz="1550" dirty="0"/>
          </a:p>
        </p:txBody>
      </p:sp>
      <p:sp>
        <p:nvSpPr>
          <p:cNvPr id="12" name="Text 10"/>
          <p:cNvSpPr/>
          <p:nvPr/>
        </p:nvSpPr>
        <p:spPr>
          <a:xfrm>
            <a:off x="6428232" y="3547872"/>
            <a:ext cx="4754880" cy="1600200"/>
          </a:xfrm>
          <a:prstGeom prst="rect">
            <a:avLst/>
          </a:prstGeom>
          <a:noFill/>
          <a:ln/>
        </p:spPr>
        <p:txBody>
          <a:bodyPr wrap="square" lIns="0" tIns="0" rIns="0" bIns="0" rtlCol="0" anchor="ctr"/>
          <a:lstStyle/>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Add commodity servers as needed</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No ceiling, and failures are survivable</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But: only works if the work can be split</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App servers split easily — any can serve any request</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Databases do not, because they hold state</a:t>
            </a:r>
            <a:endParaRPr lang="en-US" sz="1250" dirty="0"/>
          </a:p>
        </p:txBody>
      </p:sp>
      <p:sp>
        <p:nvSpPr>
          <p:cNvPr id="13" name="Text 11"/>
          <p:cNvSpPr/>
          <p:nvPr/>
        </p:nvSpPr>
        <p:spPr>
          <a:xfrm>
            <a:off x="777240" y="5532120"/>
            <a:ext cx="10607040" cy="457200"/>
          </a:xfrm>
          <a:prstGeom prst="rect">
            <a:avLst/>
          </a:prstGeom>
          <a:noFill/>
          <a:ln/>
        </p:spPr>
        <p:txBody>
          <a:bodyPr wrap="square" lIns="0" tIns="0" rIns="0" bIns="0" rtlCol="0" anchor="ctr"/>
          <a:lstStyle/>
          <a:p>
            <a:pPr marL="0" indent="0">
              <a:buNone/>
            </a:pPr>
            <a:r>
              <a:rPr lang="en-US" sz="1500" b="1" dirty="0">
                <a:solidFill>
                  <a:srgbClr val="065A82"/>
                </a:solidFill>
                <a:latin typeface="Calibri" pitchFamily="34" charset="0"/>
                <a:ea typeface="Calibri" pitchFamily="34" charset="-122"/>
                <a:cs typeface="Calibri" pitchFamily="34" charset="-120"/>
              </a:rPr>
              <a:t>That last line is the whole lecture: scaling stateless things is easy, scaling stateful things is the hard problem.</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40080"/>
          </a:xfrm>
          <a:prstGeom prst="rect">
            <a:avLst/>
          </a:prstGeom>
          <a:noFill/>
          <a:ln/>
        </p:spPr>
        <p:txBody>
          <a:bodyPr wrap="square" lIns="0" tIns="0" rIns="0" bIns="0" rtlCol="0" anchor="ctr"/>
          <a:lstStyle/>
          <a:p>
            <a:pPr marL="0" indent="0">
              <a:buNone/>
            </a:pPr>
            <a:r>
              <a:rPr lang="en-US" sz="3100" b="1" dirty="0">
                <a:solidFill>
                  <a:srgbClr val="13293D"/>
                </a:solidFill>
                <a:latin typeface="Cambria" pitchFamily="34" charset="0"/>
                <a:ea typeface="Cambria" pitchFamily="34" charset="-122"/>
                <a:cs typeface="Cambria" pitchFamily="34" charset="-120"/>
              </a:rPr>
              <a:t>The Shape of the Problem</a:t>
            </a:r>
            <a:endParaRPr lang="en-US" sz="3100" dirty="0"/>
          </a:p>
        </p:txBody>
      </p:sp>
      <p:sp>
        <p:nvSpPr>
          <p:cNvPr id="3" name="Text 1"/>
          <p:cNvSpPr/>
          <p:nvPr/>
        </p:nvSpPr>
        <p:spPr>
          <a:xfrm>
            <a:off x="658368" y="1005840"/>
            <a:ext cx="10972800" cy="384048"/>
          </a:xfrm>
          <a:prstGeom prst="rect">
            <a:avLst/>
          </a:prstGeom>
          <a:noFill/>
          <a:ln/>
        </p:spPr>
        <p:txBody>
          <a:bodyPr wrap="square" lIns="0" tIns="0" rIns="0" bIns="0" rtlCol="0" anchor="ctr"/>
          <a:lstStyle/>
          <a:p>
            <a:pPr marL="0" indent="0">
              <a:buNone/>
            </a:pPr>
            <a:r>
              <a:rPr lang="en-US" sz="1500" i="1" dirty="0">
                <a:solidFill>
                  <a:srgbClr val="5A6B76"/>
                </a:solidFill>
                <a:latin typeface="Calibri" pitchFamily="34" charset="0"/>
                <a:ea typeface="Calibri" pitchFamily="34" charset="-122"/>
                <a:cs typeface="Calibri" pitchFamily="34" charset="-120"/>
              </a:rPr>
              <a:t>Wide at the top, narrow at the bottom</a:t>
            </a:r>
            <a:endParaRPr lang="en-US" sz="1500" dirty="0"/>
          </a:p>
        </p:txBody>
      </p:sp>
      <p:sp>
        <p:nvSpPr>
          <p:cNvPr id="4" name="Shape 2"/>
          <p:cNvSpPr/>
          <p:nvPr/>
        </p:nvSpPr>
        <p:spPr>
          <a:xfrm>
            <a:off x="777240" y="2606040"/>
            <a:ext cx="1828800" cy="777240"/>
          </a:xfrm>
          <a:prstGeom prst="roundRect">
            <a:avLst>
              <a:gd name="adj" fmla="val 7059"/>
            </a:avLst>
          </a:prstGeom>
          <a:solidFill>
            <a:srgbClr val="1C7293"/>
          </a:solidFill>
          <a:ln/>
        </p:spPr>
        <p:txBody>
          <a:bodyPr/>
          <a:lstStyle/>
          <a:p>
            <a:endParaRPr lang="en-US"/>
          </a:p>
        </p:txBody>
      </p:sp>
      <p:sp>
        <p:nvSpPr>
          <p:cNvPr id="5" name="Text 3"/>
          <p:cNvSpPr/>
          <p:nvPr/>
        </p:nvSpPr>
        <p:spPr>
          <a:xfrm>
            <a:off x="777240" y="2606040"/>
            <a:ext cx="1828800" cy="77724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Users</a:t>
            </a:r>
            <a:endParaRPr lang="en-US" sz="1350" dirty="0"/>
          </a:p>
        </p:txBody>
      </p:sp>
      <p:sp>
        <p:nvSpPr>
          <p:cNvPr id="6" name="Shape 4"/>
          <p:cNvSpPr/>
          <p:nvPr/>
        </p:nvSpPr>
        <p:spPr>
          <a:xfrm>
            <a:off x="3200400" y="2606040"/>
            <a:ext cx="2011680" cy="777240"/>
          </a:xfrm>
          <a:prstGeom prst="roundRect">
            <a:avLst>
              <a:gd name="adj" fmla="val 7059"/>
            </a:avLst>
          </a:prstGeom>
          <a:solidFill>
            <a:srgbClr val="065A82"/>
          </a:solidFill>
          <a:ln/>
        </p:spPr>
        <p:txBody>
          <a:bodyPr/>
          <a:lstStyle/>
          <a:p>
            <a:endParaRPr lang="en-US"/>
          </a:p>
        </p:txBody>
      </p:sp>
      <p:sp>
        <p:nvSpPr>
          <p:cNvPr id="7" name="Text 5"/>
          <p:cNvSpPr/>
          <p:nvPr/>
        </p:nvSpPr>
        <p:spPr>
          <a:xfrm>
            <a:off x="3200400" y="2606040"/>
            <a:ext cx="2011680" cy="77724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Load balancer</a:t>
            </a:r>
            <a:endParaRPr lang="en-US" sz="1350" dirty="0"/>
          </a:p>
        </p:txBody>
      </p:sp>
      <p:sp>
        <p:nvSpPr>
          <p:cNvPr id="8" name="Shape 6"/>
          <p:cNvSpPr/>
          <p:nvPr/>
        </p:nvSpPr>
        <p:spPr>
          <a:xfrm>
            <a:off x="5943600" y="1463040"/>
            <a:ext cx="2011680" cy="640080"/>
          </a:xfrm>
          <a:prstGeom prst="roundRect">
            <a:avLst>
              <a:gd name="adj" fmla="val 8571"/>
            </a:avLst>
          </a:prstGeom>
          <a:solidFill>
            <a:srgbClr val="EEF6F7"/>
          </a:solidFill>
          <a:ln w="15240">
            <a:solidFill>
              <a:srgbClr val="065A82"/>
            </a:solidFill>
            <a:prstDash val="solid"/>
          </a:ln>
        </p:spPr>
        <p:txBody>
          <a:bodyPr/>
          <a:lstStyle/>
          <a:p>
            <a:endParaRPr lang="en-US"/>
          </a:p>
        </p:txBody>
      </p:sp>
      <p:sp>
        <p:nvSpPr>
          <p:cNvPr id="9" name="Text 7"/>
          <p:cNvSpPr/>
          <p:nvPr/>
        </p:nvSpPr>
        <p:spPr>
          <a:xfrm>
            <a:off x="5943600" y="1463040"/>
            <a:ext cx="2011680" cy="640080"/>
          </a:xfrm>
          <a:prstGeom prst="rect">
            <a:avLst/>
          </a:prstGeom>
          <a:noFill/>
          <a:ln/>
        </p:spPr>
        <p:txBody>
          <a:bodyPr wrap="square" rtlCol="0" anchor="ctr"/>
          <a:lstStyle/>
          <a:p>
            <a:pPr marL="0" indent="0" algn="ctr">
              <a:buNone/>
            </a:pPr>
            <a:r>
              <a:rPr lang="en-US" sz="1250" b="1" dirty="0">
                <a:solidFill>
                  <a:srgbClr val="065A82"/>
                </a:solidFill>
                <a:latin typeface="Calibri" pitchFamily="34" charset="0"/>
                <a:ea typeface="Calibri" pitchFamily="34" charset="-122"/>
                <a:cs typeface="Calibri" pitchFamily="34" charset="-120"/>
              </a:rPr>
              <a:t>App server 1</a:t>
            </a:r>
            <a:endParaRPr lang="en-US" sz="1250" dirty="0"/>
          </a:p>
        </p:txBody>
      </p:sp>
      <p:sp>
        <p:nvSpPr>
          <p:cNvPr id="10" name="Shape 8"/>
          <p:cNvSpPr/>
          <p:nvPr/>
        </p:nvSpPr>
        <p:spPr>
          <a:xfrm>
            <a:off x="5943600" y="2286000"/>
            <a:ext cx="2011680" cy="640080"/>
          </a:xfrm>
          <a:prstGeom prst="roundRect">
            <a:avLst>
              <a:gd name="adj" fmla="val 8571"/>
            </a:avLst>
          </a:prstGeom>
          <a:solidFill>
            <a:srgbClr val="EEF6F7"/>
          </a:solidFill>
          <a:ln w="15240">
            <a:solidFill>
              <a:srgbClr val="065A82"/>
            </a:solidFill>
            <a:prstDash val="solid"/>
          </a:ln>
        </p:spPr>
        <p:txBody>
          <a:bodyPr/>
          <a:lstStyle/>
          <a:p>
            <a:endParaRPr lang="en-US"/>
          </a:p>
        </p:txBody>
      </p:sp>
      <p:sp>
        <p:nvSpPr>
          <p:cNvPr id="11" name="Text 9"/>
          <p:cNvSpPr/>
          <p:nvPr/>
        </p:nvSpPr>
        <p:spPr>
          <a:xfrm>
            <a:off x="5943600" y="2286000"/>
            <a:ext cx="2011680" cy="640080"/>
          </a:xfrm>
          <a:prstGeom prst="rect">
            <a:avLst/>
          </a:prstGeom>
          <a:noFill/>
          <a:ln/>
        </p:spPr>
        <p:txBody>
          <a:bodyPr wrap="square" rtlCol="0" anchor="ctr"/>
          <a:lstStyle/>
          <a:p>
            <a:pPr marL="0" indent="0" algn="ctr">
              <a:buNone/>
            </a:pPr>
            <a:r>
              <a:rPr lang="en-US" sz="1250" b="1" dirty="0">
                <a:solidFill>
                  <a:srgbClr val="065A82"/>
                </a:solidFill>
                <a:latin typeface="Calibri" pitchFamily="34" charset="0"/>
                <a:ea typeface="Calibri" pitchFamily="34" charset="-122"/>
                <a:cs typeface="Calibri" pitchFamily="34" charset="-120"/>
              </a:rPr>
              <a:t>App server 2</a:t>
            </a:r>
            <a:endParaRPr lang="en-US" sz="1250" dirty="0"/>
          </a:p>
        </p:txBody>
      </p:sp>
      <p:sp>
        <p:nvSpPr>
          <p:cNvPr id="12" name="Shape 10"/>
          <p:cNvSpPr/>
          <p:nvPr/>
        </p:nvSpPr>
        <p:spPr>
          <a:xfrm>
            <a:off x="5943600" y="3108960"/>
            <a:ext cx="2011680" cy="640080"/>
          </a:xfrm>
          <a:prstGeom prst="roundRect">
            <a:avLst>
              <a:gd name="adj" fmla="val 8571"/>
            </a:avLst>
          </a:prstGeom>
          <a:solidFill>
            <a:srgbClr val="EEF6F7"/>
          </a:solidFill>
          <a:ln w="15240">
            <a:solidFill>
              <a:srgbClr val="065A82"/>
            </a:solidFill>
            <a:prstDash val="solid"/>
          </a:ln>
        </p:spPr>
        <p:txBody>
          <a:bodyPr/>
          <a:lstStyle/>
          <a:p>
            <a:endParaRPr lang="en-US"/>
          </a:p>
        </p:txBody>
      </p:sp>
      <p:sp>
        <p:nvSpPr>
          <p:cNvPr id="13" name="Text 11"/>
          <p:cNvSpPr/>
          <p:nvPr/>
        </p:nvSpPr>
        <p:spPr>
          <a:xfrm>
            <a:off x="5943600" y="3108960"/>
            <a:ext cx="2011680" cy="640080"/>
          </a:xfrm>
          <a:prstGeom prst="rect">
            <a:avLst/>
          </a:prstGeom>
          <a:noFill/>
          <a:ln/>
        </p:spPr>
        <p:txBody>
          <a:bodyPr wrap="square" rtlCol="0" anchor="ctr"/>
          <a:lstStyle/>
          <a:p>
            <a:pPr marL="0" indent="0" algn="ctr">
              <a:buNone/>
            </a:pPr>
            <a:r>
              <a:rPr lang="en-US" sz="1250" b="1" dirty="0">
                <a:solidFill>
                  <a:srgbClr val="065A82"/>
                </a:solidFill>
                <a:latin typeface="Calibri" pitchFamily="34" charset="0"/>
                <a:ea typeface="Calibri" pitchFamily="34" charset="-122"/>
                <a:cs typeface="Calibri" pitchFamily="34" charset="-120"/>
              </a:rPr>
              <a:t>App server 3</a:t>
            </a:r>
            <a:endParaRPr lang="en-US" sz="1250" dirty="0"/>
          </a:p>
        </p:txBody>
      </p:sp>
      <p:sp>
        <p:nvSpPr>
          <p:cNvPr id="14" name="Shape 12"/>
          <p:cNvSpPr/>
          <p:nvPr/>
        </p:nvSpPr>
        <p:spPr>
          <a:xfrm>
            <a:off x="5943600" y="3931920"/>
            <a:ext cx="2011680" cy="640080"/>
          </a:xfrm>
          <a:prstGeom prst="roundRect">
            <a:avLst>
              <a:gd name="adj" fmla="val 8571"/>
            </a:avLst>
          </a:prstGeom>
          <a:solidFill>
            <a:srgbClr val="2B4257"/>
          </a:solidFill>
          <a:ln w="15240">
            <a:solidFill>
              <a:srgbClr val="065A82"/>
            </a:solidFill>
            <a:prstDash val="solid"/>
          </a:ln>
        </p:spPr>
        <p:txBody>
          <a:bodyPr/>
          <a:lstStyle/>
          <a:p>
            <a:endParaRPr lang="en-US"/>
          </a:p>
        </p:txBody>
      </p:sp>
      <p:sp>
        <p:nvSpPr>
          <p:cNvPr id="15" name="Text 13"/>
          <p:cNvSpPr/>
          <p:nvPr/>
        </p:nvSpPr>
        <p:spPr>
          <a:xfrm>
            <a:off x="5943600" y="3931920"/>
            <a:ext cx="2011680" cy="64008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App server 20</a:t>
            </a:r>
            <a:endParaRPr lang="en-US" sz="1250" dirty="0"/>
          </a:p>
        </p:txBody>
      </p:sp>
      <p:sp>
        <p:nvSpPr>
          <p:cNvPr id="16" name="Shape 14"/>
          <p:cNvSpPr/>
          <p:nvPr/>
        </p:nvSpPr>
        <p:spPr>
          <a:xfrm>
            <a:off x="9144000" y="2286000"/>
            <a:ext cx="2240280" cy="1463040"/>
          </a:xfrm>
          <a:prstGeom prst="roundRect">
            <a:avLst>
              <a:gd name="adj" fmla="val 4375"/>
            </a:avLst>
          </a:prstGeom>
          <a:solidFill>
            <a:srgbClr val="A03A3A"/>
          </a:solidFill>
          <a:ln/>
        </p:spPr>
        <p:txBody>
          <a:bodyPr/>
          <a:lstStyle/>
          <a:p>
            <a:endParaRPr lang="en-US"/>
          </a:p>
        </p:txBody>
      </p:sp>
      <p:sp>
        <p:nvSpPr>
          <p:cNvPr id="17" name="Text 15"/>
          <p:cNvSpPr/>
          <p:nvPr/>
        </p:nvSpPr>
        <p:spPr>
          <a:xfrm>
            <a:off x="9144000" y="2578608"/>
            <a:ext cx="224028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ONE database</a:t>
            </a:r>
            <a:endParaRPr lang="en-US" sz="1500" dirty="0"/>
          </a:p>
        </p:txBody>
      </p:sp>
      <p:sp>
        <p:nvSpPr>
          <p:cNvPr id="18" name="Text 16"/>
          <p:cNvSpPr/>
          <p:nvPr/>
        </p:nvSpPr>
        <p:spPr>
          <a:xfrm>
            <a:off x="9144000" y="2971800"/>
            <a:ext cx="2240280" cy="548640"/>
          </a:xfrm>
          <a:prstGeom prst="rect">
            <a:avLst/>
          </a:prstGeom>
          <a:noFill/>
          <a:ln/>
        </p:spPr>
        <p:txBody>
          <a:bodyPr wrap="square" lIns="0" tIns="0" rIns="0" bIns="0" rtlCol="0" anchor="ctr"/>
          <a:lstStyle/>
          <a:p>
            <a:pPr marL="0" indent="0" algn="ctr">
              <a:lnSpc>
                <a:spcPts val="1500"/>
              </a:lnSpc>
              <a:buNone/>
            </a:pPr>
            <a:r>
              <a:rPr lang="en-US" sz="1100" dirty="0">
                <a:solidFill>
                  <a:srgbClr val="F5D6D2"/>
                </a:solidFill>
                <a:latin typeface="Calibri" pitchFamily="34" charset="0"/>
                <a:ea typeface="Calibri" pitchFamily="34" charset="-122"/>
                <a:cs typeface="Calibri" pitchFamily="34" charset="-120"/>
              </a:rPr>
              <a:t>every write, every</a:t>
            </a:r>
            <a:endParaRPr lang="en-US" sz="1100" dirty="0"/>
          </a:p>
          <a:p>
            <a:pPr marL="0" indent="0" algn="ctr">
              <a:lnSpc>
                <a:spcPts val="1500"/>
              </a:lnSpc>
              <a:buNone/>
            </a:pPr>
            <a:r>
              <a:rPr lang="en-US" sz="1100" dirty="0">
                <a:solidFill>
                  <a:srgbClr val="F5D6D2"/>
                </a:solidFill>
                <a:latin typeface="Calibri" pitchFamily="34" charset="0"/>
                <a:ea typeface="Calibri" pitchFamily="34" charset="-122"/>
                <a:cs typeface="Calibri" pitchFamily="34" charset="-120"/>
              </a:rPr>
              <a:t>uncached read</a:t>
            </a:r>
            <a:endParaRPr lang="en-US" sz="1100" dirty="0"/>
          </a:p>
        </p:txBody>
      </p:sp>
      <p:sp>
        <p:nvSpPr>
          <p:cNvPr id="19" name="Shape 17"/>
          <p:cNvSpPr/>
          <p:nvPr/>
        </p:nvSpPr>
        <p:spPr>
          <a:xfrm>
            <a:off x="2651760" y="2990088"/>
            <a:ext cx="502920" cy="0"/>
          </a:xfrm>
          <a:prstGeom prst="line">
            <a:avLst/>
          </a:prstGeom>
          <a:noFill/>
          <a:ln w="31750">
            <a:solidFill>
              <a:srgbClr val="E8A33D"/>
            </a:solidFill>
            <a:prstDash val="solid"/>
            <a:headEnd type="none"/>
            <a:tailEnd type="triangle"/>
          </a:ln>
        </p:spPr>
        <p:txBody>
          <a:bodyPr/>
          <a:lstStyle/>
          <a:p>
            <a:endParaRPr lang="en-US"/>
          </a:p>
        </p:txBody>
      </p:sp>
      <p:sp>
        <p:nvSpPr>
          <p:cNvPr id="20" name="Shape 18"/>
          <p:cNvSpPr/>
          <p:nvPr/>
        </p:nvSpPr>
        <p:spPr>
          <a:xfrm flipV="1">
            <a:off x="5257800" y="1783080"/>
            <a:ext cx="640080" cy="1207008"/>
          </a:xfrm>
          <a:prstGeom prst="line">
            <a:avLst/>
          </a:prstGeom>
          <a:noFill/>
          <a:ln w="31750">
            <a:solidFill>
              <a:srgbClr val="E8A33D"/>
            </a:solidFill>
            <a:prstDash val="solid"/>
            <a:headEnd type="none"/>
            <a:tailEnd type="triangle"/>
          </a:ln>
        </p:spPr>
        <p:txBody>
          <a:bodyPr/>
          <a:lstStyle/>
          <a:p>
            <a:endParaRPr lang="en-US"/>
          </a:p>
        </p:txBody>
      </p:sp>
      <p:sp>
        <p:nvSpPr>
          <p:cNvPr id="21" name="Shape 19"/>
          <p:cNvSpPr/>
          <p:nvPr/>
        </p:nvSpPr>
        <p:spPr>
          <a:xfrm flipV="1">
            <a:off x="5257800" y="2606040"/>
            <a:ext cx="640080" cy="384048"/>
          </a:xfrm>
          <a:prstGeom prst="line">
            <a:avLst/>
          </a:prstGeom>
          <a:noFill/>
          <a:ln w="31750">
            <a:solidFill>
              <a:srgbClr val="E8A33D"/>
            </a:solidFill>
            <a:prstDash val="solid"/>
            <a:headEnd type="none"/>
            <a:tailEnd type="triangle"/>
          </a:ln>
        </p:spPr>
        <p:txBody>
          <a:bodyPr/>
          <a:lstStyle/>
          <a:p>
            <a:endParaRPr lang="en-US"/>
          </a:p>
        </p:txBody>
      </p:sp>
      <p:sp>
        <p:nvSpPr>
          <p:cNvPr id="22" name="Shape 20"/>
          <p:cNvSpPr/>
          <p:nvPr/>
        </p:nvSpPr>
        <p:spPr>
          <a:xfrm>
            <a:off x="5257800" y="2990088"/>
            <a:ext cx="640080" cy="438912"/>
          </a:xfrm>
          <a:prstGeom prst="line">
            <a:avLst/>
          </a:prstGeom>
          <a:noFill/>
          <a:ln w="31750">
            <a:solidFill>
              <a:srgbClr val="E8A33D"/>
            </a:solidFill>
            <a:prstDash val="solid"/>
            <a:headEnd type="none"/>
            <a:tailEnd type="triangle"/>
          </a:ln>
        </p:spPr>
        <p:txBody>
          <a:bodyPr/>
          <a:lstStyle/>
          <a:p>
            <a:endParaRPr lang="en-US"/>
          </a:p>
        </p:txBody>
      </p:sp>
      <p:sp>
        <p:nvSpPr>
          <p:cNvPr id="23" name="Shape 21"/>
          <p:cNvSpPr/>
          <p:nvPr/>
        </p:nvSpPr>
        <p:spPr>
          <a:xfrm>
            <a:off x="5257800" y="2990088"/>
            <a:ext cx="640080" cy="1261872"/>
          </a:xfrm>
          <a:prstGeom prst="line">
            <a:avLst/>
          </a:prstGeom>
          <a:noFill/>
          <a:ln w="31750">
            <a:solidFill>
              <a:srgbClr val="E8A33D"/>
            </a:solidFill>
            <a:prstDash val="solid"/>
            <a:headEnd type="none"/>
            <a:tailEnd type="triangle"/>
          </a:ln>
        </p:spPr>
        <p:txBody>
          <a:bodyPr/>
          <a:lstStyle/>
          <a:p>
            <a:endParaRPr lang="en-US"/>
          </a:p>
        </p:txBody>
      </p:sp>
      <p:sp>
        <p:nvSpPr>
          <p:cNvPr id="24" name="Shape 22"/>
          <p:cNvSpPr/>
          <p:nvPr/>
        </p:nvSpPr>
        <p:spPr>
          <a:xfrm>
            <a:off x="8001000" y="1783080"/>
            <a:ext cx="1097280" cy="1234440"/>
          </a:xfrm>
          <a:prstGeom prst="line">
            <a:avLst/>
          </a:prstGeom>
          <a:noFill/>
          <a:ln w="31750">
            <a:solidFill>
              <a:srgbClr val="A03A3A"/>
            </a:solidFill>
            <a:prstDash val="solid"/>
            <a:headEnd type="none"/>
            <a:tailEnd type="triangle"/>
          </a:ln>
        </p:spPr>
        <p:txBody>
          <a:bodyPr/>
          <a:lstStyle/>
          <a:p>
            <a:endParaRPr lang="en-US"/>
          </a:p>
        </p:txBody>
      </p:sp>
      <p:sp>
        <p:nvSpPr>
          <p:cNvPr id="25" name="Shape 23"/>
          <p:cNvSpPr/>
          <p:nvPr/>
        </p:nvSpPr>
        <p:spPr>
          <a:xfrm>
            <a:off x="8001000" y="2606040"/>
            <a:ext cx="1097280" cy="411480"/>
          </a:xfrm>
          <a:prstGeom prst="line">
            <a:avLst/>
          </a:prstGeom>
          <a:noFill/>
          <a:ln w="31750">
            <a:solidFill>
              <a:srgbClr val="A03A3A"/>
            </a:solidFill>
            <a:prstDash val="solid"/>
            <a:headEnd type="none"/>
            <a:tailEnd type="triangle"/>
          </a:ln>
        </p:spPr>
        <p:txBody>
          <a:bodyPr/>
          <a:lstStyle/>
          <a:p>
            <a:endParaRPr lang="en-US"/>
          </a:p>
        </p:txBody>
      </p:sp>
      <p:sp>
        <p:nvSpPr>
          <p:cNvPr id="26" name="Shape 24"/>
          <p:cNvSpPr/>
          <p:nvPr/>
        </p:nvSpPr>
        <p:spPr>
          <a:xfrm flipV="1">
            <a:off x="8001000" y="3017520"/>
            <a:ext cx="1097280" cy="411480"/>
          </a:xfrm>
          <a:prstGeom prst="line">
            <a:avLst/>
          </a:prstGeom>
          <a:noFill/>
          <a:ln w="31750">
            <a:solidFill>
              <a:srgbClr val="A03A3A"/>
            </a:solidFill>
            <a:prstDash val="solid"/>
            <a:headEnd type="none"/>
            <a:tailEnd type="triangle"/>
          </a:ln>
        </p:spPr>
        <p:txBody>
          <a:bodyPr/>
          <a:lstStyle/>
          <a:p>
            <a:endParaRPr lang="en-US"/>
          </a:p>
        </p:txBody>
      </p:sp>
      <p:sp>
        <p:nvSpPr>
          <p:cNvPr id="27" name="Shape 25"/>
          <p:cNvSpPr/>
          <p:nvPr/>
        </p:nvSpPr>
        <p:spPr>
          <a:xfrm flipV="1">
            <a:off x="8001000" y="3017520"/>
            <a:ext cx="1097280" cy="1234440"/>
          </a:xfrm>
          <a:prstGeom prst="line">
            <a:avLst/>
          </a:prstGeom>
          <a:noFill/>
          <a:ln w="31750">
            <a:solidFill>
              <a:srgbClr val="A03A3A"/>
            </a:solidFill>
            <a:prstDash val="solid"/>
            <a:headEnd type="none"/>
            <a:tailEnd type="triangle"/>
          </a:ln>
        </p:spPr>
        <p:txBody>
          <a:bodyPr/>
          <a:lstStyle/>
          <a:p>
            <a:endParaRPr lang="en-US"/>
          </a:p>
        </p:txBody>
      </p:sp>
      <p:sp>
        <p:nvSpPr>
          <p:cNvPr id="28" name="Shape 26"/>
          <p:cNvSpPr/>
          <p:nvPr/>
        </p:nvSpPr>
        <p:spPr>
          <a:xfrm>
            <a:off x="777240" y="5120640"/>
            <a:ext cx="10607040" cy="1097280"/>
          </a:xfrm>
          <a:prstGeom prst="roundRect">
            <a:avLst>
              <a:gd name="adj" fmla="val 5000"/>
            </a:avLst>
          </a:prstGeom>
          <a:solidFill>
            <a:srgbClr val="FDF3E3"/>
          </a:solidFill>
          <a:ln w="17780">
            <a:solidFill>
              <a:srgbClr val="E8A33D"/>
            </a:solidFill>
            <a:prstDash val="solid"/>
          </a:ln>
        </p:spPr>
        <p:txBody>
          <a:bodyPr/>
          <a:lstStyle/>
          <a:p>
            <a:endParaRPr lang="en-US"/>
          </a:p>
        </p:txBody>
      </p:sp>
      <p:sp>
        <p:nvSpPr>
          <p:cNvPr id="29" name="Text 27"/>
          <p:cNvSpPr/>
          <p:nvPr/>
        </p:nvSpPr>
        <p:spPr>
          <a:xfrm>
            <a:off x="1097280" y="5120640"/>
            <a:ext cx="10058400" cy="1097280"/>
          </a:xfrm>
          <a:prstGeom prst="rect">
            <a:avLst/>
          </a:prstGeom>
          <a:noFill/>
          <a:ln/>
        </p:spPr>
        <p:txBody>
          <a:bodyPr wrap="square" lIns="0" tIns="0" rIns="0" bIns="0" rtlCol="0" anchor="ctr"/>
          <a:lstStyle/>
          <a:p>
            <a:pPr marL="0" indent="0">
              <a:lnSpc>
                <a:spcPts val="2000"/>
              </a:lnSpc>
              <a:buNone/>
            </a:pPr>
            <a:r>
              <a:rPr lang="en-US" sz="1450" dirty="0">
                <a:solidFill>
                  <a:srgbClr val="1B2A33"/>
                </a:solidFill>
                <a:latin typeface="Calibri" pitchFamily="34" charset="0"/>
                <a:ea typeface="Calibri" pitchFamily="34" charset="-122"/>
                <a:cs typeface="Calibri" pitchFamily="34" charset="-120"/>
              </a:rPr>
              <a:t>Everything above the database scales by copying. The database cannot be copied naively, because a copy would immediately disagree with the original. The rest of today is four techniques for widening that neck.</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3293D"/>
        </a:solidFill>
        <a:effectLst/>
      </p:bgPr>
    </p:bg>
    <p:spTree>
      <p:nvGrpSpPr>
        <p:cNvPr id="1" name=""/>
        <p:cNvGrpSpPr/>
        <p:nvPr/>
      </p:nvGrpSpPr>
      <p:grpSpPr>
        <a:xfrm>
          <a:off x="0" y="0"/>
          <a:ext cx="0" cy="0"/>
          <a:chOff x="0" y="0"/>
          <a:chExt cx="0" cy="0"/>
        </a:xfrm>
      </p:grpSpPr>
      <p:sp>
        <p:nvSpPr>
          <p:cNvPr id="2" name="Shape 0"/>
          <p:cNvSpPr/>
          <p:nvPr/>
        </p:nvSpPr>
        <p:spPr>
          <a:xfrm>
            <a:off x="822960" y="640080"/>
            <a:ext cx="3291840" cy="411480"/>
          </a:xfrm>
          <a:prstGeom prst="roundRect">
            <a:avLst>
              <a:gd name="adj" fmla="val 44444"/>
            </a:avLst>
          </a:prstGeom>
          <a:solidFill>
            <a:srgbClr val="E8A33D"/>
          </a:solidFill>
          <a:ln/>
        </p:spPr>
        <p:txBody>
          <a:bodyPr/>
          <a:lstStyle/>
          <a:p>
            <a:endParaRPr lang="en-US"/>
          </a:p>
        </p:txBody>
      </p:sp>
      <p:sp>
        <p:nvSpPr>
          <p:cNvPr id="3" name="Text 1"/>
          <p:cNvSpPr/>
          <p:nvPr/>
        </p:nvSpPr>
        <p:spPr>
          <a:xfrm>
            <a:off x="822960" y="640080"/>
            <a:ext cx="3291840" cy="411480"/>
          </a:xfrm>
          <a:prstGeom prst="rect">
            <a:avLst/>
          </a:prstGeom>
          <a:noFill/>
          <a:ln/>
        </p:spPr>
        <p:txBody>
          <a:bodyPr wrap="square" rtlCol="0" anchor="ctr"/>
          <a:lstStyle/>
          <a:p>
            <a:pPr marL="0" indent="0" algn="ctr">
              <a:buNone/>
            </a:pPr>
            <a:r>
              <a:rPr lang="en-US" sz="1200" b="1" kern="0" spc="140" dirty="0">
                <a:solidFill>
                  <a:srgbClr val="13293D"/>
                </a:solidFill>
                <a:latin typeface="Calibri" pitchFamily="34" charset="0"/>
                <a:ea typeface="Calibri" pitchFamily="34" charset="-122"/>
                <a:cs typeface="Calibri" pitchFamily="34" charset="-120"/>
              </a:rPr>
              <a:t>ROUND 2  ·  QUESTION</a:t>
            </a:r>
            <a:endParaRPr lang="en-US" sz="1200" dirty="0"/>
          </a:p>
        </p:txBody>
      </p:sp>
      <p:sp>
        <p:nvSpPr>
          <p:cNvPr id="4" name="Text 2"/>
          <p:cNvSpPr/>
          <p:nvPr/>
        </p:nvSpPr>
        <p:spPr>
          <a:xfrm>
            <a:off x="822960" y="1325880"/>
            <a:ext cx="10515600" cy="1554480"/>
          </a:xfrm>
          <a:prstGeom prst="rect">
            <a:avLst/>
          </a:prstGeom>
          <a:noFill/>
          <a:ln/>
        </p:spPr>
        <p:txBody>
          <a:bodyPr wrap="square" lIns="0" tIns="0" rIns="0" bIns="0" rtlCol="0" anchor="ctr"/>
          <a:lstStyle/>
          <a:p>
            <a:pPr marL="0" indent="0">
              <a:lnSpc>
                <a:spcPts val="2600"/>
              </a:lnSpc>
              <a:buNone/>
            </a:pPr>
            <a:r>
              <a:rPr lang="en-US" sz="1700" dirty="0">
                <a:solidFill>
                  <a:srgbClr val="9AD1D4"/>
                </a:solidFill>
                <a:latin typeface="Calibri" pitchFamily="34" charset="0"/>
                <a:ea typeface="Calibri" pitchFamily="34" charset="-122"/>
                <a:cs typeface="Calibri" pitchFamily="34" charset="-120"/>
              </a:rPr>
              <a:t>Complaints start arriving: users are being logged out at random, and carts empty themselves. It never happened when CampusEats ran on one server. Nothing in the login code has changed.</a:t>
            </a:r>
            <a:endParaRPr lang="en-US" sz="1700" dirty="0"/>
          </a:p>
        </p:txBody>
      </p:sp>
      <p:sp>
        <p:nvSpPr>
          <p:cNvPr id="5" name="Shape 3"/>
          <p:cNvSpPr/>
          <p:nvPr/>
        </p:nvSpPr>
        <p:spPr>
          <a:xfrm>
            <a:off x="822960" y="3017520"/>
            <a:ext cx="10515600" cy="1600200"/>
          </a:xfrm>
          <a:prstGeom prst="roundRect">
            <a:avLst>
              <a:gd name="adj" fmla="val 4571"/>
            </a:avLst>
          </a:prstGeom>
          <a:solidFill>
            <a:srgbClr val="1D3D52"/>
          </a:solidFill>
          <a:ln/>
        </p:spPr>
        <p:txBody>
          <a:bodyPr/>
          <a:lstStyle/>
          <a:p>
            <a:endParaRPr lang="en-US"/>
          </a:p>
        </p:txBody>
      </p:sp>
      <p:sp>
        <p:nvSpPr>
          <p:cNvPr id="6" name="Text 4"/>
          <p:cNvSpPr/>
          <p:nvPr/>
        </p:nvSpPr>
        <p:spPr>
          <a:xfrm>
            <a:off x="1188720" y="3017520"/>
            <a:ext cx="9784080" cy="1600200"/>
          </a:xfrm>
          <a:prstGeom prst="rect">
            <a:avLst/>
          </a:prstGeom>
          <a:noFill/>
          <a:ln/>
        </p:spPr>
        <p:txBody>
          <a:bodyPr wrap="square" lIns="0" tIns="0" rIns="0" bIns="0" rtlCol="0" anchor="ctr"/>
          <a:lstStyle/>
          <a:p>
            <a:pPr marL="0" indent="0">
              <a:lnSpc>
                <a:spcPts val="3400"/>
              </a:lnSpc>
              <a:buNone/>
            </a:pPr>
            <a:r>
              <a:rPr lang="en-US" sz="2600" b="1" dirty="0">
                <a:solidFill>
                  <a:srgbClr val="FFFFFF"/>
                </a:solidFill>
                <a:latin typeface="Cambria" pitchFamily="34" charset="0"/>
                <a:ea typeface="Cambria" pitchFamily="34" charset="-122"/>
                <a:cs typeface="Cambria" pitchFamily="34" charset="-120"/>
              </a:rPr>
              <a:t>Adding servers broke logins.</a:t>
            </a:r>
            <a:endParaRPr lang="en-US" sz="2600" dirty="0"/>
          </a:p>
          <a:p>
            <a:pPr marL="0" indent="0">
              <a:lnSpc>
                <a:spcPts val="3400"/>
              </a:lnSpc>
              <a:buNone/>
            </a:pPr>
            <a:r>
              <a:rPr lang="en-US" sz="2600" b="1" dirty="0">
                <a:solidFill>
                  <a:srgbClr val="FFFFFF"/>
                </a:solidFill>
                <a:latin typeface="Cambria" pitchFamily="34" charset="0"/>
                <a:ea typeface="Cambria" pitchFamily="34" charset="-122"/>
                <a:cs typeface="Cambria" pitchFamily="34" charset="-120"/>
              </a:rPr>
              <a:t>How can that possibly be?</a:t>
            </a:r>
            <a:endParaRPr lang="en-US" sz="2600" dirty="0"/>
          </a:p>
        </p:txBody>
      </p:sp>
      <p:sp>
        <p:nvSpPr>
          <p:cNvPr id="7" name="Text 5"/>
          <p:cNvSpPr/>
          <p:nvPr/>
        </p:nvSpPr>
        <p:spPr>
          <a:xfrm>
            <a:off x="868680" y="4892040"/>
            <a:ext cx="10424160" cy="548640"/>
          </a:xfrm>
          <a:prstGeom prst="rect">
            <a:avLst/>
          </a:prstGeom>
          <a:noFill/>
          <a:ln/>
        </p:spPr>
        <p:txBody>
          <a:bodyPr wrap="square" lIns="0" tIns="0" rIns="0" bIns="0" rtlCol="0" anchor="ctr"/>
          <a:lstStyle/>
          <a:p>
            <a:pPr marL="0" indent="0">
              <a:buNone/>
            </a:pPr>
            <a:r>
              <a:rPr lang="en-US" sz="1400" i="1" dirty="0">
                <a:solidFill>
                  <a:srgbClr val="E8A33D"/>
                </a:solidFill>
                <a:latin typeface="Calibri" pitchFamily="34" charset="0"/>
                <a:ea typeface="Calibri" pitchFamily="34" charset="-122"/>
                <a:cs typeface="Calibri" pitchFamily="34" charset="-120"/>
              </a:rPr>
              <a:t>Where exactly was the session stored when there was only one server?</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40080"/>
          </a:xfrm>
          <a:prstGeom prst="rect">
            <a:avLst/>
          </a:prstGeom>
          <a:noFill/>
          <a:ln/>
        </p:spPr>
        <p:txBody>
          <a:bodyPr wrap="square" lIns="0" tIns="0" rIns="0" bIns="0" rtlCol="0" anchor="ctr"/>
          <a:lstStyle/>
          <a:p>
            <a:pPr marL="0" indent="0">
              <a:buNone/>
            </a:pPr>
            <a:r>
              <a:rPr lang="en-US" sz="3100" b="1" dirty="0">
                <a:solidFill>
                  <a:srgbClr val="13293D"/>
                </a:solidFill>
                <a:latin typeface="Cambria" pitchFamily="34" charset="0"/>
                <a:ea typeface="Cambria" pitchFamily="34" charset="-122"/>
                <a:cs typeface="Cambria" pitchFamily="34" charset="-120"/>
              </a:rPr>
              <a:t>Round 2 — The Answer</a:t>
            </a:r>
            <a:endParaRPr lang="en-US" sz="3100" dirty="0"/>
          </a:p>
        </p:txBody>
      </p:sp>
      <p:sp>
        <p:nvSpPr>
          <p:cNvPr id="3" name="Text 1"/>
          <p:cNvSpPr/>
          <p:nvPr/>
        </p:nvSpPr>
        <p:spPr>
          <a:xfrm>
            <a:off x="658368" y="1005840"/>
            <a:ext cx="10972800" cy="384048"/>
          </a:xfrm>
          <a:prstGeom prst="rect">
            <a:avLst/>
          </a:prstGeom>
          <a:noFill/>
          <a:ln/>
        </p:spPr>
        <p:txBody>
          <a:bodyPr wrap="square" lIns="0" tIns="0" rIns="0" bIns="0" rtlCol="0" anchor="ctr"/>
          <a:lstStyle/>
          <a:p>
            <a:pPr marL="0" indent="0">
              <a:buNone/>
            </a:pPr>
            <a:r>
              <a:rPr lang="en-US" sz="1500" i="1" dirty="0">
                <a:solidFill>
                  <a:srgbClr val="5A6B76"/>
                </a:solidFill>
                <a:latin typeface="Calibri" pitchFamily="34" charset="0"/>
                <a:ea typeface="Calibri" pitchFamily="34" charset="-122"/>
                <a:cs typeface="Calibri" pitchFamily="34" charset="-120"/>
              </a:rPr>
              <a:t>The servers were keeping secrets from each other</a:t>
            </a:r>
            <a:endParaRPr lang="en-US" sz="1500" dirty="0"/>
          </a:p>
        </p:txBody>
      </p:sp>
      <p:sp>
        <p:nvSpPr>
          <p:cNvPr id="4" name="Shape 2"/>
          <p:cNvSpPr/>
          <p:nvPr/>
        </p:nvSpPr>
        <p:spPr>
          <a:xfrm>
            <a:off x="777240" y="1463040"/>
            <a:ext cx="10607040" cy="841248"/>
          </a:xfrm>
          <a:prstGeom prst="roundRect">
            <a:avLst>
              <a:gd name="adj" fmla="val 6522"/>
            </a:avLst>
          </a:prstGeom>
          <a:solidFill>
            <a:srgbClr val="13293D"/>
          </a:solidFill>
          <a:ln/>
        </p:spPr>
        <p:txBody>
          <a:bodyPr/>
          <a:lstStyle/>
          <a:p>
            <a:endParaRPr lang="en-US"/>
          </a:p>
        </p:txBody>
      </p:sp>
      <p:sp>
        <p:nvSpPr>
          <p:cNvPr id="5" name="Text 3"/>
          <p:cNvSpPr/>
          <p:nvPr/>
        </p:nvSpPr>
        <p:spPr>
          <a:xfrm>
            <a:off x="1097280" y="1463040"/>
            <a:ext cx="10058400" cy="841248"/>
          </a:xfrm>
          <a:prstGeom prst="rect">
            <a:avLst/>
          </a:prstGeom>
          <a:noFill/>
          <a:ln/>
        </p:spPr>
        <p:txBody>
          <a:bodyPr wrap="square" lIns="0" tIns="0" rIns="0" bIns="0" rtlCol="0" anchor="ctr"/>
          <a:lstStyle/>
          <a:p>
            <a:pPr marL="0" indent="0">
              <a:lnSpc>
                <a:spcPts val="2100"/>
              </a:lnSpc>
              <a:buNone/>
            </a:pPr>
            <a:r>
              <a:rPr lang="en-US" sz="1550" dirty="0">
                <a:solidFill>
                  <a:srgbClr val="FFFFFF"/>
                </a:solidFill>
                <a:latin typeface="Calibri" pitchFamily="34" charset="0"/>
                <a:ea typeface="Calibri" pitchFamily="34" charset="-122"/>
                <a:cs typeface="Calibri" pitchFamily="34" charset="-120"/>
              </a:rPr>
              <a:t>Each app server stored sessions in its own memory. You logged in on Server 3, so only Server 3 knew who you were. The load balancer sent your next request to Server 11 — which had never heard of you.</a:t>
            </a:r>
            <a:endParaRPr lang="en-US" sz="1550" dirty="0"/>
          </a:p>
        </p:txBody>
      </p:sp>
      <p:sp>
        <p:nvSpPr>
          <p:cNvPr id="6" name="Shape 4"/>
          <p:cNvSpPr/>
          <p:nvPr/>
        </p:nvSpPr>
        <p:spPr>
          <a:xfrm>
            <a:off x="777240" y="2468880"/>
            <a:ext cx="5212080" cy="2286000"/>
          </a:xfrm>
          <a:prstGeom prst="roundRect">
            <a:avLst>
              <a:gd name="adj" fmla="val 2400"/>
            </a:avLst>
          </a:prstGeom>
          <a:solidFill>
            <a:srgbClr val="FDF0EE"/>
          </a:solidFill>
          <a:ln w="12700">
            <a:solidFill>
              <a:srgbClr val="E1E8ED"/>
            </a:solidFill>
            <a:prstDash val="solid"/>
          </a:ln>
        </p:spPr>
        <p:txBody>
          <a:bodyPr/>
          <a:lstStyle/>
          <a:p>
            <a:endParaRPr lang="en-US"/>
          </a:p>
        </p:txBody>
      </p:sp>
      <p:sp>
        <p:nvSpPr>
          <p:cNvPr id="7" name="Text 5"/>
          <p:cNvSpPr/>
          <p:nvPr/>
        </p:nvSpPr>
        <p:spPr>
          <a:xfrm>
            <a:off x="1033272" y="2651760"/>
            <a:ext cx="4754880" cy="365760"/>
          </a:xfrm>
          <a:prstGeom prst="rect">
            <a:avLst/>
          </a:prstGeom>
          <a:noFill/>
          <a:ln/>
        </p:spPr>
        <p:txBody>
          <a:bodyPr wrap="square" lIns="0" tIns="0" rIns="0" bIns="0" rtlCol="0" anchor="ctr"/>
          <a:lstStyle/>
          <a:p>
            <a:pPr marL="0" indent="0">
              <a:buNone/>
            </a:pPr>
            <a:r>
              <a:rPr lang="en-US" sz="1550" b="1" dirty="0">
                <a:solidFill>
                  <a:srgbClr val="A03A3A"/>
                </a:solidFill>
                <a:latin typeface="Calibri" pitchFamily="34" charset="0"/>
                <a:ea typeface="Calibri" pitchFamily="34" charset="-122"/>
                <a:cs typeface="Calibri" pitchFamily="34" charset="-120"/>
              </a:rPr>
              <a:t>Stateful server</a:t>
            </a:r>
            <a:endParaRPr lang="en-US" sz="1550" dirty="0"/>
          </a:p>
        </p:txBody>
      </p:sp>
      <p:sp>
        <p:nvSpPr>
          <p:cNvPr id="8" name="Text 6"/>
          <p:cNvSpPr/>
          <p:nvPr/>
        </p:nvSpPr>
        <p:spPr>
          <a:xfrm>
            <a:off x="1033272" y="3044952"/>
            <a:ext cx="4754880" cy="1508760"/>
          </a:xfrm>
          <a:prstGeom prst="rect">
            <a:avLst/>
          </a:prstGeom>
          <a:noFill/>
          <a:ln/>
        </p:spPr>
        <p:txBody>
          <a:bodyPr wrap="square" lIns="0" tIns="0" rIns="0" bIns="0" rtlCol="0" anchor="ctr"/>
          <a:lstStyle/>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Remembers things between requests</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Sessions, carts, uploaded files in memory</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Requests must return to the same server</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If it dies, that memory dies with it</a:t>
            </a:r>
            <a:endParaRPr lang="en-US" sz="1250" dirty="0"/>
          </a:p>
        </p:txBody>
      </p:sp>
      <p:sp>
        <p:nvSpPr>
          <p:cNvPr id="9" name="Shape 7"/>
          <p:cNvSpPr/>
          <p:nvPr/>
        </p:nvSpPr>
        <p:spPr>
          <a:xfrm>
            <a:off x="6172200" y="2468880"/>
            <a:ext cx="5212080" cy="2286000"/>
          </a:xfrm>
          <a:prstGeom prst="roundRect">
            <a:avLst>
              <a:gd name="adj" fmla="val 2400"/>
            </a:avLst>
          </a:prstGeom>
          <a:solidFill>
            <a:srgbClr val="EAF5EF"/>
          </a:solidFill>
          <a:ln w="12700">
            <a:solidFill>
              <a:srgbClr val="E1E8ED"/>
            </a:solidFill>
            <a:prstDash val="solid"/>
          </a:ln>
        </p:spPr>
        <p:txBody>
          <a:bodyPr/>
          <a:lstStyle/>
          <a:p>
            <a:endParaRPr lang="en-US"/>
          </a:p>
        </p:txBody>
      </p:sp>
      <p:sp>
        <p:nvSpPr>
          <p:cNvPr id="10" name="Text 8"/>
          <p:cNvSpPr/>
          <p:nvPr/>
        </p:nvSpPr>
        <p:spPr>
          <a:xfrm>
            <a:off x="6428232" y="2651760"/>
            <a:ext cx="4754880" cy="365760"/>
          </a:xfrm>
          <a:prstGeom prst="rect">
            <a:avLst/>
          </a:prstGeom>
          <a:noFill/>
          <a:ln/>
        </p:spPr>
        <p:txBody>
          <a:bodyPr wrap="square" lIns="0" tIns="0" rIns="0" bIns="0" rtlCol="0" anchor="ctr"/>
          <a:lstStyle/>
          <a:p>
            <a:pPr marL="0" indent="0">
              <a:buNone/>
            </a:pPr>
            <a:r>
              <a:rPr lang="en-US" sz="1550" b="1" dirty="0">
                <a:solidFill>
                  <a:srgbClr val="2E7D5B"/>
                </a:solidFill>
                <a:latin typeface="Calibri" pitchFamily="34" charset="0"/>
                <a:ea typeface="Calibri" pitchFamily="34" charset="-122"/>
                <a:cs typeface="Calibri" pitchFamily="34" charset="-120"/>
              </a:rPr>
              <a:t>Stateless server</a:t>
            </a:r>
            <a:endParaRPr lang="en-US" sz="1550" dirty="0"/>
          </a:p>
        </p:txBody>
      </p:sp>
      <p:sp>
        <p:nvSpPr>
          <p:cNvPr id="11" name="Text 9"/>
          <p:cNvSpPr/>
          <p:nvPr/>
        </p:nvSpPr>
        <p:spPr>
          <a:xfrm>
            <a:off x="6428232" y="3044952"/>
            <a:ext cx="4754880" cy="1508760"/>
          </a:xfrm>
          <a:prstGeom prst="rect">
            <a:avLst/>
          </a:prstGeom>
          <a:noFill/>
          <a:ln/>
        </p:spPr>
        <p:txBody>
          <a:bodyPr wrap="square" lIns="0" tIns="0" rIns="0" bIns="0" rtlCol="0" anchor="ctr"/>
          <a:lstStyle/>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Remembers nothing between requests</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All state lives in Redis or the database</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Any server can handle any request</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If it dies, another takes over instantly</a:t>
            </a:r>
            <a:endParaRPr lang="en-US" sz="1250" dirty="0"/>
          </a:p>
        </p:txBody>
      </p:sp>
      <p:sp>
        <p:nvSpPr>
          <p:cNvPr id="12" name="Text 10"/>
          <p:cNvSpPr/>
          <p:nvPr/>
        </p:nvSpPr>
        <p:spPr>
          <a:xfrm>
            <a:off x="777240" y="4937760"/>
            <a:ext cx="10607040" cy="457200"/>
          </a:xfrm>
          <a:prstGeom prst="rect">
            <a:avLst/>
          </a:prstGeom>
          <a:noFill/>
          <a:ln/>
        </p:spPr>
        <p:txBody>
          <a:bodyPr wrap="square" lIns="0" tIns="0" rIns="0" bIns="0" rtlCol="0" anchor="ctr"/>
          <a:lstStyle/>
          <a:p>
            <a:pPr marL="0" indent="0">
              <a:buNone/>
            </a:pPr>
            <a:r>
              <a:rPr lang="en-US" sz="1500" b="1" dirty="0">
                <a:solidFill>
                  <a:srgbClr val="065A82"/>
                </a:solidFill>
                <a:latin typeface="Calibri" pitchFamily="34" charset="0"/>
                <a:ea typeface="Calibri" pitchFamily="34" charset="-122"/>
                <a:cs typeface="Calibri" pitchFamily="34" charset="-120"/>
              </a:rPr>
              <a:t>The fix: move the session out of the server and into Redis. Now every server can look you up, and any of them can serve you.</a:t>
            </a:r>
            <a:endParaRPr lang="en-US" sz="1500" dirty="0"/>
          </a:p>
        </p:txBody>
      </p:sp>
      <p:sp>
        <p:nvSpPr>
          <p:cNvPr id="13" name="Text 11"/>
          <p:cNvSpPr/>
          <p:nvPr/>
        </p:nvSpPr>
        <p:spPr>
          <a:xfrm>
            <a:off x="777240" y="5440680"/>
            <a:ext cx="10607040" cy="640080"/>
          </a:xfrm>
          <a:prstGeom prst="rect">
            <a:avLst/>
          </a:prstGeom>
          <a:noFill/>
          <a:ln/>
        </p:spPr>
        <p:txBody>
          <a:bodyPr wrap="square" lIns="0" tIns="0" rIns="0" bIns="0" rtlCol="0" anchor="ctr"/>
          <a:lstStyle/>
          <a:p>
            <a:pPr marL="0" indent="0">
              <a:lnSpc>
                <a:spcPts val="1900"/>
              </a:lnSpc>
              <a:buNone/>
            </a:pPr>
            <a:r>
              <a:rPr lang="en-US" sz="1350" i="1" dirty="0">
                <a:solidFill>
                  <a:srgbClr val="5A6B76"/>
                </a:solidFill>
                <a:latin typeface="Calibri" pitchFamily="34" charset="0"/>
                <a:ea typeface="Calibri" pitchFamily="34" charset="-122"/>
                <a:cs typeface="Calibri" pitchFamily="34" charset="-120"/>
              </a:rPr>
              <a:t>The tempting shortcut, and why it is a trap: sticky sessions pin each user to one server. It works — until that server restarts and every user on it is logged out at once.</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3293D"/>
        </a:solidFill>
        <a:effectLst/>
      </p:bgPr>
    </p:bg>
    <p:spTree>
      <p:nvGrpSpPr>
        <p:cNvPr id="1" name=""/>
        <p:cNvGrpSpPr/>
        <p:nvPr/>
      </p:nvGrpSpPr>
      <p:grpSpPr>
        <a:xfrm>
          <a:off x="0" y="0"/>
          <a:ext cx="0" cy="0"/>
          <a:chOff x="0" y="0"/>
          <a:chExt cx="0" cy="0"/>
        </a:xfrm>
      </p:grpSpPr>
      <p:sp>
        <p:nvSpPr>
          <p:cNvPr id="2" name="Shape 0"/>
          <p:cNvSpPr/>
          <p:nvPr/>
        </p:nvSpPr>
        <p:spPr>
          <a:xfrm>
            <a:off x="822960" y="640080"/>
            <a:ext cx="3291840" cy="411480"/>
          </a:xfrm>
          <a:prstGeom prst="roundRect">
            <a:avLst>
              <a:gd name="adj" fmla="val 44444"/>
            </a:avLst>
          </a:prstGeom>
          <a:solidFill>
            <a:srgbClr val="E8A33D"/>
          </a:solidFill>
          <a:ln/>
        </p:spPr>
        <p:txBody>
          <a:bodyPr/>
          <a:lstStyle/>
          <a:p>
            <a:endParaRPr lang="en-US"/>
          </a:p>
        </p:txBody>
      </p:sp>
      <p:sp>
        <p:nvSpPr>
          <p:cNvPr id="3" name="Text 1"/>
          <p:cNvSpPr/>
          <p:nvPr/>
        </p:nvSpPr>
        <p:spPr>
          <a:xfrm>
            <a:off x="822960" y="640080"/>
            <a:ext cx="3291840" cy="411480"/>
          </a:xfrm>
          <a:prstGeom prst="rect">
            <a:avLst/>
          </a:prstGeom>
          <a:noFill/>
          <a:ln/>
        </p:spPr>
        <p:txBody>
          <a:bodyPr wrap="square" rtlCol="0" anchor="ctr"/>
          <a:lstStyle/>
          <a:p>
            <a:pPr marL="0" indent="0" algn="ctr">
              <a:buNone/>
            </a:pPr>
            <a:r>
              <a:rPr lang="en-US" sz="1200" b="1" kern="0" spc="140" dirty="0">
                <a:solidFill>
                  <a:srgbClr val="13293D"/>
                </a:solidFill>
                <a:latin typeface="Calibri" pitchFamily="34" charset="0"/>
                <a:ea typeface="Calibri" pitchFamily="34" charset="-122"/>
                <a:cs typeface="Calibri" pitchFamily="34" charset="-120"/>
              </a:rPr>
              <a:t>ROUND 3  ·  QUESTION</a:t>
            </a:r>
            <a:endParaRPr lang="en-US" sz="1200" dirty="0"/>
          </a:p>
        </p:txBody>
      </p:sp>
      <p:sp>
        <p:nvSpPr>
          <p:cNvPr id="4" name="Text 2"/>
          <p:cNvSpPr/>
          <p:nvPr/>
        </p:nvSpPr>
        <p:spPr>
          <a:xfrm>
            <a:off x="822960" y="1325880"/>
            <a:ext cx="10515600" cy="1554480"/>
          </a:xfrm>
          <a:prstGeom prst="rect">
            <a:avLst/>
          </a:prstGeom>
          <a:noFill/>
          <a:ln/>
        </p:spPr>
        <p:txBody>
          <a:bodyPr wrap="square" lIns="0" tIns="0" rIns="0" bIns="0" rtlCol="0" anchor="ctr"/>
          <a:lstStyle/>
          <a:p>
            <a:pPr marL="0" indent="0">
              <a:lnSpc>
                <a:spcPts val="2600"/>
              </a:lnSpc>
              <a:buNone/>
            </a:pPr>
            <a:r>
              <a:rPr lang="en-US" sz="1700" dirty="0">
                <a:solidFill>
                  <a:srgbClr val="9AD1D4"/>
                </a:solidFill>
                <a:latin typeface="Calibri" pitchFamily="34" charset="0"/>
                <a:ea typeface="Calibri" pitchFamily="34" charset="-122"/>
                <a:cs typeface="Calibri" pitchFamily="34" charset="-120"/>
              </a:rPr>
              <a:t>You measure the traffic honestly. Browsing menus, opening restaurants, checking order history: about 95% of all queries. Placing orders and writing reviews: about 5%.</a:t>
            </a:r>
            <a:endParaRPr lang="en-US" sz="1700" dirty="0"/>
          </a:p>
        </p:txBody>
      </p:sp>
      <p:sp>
        <p:nvSpPr>
          <p:cNvPr id="5" name="Shape 3"/>
          <p:cNvSpPr/>
          <p:nvPr/>
        </p:nvSpPr>
        <p:spPr>
          <a:xfrm>
            <a:off x="822960" y="3017520"/>
            <a:ext cx="10515600" cy="1600200"/>
          </a:xfrm>
          <a:prstGeom prst="roundRect">
            <a:avLst>
              <a:gd name="adj" fmla="val 4571"/>
            </a:avLst>
          </a:prstGeom>
          <a:solidFill>
            <a:srgbClr val="1D3D52"/>
          </a:solidFill>
          <a:ln/>
        </p:spPr>
        <p:txBody>
          <a:bodyPr/>
          <a:lstStyle/>
          <a:p>
            <a:endParaRPr lang="en-US"/>
          </a:p>
        </p:txBody>
      </p:sp>
      <p:sp>
        <p:nvSpPr>
          <p:cNvPr id="6" name="Text 4"/>
          <p:cNvSpPr/>
          <p:nvPr/>
        </p:nvSpPr>
        <p:spPr>
          <a:xfrm>
            <a:off x="1188720" y="3017520"/>
            <a:ext cx="9784080" cy="1600200"/>
          </a:xfrm>
          <a:prstGeom prst="rect">
            <a:avLst/>
          </a:prstGeom>
          <a:noFill/>
          <a:ln/>
        </p:spPr>
        <p:txBody>
          <a:bodyPr wrap="square" lIns="0" tIns="0" rIns="0" bIns="0" rtlCol="0" anchor="ctr"/>
          <a:lstStyle/>
          <a:p>
            <a:pPr marL="0" indent="0">
              <a:lnSpc>
                <a:spcPts val="3400"/>
              </a:lnSpc>
              <a:buNone/>
            </a:pPr>
            <a:r>
              <a:rPr lang="en-US" sz="2600" b="1" dirty="0">
                <a:solidFill>
                  <a:srgbClr val="FFFFFF"/>
                </a:solidFill>
                <a:latin typeface="Cambria" pitchFamily="34" charset="0"/>
                <a:ea typeface="Cambria" pitchFamily="34" charset="-122"/>
                <a:cs typeface="Cambria" pitchFamily="34" charset="-120"/>
              </a:rPr>
              <a:t>Ninety-five percent is reading.</a:t>
            </a:r>
            <a:endParaRPr lang="en-US" sz="2600" dirty="0"/>
          </a:p>
          <a:p>
            <a:pPr marL="0" indent="0">
              <a:lnSpc>
                <a:spcPts val="3400"/>
              </a:lnSpc>
              <a:buNone/>
            </a:pPr>
            <a:r>
              <a:rPr lang="en-US" sz="2600" b="1" dirty="0">
                <a:solidFill>
                  <a:srgbClr val="FFFFFF"/>
                </a:solidFill>
                <a:latin typeface="Cambria" pitchFamily="34" charset="0"/>
                <a:ea typeface="Cambria" pitchFamily="34" charset="-122"/>
                <a:cs typeface="Cambria" pitchFamily="34" charset="-120"/>
              </a:rPr>
              <a:t>Why is one machine doing all of it?</a:t>
            </a:r>
            <a:endParaRPr lang="en-US" sz="2600" dirty="0"/>
          </a:p>
        </p:txBody>
      </p:sp>
      <p:sp>
        <p:nvSpPr>
          <p:cNvPr id="7" name="Text 5"/>
          <p:cNvSpPr/>
          <p:nvPr/>
        </p:nvSpPr>
        <p:spPr>
          <a:xfrm>
            <a:off x="868680" y="4892040"/>
            <a:ext cx="10424160" cy="548640"/>
          </a:xfrm>
          <a:prstGeom prst="rect">
            <a:avLst/>
          </a:prstGeom>
          <a:noFill/>
          <a:ln/>
        </p:spPr>
        <p:txBody>
          <a:bodyPr wrap="square" lIns="0" tIns="0" rIns="0" bIns="0" rtlCol="0" anchor="ctr"/>
          <a:lstStyle/>
          <a:p>
            <a:pPr marL="0" indent="0">
              <a:buNone/>
            </a:pPr>
            <a:r>
              <a:rPr lang="en-US" sz="1400" i="1" dirty="0">
                <a:solidFill>
                  <a:srgbClr val="E8A33D"/>
                </a:solidFill>
                <a:latin typeface="Calibri" pitchFamily="34" charset="0"/>
                <a:ea typeface="Calibri" pitchFamily="34" charset="-122"/>
                <a:cs typeface="Calibri" pitchFamily="34" charset="-120"/>
              </a:rPr>
              <a:t>What is genuinely different about a read and a write?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40080"/>
          </a:xfrm>
          <a:prstGeom prst="rect">
            <a:avLst/>
          </a:prstGeom>
          <a:noFill/>
          <a:ln/>
        </p:spPr>
        <p:txBody>
          <a:bodyPr wrap="square" lIns="0" tIns="0" rIns="0" bIns="0" rtlCol="0" anchor="ctr"/>
          <a:lstStyle/>
          <a:p>
            <a:pPr marL="0" indent="0">
              <a:buNone/>
            </a:pPr>
            <a:r>
              <a:rPr lang="en-US" sz="3100" b="1" dirty="0">
                <a:solidFill>
                  <a:srgbClr val="13293D"/>
                </a:solidFill>
                <a:latin typeface="Cambria" pitchFamily="34" charset="0"/>
                <a:ea typeface="Cambria" pitchFamily="34" charset="-122"/>
                <a:cs typeface="Cambria" pitchFamily="34" charset="-120"/>
              </a:rPr>
              <a:t>Round 3 — The Answer</a:t>
            </a:r>
            <a:endParaRPr lang="en-US" sz="3100" dirty="0"/>
          </a:p>
        </p:txBody>
      </p:sp>
      <p:sp>
        <p:nvSpPr>
          <p:cNvPr id="3" name="Text 1"/>
          <p:cNvSpPr/>
          <p:nvPr/>
        </p:nvSpPr>
        <p:spPr>
          <a:xfrm>
            <a:off x="658368" y="1005840"/>
            <a:ext cx="10972800" cy="384048"/>
          </a:xfrm>
          <a:prstGeom prst="rect">
            <a:avLst/>
          </a:prstGeom>
          <a:noFill/>
          <a:ln/>
        </p:spPr>
        <p:txBody>
          <a:bodyPr wrap="square" lIns="0" tIns="0" rIns="0" bIns="0" rtlCol="0" anchor="ctr"/>
          <a:lstStyle/>
          <a:p>
            <a:pPr marL="0" indent="0">
              <a:buNone/>
            </a:pPr>
            <a:r>
              <a:rPr lang="en-US" sz="1500" i="1" dirty="0">
                <a:solidFill>
                  <a:srgbClr val="5A6B76"/>
                </a:solidFill>
                <a:latin typeface="Calibri" pitchFamily="34" charset="0"/>
                <a:ea typeface="Calibri" pitchFamily="34" charset="-122"/>
                <a:cs typeface="Calibri" pitchFamily="34" charset="-120"/>
              </a:rPr>
              <a:t>Reads can be copied. Writes cannot.</a:t>
            </a:r>
            <a:endParaRPr lang="en-US" sz="1500" dirty="0"/>
          </a:p>
        </p:txBody>
      </p:sp>
      <p:sp>
        <p:nvSpPr>
          <p:cNvPr id="4" name="Shape 2"/>
          <p:cNvSpPr/>
          <p:nvPr/>
        </p:nvSpPr>
        <p:spPr>
          <a:xfrm>
            <a:off x="777240" y="1463040"/>
            <a:ext cx="10607040" cy="841248"/>
          </a:xfrm>
          <a:prstGeom prst="roundRect">
            <a:avLst>
              <a:gd name="adj" fmla="val 6522"/>
            </a:avLst>
          </a:prstGeom>
          <a:solidFill>
            <a:srgbClr val="13293D"/>
          </a:solidFill>
          <a:ln/>
        </p:spPr>
        <p:txBody>
          <a:bodyPr/>
          <a:lstStyle/>
          <a:p>
            <a:endParaRPr lang="en-US"/>
          </a:p>
        </p:txBody>
      </p:sp>
      <p:sp>
        <p:nvSpPr>
          <p:cNvPr id="5" name="Text 3"/>
          <p:cNvSpPr/>
          <p:nvPr/>
        </p:nvSpPr>
        <p:spPr>
          <a:xfrm>
            <a:off x="1097280" y="1463040"/>
            <a:ext cx="10058400" cy="841248"/>
          </a:xfrm>
          <a:prstGeom prst="rect">
            <a:avLst/>
          </a:prstGeom>
          <a:noFill/>
          <a:ln/>
        </p:spPr>
        <p:txBody>
          <a:bodyPr wrap="square" lIns="0" tIns="0" rIns="0" bIns="0" rtlCol="0" anchor="ctr"/>
          <a:lstStyle/>
          <a:p>
            <a:pPr marL="0" indent="0">
              <a:lnSpc>
                <a:spcPts val="2100"/>
              </a:lnSpc>
              <a:buNone/>
            </a:pPr>
            <a:r>
              <a:rPr lang="en-US" sz="1550" dirty="0">
                <a:solidFill>
                  <a:srgbClr val="FFFFFF"/>
                </a:solidFill>
                <a:latin typeface="Calibri" pitchFamily="34" charset="0"/>
                <a:ea typeface="Calibri" pitchFamily="34" charset="-122"/>
                <a:cs typeface="Calibri" pitchFamily="34" charset="-120"/>
              </a:rPr>
              <a:t>A write must happen in exactly one place, or two machines would disagree about the truth. A read changes nothing — so any machine holding a correct copy can answer it. That asymmetry is what replication exploits.</a:t>
            </a:r>
            <a:endParaRPr lang="en-US" sz="1550" dirty="0"/>
          </a:p>
        </p:txBody>
      </p:sp>
      <p:sp>
        <p:nvSpPr>
          <p:cNvPr id="6" name="Shape 4"/>
          <p:cNvSpPr/>
          <p:nvPr/>
        </p:nvSpPr>
        <p:spPr>
          <a:xfrm>
            <a:off x="777240" y="3063240"/>
            <a:ext cx="1920240" cy="822960"/>
          </a:xfrm>
          <a:prstGeom prst="roundRect">
            <a:avLst>
              <a:gd name="adj" fmla="val 6667"/>
            </a:avLst>
          </a:prstGeom>
          <a:solidFill>
            <a:srgbClr val="065A82"/>
          </a:solidFill>
          <a:ln/>
        </p:spPr>
        <p:txBody>
          <a:bodyPr/>
          <a:lstStyle/>
          <a:p>
            <a:endParaRPr lang="en-US"/>
          </a:p>
        </p:txBody>
      </p:sp>
      <p:sp>
        <p:nvSpPr>
          <p:cNvPr id="7" name="Text 5"/>
          <p:cNvSpPr/>
          <p:nvPr/>
        </p:nvSpPr>
        <p:spPr>
          <a:xfrm>
            <a:off x="777240" y="3063240"/>
            <a:ext cx="1920240" cy="82296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App servers</a:t>
            </a:r>
            <a:endParaRPr lang="en-US" sz="1350" dirty="0"/>
          </a:p>
        </p:txBody>
      </p:sp>
      <p:sp>
        <p:nvSpPr>
          <p:cNvPr id="8" name="Shape 6"/>
          <p:cNvSpPr/>
          <p:nvPr/>
        </p:nvSpPr>
        <p:spPr>
          <a:xfrm>
            <a:off x="3977640" y="2468880"/>
            <a:ext cx="2286000" cy="822960"/>
          </a:xfrm>
          <a:prstGeom prst="roundRect">
            <a:avLst>
              <a:gd name="adj" fmla="val 6667"/>
            </a:avLst>
          </a:prstGeom>
          <a:solidFill>
            <a:srgbClr val="A03A3A"/>
          </a:solidFill>
          <a:ln/>
        </p:spPr>
        <p:txBody>
          <a:bodyPr/>
          <a:lstStyle/>
          <a:p>
            <a:endParaRPr lang="en-US"/>
          </a:p>
        </p:txBody>
      </p:sp>
      <p:sp>
        <p:nvSpPr>
          <p:cNvPr id="9" name="Text 7"/>
          <p:cNvSpPr/>
          <p:nvPr/>
        </p:nvSpPr>
        <p:spPr>
          <a:xfrm>
            <a:off x="3977640" y="2578608"/>
            <a:ext cx="2286000" cy="310896"/>
          </a:xfrm>
          <a:prstGeom prst="rect">
            <a:avLst/>
          </a:prstGeom>
          <a:noFill/>
          <a:ln/>
        </p:spPr>
        <p:txBody>
          <a:bodyPr wrap="square" lIns="0" tIns="0" rIns="0" bIns="0" rtlCol="0" anchor="t"/>
          <a:lstStyle/>
          <a:p>
            <a:pPr marL="0" indent="0" algn="ctr">
              <a:buNone/>
            </a:pPr>
            <a:r>
              <a:rPr lang="en-US" sz="1350" b="1" dirty="0">
                <a:solidFill>
                  <a:srgbClr val="FFFFFF"/>
                </a:solidFill>
                <a:latin typeface="Calibri" pitchFamily="34" charset="0"/>
                <a:ea typeface="Calibri" pitchFamily="34" charset="-122"/>
                <a:cs typeface="Calibri" pitchFamily="34" charset="-120"/>
              </a:rPr>
              <a:t>Primary</a:t>
            </a:r>
            <a:endParaRPr lang="en-US" sz="1350" dirty="0"/>
          </a:p>
        </p:txBody>
      </p:sp>
      <p:sp>
        <p:nvSpPr>
          <p:cNvPr id="10" name="Text 8"/>
          <p:cNvSpPr/>
          <p:nvPr/>
        </p:nvSpPr>
        <p:spPr>
          <a:xfrm>
            <a:off x="3977640" y="2880360"/>
            <a:ext cx="2286000" cy="274320"/>
          </a:xfrm>
          <a:prstGeom prst="rect">
            <a:avLst/>
          </a:prstGeom>
          <a:noFill/>
          <a:ln/>
        </p:spPr>
        <p:txBody>
          <a:bodyPr wrap="square" lIns="0" tIns="0" rIns="0" bIns="0" rtlCol="0" anchor="ctr"/>
          <a:lstStyle/>
          <a:p>
            <a:pPr marL="0" indent="0" algn="ctr">
              <a:buNone/>
            </a:pPr>
            <a:r>
              <a:rPr lang="en-US" sz="1000" dirty="0">
                <a:solidFill>
                  <a:srgbClr val="9AD1D4"/>
                </a:solidFill>
                <a:latin typeface="Calibri" pitchFamily="34" charset="0"/>
                <a:ea typeface="Calibri" pitchFamily="34" charset="-122"/>
                <a:cs typeface="Calibri" pitchFamily="34" charset="-120"/>
              </a:rPr>
              <a:t>all writes</a:t>
            </a:r>
            <a:endParaRPr lang="en-US" sz="1000" dirty="0"/>
          </a:p>
        </p:txBody>
      </p:sp>
      <p:sp>
        <p:nvSpPr>
          <p:cNvPr id="11" name="Shape 9"/>
          <p:cNvSpPr/>
          <p:nvPr/>
        </p:nvSpPr>
        <p:spPr>
          <a:xfrm>
            <a:off x="3977640" y="3520440"/>
            <a:ext cx="2286000" cy="777240"/>
          </a:xfrm>
          <a:prstGeom prst="roundRect">
            <a:avLst>
              <a:gd name="adj" fmla="val 7059"/>
            </a:avLst>
          </a:prstGeom>
          <a:solidFill>
            <a:srgbClr val="1C7293"/>
          </a:solidFill>
          <a:ln/>
        </p:spPr>
        <p:txBody>
          <a:bodyPr/>
          <a:lstStyle/>
          <a:p>
            <a:endParaRPr lang="en-US"/>
          </a:p>
        </p:txBody>
      </p:sp>
      <p:sp>
        <p:nvSpPr>
          <p:cNvPr id="12" name="Text 10"/>
          <p:cNvSpPr/>
          <p:nvPr/>
        </p:nvSpPr>
        <p:spPr>
          <a:xfrm>
            <a:off x="3977640" y="3630168"/>
            <a:ext cx="2286000" cy="310896"/>
          </a:xfrm>
          <a:prstGeom prst="rect">
            <a:avLst/>
          </a:prstGeom>
          <a:noFill/>
          <a:ln/>
        </p:spPr>
        <p:txBody>
          <a:bodyPr wrap="square" lIns="0" tIns="0" rIns="0" bIns="0" rtlCol="0" anchor="t"/>
          <a:lstStyle/>
          <a:p>
            <a:pPr marL="0" indent="0" algn="ctr">
              <a:buNone/>
            </a:pPr>
            <a:r>
              <a:rPr lang="en-US" sz="1350" b="1" dirty="0">
                <a:solidFill>
                  <a:srgbClr val="FFFFFF"/>
                </a:solidFill>
                <a:latin typeface="Calibri" pitchFamily="34" charset="0"/>
                <a:ea typeface="Calibri" pitchFamily="34" charset="-122"/>
                <a:cs typeface="Calibri" pitchFamily="34" charset="-120"/>
              </a:rPr>
              <a:t>Replica 1</a:t>
            </a:r>
            <a:endParaRPr lang="en-US" sz="1350" dirty="0"/>
          </a:p>
        </p:txBody>
      </p:sp>
      <p:sp>
        <p:nvSpPr>
          <p:cNvPr id="13" name="Text 11"/>
          <p:cNvSpPr/>
          <p:nvPr/>
        </p:nvSpPr>
        <p:spPr>
          <a:xfrm>
            <a:off x="3977640" y="3931920"/>
            <a:ext cx="2286000" cy="274320"/>
          </a:xfrm>
          <a:prstGeom prst="rect">
            <a:avLst/>
          </a:prstGeom>
          <a:noFill/>
          <a:ln/>
        </p:spPr>
        <p:txBody>
          <a:bodyPr wrap="square" lIns="0" tIns="0" rIns="0" bIns="0" rtlCol="0" anchor="ctr"/>
          <a:lstStyle/>
          <a:p>
            <a:pPr marL="0" indent="0" algn="ctr">
              <a:buNone/>
            </a:pPr>
            <a:r>
              <a:rPr lang="en-US" sz="1000" dirty="0">
                <a:solidFill>
                  <a:srgbClr val="9AD1D4"/>
                </a:solidFill>
                <a:latin typeface="Calibri" pitchFamily="34" charset="0"/>
                <a:ea typeface="Calibri" pitchFamily="34" charset="-122"/>
                <a:cs typeface="Calibri" pitchFamily="34" charset="-120"/>
              </a:rPr>
              <a:t>reads only</a:t>
            </a:r>
            <a:endParaRPr lang="en-US" sz="1000" dirty="0"/>
          </a:p>
        </p:txBody>
      </p:sp>
      <p:sp>
        <p:nvSpPr>
          <p:cNvPr id="14" name="Shape 12"/>
          <p:cNvSpPr/>
          <p:nvPr/>
        </p:nvSpPr>
        <p:spPr>
          <a:xfrm>
            <a:off x="3977640" y="4434840"/>
            <a:ext cx="2286000" cy="777240"/>
          </a:xfrm>
          <a:prstGeom prst="roundRect">
            <a:avLst>
              <a:gd name="adj" fmla="val 7059"/>
            </a:avLst>
          </a:prstGeom>
          <a:solidFill>
            <a:srgbClr val="1C7293"/>
          </a:solidFill>
          <a:ln/>
        </p:spPr>
        <p:txBody>
          <a:bodyPr/>
          <a:lstStyle/>
          <a:p>
            <a:endParaRPr lang="en-US"/>
          </a:p>
        </p:txBody>
      </p:sp>
      <p:sp>
        <p:nvSpPr>
          <p:cNvPr id="15" name="Text 13"/>
          <p:cNvSpPr/>
          <p:nvPr/>
        </p:nvSpPr>
        <p:spPr>
          <a:xfrm>
            <a:off x="3977640" y="4544568"/>
            <a:ext cx="2286000" cy="310896"/>
          </a:xfrm>
          <a:prstGeom prst="rect">
            <a:avLst/>
          </a:prstGeom>
          <a:noFill/>
          <a:ln/>
        </p:spPr>
        <p:txBody>
          <a:bodyPr wrap="square" lIns="0" tIns="0" rIns="0" bIns="0" rtlCol="0" anchor="t"/>
          <a:lstStyle/>
          <a:p>
            <a:pPr marL="0" indent="0" algn="ctr">
              <a:buNone/>
            </a:pPr>
            <a:r>
              <a:rPr lang="en-US" sz="1350" b="1" dirty="0">
                <a:solidFill>
                  <a:srgbClr val="FFFFFF"/>
                </a:solidFill>
                <a:latin typeface="Calibri" pitchFamily="34" charset="0"/>
                <a:ea typeface="Calibri" pitchFamily="34" charset="-122"/>
                <a:cs typeface="Calibri" pitchFamily="34" charset="-120"/>
              </a:rPr>
              <a:t>Replica 2</a:t>
            </a:r>
            <a:endParaRPr lang="en-US" sz="1350" dirty="0"/>
          </a:p>
        </p:txBody>
      </p:sp>
      <p:sp>
        <p:nvSpPr>
          <p:cNvPr id="16" name="Text 14"/>
          <p:cNvSpPr/>
          <p:nvPr/>
        </p:nvSpPr>
        <p:spPr>
          <a:xfrm>
            <a:off x="3977640" y="4846320"/>
            <a:ext cx="2286000" cy="274320"/>
          </a:xfrm>
          <a:prstGeom prst="rect">
            <a:avLst/>
          </a:prstGeom>
          <a:noFill/>
          <a:ln/>
        </p:spPr>
        <p:txBody>
          <a:bodyPr wrap="square" lIns="0" tIns="0" rIns="0" bIns="0" rtlCol="0" anchor="ctr"/>
          <a:lstStyle/>
          <a:p>
            <a:pPr marL="0" indent="0" algn="ctr">
              <a:buNone/>
            </a:pPr>
            <a:r>
              <a:rPr lang="en-US" sz="1000" dirty="0">
                <a:solidFill>
                  <a:srgbClr val="9AD1D4"/>
                </a:solidFill>
                <a:latin typeface="Calibri" pitchFamily="34" charset="0"/>
                <a:ea typeface="Calibri" pitchFamily="34" charset="-122"/>
                <a:cs typeface="Calibri" pitchFamily="34" charset="-120"/>
              </a:rPr>
              <a:t>reads only</a:t>
            </a:r>
            <a:endParaRPr lang="en-US" sz="1000" dirty="0"/>
          </a:p>
        </p:txBody>
      </p:sp>
      <p:sp>
        <p:nvSpPr>
          <p:cNvPr id="17" name="Shape 15"/>
          <p:cNvSpPr/>
          <p:nvPr/>
        </p:nvSpPr>
        <p:spPr>
          <a:xfrm>
            <a:off x="8503920" y="3063240"/>
            <a:ext cx="2651760" cy="822960"/>
          </a:xfrm>
          <a:prstGeom prst="roundRect">
            <a:avLst>
              <a:gd name="adj" fmla="val 6667"/>
            </a:avLst>
          </a:prstGeom>
          <a:solidFill>
            <a:srgbClr val="6B4E71"/>
          </a:solidFill>
          <a:ln/>
        </p:spPr>
        <p:txBody>
          <a:bodyPr/>
          <a:lstStyle/>
          <a:p>
            <a:endParaRPr lang="en-US"/>
          </a:p>
        </p:txBody>
      </p:sp>
      <p:sp>
        <p:nvSpPr>
          <p:cNvPr id="18" name="Text 16"/>
          <p:cNvSpPr/>
          <p:nvPr/>
        </p:nvSpPr>
        <p:spPr>
          <a:xfrm>
            <a:off x="8503920" y="3172968"/>
            <a:ext cx="2651760" cy="310896"/>
          </a:xfrm>
          <a:prstGeom prst="rect">
            <a:avLst/>
          </a:prstGeom>
          <a:noFill/>
          <a:ln/>
        </p:spPr>
        <p:txBody>
          <a:bodyPr wrap="square" lIns="0" tIns="0" rIns="0" bIns="0" rtlCol="0" anchor="t"/>
          <a:lstStyle/>
          <a:p>
            <a:pPr marL="0" indent="0" algn="ctr">
              <a:buNone/>
            </a:pPr>
            <a:r>
              <a:rPr lang="en-US" sz="1350" b="1" dirty="0">
                <a:solidFill>
                  <a:srgbClr val="FFFFFF"/>
                </a:solidFill>
                <a:latin typeface="Calibri" pitchFamily="34" charset="0"/>
                <a:ea typeface="Calibri" pitchFamily="34" charset="-122"/>
                <a:cs typeface="Calibri" pitchFamily="34" charset="-120"/>
              </a:rPr>
              <a:t>Change log</a:t>
            </a:r>
            <a:endParaRPr lang="en-US" sz="1350" dirty="0"/>
          </a:p>
        </p:txBody>
      </p:sp>
      <p:sp>
        <p:nvSpPr>
          <p:cNvPr id="19" name="Text 17"/>
          <p:cNvSpPr/>
          <p:nvPr/>
        </p:nvSpPr>
        <p:spPr>
          <a:xfrm>
            <a:off x="8503920" y="3474720"/>
            <a:ext cx="2651760" cy="274320"/>
          </a:xfrm>
          <a:prstGeom prst="rect">
            <a:avLst/>
          </a:prstGeom>
          <a:noFill/>
          <a:ln/>
        </p:spPr>
        <p:txBody>
          <a:bodyPr wrap="square" lIns="0" tIns="0" rIns="0" bIns="0" rtlCol="0" anchor="ctr"/>
          <a:lstStyle/>
          <a:p>
            <a:pPr marL="0" indent="0" algn="ctr">
              <a:buNone/>
            </a:pPr>
            <a:r>
              <a:rPr lang="en-US" sz="1000" dirty="0">
                <a:solidFill>
                  <a:srgbClr val="9AD1D4"/>
                </a:solidFill>
                <a:latin typeface="Calibri" pitchFamily="34" charset="0"/>
                <a:ea typeface="Calibri" pitchFamily="34" charset="-122"/>
                <a:cs typeface="Calibri" pitchFamily="34" charset="-120"/>
              </a:rPr>
              <a:t>streamed from primary</a:t>
            </a:r>
            <a:endParaRPr lang="en-US" sz="1000" dirty="0"/>
          </a:p>
        </p:txBody>
      </p:sp>
      <p:sp>
        <p:nvSpPr>
          <p:cNvPr id="20" name="Shape 18"/>
          <p:cNvSpPr/>
          <p:nvPr/>
        </p:nvSpPr>
        <p:spPr>
          <a:xfrm flipV="1">
            <a:off x="2743200" y="2880360"/>
            <a:ext cx="1143000" cy="594360"/>
          </a:xfrm>
          <a:prstGeom prst="line">
            <a:avLst/>
          </a:prstGeom>
          <a:noFill/>
          <a:ln w="31750">
            <a:solidFill>
              <a:srgbClr val="E8A33D"/>
            </a:solidFill>
            <a:prstDash val="solid"/>
            <a:headEnd type="none"/>
            <a:tailEnd type="triangle"/>
          </a:ln>
        </p:spPr>
        <p:txBody>
          <a:bodyPr/>
          <a:lstStyle/>
          <a:p>
            <a:endParaRPr lang="en-US"/>
          </a:p>
        </p:txBody>
      </p:sp>
      <p:sp>
        <p:nvSpPr>
          <p:cNvPr id="21" name="Text 19"/>
          <p:cNvSpPr/>
          <p:nvPr/>
        </p:nvSpPr>
        <p:spPr>
          <a:xfrm>
            <a:off x="2514600" y="2560320"/>
            <a:ext cx="1645920" cy="256032"/>
          </a:xfrm>
          <a:prstGeom prst="rect">
            <a:avLst/>
          </a:prstGeom>
          <a:noFill/>
          <a:ln/>
        </p:spPr>
        <p:txBody>
          <a:bodyPr wrap="square" lIns="0" tIns="0" rIns="0" bIns="0" rtlCol="0" anchor="ctr"/>
          <a:lstStyle/>
          <a:p>
            <a:pPr marL="0" indent="0" algn="ctr">
              <a:buNone/>
            </a:pPr>
            <a:r>
              <a:rPr lang="en-US" sz="1000" b="1" dirty="0">
                <a:solidFill>
                  <a:srgbClr val="8A5A12"/>
                </a:solidFill>
                <a:latin typeface="Calibri" pitchFamily="34" charset="0"/>
                <a:ea typeface="Calibri" pitchFamily="34" charset="-122"/>
                <a:cs typeface="Calibri" pitchFamily="34" charset="-120"/>
              </a:rPr>
              <a:t>writes 5%</a:t>
            </a:r>
            <a:endParaRPr lang="en-US" sz="1000" dirty="0"/>
          </a:p>
        </p:txBody>
      </p:sp>
      <p:sp>
        <p:nvSpPr>
          <p:cNvPr id="22" name="Shape 20"/>
          <p:cNvSpPr/>
          <p:nvPr/>
        </p:nvSpPr>
        <p:spPr>
          <a:xfrm>
            <a:off x="2743200" y="3474720"/>
            <a:ext cx="1143000" cy="438912"/>
          </a:xfrm>
          <a:prstGeom prst="line">
            <a:avLst/>
          </a:prstGeom>
          <a:noFill/>
          <a:ln w="31750">
            <a:solidFill>
              <a:srgbClr val="E8A33D"/>
            </a:solidFill>
            <a:prstDash val="solid"/>
            <a:headEnd type="none"/>
            <a:tailEnd type="triangle"/>
          </a:ln>
        </p:spPr>
        <p:txBody>
          <a:bodyPr/>
          <a:lstStyle/>
          <a:p>
            <a:endParaRPr lang="en-US"/>
          </a:p>
        </p:txBody>
      </p:sp>
      <p:sp>
        <p:nvSpPr>
          <p:cNvPr id="23" name="Text 21"/>
          <p:cNvSpPr/>
          <p:nvPr/>
        </p:nvSpPr>
        <p:spPr>
          <a:xfrm>
            <a:off x="2468880" y="4315968"/>
            <a:ext cx="1645920" cy="256032"/>
          </a:xfrm>
          <a:prstGeom prst="rect">
            <a:avLst/>
          </a:prstGeom>
          <a:noFill/>
          <a:ln/>
        </p:spPr>
        <p:txBody>
          <a:bodyPr wrap="square" lIns="0" tIns="0" rIns="0" bIns="0" rtlCol="0" anchor="ctr"/>
          <a:lstStyle/>
          <a:p>
            <a:pPr marL="0" indent="0" algn="ctr">
              <a:buNone/>
            </a:pPr>
            <a:r>
              <a:rPr lang="en-US" sz="1000" b="1" dirty="0">
                <a:solidFill>
                  <a:srgbClr val="8A5A12"/>
                </a:solidFill>
                <a:latin typeface="Calibri" pitchFamily="34" charset="0"/>
                <a:ea typeface="Calibri" pitchFamily="34" charset="-122"/>
                <a:cs typeface="Calibri" pitchFamily="34" charset="-120"/>
              </a:rPr>
              <a:t>reads 95%</a:t>
            </a:r>
            <a:endParaRPr lang="en-US" sz="1000" dirty="0"/>
          </a:p>
        </p:txBody>
      </p:sp>
      <p:sp>
        <p:nvSpPr>
          <p:cNvPr id="24" name="Shape 22"/>
          <p:cNvSpPr/>
          <p:nvPr/>
        </p:nvSpPr>
        <p:spPr>
          <a:xfrm>
            <a:off x="2743200" y="3474720"/>
            <a:ext cx="1143000" cy="1353312"/>
          </a:xfrm>
          <a:prstGeom prst="line">
            <a:avLst/>
          </a:prstGeom>
          <a:noFill/>
          <a:ln w="31750">
            <a:solidFill>
              <a:srgbClr val="E8A33D"/>
            </a:solidFill>
            <a:prstDash val="solid"/>
            <a:headEnd type="none"/>
            <a:tailEnd type="triangle"/>
          </a:ln>
        </p:spPr>
        <p:txBody>
          <a:bodyPr/>
          <a:lstStyle/>
          <a:p>
            <a:endParaRPr lang="en-US"/>
          </a:p>
        </p:txBody>
      </p:sp>
      <p:sp>
        <p:nvSpPr>
          <p:cNvPr id="25" name="Shape 23"/>
          <p:cNvSpPr/>
          <p:nvPr/>
        </p:nvSpPr>
        <p:spPr>
          <a:xfrm>
            <a:off x="6355080" y="2880360"/>
            <a:ext cx="2103120" cy="594360"/>
          </a:xfrm>
          <a:prstGeom prst="line">
            <a:avLst/>
          </a:prstGeom>
          <a:noFill/>
          <a:ln w="31750">
            <a:solidFill>
              <a:srgbClr val="6B4E71"/>
            </a:solidFill>
            <a:prstDash val="solid"/>
            <a:headEnd type="none"/>
            <a:tailEnd type="triangle"/>
          </a:ln>
        </p:spPr>
        <p:txBody>
          <a:bodyPr/>
          <a:lstStyle/>
          <a:p>
            <a:endParaRPr lang="en-US"/>
          </a:p>
        </p:txBody>
      </p:sp>
      <p:sp>
        <p:nvSpPr>
          <p:cNvPr id="26" name="Shape 24"/>
          <p:cNvSpPr/>
          <p:nvPr/>
        </p:nvSpPr>
        <p:spPr>
          <a:xfrm>
            <a:off x="6355080" y="3474720"/>
            <a:ext cx="2103120" cy="438912"/>
          </a:xfrm>
          <a:prstGeom prst="line">
            <a:avLst/>
          </a:prstGeom>
          <a:noFill/>
          <a:ln w="31750">
            <a:solidFill>
              <a:srgbClr val="6B4E71"/>
            </a:solidFill>
            <a:prstDash val="solid"/>
            <a:headEnd type="triangle"/>
            <a:tailEnd type="none"/>
          </a:ln>
        </p:spPr>
        <p:txBody>
          <a:bodyPr/>
          <a:lstStyle/>
          <a:p>
            <a:endParaRPr lang="en-US"/>
          </a:p>
        </p:txBody>
      </p:sp>
      <p:sp>
        <p:nvSpPr>
          <p:cNvPr id="27" name="Shape 25"/>
          <p:cNvSpPr/>
          <p:nvPr/>
        </p:nvSpPr>
        <p:spPr>
          <a:xfrm>
            <a:off x="6355080" y="3474720"/>
            <a:ext cx="2103120" cy="1353312"/>
          </a:xfrm>
          <a:prstGeom prst="line">
            <a:avLst/>
          </a:prstGeom>
          <a:noFill/>
          <a:ln w="31750">
            <a:solidFill>
              <a:srgbClr val="6B4E71"/>
            </a:solidFill>
            <a:prstDash val="solid"/>
            <a:headEnd type="triangle"/>
            <a:tailEnd type="none"/>
          </a:ln>
        </p:spPr>
        <p:txBody>
          <a:bodyPr/>
          <a:lstStyle/>
          <a:p>
            <a:endParaRPr lang="en-US"/>
          </a:p>
        </p:txBody>
      </p:sp>
      <p:sp>
        <p:nvSpPr>
          <p:cNvPr id="28" name="Shape 26"/>
          <p:cNvSpPr/>
          <p:nvPr/>
        </p:nvSpPr>
        <p:spPr>
          <a:xfrm>
            <a:off x="777240" y="5440680"/>
            <a:ext cx="10607040" cy="914400"/>
          </a:xfrm>
          <a:prstGeom prst="roundRect">
            <a:avLst>
              <a:gd name="adj" fmla="val 6000"/>
            </a:avLst>
          </a:prstGeom>
          <a:solidFill>
            <a:srgbClr val="F4F7F9"/>
          </a:solidFill>
          <a:ln w="12700">
            <a:solidFill>
              <a:srgbClr val="E1E8ED"/>
            </a:solidFill>
            <a:prstDash val="solid"/>
          </a:ln>
        </p:spPr>
        <p:txBody>
          <a:bodyPr/>
          <a:lstStyle/>
          <a:p>
            <a:endParaRPr lang="en-US"/>
          </a:p>
        </p:txBody>
      </p:sp>
      <p:sp>
        <p:nvSpPr>
          <p:cNvPr id="29" name="Text 27"/>
          <p:cNvSpPr/>
          <p:nvPr/>
        </p:nvSpPr>
        <p:spPr>
          <a:xfrm>
            <a:off x="1097280" y="5440680"/>
            <a:ext cx="10058400" cy="914400"/>
          </a:xfrm>
          <a:prstGeom prst="rect">
            <a:avLst/>
          </a:prstGeom>
          <a:noFill/>
          <a:ln/>
        </p:spPr>
        <p:txBody>
          <a:bodyPr wrap="square" lIns="0" tIns="0" rIns="0" bIns="0" rtlCol="0" anchor="ctr"/>
          <a:lstStyle/>
          <a:p>
            <a:pPr marL="0" indent="0">
              <a:lnSpc>
                <a:spcPts val="1900"/>
              </a:lnSpc>
              <a:buNone/>
            </a:pPr>
            <a:r>
              <a:rPr lang="en-US" sz="1350" dirty="0">
                <a:solidFill>
                  <a:srgbClr val="1B2A33"/>
                </a:solidFill>
                <a:latin typeface="Calibri" pitchFamily="34" charset="0"/>
                <a:ea typeface="Calibri" pitchFamily="34" charset="-122"/>
                <a:cs typeface="Calibri" pitchFamily="34" charset="-120"/>
              </a:rPr>
              <a:t>How the copies stay current: the primary writes every change to a log — the binlog in MySQL, the WAL in PostgreSQL. Replicas stream that log and replay it. This is not a nightly backup; it is usually milliseconds behind.</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3293D"/>
        </a:solidFill>
        <a:effectLst/>
      </p:bgPr>
    </p:bg>
    <p:spTree>
      <p:nvGrpSpPr>
        <p:cNvPr id="1" name=""/>
        <p:cNvGrpSpPr/>
        <p:nvPr/>
      </p:nvGrpSpPr>
      <p:grpSpPr>
        <a:xfrm>
          <a:off x="0" y="0"/>
          <a:ext cx="0" cy="0"/>
          <a:chOff x="0" y="0"/>
          <a:chExt cx="0" cy="0"/>
        </a:xfrm>
      </p:grpSpPr>
      <p:sp>
        <p:nvSpPr>
          <p:cNvPr id="2" name="Shape 0"/>
          <p:cNvSpPr/>
          <p:nvPr/>
        </p:nvSpPr>
        <p:spPr>
          <a:xfrm>
            <a:off x="822960" y="640080"/>
            <a:ext cx="3291840" cy="411480"/>
          </a:xfrm>
          <a:prstGeom prst="roundRect">
            <a:avLst>
              <a:gd name="adj" fmla="val 44444"/>
            </a:avLst>
          </a:prstGeom>
          <a:solidFill>
            <a:srgbClr val="E8A33D"/>
          </a:solidFill>
          <a:ln/>
        </p:spPr>
        <p:txBody>
          <a:bodyPr/>
          <a:lstStyle/>
          <a:p>
            <a:endParaRPr lang="en-US"/>
          </a:p>
        </p:txBody>
      </p:sp>
      <p:sp>
        <p:nvSpPr>
          <p:cNvPr id="3" name="Text 1"/>
          <p:cNvSpPr/>
          <p:nvPr/>
        </p:nvSpPr>
        <p:spPr>
          <a:xfrm>
            <a:off x="822960" y="640080"/>
            <a:ext cx="3291840" cy="411480"/>
          </a:xfrm>
          <a:prstGeom prst="rect">
            <a:avLst/>
          </a:prstGeom>
          <a:noFill/>
          <a:ln/>
        </p:spPr>
        <p:txBody>
          <a:bodyPr wrap="square" rtlCol="0" anchor="ctr"/>
          <a:lstStyle/>
          <a:p>
            <a:pPr marL="0" indent="0" algn="ctr">
              <a:buNone/>
            </a:pPr>
            <a:r>
              <a:rPr lang="en-US" sz="1200" b="1" kern="0" spc="140" dirty="0">
                <a:solidFill>
                  <a:srgbClr val="13293D"/>
                </a:solidFill>
                <a:latin typeface="Calibri" pitchFamily="34" charset="0"/>
                <a:ea typeface="Calibri" pitchFamily="34" charset="-122"/>
                <a:cs typeface="Calibri" pitchFamily="34" charset="-120"/>
              </a:rPr>
              <a:t>ROUND 3  ·  THE TWIST</a:t>
            </a:r>
            <a:endParaRPr lang="en-US" sz="1200" dirty="0"/>
          </a:p>
        </p:txBody>
      </p:sp>
      <p:sp>
        <p:nvSpPr>
          <p:cNvPr id="4" name="Text 2"/>
          <p:cNvSpPr/>
          <p:nvPr/>
        </p:nvSpPr>
        <p:spPr>
          <a:xfrm>
            <a:off x="822960" y="1325880"/>
            <a:ext cx="10515600" cy="1554480"/>
          </a:xfrm>
          <a:prstGeom prst="rect">
            <a:avLst/>
          </a:prstGeom>
          <a:noFill/>
          <a:ln/>
        </p:spPr>
        <p:txBody>
          <a:bodyPr wrap="square" lIns="0" tIns="0" rIns="0" bIns="0" rtlCol="0" anchor="ctr"/>
          <a:lstStyle/>
          <a:p>
            <a:pPr marL="0" indent="0">
              <a:lnSpc>
                <a:spcPts val="2600"/>
              </a:lnSpc>
              <a:buNone/>
            </a:pPr>
            <a:r>
              <a:rPr lang="en-US" sz="1700" dirty="0">
                <a:solidFill>
                  <a:srgbClr val="9AD1D4"/>
                </a:solidFill>
                <a:latin typeface="Calibri" pitchFamily="34" charset="0"/>
                <a:ea typeface="Calibri" pitchFamily="34" charset="-122"/>
                <a:cs typeface="Calibri" pitchFamily="34" charset="-120"/>
              </a:rPr>
              <a:t>Replicas are live and everything is fast. Then a user writes a review, the page reloads instantly, and the review is not there. Two seconds later it appears. The write definitely succeeded.</a:t>
            </a:r>
            <a:endParaRPr lang="en-US" sz="1700" dirty="0"/>
          </a:p>
        </p:txBody>
      </p:sp>
      <p:sp>
        <p:nvSpPr>
          <p:cNvPr id="5" name="Shape 3"/>
          <p:cNvSpPr/>
          <p:nvPr/>
        </p:nvSpPr>
        <p:spPr>
          <a:xfrm>
            <a:off x="822960" y="3017520"/>
            <a:ext cx="10515600" cy="1600200"/>
          </a:xfrm>
          <a:prstGeom prst="roundRect">
            <a:avLst>
              <a:gd name="adj" fmla="val 4571"/>
            </a:avLst>
          </a:prstGeom>
          <a:solidFill>
            <a:srgbClr val="1D3D52"/>
          </a:solidFill>
          <a:ln/>
        </p:spPr>
        <p:txBody>
          <a:bodyPr/>
          <a:lstStyle/>
          <a:p>
            <a:endParaRPr lang="en-US"/>
          </a:p>
        </p:txBody>
      </p:sp>
      <p:sp>
        <p:nvSpPr>
          <p:cNvPr id="6" name="Text 4"/>
          <p:cNvSpPr/>
          <p:nvPr/>
        </p:nvSpPr>
        <p:spPr>
          <a:xfrm>
            <a:off x="1188720" y="3017520"/>
            <a:ext cx="9784080" cy="1600200"/>
          </a:xfrm>
          <a:prstGeom prst="rect">
            <a:avLst/>
          </a:prstGeom>
          <a:noFill/>
          <a:ln/>
        </p:spPr>
        <p:txBody>
          <a:bodyPr wrap="square" lIns="0" tIns="0" rIns="0" bIns="0" rtlCol="0" anchor="ctr"/>
          <a:lstStyle/>
          <a:p>
            <a:pPr marL="0" indent="0">
              <a:lnSpc>
                <a:spcPts val="3400"/>
              </a:lnSpc>
              <a:buNone/>
            </a:pPr>
            <a:r>
              <a:rPr lang="en-US" sz="2600" b="1" dirty="0">
                <a:solidFill>
                  <a:srgbClr val="FFFFFF"/>
                </a:solidFill>
                <a:latin typeface="Cambria" pitchFamily="34" charset="0"/>
                <a:ea typeface="Cambria" pitchFamily="34" charset="-122"/>
                <a:cs typeface="Cambria" pitchFamily="34" charset="-120"/>
              </a:rPr>
              <a:t>Nothing failed. So where</a:t>
            </a:r>
            <a:endParaRPr lang="en-US" sz="2600" dirty="0"/>
          </a:p>
          <a:p>
            <a:pPr marL="0" indent="0">
              <a:lnSpc>
                <a:spcPts val="3400"/>
              </a:lnSpc>
              <a:buNone/>
            </a:pPr>
            <a:r>
              <a:rPr lang="en-US" sz="2600" b="1" dirty="0">
                <a:solidFill>
                  <a:srgbClr val="FFFFFF"/>
                </a:solidFill>
                <a:latin typeface="Cambria" pitchFamily="34" charset="0"/>
                <a:ea typeface="Cambria" pitchFamily="34" charset="-122"/>
                <a:cs typeface="Cambria" pitchFamily="34" charset="-120"/>
              </a:rPr>
              <a:t>did the review go?</a:t>
            </a:r>
            <a:endParaRPr lang="en-US" sz="2600" dirty="0"/>
          </a:p>
        </p:txBody>
      </p:sp>
      <p:sp>
        <p:nvSpPr>
          <p:cNvPr id="7" name="Text 5"/>
          <p:cNvSpPr/>
          <p:nvPr/>
        </p:nvSpPr>
        <p:spPr>
          <a:xfrm>
            <a:off x="868680" y="4892040"/>
            <a:ext cx="10424160" cy="548640"/>
          </a:xfrm>
          <a:prstGeom prst="rect">
            <a:avLst/>
          </a:prstGeom>
          <a:noFill/>
          <a:ln/>
        </p:spPr>
        <p:txBody>
          <a:bodyPr wrap="square" lIns="0" tIns="0" rIns="0" bIns="0" rtlCol="0" anchor="ctr"/>
          <a:lstStyle/>
          <a:p>
            <a:pPr marL="0" indent="0">
              <a:buNone/>
            </a:pPr>
            <a:r>
              <a:rPr lang="en-US" sz="1400" i="1" dirty="0">
                <a:solidFill>
                  <a:srgbClr val="E8A33D"/>
                </a:solidFill>
                <a:latin typeface="Calibri" pitchFamily="34" charset="0"/>
                <a:ea typeface="Calibri" pitchFamily="34" charset="-122"/>
                <a:cs typeface="Calibri" pitchFamily="34" charset="-120"/>
              </a:rPr>
              <a:t>You saw this exact question in Lecture 5. This time explain the mechanism.</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40080"/>
          </a:xfrm>
          <a:prstGeom prst="rect">
            <a:avLst/>
          </a:prstGeom>
          <a:noFill/>
          <a:ln/>
        </p:spPr>
        <p:txBody>
          <a:bodyPr wrap="square" lIns="0" tIns="0" rIns="0" bIns="0" rtlCol="0" anchor="ctr"/>
          <a:lstStyle/>
          <a:p>
            <a:pPr marL="0" indent="0">
              <a:buNone/>
            </a:pPr>
            <a:r>
              <a:rPr lang="en-US" sz="3100" b="1" dirty="0">
                <a:solidFill>
                  <a:srgbClr val="13293D"/>
                </a:solidFill>
                <a:latin typeface="Cambria" pitchFamily="34" charset="0"/>
                <a:ea typeface="Cambria" pitchFamily="34" charset="-122"/>
                <a:cs typeface="Cambria" pitchFamily="34" charset="-120"/>
              </a:rPr>
              <a:t>Replication Lag</a:t>
            </a:r>
            <a:endParaRPr lang="en-US" sz="3100" dirty="0"/>
          </a:p>
        </p:txBody>
      </p:sp>
      <p:sp>
        <p:nvSpPr>
          <p:cNvPr id="3" name="Text 1"/>
          <p:cNvSpPr/>
          <p:nvPr/>
        </p:nvSpPr>
        <p:spPr>
          <a:xfrm>
            <a:off x="658368" y="1005840"/>
            <a:ext cx="10972800" cy="384048"/>
          </a:xfrm>
          <a:prstGeom prst="rect">
            <a:avLst/>
          </a:prstGeom>
          <a:noFill/>
          <a:ln/>
        </p:spPr>
        <p:txBody>
          <a:bodyPr wrap="square" lIns="0" tIns="0" rIns="0" bIns="0" rtlCol="0" anchor="ctr"/>
          <a:lstStyle/>
          <a:p>
            <a:pPr marL="0" indent="0">
              <a:buNone/>
            </a:pPr>
            <a:r>
              <a:rPr lang="en-US" sz="1500" i="1" dirty="0">
                <a:solidFill>
                  <a:srgbClr val="5A6B76"/>
                </a:solidFill>
                <a:latin typeface="Calibri" pitchFamily="34" charset="0"/>
                <a:ea typeface="Calibri" pitchFamily="34" charset="-122"/>
                <a:cs typeface="Calibri" pitchFamily="34" charset="-120"/>
              </a:rPr>
              <a:t>The one bug that replication always introduces</a:t>
            </a:r>
            <a:endParaRPr lang="en-US" sz="1500" dirty="0"/>
          </a:p>
        </p:txBody>
      </p:sp>
      <p:sp>
        <p:nvSpPr>
          <p:cNvPr id="4" name="Shape 2"/>
          <p:cNvSpPr/>
          <p:nvPr/>
        </p:nvSpPr>
        <p:spPr>
          <a:xfrm>
            <a:off x="777240" y="1463040"/>
            <a:ext cx="10607040" cy="841248"/>
          </a:xfrm>
          <a:prstGeom prst="roundRect">
            <a:avLst>
              <a:gd name="adj" fmla="val 6522"/>
            </a:avLst>
          </a:prstGeom>
          <a:solidFill>
            <a:srgbClr val="13293D"/>
          </a:solidFill>
          <a:ln/>
        </p:spPr>
        <p:txBody>
          <a:bodyPr/>
          <a:lstStyle/>
          <a:p>
            <a:endParaRPr lang="en-US"/>
          </a:p>
        </p:txBody>
      </p:sp>
      <p:sp>
        <p:nvSpPr>
          <p:cNvPr id="5" name="Text 3"/>
          <p:cNvSpPr/>
          <p:nvPr/>
        </p:nvSpPr>
        <p:spPr>
          <a:xfrm>
            <a:off x="1097280" y="1463040"/>
            <a:ext cx="10058400" cy="841248"/>
          </a:xfrm>
          <a:prstGeom prst="rect">
            <a:avLst/>
          </a:prstGeom>
          <a:noFill/>
          <a:ln/>
        </p:spPr>
        <p:txBody>
          <a:bodyPr wrap="square" lIns="0" tIns="0" rIns="0" bIns="0" rtlCol="0" anchor="ctr"/>
          <a:lstStyle/>
          <a:p>
            <a:pPr marL="0" indent="0">
              <a:lnSpc>
                <a:spcPts val="2100"/>
              </a:lnSpc>
              <a:buNone/>
            </a:pPr>
            <a:r>
              <a:rPr lang="en-US" sz="1550" dirty="0">
                <a:solidFill>
                  <a:srgbClr val="FFFFFF"/>
                </a:solidFill>
                <a:latin typeface="Calibri" pitchFamily="34" charset="0"/>
                <a:ea typeface="Calibri" pitchFamily="34" charset="-122"/>
                <a:cs typeface="Calibri" pitchFamily="34" charset="-120"/>
              </a:rPr>
              <a:t>The write went to the primary. The reload was a read, so it went to a replica — one that had not yet replayed that change from the log. The user was shown a copy of the world from 200 milliseconds ago: their own.</a:t>
            </a:r>
            <a:endParaRPr lang="en-US" sz="1550" dirty="0"/>
          </a:p>
        </p:txBody>
      </p:sp>
      <p:sp>
        <p:nvSpPr>
          <p:cNvPr id="6" name="Shape 4"/>
          <p:cNvSpPr/>
          <p:nvPr/>
        </p:nvSpPr>
        <p:spPr>
          <a:xfrm>
            <a:off x="777240" y="2514600"/>
            <a:ext cx="10607040" cy="758952"/>
          </a:xfrm>
          <a:prstGeom prst="roundRect">
            <a:avLst>
              <a:gd name="adj" fmla="val 6024"/>
            </a:avLst>
          </a:prstGeom>
          <a:solidFill>
            <a:srgbClr val="FFFFFF"/>
          </a:solidFill>
          <a:ln w="12700">
            <a:solidFill>
              <a:srgbClr val="E1E8ED"/>
            </a:solidFill>
            <a:prstDash val="solid"/>
          </a:ln>
        </p:spPr>
        <p:txBody>
          <a:bodyPr/>
          <a:lstStyle/>
          <a:p>
            <a:endParaRPr lang="en-US"/>
          </a:p>
        </p:txBody>
      </p:sp>
      <p:sp>
        <p:nvSpPr>
          <p:cNvPr id="7" name="Shape 5"/>
          <p:cNvSpPr/>
          <p:nvPr/>
        </p:nvSpPr>
        <p:spPr>
          <a:xfrm>
            <a:off x="777240" y="2514600"/>
            <a:ext cx="109728" cy="758952"/>
          </a:xfrm>
          <a:prstGeom prst="rect">
            <a:avLst/>
          </a:prstGeom>
          <a:solidFill>
            <a:srgbClr val="2E7D5B"/>
          </a:solidFill>
          <a:ln/>
        </p:spPr>
        <p:txBody>
          <a:bodyPr/>
          <a:lstStyle/>
          <a:p>
            <a:endParaRPr lang="en-US"/>
          </a:p>
        </p:txBody>
      </p:sp>
      <p:sp>
        <p:nvSpPr>
          <p:cNvPr id="8" name="Text 6"/>
          <p:cNvSpPr/>
          <p:nvPr/>
        </p:nvSpPr>
        <p:spPr>
          <a:xfrm>
            <a:off x="1097280" y="2514600"/>
            <a:ext cx="2834640" cy="758952"/>
          </a:xfrm>
          <a:prstGeom prst="rect">
            <a:avLst/>
          </a:prstGeom>
          <a:noFill/>
          <a:ln/>
        </p:spPr>
        <p:txBody>
          <a:bodyPr wrap="square" lIns="0" tIns="0" rIns="0" bIns="0" rtlCol="0" anchor="ctr"/>
          <a:lstStyle/>
          <a:p>
            <a:pPr marL="0" indent="0">
              <a:buNone/>
            </a:pPr>
            <a:r>
              <a:rPr lang="en-US" sz="1450" b="1" dirty="0">
                <a:solidFill>
                  <a:srgbClr val="13293D"/>
                </a:solidFill>
                <a:latin typeface="Calibri" pitchFamily="34" charset="0"/>
                <a:ea typeface="Calibri" pitchFamily="34" charset="-122"/>
                <a:cs typeface="Calibri" pitchFamily="34" charset="-120"/>
              </a:rPr>
              <a:t>Read your own writes</a:t>
            </a:r>
            <a:endParaRPr lang="en-US" sz="1450" dirty="0"/>
          </a:p>
        </p:txBody>
      </p:sp>
      <p:sp>
        <p:nvSpPr>
          <p:cNvPr id="9" name="Text 7"/>
          <p:cNvSpPr/>
          <p:nvPr/>
        </p:nvSpPr>
        <p:spPr>
          <a:xfrm>
            <a:off x="4023360" y="2514600"/>
            <a:ext cx="5303520" cy="758952"/>
          </a:xfrm>
          <a:prstGeom prst="rect">
            <a:avLst/>
          </a:prstGeom>
          <a:noFill/>
          <a:ln/>
        </p:spPr>
        <p:txBody>
          <a:bodyPr wrap="square" lIns="0" tIns="0" rIns="0" bIns="0" rtlCol="0" anchor="ctr"/>
          <a:lstStyle/>
          <a:p>
            <a:pPr marL="0" indent="0">
              <a:buNone/>
            </a:pPr>
            <a:r>
              <a:rPr lang="en-US" sz="1250" dirty="0">
                <a:solidFill>
                  <a:srgbClr val="1B2A33"/>
                </a:solidFill>
                <a:latin typeface="Calibri" pitchFamily="34" charset="0"/>
                <a:ea typeface="Calibri" pitchFamily="34" charset="-122"/>
                <a:cs typeface="Calibri" pitchFamily="34" charset="-120"/>
              </a:rPr>
              <a:t>For a few seconds after a user writes, send that user’s reads to the primary.</a:t>
            </a:r>
            <a:endParaRPr lang="en-US" sz="1250" dirty="0"/>
          </a:p>
        </p:txBody>
      </p:sp>
      <p:sp>
        <p:nvSpPr>
          <p:cNvPr id="10" name="Text 8"/>
          <p:cNvSpPr/>
          <p:nvPr/>
        </p:nvSpPr>
        <p:spPr>
          <a:xfrm>
            <a:off x="9418320" y="2514600"/>
            <a:ext cx="1737360" cy="758952"/>
          </a:xfrm>
          <a:prstGeom prst="rect">
            <a:avLst/>
          </a:prstGeom>
          <a:noFill/>
          <a:ln/>
        </p:spPr>
        <p:txBody>
          <a:bodyPr wrap="square" lIns="0" tIns="0" rIns="0" bIns="0" rtlCol="0" anchor="ctr"/>
          <a:lstStyle/>
          <a:p>
            <a:pPr marL="0" indent="0" algn="r">
              <a:buNone/>
            </a:pPr>
            <a:r>
              <a:rPr lang="en-US" sz="1150" b="1" i="1" dirty="0">
                <a:solidFill>
                  <a:srgbClr val="2E7D5B"/>
                </a:solidFill>
                <a:latin typeface="Calibri" pitchFamily="34" charset="0"/>
                <a:ea typeface="Calibri" pitchFamily="34" charset="-122"/>
                <a:cs typeface="Calibri" pitchFamily="34" charset="-120"/>
              </a:rPr>
              <a:t>The standard fix</a:t>
            </a:r>
            <a:endParaRPr lang="en-US" sz="1150" dirty="0"/>
          </a:p>
        </p:txBody>
      </p:sp>
      <p:sp>
        <p:nvSpPr>
          <p:cNvPr id="11" name="Shape 9"/>
          <p:cNvSpPr/>
          <p:nvPr/>
        </p:nvSpPr>
        <p:spPr>
          <a:xfrm>
            <a:off x="777240" y="3383280"/>
            <a:ext cx="10607040" cy="758952"/>
          </a:xfrm>
          <a:prstGeom prst="roundRect">
            <a:avLst>
              <a:gd name="adj" fmla="val 6024"/>
            </a:avLst>
          </a:prstGeom>
          <a:solidFill>
            <a:srgbClr val="F4F7F9"/>
          </a:solidFill>
          <a:ln w="12700">
            <a:solidFill>
              <a:srgbClr val="E1E8ED"/>
            </a:solidFill>
            <a:prstDash val="solid"/>
          </a:ln>
        </p:spPr>
        <p:txBody>
          <a:bodyPr/>
          <a:lstStyle/>
          <a:p>
            <a:endParaRPr lang="en-US"/>
          </a:p>
        </p:txBody>
      </p:sp>
      <p:sp>
        <p:nvSpPr>
          <p:cNvPr id="12" name="Shape 10"/>
          <p:cNvSpPr/>
          <p:nvPr/>
        </p:nvSpPr>
        <p:spPr>
          <a:xfrm>
            <a:off x="777240" y="3383280"/>
            <a:ext cx="109728" cy="758952"/>
          </a:xfrm>
          <a:prstGeom prst="rect">
            <a:avLst/>
          </a:prstGeom>
          <a:solidFill>
            <a:srgbClr val="1C7293"/>
          </a:solidFill>
          <a:ln/>
        </p:spPr>
        <p:txBody>
          <a:bodyPr/>
          <a:lstStyle/>
          <a:p>
            <a:endParaRPr lang="en-US"/>
          </a:p>
        </p:txBody>
      </p:sp>
      <p:sp>
        <p:nvSpPr>
          <p:cNvPr id="13" name="Text 11"/>
          <p:cNvSpPr/>
          <p:nvPr/>
        </p:nvSpPr>
        <p:spPr>
          <a:xfrm>
            <a:off x="1097280" y="3383280"/>
            <a:ext cx="2834640" cy="758952"/>
          </a:xfrm>
          <a:prstGeom prst="rect">
            <a:avLst/>
          </a:prstGeom>
          <a:noFill/>
          <a:ln/>
        </p:spPr>
        <p:txBody>
          <a:bodyPr wrap="square" lIns="0" tIns="0" rIns="0" bIns="0" rtlCol="0" anchor="ctr"/>
          <a:lstStyle/>
          <a:p>
            <a:pPr marL="0" indent="0">
              <a:buNone/>
            </a:pPr>
            <a:r>
              <a:rPr lang="en-US" sz="1450" b="1" dirty="0">
                <a:solidFill>
                  <a:srgbClr val="13293D"/>
                </a:solidFill>
                <a:latin typeface="Calibri" pitchFamily="34" charset="0"/>
                <a:ea typeface="Calibri" pitchFamily="34" charset="-122"/>
                <a:cs typeface="Calibri" pitchFamily="34" charset="-120"/>
              </a:rPr>
              <a:t>Read from cache</a:t>
            </a:r>
            <a:endParaRPr lang="en-US" sz="1450" dirty="0"/>
          </a:p>
        </p:txBody>
      </p:sp>
      <p:sp>
        <p:nvSpPr>
          <p:cNvPr id="14" name="Text 12"/>
          <p:cNvSpPr/>
          <p:nvPr/>
        </p:nvSpPr>
        <p:spPr>
          <a:xfrm>
            <a:off x="4023360" y="3383280"/>
            <a:ext cx="5303520" cy="758952"/>
          </a:xfrm>
          <a:prstGeom prst="rect">
            <a:avLst/>
          </a:prstGeom>
          <a:noFill/>
          <a:ln/>
        </p:spPr>
        <p:txBody>
          <a:bodyPr wrap="square" lIns="0" tIns="0" rIns="0" bIns="0" rtlCol="0" anchor="ctr"/>
          <a:lstStyle/>
          <a:p>
            <a:pPr marL="0" indent="0">
              <a:buNone/>
            </a:pPr>
            <a:r>
              <a:rPr lang="en-US" sz="1250" dirty="0">
                <a:solidFill>
                  <a:srgbClr val="1B2A33"/>
                </a:solidFill>
                <a:latin typeface="Calibri" pitchFamily="34" charset="0"/>
                <a:ea typeface="Calibri" pitchFamily="34" charset="-122"/>
                <a:cs typeface="Calibri" pitchFamily="34" charset="-120"/>
              </a:rPr>
              <a:t>Write to the primary and to Redis at the same time; read the fresh copy from Redis.</a:t>
            </a:r>
            <a:endParaRPr lang="en-US" sz="1250" dirty="0"/>
          </a:p>
        </p:txBody>
      </p:sp>
      <p:sp>
        <p:nvSpPr>
          <p:cNvPr id="15" name="Text 13"/>
          <p:cNvSpPr/>
          <p:nvPr/>
        </p:nvSpPr>
        <p:spPr>
          <a:xfrm>
            <a:off x="9418320" y="3383280"/>
            <a:ext cx="1737360" cy="758952"/>
          </a:xfrm>
          <a:prstGeom prst="rect">
            <a:avLst/>
          </a:prstGeom>
          <a:noFill/>
          <a:ln/>
        </p:spPr>
        <p:txBody>
          <a:bodyPr wrap="square" lIns="0" tIns="0" rIns="0" bIns="0" rtlCol="0" anchor="ctr"/>
          <a:lstStyle/>
          <a:p>
            <a:pPr marL="0" indent="0" algn="r">
              <a:buNone/>
            </a:pPr>
            <a:r>
              <a:rPr lang="en-US" sz="1150" b="1" i="1" dirty="0">
                <a:solidFill>
                  <a:srgbClr val="1C7293"/>
                </a:solidFill>
                <a:latin typeface="Calibri" pitchFamily="34" charset="0"/>
                <a:ea typeface="Calibri" pitchFamily="34" charset="-122"/>
                <a:cs typeface="Calibri" pitchFamily="34" charset="-120"/>
              </a:rPr>
              <a:t>Works well for profiles</a:t>
            </a:r>
            <a:endParaRPr lang="en-US" sz="1150" dirty="0"/>
          </a:p>
        </p:txBody>
      </p:sp>
      <p:sp>
        <p:nvSpPr>
          <p:cNvPr id="16" name="Shape 14"/>
          <p:cNvSpPr/>
          <p:nvPr/>
        </p:nvSpPr>
        <p:spPr>
          <a:xfrm>
            <a:off x="777240" y="4251960"/>
            <a:ext cx="10607040" cy="758952"/>
          </a:xfrm>
          <a:prstGeom prst="roundRect">
            <a:avLst>
              <a:gd name="adj" fmla="val 6024"/>
            </a:avLst>
          </a:prstGeom>
          <a:solidFill>
            <a:srgbClr val="FFFFFF"/>
          </a:solidFill>
          <a:ln w="12700">
            <a:solidFill>
              <a:srgbClr val="E1E8ED"/>
            </a:solidFill>
            <a:prstDash val="solid"/>
          </a:ln>
        </p:spPr>
        <p:txBody>
          <a:bodyPr/>
          <a:lstStyle/>
          <a:p>
            <a:endParaRPr lang="en-US"/>
          </a:p>
        </p:txBody>
      </p:sp>
      <p:sp>
        <p:nvSpPr>
          <p:cNvPr id="17" name="Shape 15"/>
          <p:cNvSpPr/>
          <p:nvPr/>
        </p:nvSpPr>
        <p:spPr>
          <a:xfrm>
            <a:off x="777240" y="4251960"/>
            <a:ext cx="109728" cy="758952"/>
          </a:xfrm>
          <a:prstGeom prst="rect">
            <a:avLst/>
          </a:prstGeom>
          <a:solidFill>
            <a:srgbClr val="065A82"/>
          </a:solidFill>
          <a:ln/>
        </p:spPr>
        <p:txBody>
          <a:bodyPr/>
          <a:lstStyle/>
          <a:p>
            <a:endParaRPr lang="en-US"/>
          </a:p>
        </p:txBody>
      </p:sp>
      <p:sp>
        <p:nvSpPr>
          <p:cNvPr id="18" name="Text 16"/>
          <p:cNvSpPr/>
          <p:nvPr/>
        </p:nvSpPr>
        <p:spPr>
          <a:xfrm>
            <a:off x="1097280" y="4251960"/>
            <a:ext cx="2834640" cy="758952"/>
          </a:xfrm>
          <a:prstGeom prst="rect">
            <a:avLst/>
          </a:prstGeom>
          <a:noFill/>
          <a:ln/>
        </p:spPr>
        <p:txBody>
          <a:bodyPr wrap="square" lIns="0" tIns="0" rIns="0" bIns="0" rtlCol="0" anchor="ctr"/>
          <a:lstStyle/>
          <a:p>
            <a:pPr marL="0" indent="0">
              <a:buNone/>
            </a:pPr>
            <a:r>
              <a:rPr lang="en-US" sz="1450" b="1" dirty="0">
                <a:solidFill>
                  <a:srgbClr val="13293D"/>
                </a:solidFill>
                <a:latin typeface="Calibri" pitchFamily="34" charset="0"/>
                <a:ea typeface="Calibri" pitchFamily="34" charset="-122"/>
                <a:cs typeface="Calibri" pitchFamily="34" charset="-120"/>
              </a:rPr>
              <a:t>Accept it</a:t>
            </a:r>
            <a:endParaRPr lang="en-US" sz="1450" dirty="0"/>
          </a:p>
        </p:txBody>
      </p:sp>
      <p:sp>
        <p:nvSpPr>
          <p:cNvPr id="19" name="Text 17"/>
          <p:cNvSpPr/>
          <p:nvPr/>
        </p:nvSpPr>
        <p:spPr>
          <a:xfrm>
            <a:off x="4023360" y="4251960"/>
            <a:ext cx="5303520" cy="758952"/>
          </a:xfrm>
          <a:prstGeom prst="rect">
            <a:avLst/>
          </a:prstGeom>
          <a:noFill/>
          <a:ln/>
        </p:spPr>
        <p:txBody>
          <a:bodyPr wrap="square" lIns="0" tIns="0" rIns="0" bIns="0" rtlCol="0" anchor="ctr"/>
          <a:lstStyle/>
          <a:p>
            <a:pPr marL="0" indent="0">
              <a:buNone/>
            </a:pPr>
            <a:r>
              <a:rPr lang="en-US" sz="1250" dirty="0">
                <a:solidFill>
                  <a:srgbClr val="1B2A33"/>
                </a:solidFill>
                <a:latin typeface="Calibri" pitchFamily="34" charset="0"/>
                <a:ea typeface="Calibri" pitchFamily="34" charset="-122"/>
                <a:cs typeface="Calibri" pitchFamily="34" charset="-120"/>
              </a:rPr>
              <a:t>For a public feed or a review count, being two seconds stale genuinely does not matter.</a:t>
            </a:r>
            <a:endParaRPr lang="en-US" sz="1250" dirty="0"/>
          </a:p>
        </p:txBody>
      </p:sp>
      <p:sp>
        <p:nvSpPr>
          <p:cNvPr id="20" name="Text 18"/>
          <p:cNvSpPr/>
          <p:nvPr/>
        </p:nvSpPr>
        <p:spPr>
          <a:xfrm>
            <a:off x="9418320" y="4251960"/>
            <a:ext cx="1737360" cy="758952"/>
          </a:xfrm>
          <a:prstGeom prst="rect">
            <a:avLst/>
          </a:prstGeom>
          <a:noFill/>
          <a:ln/>
        </p:spPr>
        <p:txBody>
          <a:bodyPr wrap="square" lIns="0" tIns="0" rIns="0" bIns="0" rtlCol="0" anchor="ctr"/>
          <a:lstStyle/>
          <a:p>
            <a:pPr marL="0" indent="0" algn="r">
              <a:buNone/>
            </a:pPr>
            <a:r>
              <a:rPr lang="en-US" sz="1150" b="1" i="1" dirty="0">
                <a:solidFill>
                  <a:srgbClr val="065A82"/>
                </a:solidFill>
                <a:latin typeface="Calibri" pitchFamily="34" charset="0"/>
                <a:ea typeface="Calibri" pitchFamily="34" charset="-122"/>
                <a:cs typeface="Calibri" pitchFamily="34" charset="-120"/>
              </a:rPr>
              <a:t>Often the right call</a:t>
            </a:r>
            <a:endParaRPr lang="en-US" sz="1150" dirty="0"/>
          </a:p>
        </p:txBody>
      </p:sp>
      <p:sp>
        <p:nvSpPr>
          <p:cNvPr id="21" name="Shape 19"/>
          <p:cNvSpPr/>
          <p:nvPr/>
        </p:nvSpPr>
        <p:spPr>
          <a:xfrm>
            <a:off x="777240" y="5120640"/>
            <a:ext cx="10607040" cy="758952"/>
          </a:xfrm>
          <a:prstGeom prst="roundRect">
            <a:avLst>
              <a:gd name="adj" fmla="val 6024"/>
            </a:avLst>
          </a:prstGeom>
          <a:solidFill>
            <a:srgbClr val="FDF0EE"/>
          </a:solidFill>
          <a:ln w="12700">
            <a:solidFill>
              <a:srgbClr val="E1E8ED"/>
            </a:solidFill>
            <a:prstDash val="solid"/>
          </a:ln>
        </p:spPr>
        <p:txBody>
          <a:bodyPr/>
          <a:lstStyle/>
          <a:p>
            <a:endParaRPr lang="en-US"/>
          </a:p>
        </p:txBody>
      </p:sp>
      <p:sp>
        <p:nvSpPr>
          <p:cNvPr id="22" name="Shape 20"/>
          <p:cNvSpPr/>
          <p:nvPr/>
        </p:nvSpPr>
        <p:spPr>
          <a:xfrm>
            <a:off x="777240" y="5120640"/>
            <a:ext cx="109728" cy="758952"/>
          </a:xfrm>
          <a:prstGeom prst="rect">
            <a:avLst/>
          </a:prstGeom>
          <a:solidFill>
            <a:srgbClr val="A03A3A"/>
          </a:solidFill>
          <a:ln/>
        </p:spPr>
        <p:txBody>
          <a:bodyPr/>
          <a:lstStyle/>
          <a:p>
            <a:endParaRPr lang="en-US"/>
          </a:p>
        </p:txBody>
      </p:sp>
      <p:sp>
        <p:nvSpPr>
          <p:cNvPr id="23" name="Text 21"/>
          <p:cNvSpPr/>
          <p:nvPr/>
        </p:nvSpPr>
        <p:spPr>
          <a:xfrm>
            <a:off x="1097280" y="5120640"/>
            <a:ext cx="2834640" cy="758952"/>
          </a:xfrm>
          <a:prstGeom prst="rect">
            <a:avLst/>
          </a:prstGeom>
          <a:noFill/>
          <a:ln/>
        </p:spPr>
        <p:txBody>
          <a:bodyPr wrap="square" lIns="0" tIns="0" rIns="0" bIns="0" rtlCol="0" anchor="ctr"/>
          <a:lstStyle/>
          <a:p>
            <a:pPr marL="0" indent="0">
              <a:buNone/>
            </a:pPr>
            <a:r>
              <a:rPr lang="en-US" sz="1450" b="1" dirty="0">
                <a:solidFill>
                  <a:srgbClr val="13293D"/>
                </a:solidFill>
                <a:latin typeface="Calibri" pitchFamily="34" charset="0"/>
                <a:ea typeface="Calibri" pitchFamily="34" charset="-122"/>
                <a:cs typeface="Calibri" pitchFamily="34" charset="-120"/>
              </a:rPr>
              <a:t>Read everything from primary</a:t>
            </a:r>
            <a:endParaRPr lang="en-US" sz="1450" dirty="0"/>
          </a:p>
        </p:txBody>
      </p:sp>
      <p:sp>
        <p:nvSpPr>
          <p:cNvPr id="24" name="Text 22"/>
          <p:cNvSpPr/>
          <p:nvPr/>
        </p:nvSpPr>
        <p:spPr>
          <a:xfrm>
            <a:off x="4023360" y="5120640"/>
            <a:ext cx="5303520" cy="758952"/>
          </a:xfrm>
          <a:prstGeom prst="rect">
            <a:avLst/>
          </a:prstGeom>
          <a:noFill/>
          <a:ln/>
        </p:spPr>
        <p:txBody>
          <a:bodyPr wrap="square" lIns="0" tIns="0" rIns="0" bIns="0" rtlCol="0" anchor="ctr"/>
          <a:lstStyle/>
          <a:p>
            <a:pPr marL="0" indent="0">
              <a:buNone/>
            </a:pPr>
            <a:r>
              <a:rPr lang="en-US" sz="1250" dirty="0">
                <a:solidFill>
                  <a:srgbClr val="1B2A33"/>
                </a:solidFill>
                <a:latin typeface="Calibri" pitchFamily="34" charset="0"/>
                <a:ea typeface="Calibri" pitchFamily="34" charset="-122"/>
                <a:cs typeface="Calibri" pitchFamily="34" charset="-120"/>
              </a:rPr>
              <a:t>Correct, and it throws away the entire benefit of having replicas.</a:t>
            </a:r>
            <a:endParaRPr lang="en-US" sz="1250" dirty="0"/>
          </a:p>
        </p:txBody>
      </p:sp>
      <p:sp>
        <p:nvSpPr>
          <p:cNvPr id="25" name="Text 23"/>
          <p:cNvSpPr/>
          <p:nvPr/>
        </p:nvSpPr>
        <p:spPr>
          <a:xfrm>
            <a:off x="9418320" y="5120640"/>
            <a:ext cx="1737360" cy="758952"/>
          </a:xfrm>
          <a:prstGeom prst="rect">
            <a:avLst/>
          </a:prstGeom>
          <a:noFill/>
          <a:ln/>
        </p:spPr>
        <p:txBody>
          <a:bodyPr wrap="square" lIns="0" tIns="0" rIns="0" bIns="0" rtlCol="0" anchor="ctr"/>
          <a:lstStyle/>
          <a:p>
            <a:pPr marL="0" indent="0" algn="r">
              <a:buNone/>
            </a:pPr>
            <a:r>
              <a:rPr lang="en-US" sz="1150" b="1" i="1" dirty="0">
                <a:solidFill>
                  <a:srgbClr val="A03A3A"/>
                </a:solidFill>
                <a:latin typeface="Calibri" pitchFamily="34" charset="0"/>
                <a:ea typeface="Calibri" pitchFamily="34" charset="-122"/>
                <a:cs typeface="Calibri" pitchFamily="34" charset="-120"/>
              </a:rPr>
              <a:t>Defeats the purpose</a:t>
            </a:r>
            <a:endParaRPr lang="en-US" sz="1150" dirty="0"/>
          </a:p>
        </p:txBody>
      </p:sp>
      <p:sp>
        <p:nvSpPr>
          <p:cNvPr id="26" name="Text 24"/>
          <p:cNvSpPr/>
          <p:nvPr/>
        </p:nvSpPr>
        <p:spPr>
          <a:xfrm>
            <a:off x="777240" y="6035040"/>
            <a:ext cx="10607040" cy="411480"/>
          </a:xfrm>
          <a:prstGeom prst="rect">
            <a:avLst/>
          </a:prstGeom>
          <a:noFill/>
          <a:ln/>
        </p:spPr>
        <p:txBody>
          <a:bodyPr wrap="square" lIns="0" tIns="0" rIns="0" bIns="0" rtlCol="0" anchor="ctr"/>
          <a:lstStyle/>
          <a:p>
            <a:pPr marL="0" indent="0">
              <a:buNone/>
            </a:pPr>
            <a:r>
              <a:rPr lang="en-US" sz="1450" b="1" dirty="0">
                <a:solidFill>
                  <a:srgbClr val="065A82"/>
                </a:solidFill>
                <a:latin typeface="Calibri" pitchFamily="34" charset="0"/>
                <a:ea typeface="Calibri" pitchFamily="34" charset="-122"/>
                <a:cs typeface="Calibri" pitchFamily="34" charset="-120"/>
              </a:rPr>
              <a:t>This is the first real trade-off of the data layer: you bought read capacity and paid for it with consistency.</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3293D"/>
        </a:solidFill>
        <a:effectLst/>
      </p:bgPr>
    </p:bg>
    <p:spTree>
      <p:nvGrpSpPr>
        <p:cNvPr id="1" name=""/>
        <p:cNvGrpSpPr/>
        <p:nvPr/>
      </p:nvGrpSpPr>
      <p:grpSpPr>
        <a:xfrm>
          <a:off x="0" y="0"/>
          <a:ext cx="0" cy="0"/>
          <a:chOff x="0" y="0"/>
          <a:chExt cx="0" cy="0"/>
        </a:xfrm>
      </p:grpSpPr>
      <p:sp>
        <p:nvSpPr>
          <p:cNvPr id="2" name="Shape 0"/>
          <p:cNvSpPr/>
          <p:nvPr/>
        </p:nvSpPr>
        <p:spPr>
          <a:xfrm>
            <a:off x="822960" y="640080"/>
            <a:ext cx="3291840" cy="411480"/>
          </a:xfrm>
          <a:prstGeom prst="roundRect">
            <a:avLst>
              <a:gd name="adj" fmla="val 44444"/>
            </a:avLst>
          </a:prstGeom>
          <a:solidFill>
            <a:srgbClr val="E8A33D"/>
          </a:solidFill>
          <a:ln/>
        </p:spPr>
        <p:txBody>
          <a:bodyPr/>
          <a:lstStyle/>
          <a:p>
            <a:endParaRPr lang="en-US"/>
          </a:p>
        </p:txBody>
      </p:sp>
      <p:sp>
        <p:nvSpPr>
          <p:cNvPr id="3" name="Text 1"/>
          <p:cNvSpPr/>
          <p:nvPr/>
        </p:nvSpPr>
        <p:spPr>
          <a:xfrm>
            <a:off x="822960" y="640080"/>
            <a:ext cx="3291840" cy="411480"/>
          </a:xfrm>
          <a:prstGeom prst="rect">
            <a:avLst/>
          </a:prstGeom>
          <a:noFill/>
          <a:ln/>
        </p:spPr>
        <p:txBody>
          <a:bodyPr wrap="square" rtlCol="0" anchor="ctr"/>
          <a:lstStyle/>
          <a:p>
            <a:pPr marL="0" indent="0" algn="ctr">
              <a:buNone/>
            </a:pPr>
            <a:r>
              <a:rPr lang="en-US" sz="1200" b="1" kern="0" spc="140" dirty="0">
                <a:solidFill>
                  <a:srgbClr val="13293D"/>
                </a:solidFill>
                <a:latin typeface="Calibri" pitchFamily="34" charset="0"/>
                <a:ea typeface="Calibri" pitchFamily="34" charset="-122"/>
                <a:cs typeface="Calibri" pitchFamily="34" charset="-120"/>
              </a:rPr>
              <a:t>ROUND 4  ·  QUESTION</a:t>
            </a:r>
            <a:endParaRPr lang="en-US" sz="1200" dirty="0"/>
          </a:p>
        </p:txBody>
      </p:sp>
      <p:sp>
        <p:nvSpPr>
          <p:cNvPr id="4" name="Text 2"/>
          <p:cNvSpPr/>
          <p:nvPr/>
        </p:nvSpPr>
        <p:spPr>
          <a:xfrm>
            <a:off x="822960" y="1325880"/>
            <a:ext cx="10515600" cy="1554480"/>
          </a:xfrm>
          <a:prstGeom prst="rect">
            <a:avLst/>
          </a:prstGeom>
          <a:noFill/>
          <a:ln/>
        </p:spPr>
        <p:txBody>
          <a:bodyPr wrap="square" lIns="0" tIns="0" rIns="0" bIns="0" rtlCol="0" anchor="ctr"/>
          <a:lstStyle/>
          <a:p>
            <a:pPr marL="0" indent="0">
              <a:lnSpc>
                <a:spcPts val="2600"/>
              </a:lnSpc>
              <a:buNone/>
            </a:pPr>
            <a:r>
              <a:rPr lang="en-US" sz="1700" dirty="0">
                <a:solidFill>
                  <a:srgbClr val="9AD1D4"/>
                </a:solidFill>
                <a:latin typeface="Calibri" pitchFamily="34" charset="0"/>
                <a:ea typeface="Calibri" pitchFamily="34" charset="-122"/>
                <a:cs typeface="Calibri" pitchFamily="34" charset="-120"/>
              </a:rPr>
              <a:t>The orders table now holds 50 million rows. A support query — find all orders for one phone number — takes 8 seconds. Adding replicas did not help: it is 8 seconds on every one of them.</a:t>
            </a:r>
            <a:endParaRPr lang="en-US" sz="1700" dirty="0"/>
          </a:p>
        </p:txBody>
      </p:sp>
      <p:sp>
        <p:nvSpPr>
          <p:cNvPr id="5" name="Shape 3"/>
          <p:cNvSpPr/>
          <p:nvPr/>
        </p:nvSpPr>
        <p:spPr>
          <a:xfrm>
            <a:off x="822960" y="3017520"/>
            <a:ext cx="10515600" cy="1600200"/>
          </a:xfrm>
          <a:prstGeom prst="roundRect">
            <a:avLst>
              <a:gd name="adj" fmla="val 4571"/>
            </a:avLst>
          </a:prstGeom>
          <a:solidFill>
            <a:srgbClr val="1D3D52"/>
          </a:solidFill>
          <a:ln/>
        </p:spPr>
        <p:txBody>
          <a:bodyPr/>
          <a:lstStyle/>
          <a:p>
            <a:endParaRPr lang="en-US"/>
          </a:p>
        </p:txBody>
      </p:sp>
      <p:sp>
        <p:nvSpPr>
          <p:cNvPr id="6" name="Text 4"/>
          <p:cNvSpPr/>
          <p:nvPr/>
        </p:nvSpPr>
        <p:spPr>
          <a:xfrm>
            <a:off x="1188720" y="3017520"/>
            <a:ext cx="9784080" cy="1600200"/>
          </a:xfrm>
          <a:prstGeom prst="rect">
            <a:avLst/>
          </a:prstGeom>
          <a:noFill/>
          <a:ln/>
        </p:spPr>
        <p:txBody>
          <a:bodyPr wrap="square" lIns="0" tIns="0" rIns="0" bIns="0" rtlCol="0" anchor="ctr"/>
          <a:lstStyle/>
          <a:p>
            <a:pPr marL="0" indent="0">
              <a:lnSpc>
                <a:spcPts val="3400"/>
              </a:lnSpc>
              <a:buNone/>
            </a:pPr>
            <a:r>
              <a:rPr lang="en-US" sz="2600" b="1" dirty="0">
                <a:solidFill>
                  <a:srgbClr val="FFFFFF"/>
                </a:solidFill>
                <a:latin typeface="Cambria" pitchFamily="34" charset="0"/>
                <a:ea typeface="Cambria" pitchFamily="34" charset="-122"/>
                <a:cs typeface="Cambria" pitchFamily="34" charset="-120"/>
              </a:rPr>
              <a:t>Same query, more machines,</a:t>
            </a:r>
            <a:endParaRPr lang="en-US" sz="2600" dirty="0"/>
          </a:p>
          <a:p>
            <a:pPr marL="0" indent="0">
              <a:lnSpc>
                <a:spcPts val="3400"/>
              </a:lnSpc>
              <a:buNone/>
            </a:pPr>
            <a:r>
              <a:rPr lang="en-US" sz="2600" b="1" dirty="0">
                <a:solidFill>
                  <a:srgbClr val="FFFFFF"/>
                </a:solidFill>
                <a:latin typeface="Cambria" pitchFamily="34" charset="0"/>
                <a:ea typeface="Cambria" pitchFamily="34" charset="-122"/>
                <a:cs typeface="Cambria" pitchFamily="34" charset="-120"/>
              </a:rPr>
              <a:t>same 8 seconds. What is wrong?</a:t>
            </a:r>
            <a:endParaRPr lang="en-US" sz="2600" dirty="0"/>
          </a:p>
        </p:txBody>
      </p:sp>
      <p:sp>
        <p:nvSpPr>
          <p:cNvPr id="7" name="Text 5"/>
          <p:cNvSpPr/>
          <p:nvPr/>
        </p:nvSpPr>
        <p:spPr>
          <a:xfrm>
            <a:off x="868680" y="4892040"/>
            <a:ext cx="10424160" cy="548640"/>
          </a:xfrm>
          <a:prstGeom prst="rect">
            <a:avLst/>
          </a:prstGeom>
          <a:noFill/>
          <a:ln/>
        </p:spPr>
        <p:txBody>
          <a:bodyPr wrap="square" lIns="0" tIns="0" rIns="0" bIns="0" rtlCol="0" anchor="ctr"/>
          <a:lstStyle/>
          <a:p>
            <a:pPr marL="0" indent="0">
              <a:buNone/>
            </a:pPr>
            <a:r>
              <a:rPr lang="en-US" sz="1400" i="1" dirty="0">
                <a:solidFill>
                  <a:srgbClr val="E8A33D"/>
                </a:solidFill>
                <a:latin typeface="Calibri" pitchFamily="34" charset="0"/>
                <a:ea typeface="Calibri" pitchFamily="34" charset="-122"/>
                <a:cs typeface="Calibri" pitchFamily="34" charset="-120"/>
              </a:rPr>
              <a:t>Think back to Lecture 3. Why could the product database not search for "shirt"?</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40080"/>
          </a:xfrm>
          <a:prstGeom prst="rect">
            <a:avLst/>
          </a:prstGeom>
          <a:noFill/>
          <a:ln/>
        </p:spPr>
        <p:txBody>
          <a:bodyPr wrap="square" lIns="0" tIns="0" rIns="0" bIns="0" rtlCol="0" anchor="ctr"/>
          <a:lstStyle/>
          <a:p>
            <a:pPr marL="0" indent="0">
              <a:buNone/>
            </a:pPr>
            <a:r>
              <a:rPr lang="en-US" sz="3100" b="1" dirty="0">
                <a:solidFill>
                  <a:srgbClr val="13293D"/>
                </a:solidFill>
                <a:latin typeface="Cambria" pitchFamily="34" charset="0"/>
                <a:ea typeface="Cambria" pitchFamily="34" charset="-122"/>
                <a:cs typeface="Cambria" pitchFamily="34" charset="-120"/>
              </a:rPr>
              <a:t>Round 4 — The Answer</a:t>
            </a:r>
            <a:endParaRPr lang="en-US" sz="3100" dirty="0"/>
          </a:p>
        </p:txBody>
      </p:sp>
      <p:sp>
        <p:nvSpPr>
          <p:cNvPr id="3" name="Text 1"/>
          <p:cNvSpPr/>
          <p:nvPr/>
        </p:nvSpPr>
        <p:spPr>
          <a:xfrm>
            <a:off x="658368" y="1005840"/>
            <a:ext cx="10972800" cy="384048"/>
          </a:xfrm>
          <a:prstGeom prst="rect">
            <a:avLst/>
          </a:prstGeom>
          <a:noFill/>
          <a:ln/>
        </p:spPr>
        <p:txBody>
          <a:bodyPr wrap="square" lIns="0" tIns="0" rIns="0" bIns="0" rtlCol="0" anchor="ctr"/>
          <a:lstStyle/>
          <a:p>
            <a:pPr marL="0" indent="0">
              <a:buNone/>
            </a:pPr>
            <a:r>
              <a:rPr lang="en-US" sz="1500" i="1" dirty="0">
                <a:solidFill>
                  <a:srgbClr val="5A6B76"/>
                </a:solidFill>
                <a:latin typeface="Calibri" pitchFamily="34" charset="0"/>
                <a:ea typeface="Calibri" pitchFamily="34" charset="-122"/>
                <a:cs typeface="Calibri" pitchFamily="34" charset="-120"/>
              </a:rPr>
              <a:t>Without an index, the database reads every single row</a:t>
            </a:r>
            <a:endParaRPr lang="en-US" sz="1500" dirty="0"/>
          </a:p>
        </p:txBody>
      </p:sp>
      <p:sp>
        <p:nvSpPr>
          <p:cNvPr id="4" name="Shape 2"/>
          <p:cNvSpPr/>
          <p:nvPr/>
        </p:nvSpPr>
        <p:spPr>
          <a:xfrm>
            <a:off x="777240" y="1463040"/>
            <a:ext cx="10607040" cy="841248"/>
          </a:xfrm>
          <a:prstGeom prst="roundRect">
            <a:avLst>
              <a:gd name="adj" fmla="val 6522"/>
            </a:avLst>
          </a:prstGeom>
          <a:solidFill>
            <a:srgbClr val="13293D"/>
          </a:solidFill>
          <a:ln/>
        </p:spPr>
        <p:txBody>
          <a:bodyPr/>
          <a:lstStyle/>
          <a:p>
            <a:endParaRPr lang="en-US"/>
          </a:p>
        </p:txBody>
      </p:sp>
      <p:sp>
        <p:nvSpPr>
          <p:cNvPr id="5" name="Text 3"/>
          <p:cNvSpPr/>
          <p:nvPr/>
        </p:nvSpPr>
        <p:spPr>
          <a:xfrm>
            <a:off x="1097280" y="1463040"/>
            <a:ext cx="10058400" cy="841248"/>
          </a:xfrm>
          <a:prstGeom prst="rect">
            <a:avLst/>
          </a:prstGeom>
          <a:noFill/>
          <a:ln/>
        </p:spPr>
        <p:txBody>
          <a:bodyPr wrap="square" lIns="0" tIns="0" rIns="0" bIns="0" rtlCol="0" anchor="ctr"/>
          <a:lstStyle/>
          <a:p>
            <a:pPr marL="0" indent="0">
              <a:lnSpc>
                <a:spcPts val="2100"/>
              </a:lnSpc>
              <a:buNone/>
            </a:pPr>
            <a:r>
              <a:rPr lang="en-US" sz="1550" dirty="0">
                <a:solidFill>
                  <a:srgbClr val="FFFFFF"/>
                </a:solidFill>
                <a:latin typeface="Calibri" pitchFamily="34" charset="0"/>
                <a:ea typeface="Calibri" pitchFamily="34" charset="-122"/>
                <a:cs typeface="Calibri" pitchFamily="34" charset="-120"/>
              </a:rPr>
              <a:t>Fifty million rows, checked one at a time, looking for one phone number. Replicas do not help because each replica does the same 50 million comparisons. The problem is the work per query, not the number of machines.</a:t>
            </a:r>
            <a:endParaRPr lang="en-US" sz="1550" dirty="0"/>
          </a:p>
        </p:txBody>
      </p:sp>
      <p:sp>
        <p:nvSpPr>
          <p:cNvPr id="6" name="Shape 4"/>
          <p:cNvSpPr/>
          <p:nvPr/>
        </p:nvSpPr>
        <p:spPr>
          <a:xfrm>
            <a:off x="777240" y="2468880"/>
            <a:ext cx="5212080" cy="2286000"/>
          </a:xfrm>
          <a:prstGeom prst="roundRect">
            <a:avLst>
              <a:gd name="adj" fmla="val 2400"/>
            </a:avLst>
          </a:prstGeom>
          <a:solidFill>
            <a:srgbClr val="FDF0EE"/>
          </a:solidFill>
          <a:ln w="12700">
            <a:solidFill>
              <a:srgbClr val="E1E8ED"/>
            </a:solidFill>
            <a:prstDash val="solid"/>
          </a:ln>
        </p:spPr>
        <p:txBody>
          <a:bodyPr/>
          <a:lstStyle/>
          <a:p>
            <a:endParaRPr lang="en-US"/>
          </a:p>
        </p:txBody>
      </p:sp>
      <p:sp>
        <p:nvSpPr>
          <p:cNvPr id="7" name="Text 5"/>
          <p:cNvSpPr/>
          <p:nvPr/>
        </p:nvSpPr>
        <p:spPr>
          <a:xfrm>
            <a:off x="1033272" y="2651760"/>
            <a:ext cx="4754880" cy="365760"/>
          </a:xfrm>
          <a:prstGeom prst="rect">
            <a:avLst/>
          </a:prstGeom>
          <a:noFill/>
          <a:ln/>
        </p:spPr>
        <p:txBody>
          <a:bodyPr wrap="square" lIns="0" tIns="0" rIns="0" bIns="0" rtlCol="0" anchor="ctr"/>
          <a:lstStyle/>
          <a:p>
            <a:pPr marL="0" indent="0">
              <a:buNone/>
            </a:pPr>
            <a:r>
              <a:rPr lang="en-US" sz="1550" b="1" dirty="0">
                <a:solidFill>
                  <a:srgbClr val="A03A3A"/>
                </a:solidFill>
                <a:latin typeface="Calibri" pitchFamily="34" charset="0"/>
                <a:ea typeface="Calibri" pitchFamily="34" charset="-122"/>
                <a:cs typeface="Calibri" pitchFamily="34" charset="-120"/>
              </a:rPr>
              <a:t>Without an index</a:t>
            </a:r>
            <a:endParaRPr lang="en-US" sz="1550" dirty="0"/>
          </a:p>
        </p:txBody>
      </p:sp>
      <p:sp>
        <p:nvSpPr>
          <p:cNvPr id="8" name="Text 6"/>
          <p:cNvSpPr/>
          <p:nvPr/>
        </p:nvSpPr>
        <p:spPr>
          <a:xfrm>
            <a:off x="1033272" y="3044952"/>
            <a:ext cx="4754880" cy="1508760"/>
          </a:xfrm>
          <a:prstGeom prst="rect">
            <a:avLst/>
          </a:prstGeom>
          <a:noFill/>
          <a:ln/>
        </p:spPr>
        <p:txBody>
          <a:bodyPr wrap="square" lIns="0" tIns="0" rIns="0" bIns="0" rtlCol="0" anchor="ctr"/>
          <a:lstStyle/>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Full table scan: read all 50 million rows</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Time grows as the table grows</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Heavy disk and memory usage per query</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Every replica repeats the same waste</a:t>
            </a:r>
            <a:endParaRPr lang="en-US" sz="1250" dirty="0"/>
          </a:p>
        </p:txBody>
      </p:sp>
      <p:sp>
        <p:nvSpPr>
          <p:cNvPr id="9" name="Shape 7"/>
          <p:cNvSpPr/>
          <p:nvPr/>
        </p:nvSpPr>
        <p:spPr>
          <a:xfrm>
            <a:off x="6172200" y="2468880"/>
            <a:ext cx="5212080" cy="2286000"/>
          </a:xfrm>
          <a:prstGeom prst="roundRect">
            <a:avLst>
              <a:gd name="adj" fmla="val 2400"/>
            </a:avLst>
          </a:prstGeom>
          <a:solidFill>
            <a:srgbClr val="EAF5EF"/>
          </a:solidFill>
          <a:ln w="12700">
            <a:solidFill>
              <a:srgbClr val="E1E8ED"/>
            </a:solidFill>
            <a:prstDash val="solid"/>
          </a:ln>
        </p:spPr>
        <p:txBody>
          <a:bodyPr/>
          <a:lstStyle/>
          <a:p>
            <a:endParaRPr lang="en-US"/>
          </a:p>
        </p:txBody>
      </p:sp>
      <p:sp>
        <p:nvSpPr>
          <p:cNvPr id="10" name="Text 8"/>
          <p:cNvSpPr/>
          <p:nvPr/>
        </p:nvSpPr>
        <p:spPr>
          <a:xfrm>
            <a:off x="6428232" y="2651760"/>
            <a:ext cx="4754880" cy="365760"/>
          </a:xfrm>
          <a:prstGeom prst="rect">
            <a:avLst/>
          </a:prstGeom>
          <a:noFill/>
          <a:ln/>
        </p:spPr>
        <p:txBody>
          <a:bodyPr wrap="square" lIns="0" tIns="0" rIns="0" bIns="0" rtlCol="0" anchor="ctr"/>
          <a:lstStyle/>
          <a:p>
            <a:pPr marL="0" indent="0">
              <a:buNone/>
            </a:pPr>
            <a:r>
              <a:rPr lang="en-US" sz="1550" b="1" dirty="0">
                <a:solidFill>
                  <a:srgbClr val="2E7D5B"/>
                </a:solidFill>
                <a:latin typeface="Calibri" pitchFamily="34" charset="0"/>
                <a:ea typeface="Calibri" pitchFamily="34" charset="-122"/>
                <a:cs typeface="Calibri" pitchFamily="34" charset="-120"/>
              </a:rPr>
              <a:t>With an index on phone_number</a:t>
            </a:r>
            <a:endParaRPr lang="en-US" sz="1550" dirty="0"/>
          </a:p>
        </p:txBody>
      </p:sp>
      <p:sp>
        <p:nvSpPr>
          <p:cNvPr id="11" name="Text 9"/>
          <p:cNvSpPr/>
          <p:nvPr/>
        </p:nvSpPr>
        <p:spPr>
          <a:xfrm>
            <a:off x="6428232" y="3044952"/>
            <a:ext cx="4754880" cy="1508760"/>
          </a:xfrm>
          <a:prstGeom prst="rect">
            <a:avLst/>
          </a:prstGeom>
          <a:noFill/>
          <a:ln/>
        </p:spPr>
        <p:txBody>
          <a:bodyPr wrap="square" lIns="0" tIns="0" rIns="0" bIns="0" rtlCol="0" anchor="ctr"/>
          <a:lstStyle/>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A sorted structure pointing to matching rows</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Roughly 26 steps instead of 50 million</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Milliseconds, not seconds</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Same idea as a book’s index, or Lecture 3’s search index</a:t>
            </a:r>
            <a:endParaRPr lang="en-US" sz="1250" dirty="0"/>
          </a:p>
        </p:txBody>
      </p:sp>
      <p:sp>
        <p:nvSpPr>
          <p:cNvPr id="12" name="Shape 10"/>
          <p:cNvSpPr/>
          <p:nvPr/>
        </p:nvSpPr>
        <p:spPr>
          <a:xfrm>
            <a:off x="777240" y="4937760"/>
            <a:ext cx="10607040" cy="1234440"/>
          </a:xfrm>
          <a:prstGeom prst="roundRect">
            <a:avLst>
              <a:gd name="adj" fmla="val 4444"/>
            </a:avLst>
          </a:prstGeom>
          <a:solidFill>
            <a:srgbClr val="FDF3E3"/>
          </a:solidFill>
          <a:ln w="17780">
            <a:solidFill>
              <a:srgbClr val="E8A33D"/>
            </a:solidFill>
            <a:prstDash val="solid"/>
          </a:ln>
        </p:spPr>
        <p:txBody>
          <a:bodyPr/>
          <a:lstStyle/>
          <a:p>
            <a:endParaRPr lang="en-US"/>
          </a:p>
        </p:txBody>
      </p:sp>
      <p:sp>
        <p:nvSpPr>
          <p:cNvPr id="13" name="Text 11"/>
          <p:cNvSpPr/>
          <p:nvPr/>
        </p:nvSpPr>
        <p:spPr>
          <a:xfrm>
            <a:off x="1097280" y="5074920"/>
            <a:ext cx="10058400" cy="320040"/>
          </a:xfrm>
          <a:prstGeom prst="rect">
            <a:avLst/>
          </a:prstGeom>
          <a:noFill/>
          <a:ln/>
        </p:spPr>
        <p:txBody>
          <a:bodyPr wrap="square" lIns="0" tIns="0" rIns="0" bIns="0" rtlCol="0" anchor="ctr"/>
          <a:lstStyle/>
          <a:p>
            <a:pPr marL="0" indent="0">
              <a:buNone/>
            </a:pPr>
            <a:r>
              <a:rPr lang="en-US" sz="1450" b="1" dirty="0">
                <a:solidFill>
                  <a:srgbClr val="8A5A12"/>
                </a:solidFill>
                <a:latin typeface="Calibri" pitchFamily="34" charset="0"/>
                <a:ea typeface="Calibri" pitchFamily="34" charset="-122"/>
                <a:cs typeface="Calibri" pitchFamily="34" charset="-120"/>
              </a:rPr>
              <a:t>The cost nobody mentions</a:t>
            </a:r>
            <a:endParaRPr lang="en-US" sz="1450" dirty="0"/>
          </a:p>
        </p:txBody>
      </p:sp>
      <p:sp>
        <p:nvSpPr>
          <p:cNvPr id="14" name="Text 12"/>
          <p:cNvSpPr/>
          <p:nvPr/>
        </p:nvSpPr>
        <p:spPr>
          <a:xfrm>
            <a:off x="1097280" y="5413248"/>
            <a:ext cx="9966960" cy="685800"/>
          </a:xfrm>
          <a:prstGeom prst="rect">
            <a:avLst/>
          </a:prstGeom>
          <a:noFill/>
          <a:ln/>
        </p:spPr>
        <p:txBody>
          <a:bodyPr wrap="square" lIns="0" tIns="0" rIns="0" bIns="0" rtlCol="0" anchor="ctr"/>
          <a:lstStyle/>
          <a:p>
            <a:pPr marL="0" indent="0">
              <a:lnSpc>
                <a:spcPts val="1800"/>
              </a:lnSpc>
              <a:buNone/>
            </a:pPr>
            <a:r>
              <a:rPr lang="en-US" sz="1300" dirty="0">
                <a:solidFill>
                  <a:srgbClr val="1B2A33"/>
                </a:solidFill>
                <a:latin typeface="Calibri" pitchFamily="34" charset="0"/>
                <a:ea typeface="Calibri" pitchFamily="34" charset="-122"/>
                <a:cs typeface="Calibri" pitchFamily="34" charset="-120"/>
              </a:rPr>
              <a:t>Every index must be updated on every insert, update and delete. Ten indexes on the orders table means ten extra structures to maintain per order placed. Indexes make reads fast by making writes slower — which matters enormously once writes become your bottleneck.</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40080"/>
          </a:xfrm>
          <a:prstGeom prst="rect">
            <a:avLst/>
          </a:prstGeom>
          <a:noFill/>
          <a:ln/>
        </p:spPr>
        <p:txBody>
          <a:bodyPr wrap="square" lIns="0" tIns="0" rIns="0" bIns="0" rtlCol="0" anchor="ctr"/>
          <a:lstStyle/>
          <a:p>
            <a:pPr marL="0" indent="0">
              <a:buNone/>
            </a:pPr>
            <a:r>
              <a:rPr lang="en-US" sz="3100" b="1" dirty="0">
                <a:solidFill>
                  <a:srgbClr val="13293D"/>
                </a:solidFill>
                <a:latin typeface="Cambria" pitchFamily="34" charset="0"/>
                <a:ea typeface="Cambria" pitchFamily="34" charset="-122"/>
                <a:cs typeface="Cambria" pitchFamily="34" charset="-120"/>
              </a:rPr>
              <a:t>When to Add an Index — and When Not To</a:t>
            </a:r>
            <a:endParaRPr lang="en-US" sz="3100" dirty="0"/>
          </a:p>
        </p:txBody>
      </p:sp>
      <p:sp>
        <p:nvSpPr>
          <p:cNvPr id="3" name="Text 1"/>
          <p:cNvSpPr/>
          <p:nvPr/>
        </p:nvSpPr>
        <p:spPr>
          <a:xfrm>
            <a:off x="658368" y="1005840"/>
            <a:ext cx="10972800" cy="384048"/>
          </a:xfrm>
          <a:prstGeom prst="rect">
            <a:avLst/>
          </a:prstGeom>
          <a:noFill/>
          <a:ln/>
        </p:spPr>
        <p:txBody>
          <a:bodyPr wrap="square" lIns="0" tIns="0" rIns="0" bIns="0" rtlCol="0" anchor="ctr"/>
          <a:lstStyle/>
          <a:p>
            <a:pPr marL="0" indent="0">
              <a:buNone/>
            </a:pPr>
            <a:r>
              <a:rPr lang="en-US" sz="1500" i="1" dirty="0">
                <a:solidFill>
                  <a:srgbClr val="5A6B76"/>
                </a:solidFill>
                <a:latin typeface="Calibri" pitchFamily="34" charset="0"/>
                <a:ea typeface="Calibri" pitchFamily="34" charset="-122"/>
                <a:cs typeface="Calibri" pitchFamily="34" charset="-120"/>
              </a:rPr>
              <a:t>A practical rule set you can actually use</a:t>
            </a:r>
            <a:endParaRPr lang="en-US" sz="1500" dirty="0"/>
          </a:p>
        </p:txBody>
      </p:sp>
      <p:sp>
        <p:nvSpPr>
          <p:cNvPr id="4" name="Shape 2"/>
          <p:cNvSpPr/>
          <p:nvPr/>
        </p:nvSpPr>
        <p:spPr>
          <a:xfrm>
            <a:off x="777240" y="1554480"/>
            <a:ext cx="5212080" cy="2148840"/>
          </a:xfrm>
          <a:prstGeom prst="roundRect">
            <a:avLst>
              <a:gd name="adj" fmla="val 2553"/>
            </a:avLst>
          </a:prstGeom>
          <a:solidFill>
            <a:srgbClr val="EAF5EF"/>
          </a:solidFill>
          <a:ln w="12700">
            <a:solidFill>
              <a:srgbClr val="E1E8ED"/>
            </a:solidFill>
            <a:prstDash val="solid"/>
          </a:ln>
        </p:spPr>
        <p:txBody>
          <a:bodyPr/>
          <a:lstStyle/>
          <a:p>
            <a:endParaRPr lang="en-US"/>
          </a:p>
        </p:txBody>
      </p:sp>
      <p:sp>
        <p:nvSpPr>
          <p:cNvPr id="5" name="Text 3"/>
          <p:cNvSpPr/>
          <p:nvPr/>
        </p:nvSpPr>
        <p:spPr>
          <a:xfrm>
            <a:off x="1033272" y="1737360"/>
            <a:ext cx="4754880" cy="365760"/>
          </a:xfrm>
          <a:prstGeom prst="rect">
            <a:avLst/>
          </a:prstGeom>
          <a:noFill/>
          <a:ln/>
        </p:spPr>
        <p:txBody>
          <a:bodyPr wrap="square" lIns="0" tIns="0" rIns="0" bIns="0" rtlCol="0" anchor="ctr"/>
          <a:lstStyle/>
          <a:p>
            <a:pPr marL="0" indent="0">
              <a:buNone/>
            </a:pPr>
            <a:r>
              <a:rPr lang="en-US" sz="1550" b="1" dirty="0">
                <a:solidFill>
                  <a:srgbClr val="2E7D5B"/>
                </a:solidFill>
                <a:latin typeface="Calibri" pitchFamily="34" charset="0"/>
                <a:ea typeface="Calibri" pitchFamily="34" charset="-122"/>
                <a:cs typeface="Calibri" pitchFamily="34" charset="-120"/>
              </a:rPr>
              <a:t>Good candidates</a:t>
            </a:r>
            <a:endParaRPr lang="en-US" sz="1550" dirty="0"/>
          </a:p>
        </p:txBody>
      </p:sp>
      <p:sp>
        <p:nvSpPr>
          <p:cNvPr id="6" name="Text 4"/>
          <p:cNvSpPr/>
          <p:nvPr/>
        </p:nvSpPr>
        <p:spPr>
          <a:xfrm>
            <a:off x="1033272" y="2130552"/>
            <a:ext cx="4754880" cy="1371600"/>
          </a:xfrm>
          <a:prstGeom prst="rect">
            <a:avLst/>
          </a:prstGeom>
          <a:noFill/>
          <a:ln/>
        </p:spPr>
        <p:txBody>
          <a:bodyPr wrap="square" lIns="0" tIns="0" rIns="0" bIns="0" rtlCol="0" anchor="ctr"/>
          <a:lstStyle/>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Columns used in WHERE clauses</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Foreign keys used in joins</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Columns you sort or group by</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High-variety columns: phone, email, order ID</a:t>
            </a:r>
            <a:endParaRPr lang="en-US" sz="1250" dirty="0"/>
          </a:p>
        </p:txBody>
      </p:sp>
      <p:sp>
        <p:nvSpPr>
          <p:cNvPr id="7" name="Shape 5"/>
          <p:cNvSpPr/>
          <p:nvPr/>
        </p:nvSpPr>
        <p:spPr>
          <a:xfrm>
            <a:off x="6172200" y="1554480"/>
            <a:ext cx="5212080" cy="2148840"/>
          </a:xfrm>
          <a:prstGeom prst="roundRect">
            <a:avLst>
              <a:gd name="adj" fmla="val 2553"/>
            </a:avLst>
          </a:prstGeom>
          <a:solidFill>
            <a:srgbClr val="FDF0EE"/>
          </a:solidFill>
          <a:ln w="12700">
            <a:solidFill>
              <a:srgbClr val="E1E8ED"/>
            </a:solidFill>
            <a:prstDash val="solid"/>
          </a:ln>
        </p:spPr>
        <p:txBody>
          <a:bodyPr/>
          <a:lstStyle/>
          <a:p>
            <a:endParaRPr lang="en-US"/>
          </a:p>
        </p:txBody>
      </p:sp>
      <p:sp>
        <p:nvSpPr>
          <p:cNvPr id="8" name="Text 6"/>
          <p:cNvSpPr/>
          <p:nvPr/>
        </p:nvSpPr>
        <p:spPr>
          <a:xfrm>
            <a:off x="6428232" y="1737360"/>
            <a:ext cx="4754880" cy="365760"/>
          </a:xfrm>
          <a:prstGeom prst="rect">
            <a:avLst/>
          </a:prstGeom>
          <a:noFill/>
          <a:ln/>
        </p:spPr>
        <p:txBody>
          <a:bodyPr wrap="square" lIns="0" tIns="0" rIns="0" bIns="0" rtlCol="0" anchor="ctr"/>
          <a:lstStyle/>
          <a:p>
            <a:pPr marL="0" indent="0">
              <a:buNone/>
            </a:pPr>
            <a:r>
              <a:rPr lang="en-US" sz="1550" b="1" dirty="0">
                <a:solidFill>
                  <a:srgbClr val="A03A3A"/>
                </a:solidFill>
                <a:latin typeface="Calibri" pitchFamily="34" charset="0"/>
                <a:ea typeface="Calibri" pitchFamily="34" charset="-122"/>
                <a:cs typeface="Calibri" pitchFamily="34" charset="-120"/>
              </a:rPr>
              <a:t>Poor candidates</a:t>
            </a:r>
            <a:endParaRPr lang="en-US" sz="1550" dirty="0"/>
          </a:p>
        </p:txBody>
      </p:sp>
      <p:sp>
        <p:nvSpPr>
          <p:cNvPr id="9" name="Text 7"/>
          <p:cNvSpPr/>
          <p:nvPr/>
        </p:nvSpPr>
        <p:spPr>
          <a:xfrm>
            <a:off x="6428232" y="2130552"/>
            <a:ext cx="4754880" cy="1371600"/>
          </a:xfrm>
          <a:prstGeom prst="rect">
            <a:avLst/>
          </a:prstGeom>
          <a:noFill/>
          <a:ln/>
        </p:spPr>
        <p:txBody>
          <a:bodyPr wrap="square" lIns="0" tIns="0" rIns="0" bIns="0" rtlCol="0" anchor="ctr"/>
          <a:lstStyle/>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Low-variety columns like a yes/no flag</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Columns that are written constantly</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Tables small enough to scan anyway</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Anything you added "just in case"</a:t>
            </a:r>
            <a:endParaRPr lang="en-US" sz="1250" dirty="0"/>
          </a:p>
        </p:txBody>
      </p:sp>
      <p:sp>
        <p:nvSpPr>
          <p:cNvPr id="10" name="Shape 8"/>
          <p:cNvSpPr/>
          <p:nvPr/>
        </p:nvSpPr>
        <p:spPr>
          <a:xfrm>
            <a:off x="777240" y="3931920"/>
            <a:ext cx="10607040" cy="640080"/>
          </a:xfrm>
          <a:prstGeom prst="roundRect">
            <a:avLst>
              <a:gd name="adj" fmla="val 7143"/>
            </a:avLst>
          </a:prstGeom>
          <a:solidFill>
            <a:srgbClr val="FFFFFF"/>
          </a:solidFill>
          <a:ln w="12700">
            <a:solidFill>
              <a:srgbClr val="E1E8ED"/>
            </a:solidFill>
            <a:prstDash val="solid"/>
          </a:ln>
        </p:spPr>
        <p:txBody>
          <a:bodyPr/>
          <a:lstStyle/>
          <a:p>
            <a:endParaRPr lang="en-US"/>
          </a:p>
        </p:txBody>
      </p:sp>
      <p:sp>
        <p:nvSpPr>
          <p:cNvPr id="11" name="Text 9"/>
          <p:cNvSpPr/>
          <p:nvPr/>
        </p:nvSpPr>
        <p:spPr>
          <a:xfrm>
            <a:off x="1097280" y="3931920"/>
            <a:ext cx="3200400" cy="640080"/>
          </a:xfrm>
          <a:prstGeom prst="rect">
            <a:avLst/>
          </a:prstGeom>
          <a:noFill/>
          <a:ln/>
        </p:spPr>
        <p:txBody>
          <a:bodyPr wrap="square" lIns="0" tIns="0" rIns="0" bIns="0" rtlCol="0" anchor="ctr"/>
          <a:lstStyle/>
          <a:p>
            <a:pPr marL="0" indent="0">
              <a:buNone/>
            </a:pPr>
            <a:r>
              <a:rPr lang="en-US" sz="1350" b="1" dirty="0">
                <a:solidFill>
                  <a:srgbClr val="065A82"/>
                </a:solidFill>
                <a:latin typeface="Calibri" pitchFamily="34" charset="0"/>
                <a:ea typeface="Calibri" pitchFamily="34" charset="-122"/>
                <a:cs typeface="Calibri" pitchFamily="34" charset="-120"/>
              </a:rPr>
              <a:t>EXPLAIN is your friend</a:t>
            </a:r>
            <a:endParaRPr lang="en-US" sz="1350" dirty="0"/>
          </a:p>
        </p:txBody>
      </p:sp>
      <p:sp>
        <p:nvSpPr>
          <p:cNvPr id="12" name="Text 10"/>
          <p:cNvSpPr/>
          <p:nvPr/>
        </p:nvSpPr>
        <p:spPr>
          <a:xfrm>
            <a:off x="4389120" y="3931920"/>
            <a:ext cx="6766560" cy="640080"/>
          </a:xfrm>
          <a:prstGeom prst="rect">
            <a:avLst/>
          </a:prstGeom>
          <a:noFill/>
          <a:ln/>
        </p:spPr>
        <p:txBody>
          <a:bodyPr wrap="square" lIns="0" tIns="0" rIns="0" bIns="0" rtlCol="0" anchor="ctr"/>
          <a:lstStyle/>
          <a:p>
            <a:pPr marL="0" indent="0">
              <a:buNone/>
            </a:pPr>
            <a:r>
              <a:rPr lang="en-US" sz="1250" dirty="0">
                <a:solidFill>
                  <a:srgbClr val="1B2A33"/>
                </a:solidFill>
                <a:latin typeface="Calibri" pitchFamily="34" charset="0"/>
                <a:ea typeface="Calibri" pitchFamily="34" charset="-122"/>
                <a:cs typeface="Calibri" pitchFamily="34" charset="-120"/>
              </a:rPr>
              <a:t>Every SQL database can show you whether a query used an index or scanned the table. Check before guessing.</a:t>
            </a:r>
            <a:endParaRPr lang="en-US" sz="1250" dirty="0"/>
          </a:p>
        </p:txBody>
      </p:sp>
      <p:sp>
        <p:nvSpPr>
          <p:cNvPr id="13" name="Shape 11"/>
          <p:cNvSpPr/>
          <p:nvPr/>
        </p:nvSpPr>
        <p:spPr>
          <a:xfrm>
            <a:off x="777240" y="4681728"/>
            <a:ext cx="10607040" cy="640080"/>
          </a:xfrm>
          <a:prstGeom prst="roundRect">
            <a:avLst>
              <a:gd name="adj" fmla="val 7143"/>
            </a:avLst>
          </a:prstGeom>
          <a:solidFill>
            <a:srgbClr val="F4F7F9"/>
          </a:solidFill>
          <a:ln w="12700">
            <a:solidFill>
              <a:srgbClr val="E1E8ED"/>
            </a:solidFill>
            <a:prstDash val="solid"/>
          </a:ln>
        </p:spPr>
        <p:txBody>
          <a:bodyPr/>
          <a:lstStyle/>
          <a:p>
            <a:endParaRPr lang="en-US"/>
          </a:p>
        </p:txBody>
      </p:sp>
      <p:sp>
        <p:nvSpPr>
          <p:cNvPr id="14" name="Text 12"/>
          <p:cNvSpPr/>
          <p:nvPr/>
        </p:nvSpPr>
        <p:spPr>
          <a:xfrm>
            <a:off x="1097280" y="4681728"/>
            <a:ext cx="3200400" cy="640080"/>
          </a:xfrm>
          <a:prstGeom prst="rect">
            <a:avLst/>
          </a:prstGeom>
          <a:noFill/>
          <a:ln/>
        </p:spPr>
        <p:txBody>
          <a:bodyPr wrap="square" lIns="0" tIns="0" rIns="0" bIns="0" rtlCol="0" anchor="ctr"/>
          <a:lstStyle/>
          <a:p>
            <a:pPr marL="0" indent="0">
              <a:buNone/>
            </a:pPr>
            <a:r>
              <a:rPr lang="en-US" sz="1350" b="1" dirty="0">
                <a:solidFill>
                  <a:srgbClr val="065A82"/>
                </a:solidFill>
                <a:latin typeface="Calibri" pitchFamily="34" charset="0"/>
                <a:ea typeface="Calibri" pitchFamily="34" charset="-122"/>
                <a:cs typeface="Calibri" pitchFamily="34" charset="-120"/>
              </a:rPr>
              <a:t>Order matters in composite indexes</a:t>
            </a:r>
            <a:endParaRPr lang="en-US" sz="1350" dirty="0"/>
          </a:p>
        </p:txBody>
      </p:sp>
      <p:sp>
        <p:nvSpPr>
          <p:cNvPr id="15" name="Text 13"/>
          <p:cNvSpPr/>
          <p:nvPr/>
        </p:nvSpPr>
        <p:spPr>
          <a:xfrm>
            <a:off x="4389120" y="4681728"/>
            <a:ext cx="6766560" cy="640080"/>
          </a:xfrm>
          <a:prstGeom prst="rect">
            <a:avLst/>
          </a:prstGeom>
          <a:noFill/>
          <a:ln/>
        </p:spPr>
        <p:txBody>
          <a:bodyPr wrap="square" lIns="0" tIns="0" rIns="0" bIns="0" rtlCol="0" anchor="ctr"/>
          <a:lstStyle/>
          <a:p>
            <a:pPr marL="0" indent="0">
              <a:buNone/>
            </a:pPr>
            <a:r>
              <a:rPr lang="en-US" sz="1250" dirty="0">
                <a:solidFill>
                  <a:srgbClr val="1B2A33"/>
                </a:solidFill>
                <a:latin typeface="Calibri" pitchFamily="34" charset="0"/>
                <a:ea typeface="Calibri" pitchFamily="34" charset="-122"/>
                <a:cs typeface="Calibri" pitchFamily="34" charset="-120"/>
              </a:rPr>
              <a:t>An index on (city, date) helps a query filtered by city, but not one filtered only by date.</a:t>
            </a:r>
            <a:endParaRPr lang="en-US" sz="1250" dirty="0"/>
          </a:p>
        </p:txBody>
      </p:sp>
      <p:sp>
        <p:nvSpPr>
          <p:cNvPr id="16" name="Shape 14"/>
          <p:cNvSpPr/>
          <p:nvPr/>
        </p:nvSpPr>
        <p:spPr>
          <a:xfrm>
            <a:off x="777240" y="5431536"/>
            <a:ext cx="10607040" cy="640080"/>
          </a:xfrm>
          <a:prstGeom prst="roundRect">
            <a:avLst>
              <a:gd name="adj" fmla="val 7143"/>
            </a:avLst>
          </a:prstGeom>
          <a:solidFill>
            <a:srgbClr val="FFFFFF"/>
          </a:solidFill>
          <a:ln w="12700">
            <a:solidFill>
              <a:srgbClr val="E1E8ED"/>
            </a:solidFill>
            <a:prstDash val="solid"/>
          </a:ln>
        </p:spPr>
        <p:txBody>
          <a:bodyPr/>
          <a:lstStyle/>
          <a:p>
            <a:endParaRPr lang="en-US"/>
          </a:p>
        </p:txBody>
      </p:sp>
      <p:sp>
        <p:nvSpPr>
          <p:cNvPr id="17" name="Text 15"/>
          <p:cNvSpPr/>
          <p:nvPr/>
        </p:nvSpPr>
        <p:spPr>
          <a:xfrm>
            <a:off x="1097280" y="5431536"/>
            <a:ext cx="3200400" cy="640080"/>
          </a:xfrm>
          <a:prstGeom prst="rect">
            <a:avLst/>
          </a:prstGeom>
          <a:noFill/>
          <a:ln/>
        </p:spPr>
        <p:txBody>
          <a:bodyPr wrap="square" lIns="0" tIns="0" rIns="0" bIns="0" rtlCol="0" anchor="ctr"/>
          <a:lstStyle/>
          <a:p>
            <a:pPr marL="0" indent="0">
              <a:buNone/>
            </a:pPr>
            <a:r>
              <a:rPr lang="en-US" sz="1350" b="1" dirty="0">
                <a:solidFill>
                  <a:srgbClr val="065A82"/>
                </a:solidFill>
                <a:latin typeface="Calibri" pitchFamily="34" charset="0"/>
                <a:ea typeface="Calibri" pitchFamily="34" charset="-122"/>
                <a:cs typeface="Calibri" pitchFamily="34" charset="-120"/>
              </a:rPr>
              <a:t>The primary key is already indexed</a:t>
            </a:r>
            <a:endParaRPr lang="en-US" sz="1350" dirty="0"/>
          </a:p>
        </p:txBody>
      </p:sp>
      <p:sp>
        <p:nvSpPr>
          <p:cNvPr id="18" name="Text 16"/>
          <p:cNvSpPr/>
          <p:nvPr/>
        </p:nvSpPr>
        <p:spPr>
          <a:xfrm>
            <a:off x="4389120" y="5431536"/>
            <a:ext cx="6766560" cy="640080"/>
          </a:xfrm>
          <a:prstGeom prst="rect">
            <a:avLst/>
          </a:prstGeom>
          <a:noFill/>
          <a:ln/>
        </p:spPr>
        <p:txBody>
          <a:bodyPr wrap="square" lIns="0" tIns="0" rIns="0" bIns="0" rtlCol="0" anchor="ctr"/>
          <a:lstStyle/>
          <a:p>
            <a:pPr marL="0" indent="0">
              <a:buNone/>
            </a:pPr>
            <a:r>
              <a:rPr lang="en-US" sz="1250" dirty="0">
                <a:solidFill>
                  <a:srgbClr val="1B2A33"/>
                </a:solidFill>
                <a:latin typeface="Calibri" pitchFamily="34" charset="0"/>
                <a:ea typeface="Calibri" pitchFamily="34" charset="-122"/>
                <a:cs typeface="Calibri" pitchFamily="34" charset="-120"/>
              </a:rPr>
              <a:t>Lookups by ID are fast for free. This is why Lecture 3 fetched exactly forty products by ID.</a:t>
            </a:r>
            <a:endParaRPr lang="en-US" sz="1250" dirty="0"/>
          </a:p>
        </p:txBody>
      </p:sp>
      <p:sp>
        <p:nvSpPr>
          <p:cNvPr id="19" name="Text 17"/>
          <p:cNvSpPr/>
          <p:nvPr/>
        </p:nvSpPr>
        <p:spPr>
          <a:xfrm>
            <a:off x="777240" y="6263640"/>
            <a:ext cx="10607040" cy="365760"/>
          </a:xfrm>
          <a:prstGeom prst="rect">
            <a:avLst/>
          </a:prstGeom>
          <a:noFill/>
          <a:ln/>
        </p:spPr>
        <p:txBody>
          <a:bodyPr wrap="square" lIns="0" tIns="0" rIns="0" bIns="0" rtlCol="0" anchor="ctr"/>
          <a:lstStyle/>
          <a:p>
            <a:pPr marL="0" indent="0">
              <a:buNone/>
            </a:pPr>
            <a:r>
              <a:rPr lang="en-US" sz="1400" b="1" i="1" dirty="0">
                <a:solidFill>
                  <a:srgbClr val="065A82"/>
                </a:solidFill>
                <a:latin typeface="Calibri" pitchFamily="34" charset="0"/>
                <a:ea typeface="Calibri" pitchFamily="34" charset="-122"/>
                <a:cs typeface="Calibri" pitchFamily="34" charset="-120"/>
              </a:rPr>
              <a:t>Rule of thumb: index what you search by, not everything you store.</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40080"/>
          </a:xfrm>
          <a:prstGeom prst="rect">
            <a:avLst/>
          </a:prstGeom>
          <a:noFill/>
          <a:ln/>
        </p:spPr>
        <p:txBody>
          <a:bodyPr wrap="square" lIns="0" tIns="0" rIns="0" bIns="0" rtlCol="0" anchor="ctr"/>
          <a:lstStyle/>
          <a:p>
            <a:pPr marL="0" indent="0">
              <a:buNone/>
            </a:pPr>
            <a:r>
              <a:rPr lang="en-US" sz="3100" b="1" dirty="0">
                <a:solidFill>
                  <a:srgbClr val="13293D"/>
                </a:solidFill>
                <a:latin typeface="Cambria" pitchFamily="34" charset="0"/>
                <a:ea typeface="Cambria" pitchFamily="34" charset="-122"/>
                <a:cs typeface="Cambria" pitchFamily="34" charset="-120"/>
              </a:rPr>
              <a:t>The Data Layer So Far</a:t>
            </a:r>
            <a:endParaRPr lang="en-US" sz="3100" dirty="0"/>
          </a:p>
        </p:txBody>
      </p:sp>
      <p:sp>
        <p:nvSpPr>
          <p:cNvPr id="3" name="Text 1"/>
          <p:cNvSpPr/>
          <p:nvPr/>
        </p:nvSpPr>
        <p:spPr>
          <a:xfrm>
            <a:off x="658368" y="1005840"/>
            <a:ext cx="10972800" cy="384048"/>
          </a:xfrm>
          <a:prstGeom prst="rect">
            <a:avLst/>
          </a:prstGeom>
          <a:noFill/>
          <a:ln/>
        </p:spPr>
        <p:txBody>
          <a:bodyPr wrap="square" lIns="0" tIns="0" rIns="0" bIns="0" rtlCol="0" anchor="ctr"/>
          <a:lstStyle/>
          <a:p>
            <a:pPr marL="0" indent="0">
              <a:buNone/>
            </a:pPr>
            <a:r>
              <a:rPr lang="en-US" sz="1500" i="1" dirty="0">
                <a:solidFill>
                  <a:srgbClr val="5A6B76"/>
                </a:solidFill>
                <a:latin typeface="Calibri" pitchFamily="34" charset="0"/>
                <a:ea typeface="Calibri" pitchFamily="34" charset="-122"/>
                <a:cs typeface="Calibri" pitchFamily="34" charset="-120"/>
              </a:rPr>
              <a:t>Three fixes applied, one problem remaining</a:t>
            </a:r>
            <a:endParaRPr lang="en-US" sz="1500" dirty="0"/>
          </a:p>
        </p:txBody>
      </p:sp>
      <p:sp>
        <p:nvSpPr>
          <p:cNvPr id="4" name="Shape 2"/>
          <p:cNvSpPr/>
          <p:nvPr/>
        </p:nvSpPr>
        <p:spPr>
          <a:xfrm>
            <a:off x="777240" y="2286000"/>
            <a:ext cx="1737360" cy="822960"/>
          </a:xfrm>
          <a:prstGeom prst="roundRect">
            <a:avLst>
              <a:gd name="adj" fmla="val 6667"/>
            </a:avLst>
          </a:prstGeom>
          <a:solidFill>
            <a:srgbClr val="1C7293"/>
          </a:solidFill>
          <a:ln/>
        </p:spPr>
        <p:txBody>
          <a:bodyPr/>
          <a:lstStyle/>
          <a:p>
            <a:endParaRPr lang="en-US"/>
          </a:p>
        </p:txBody>
      </p:sp>
      <p:sp>
        <p:nvSpPr>
          <p:cNvPr id="5" name="Text 3"/>
          <p:cNvSpPr/>
          <p:nvPr/>
        </p:nvSpPr>
        <p:spPr>
          <a:xfrm>
            <a:off x="777240" y="2286000"/>
            <a:ext cx="1737360" cy="82296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Users</a:t>
            </a:r>
            <a:endParaRPr lang="en-US" sz="1350" dirty="0"/>
          </a:p>
        </p:txBody>
      </p:sp>
      <p:sp>
        <p:nvSpPr>
          <p:cNvPr id="6" name="Shape 4"/>
          <p:cNvSpPr/>
          <p:nvPr/>
        </p:nvSpPr>
        <p:spPr>
          <a:xfrm>
            <a:off x="3063240" y="2286000"/>
            <a:ext cx="1920240" cy="822960"/>
          </a:xfrm>
          <a:prstGeom prst="roundRect">
            <a:avLst>
              <a:gd name="adj" fmla="val 6667"/>
            </a:avLst>
          </a:prstGeom>
          <a:solidFill>
            <a:srgbClr val="065A82"/>
          </a:solidFill>
          <a:ln/>
        </p:spPr>
        <p:txBody>
          <a:bodyPr/>
          <a:lstStyle/>
          <a:p>
            <a:endParaRPr lang="en-US"/>
          </a:p>
        </p:txBody>
      </p:sp>
      <p:sp>
        <p:nvSpPr>
          <p:cNvPr id="7" name="Text 5"/>
          <p:cNvSpPr/>
          <p:nvPr/>
        </p:nvSpPr>
        <p:spPr>
          <a:xfrm>
            <a:off x="3063240" y="2395728"/>
            <a:ext cx="1920240" cy="310896"/>
          </a:xfrm>
          <a:prstGeom prst="rect">
            <a:avLst/>
          </a:prstGeom>
          <a:noFill/>
          <a:ln/>
        </p:spPr>
        <p:txBody>
          <a:bodyPr wrap="square" lIns="0" tIns="0" rIns="0" bIns="0" rtlCol="0" anchor="t"/>
          <a:lstStyle/>
          <a:p>
            <a:pPr marL="0" indent="0" algn="ctr">
              <a:buNone/>
            </a:pPr>
            <a:r>
              <a:rPr lang="en-US" sz="1350" b="1" dirty="0">
                <a:solidFill>
                  <a:srgbClr val="FFFFFF"/>
                </a:solidFill>
                <a:latin typeface="Calibri" pitchFamily="34" charset="0"/>
                <a:ea typeface="Calibri" pitchFamily="34" charset="-122"/>
                <a:cs typeface="Calibri" pitchFamily="34" charset="-120"/>
              </a:rPr>
              <a:t>App servers</a:t>
            </a:r>
            <a:endParaRPr lang="en-US" sz="1350" dirty="0"/>
          </a:p>
        </p:txBody>
      </p:sp>
      <p:sp>
        <p:nvSpPr>
          <p:cNvPr id="8" name="Text 6"/>
          <p:cNvSpPr/>
          <p:nvPr/>
        </p:nvSpPr>
        <p:spPr>
          <a:xfrm>
            <a:off x="3063240" y="2697480"/>
            <a:ext cx="1920240" cy="274320"/>
          </a:xfrm>
          <a:prstGeom prst="rect">
            <a:avLst/>
          </a:prstGeom>
          <a:noFill/>
          <a:ln/>
        </p:spPr>
        <p:txBody>
          <a:bodyPr wrap="square" lIns="0" tIns="0" rIns="0" bIns="0" rtlCol="0" anchor="ctr"/>
          <a:lstStyle/>
          <a:p>
            <a:pPr marL="0" indent="0" algn="ctr">
              <a:buNone/>
            </a:pPr>
            <a:r>
              <a:rPr lang="en-US" sz="1000" dirty="0">
                <a:solidFill>
                  <a:srgbClr val="9AD1D4"/>
                </a:solidFill>
                <a:latin typeface="Calibri" pitchFamily="34" charset="0"/>
                <a:ea typeface="Calibri" pitchFamily="34" charset="-122"/>
                <a:cs typeface="Calibri" pitchFamily="34" charset="-120"/>
              </a:rPr>
              <a:t>stateless now</a:t>
            </a:r>
            <a:endParaRPr lang="en-US" sz="1000" dirty="0"/>
          </a:p>
        </p:txBody>
      </p:sp>
      <p:sp>
        <p:nvSpPr>
          <p:cNvPr id="9" name="Shape 7"/>
          <p:cNvSpPr/>
          <p:nvPr/>
        </p:nvSpPr>
        <p:spPr>
          <a:xfrm>
            <a:off x="5577840" y="1417320"/>
            <a:ext cx="2286000" cy="777240"/>
          </a:xfrm>
          <a:prstGeom prst="roundRect">
            <a:avLst>
              <a:gd name="adj" fmla="val 7059"/>
            </a:avLst>
          </a:prstGeom>
          <a:solidFill>
            <a:srgbClr val="6B4E71"/>
          </a:solidFill>
          <a:ln/>
        </p:spPr>
        <p:txBody>
          <a:bodyPr/>
          <a:lstStyle/>
          <a:p>
            <a:endParaRPr lang="en-US"/>
          </a:p>
        </p:txBody>
      </p:sp>
      <p:sp>
        <p:nvSpPr>
          <p:cNvPr id="10" name="Text 8"/>
          <p:cNvSpPr/>
          <p:nvPr/>
        </p:nvSpPr>
        <p:spPr>
          <a:xfrm>
            <a:off x="5577840" y="1508760"/>
            <a:ext cx="2286000" cy="32004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Redis</a:t>
            </a:r>
            <a:endParaRPr lang="en-US" sz="1350" dirty="0"/>
          </a:p>
        </p:txBody>
      </p:sp>
      <p:sp>
        <p:nvSpPr>
          <p:cNvPr id="11" name="Text 9"/>
          <p:cNvSpPr/>
          <p:nvPr/>
        </p:nvSpPr>
        <p:spPr>
          <a:xfrm>
            <a:off x="5577840" y="1828800"/>
            <a:ext cx="2286000" cy="274320"/>
          </a:xfrm>
          <a:prstGeom prst="rect">
            <a:avLst/>
          </a:prstGeom>
          <a:noFill/>
          <a:ln/>
        </p:spPr>
        <p:txBody>
          <a:bodyPr wrap="square" lIns="0" tIns="0" rIns="0" bIns="0" rtlCol="0" anchor="ctr"/>
          <a:lstStyle/>
          <a:p>
            <a:pPr marL="0" indent="0" algn="ctr">
              <a:buNone/>
            </a:pPr>
            <a:r>
              <a:rPr lang="en-US" sz="1000" dirty="0">
                <a:solidFill>
                  <a:srgbClr val="9AD1D4"/>
                </a:solidFill>
                <a:latin typeface="Calibri" pitchFamily="34" charset="0"/>
                <a:ea typeface="Calibri" pitchFamily="34" charset="-122"/>
                <a:cs typeface="Calibri" pitchFamily="34" charset="-120"/>
              </a:rPr>
              <a:t>sessions + hot data</a:t>
            </a:r>
            <a:endParaRPr lang="en-US" sz="1000" dirty="0"/>
          </a:p>
        </p:txBody>
      </p:sp>
      <p:sp>
        <p:nvSpPr>
          <p:cNvPr id="12" name="Shape 10"/>
          <p:cNvSpPr/>
          <p:nvPr/>
        </p:nvSpPr>
        <p:spPr>
          <a:xfrm>
            <a:off x="5577840" y="2514600"/>
            <a:ext cx="2286000" cy="777240"/>
          </a:xfrm>
          <a:prstGeom prst="roundRect">
            <a:avLst>
              <a:gd name="adj" fmla="val 7059"/>
            </a:avLst>
          </a:prstGeom>
          <a:solidFill>
            <a:srgbClr val="A03A3A"/>
          </a:solidFill>
          <a:ln/>
        </p:spPr>
        <p:txBody>
          <a:bodyPr/>
          <a:lstStyle/>
          <a:p>
            <a:endParaRPr lang="en-US"/>
          </a:p>
        </p:txBody>
      </p:sp>
      <p:sp>
        <p:nvSpPr>
          <p:cNvPr id="13" name="Text 11"/>
          <p:cNvSpPr/>
          <p:nvPr/>
        </p:nvSpPr>
        <p:spPr>
          <a:xfrm>
            <a:off x="5577840" y="2624328"/>
            <a:ext cx="2286000" cy="310896"/>
          </a:xfrm>
          <a:prstGeom prst="rect">
            <a:avLst/>
          </a:prstGeom>
          <a:noFill/>
          <a:ln/>
        </p:spPr>
        <p:txBody>
          <a:bodyPr wrap="square" lIns="0" tIns="0" rIns="0" bIns="0" rtlCol="0" anchor="t"/>
          <a:lstStyle/>
          <a:p>
            <a:pPr marL="0" indent="0" algn="ctr">
              <a:buNone/>
            </a:pPr>
            <a:r>
              <a:rPr lang="en-US" sz="1350" b="1" dirty="0">
                <a:solidFill>
                  <a:srgbClr val="FFFFFF"/>
                </a:solidFill>
                <a:latin typeface="Calibri" pitchFamily="34" charset="0"/>
                <a:ea typeface="Calibri" pitchFamily="34" charset="-122"/>
                <a:cs typeface="Calibri" pitchFamily="34" charset="-120"/>
              </a:rPr>
              <a:t>Primary</a:t>
            </a:r>
            <a:endParaRPr lang="en-US" sz="1350" dirty="0"/>
          </a:p>
        </p:txBody>
      </p:sp>
      <p:sp>
        <p:nvSpPr>
          <p:cNvPr id="14" name="Text 12"/>
          <p:cNvSpPr/>
          <p:nvPr/>
        </p:nvSpPr>
        <p:spPr>
          <a:xfrm>
            <a:off x="5577840" y="2926080"/>
            <a:ext cx="2286000" cy="274320"/>
          </a:xfrm>
          <a:prstGeom prst="rect">
            <a:avLst/>
          </a:prstGeom>
          <a:noFill/>
          <a:ln/>
        </p:spPr>
        <p:txBody>
          <a:bodyPr wrap="square" lIns="0" tIns="0" rIns="0" bIns="0" rtlCol="0" anchor="ctr"/>
          <a:lstStyle/>
          <a:p>
            <a:pPr marL="0" indent="0" algn="ctr">
              <a:buNone/>
            </a:pPr>
            <a:r>
              <a:rPr lang="en-US" sz="1000" dirty="0">
                <a:solidFill>
                  <a:srgbClr val="9AD1D4"/>
                </a:solidFill>
                <a:latin typeface="Calibri" pitchFamily="34" charset="0"/>
                <a:ea typeface="Calibri" pitchFamily="34" charset="-122"/>
                <a:cs typeface="Calibri" pitchFamily="34" charset="-120"/>
              </a:rPr>
              <a:t>writes, indexed</a:t>
            </a:r>
            <a:endParaRPr lang="en-US" sz="1000" dirty="0"/>
          </a:p>
        </p:txBody>
      </p:sp>
      <p:sp>
        <p:nvSpPr>
          <p:cNvPr id="15" name="Shape 13"/>
          <p:cNvSpPr/>
          <p:nvPr/>
        </p:nvSpPr>
        <p:spPr>
          <a:xfrm>
            <a:off x="5577840" y="3611880"/>
            <a:ext cx="2286000" cy="731520"/>
          </a:xfrm>
          <a:prstGeom prst="roundRect">
            <a:avLst>
              <a:gd name="adj" fmla="val 7500"/>
            </a:avLst>
          </a:prstGeom>
          <a:solidFill>
            <a:srgbClr val="1C7293"/>
          </a:solidFill>
          <a:ln/>
        </p:spPr>
        <p:txBody>
          <a:bodyPr/>
          <a:lstStyle/>
          <a:p>
            <a:endParaRPr lang="en-US"/>
          </a:p>
        </p:txBody>
      </p:sp>
      <p:sp>
        <p:nvSpPr>
          <p:cNvPr id="16" name="Text 14"/>
          <p:cNvSpPr/>
          <p:nvPr/>
        </p:nvSpPr>
        <p:spPr>
          <a:xfrm>
            <a:off x="5577840" y="3721608"/>
            <a:ext cx="2286000" cy="310896"/>
          </a:xfrm>
          <a:prstGeom prst="rect">
            <a:avLst/>
          </a:prstGeom>
          <a:noFill/>
          <a:ln/>
        </p:spPr>
        <p:txBody>
          <a:bodyPr wrap="square" lIns="0" tIns="0" rIns="0" bIns="0" rtlCol="0" anchor="t"/>
          <a:lstStyle/>
          <a:p>
            <a:pPr marL="0" indent="0" algn="ctr">
              <a:buNone/>
            </a:pPr>
            <a:r>
              <a:rPr lang="en-US" sz="1350" b="1" dirty="0">
                <a:solidFill>
                  <a:srgbClr val="FFFFFF"/>
                </a:solidFill>
                <a:latin typeface="Calibri" pitchFamily="34" charset="0"/>
                <a:ea typeface="Calibri" pitchFamily="34" charset="-122"/>
                <a:cs typeface="Calibri" pitchFamily="34" charset="-120"/>
              </a:rPr>
              <a:t>Replica 1</a:t>
            </a:r>
            <a:endParaRPr lang="en-US" sz="1350" dirty="0"/>
          </a:p>
        </p:txBody>
      </p:sp>
      <p:sp>
        <p:nvSpPr>
          <p:cNvPr id="17" name="Text 15"/>
          <p:cNvSpPr/>
          <p:nvPr/>
        </p:nvSpPr>
        <p:spPr>
          <a:xfrm>
            <a:off x="5577840" y="4023360"/>
            <a:ext cx="2286000" cy="274320"/>
          </a:xfrm>
          <a:prstGeom prst="rect">
            <a:avLst/>
          </a:prstGeom>
          <a:noFill/>
          <a:ln/>
        </p:spPr>
        <p:txBody>
          <a:bodyPr wrap="square" lIns="0" tIns="0" rIns="0" bIns="0" rtlCol="0" anchor="ctr"/>
          <a:lstStyle/>
          <a:p>
            <a:pPr marL="0" indent="0" algn="ctr">
              <a:buNone/>
            </a:pPr>
            <a:r>
              <a:rPr lang="en-US" sz="1000" dirty="0">
                <a:solidFill>
                  <a:srgbClr val="9AD1D4"/>
                </a:solidFill>
                <a:latin typeface="Calibri" pitchFamily="34" charset="0"/>
                <a:ea typeface="Calibri" pitchFamily="34" charset="-122"/>
                <a:cs typeface="Calibri" pitchFamily="34" charset="-120"/>
              </a:rPr>
              <a:t>reads</a:t>
            </a:r>
            <a:endParaRPr lang="en-US" sz="1000" dirty="0"/>
          </a:p>
        </p:txBody>
      </p:sp>
      <p:sp>
        <p:nvSpPr>
          <p:cNvPr id="18" name="Shape 16"/>
          <p:cNvSpPr/>
          <p:nvPr/>
        </p:nvSpPr>
        <p:spPr>
          <a:xfrm>
            <a:off x="5577840" y="4526280"/>
            <a:ext cx="2286000" cy="731520"/>
          </a:xfrm>
          <a:prstGeom prst="roundRect">
            <a:avLst>
              <a:gd name="adj" fmla="val 7500"/>
            </a:avLst>
          </a:prstGeom>
          <a:solidFill>
            <a:srgbClr val="1C7293"/>
          </a:solidFill>
          <a:ln/>
        </p:spPr>
        <p:txBody>
          <a:bodyPr/>
          <a:lstStyle/>
          <a:p>
            <a:endParaRPr lang="en-US"/>
          </a:p>
        </p:txBody>
      </p:sp>
      <p:sp>
        <p:nvSpPr>
          <p:cNvPr id="19" name="Text 17"/>
          <p:cNvSpPr/>
          <p:nvPr/>
        </p:nvSpPr>
        <p:spPr>
          <a:xfrm>
            <a:off x="5577840" y="4636008"/>
            <a:ext cx="2286000" cy="310896"/>
          </a:xfrm>
          <a:prstGeom prst="rect">
            <a:avLst/>
          </a:prstGeom>
          <a:noFill/>
          <a:ln/>
        </p:spPr>
        <p:txBody>
          <a:bodyPr wrap="square" lIns="0" tIns="0" rIns="0" bIns="0" rtlCol="0" anchor="t"/>
          <a:lstStyle/>
          <a:p>
            <a:pPr marL="0" indent="0" algn="ctr">
              <a:buNone/>
            </a:pPr>
            <a:r>
              <a:rPr lang="en-US" sz="1350" b="1" dirty="0">
                <a:solidFill>
                  <a:srgbClr val="FFFFFF"/>
                </a:solidFill>
                <a:latin typeface="Calibri" pitchFamily="34" charset="0"/>
                <a:ea typeface="Calibri" pitchFamily="34" charset="-122"/>
                <a:cs typeface="Calibri" pitchFamily="34" charset="-120"/>
              </a:rPr>
              <a:t>Replica 2</a:t>
            </a:r>
            <a:endParaRPr lang="en-US" sz="1350" dirty="0"/>
          </a:p>
        </p:txBody>
      </p:sp>
      <p:sp>
        <p:nvSpPr>
          <p:cNvPr id="20" name="Text 18"/>
          <p:cNvSpPr/>
          <p:nvPr/>
        </p:nvSpPr>
        <p:spPr>
          <a:xfrm>
            <a:off x="5577840" y="4937760"/>
            <a:ext cx="2286000" cy="274320"/>
          </a:xfrm>
          <a:prstGeom prst="rect">
            <a:avLst/>
          </a:prstGeom>
          <a:noFill/>
          <a:ln/>
        </p:spPr>
        <p:txBody>
          <a:bodyPr wrap="square" lIns="0" tIns="0" rIns="0" bIns="0" rtlCol="0" anchor="ctr"/>
          <a:lstStyle/>
          <a:p>
            <a:pPr marL="0" indent="0" algn="ctr">
              <a:buNone/>
            </a:pPr>
            <a:r>
              <a:rPr lang="en-US" sz="1000" dirty="0">
                <a:solidFill>
                  <a:srgbClr val="9AD1D4"/>
                </a:solidFill>
                <a:latin typeface="Calibri" pitchFamily="34" charset="0"/>
                <a:ea typeface="Calibri" pitchFamily="34" charset="-122"/>
                <a:cs typeface="Calibri" pitchFamily="34" charset="-120"/>
              </a:rPr>
              <a:t>reads</a:t>
            </a:r>
            <a:endParaRPr lang="en-US" sz="1000" dirty="0"/>
          </a:p>
        </p:txBody>
      </p:sp>
      <p:sp>
        <p:nvSpPr>
          <p:cNvPr id="21" name="Shape 19"/>
          <p:cNvSpPr/>
          <p:nvPr/>
        </p:nvSpPr>
        <p:spPr>
          <a:xfrm>
            <a:off x="2560320" y="2697480"/>
            <a:ext cx="457200" cy="0"/>
          </a:xfrm>
          <a:prstGeom prst="line">
            <a:avLst/>
          </a:prstGeom>
          <a:noFill/>
          <a:ln w="31750">
            <a:solidFill>
              <a:srgbClr val="E8A33D"/>
            </a:solidFill>
            <a:prstDash val="solid"/>
            <a:headEnd type="none"/>
            <a:tailEnd type="triangle"/>
          </a:ln>
        </p:spPr>
        <p:txBody>
          <a:bodyPr/>
          <a:lstStyle/>
          <a:p>
            <a:endParaRPr lang="en-US"/>
          </a:p>
        </p:txBody>
      </p:sp>
      <p:sp>
        <p:nvSpPr>
          <p:cNvPr id="22" name="Shape 20"/>
          <p:cNvSpPr/>
          <p:nvPr/>
        </p:nvSpPr>
        <p:spPr>
          <a:xfrm flipV="1">
            <a:off x="5029200" y="1810512"/>
            <a:ext cx="502920" cy="886968"/>
          </a:xfrm>
          <a:prstGeom prst="line">
            <a:avLst/>
          </a:prstGeom>
          <a:noFill/>
          <a:ln w="31750">
            <a:solidFill>
              <a:srgbClr val="E8A33D"/>
            </a:solidFill>
            <a:prstDash val="solid"/>
            <a:headEnd type="none"/>
            <a:tailEnd type="triangle"/>
          </a:ln>
        </p:spPr>
        <p:txBody>
          <a:bodyPr/>
          <a:lstStyle/>
          <a:p>
            <a:endParaRPr lang="en-US"/>
          </a:p>
        </p:txBody>
      </p:sp>
      <p:sp>
        <p:nvSpPr>
          <p:cNvPr id="23" name="Shape 21"/>
          <p:cNvSpPr/>
          <p:nvPr/>
        </p:nvSpPr>
        <p:spPr>
          <a:xfrm>
            <a:off x="5029200" y="2697480"/>
            <a:ext cx="502920" cy="210312"/>
          </a:xfrm>
          <a:prstGeom prst="line">
            <a:avLst/>
          </a:prstGeom>
          <a:noFill/>
          <a:ln w="31750">
            <a:solidFill>
              <a:srgbClr val="E8A33D"/>
            </a:solidFill>
            <a:prstDash val="solid"/>
            <a:headEnd type="none"/>
            <a:tailEnd type="triangle"/>
          </a:ln>
        </p:spPr>
        <p:txBody>
          <a:bodyPr/>
          <a:lstStyle/>
          <a:p>
            <a:endParaRPr lang="en-US"/>
          </a:p>
        </p:txBody>
      </p:sp>
      <p:sp>
        <p:nvSpPr>
          <p:cNvPr id="24" name="Shape 22"/>
          <p:cNvSpPr/>
          <p:nvPr/>
        </p:nvSpPr>
        <p:spPr>
          <a:xfrm>
            <a:off x="5029200" y="2697480"/>
            <a:ext cx="502920" cy="1280160"/>
          </a:xfrm>
          <a:prstGeom prst="line">
            <a:avLst/>
          </a:prstGeom>
          <a:noFill/>
          <a:ln w="31750">
            <a:solidFill>
              <a:srgbClr val="E8A33D"/>
            </a:solidFill>
            <a:prstDash val="solid"/>
            <a:headEnd type="none"/>
            <a:tailEnd type="triangle"/>
          </a:ln>
        </p:spPr>
        <p:txBody>
          <a:bodyPr/>
          <a:lstStyle/>
          <a:p>
            <a:endParaRPr lang="en-US"/>
          </a:p>
        </p:txBody>
      </p:sp>
      <p:sp>
        <p:nvSpPr>
          <p:cNvPr id="25" name="Shape 23"/>
          <p:cNvSpPr/>
          <p:nvPr/>
        </p:nvSpPr>
        <p:spPr>
          <a:xfrm>
            <a:off x="5029200" y="2697480"/>
            <a:ext cx="502920" cy="2194560"/>
          </a:xfrm>
          <a:prstGeom prst="line">
            <a:avLst/>
          </a:prstGeom>
          <a:noFill/>
          <a:ln w="31750">
            <a:solidFill>
              <a:srgbClr val="E8A33D"/>
            </a:solidFill>
            <a:prstDash val="solid"/>
            <a:headEnd type="none"/>
            <a:tailEnd type="triangle"/>
          </a:ln>
        </p:spPr>
        <p:txBody>
          <a:bodyPr/>
          <a:lstStyle/>
          <a:p>
            <a:endParaRPr lang="en-US"/>
          </a:p>
        </p:txBody>
      </p:sp>
      <p:sp>
        <p:nvSpPr>
          <p:cNvPr id="26" name="Shape 24"/>
          <p:cNvSpPr/>
          <p:nvPr/>
        </p:nvSpPr>
        <p:spPr>
          <a:xfrm>
            <a:off x="8412480" y="1554480"/>
            <a:ext cx="2971800" cy="749808"/>
          </a:xfrm>
          <a:prstGeom prst="roundRect">
            <a:avLst>
              <a:gd name="adj" fmla="val 6098"/>
            </a:avLst>
          </a:prstGeom>
          <a:solidFill>
            <a:srgbClr val="EAF5EF"/>
          </a:solidFill>
          <a:ln w="15240">
            <a:solidFill>
              <a:srgbClr val="2E7D5B"/>
            </a:solidFill>
            <a:prstDash val="solid"/>
          </a:ln>
        </p:spPr>
        <p:txBody>
          <a:bodyPr/>
          <a:lstStyle/>
          <a:p>
            <a:endParaRPr lang="en-US"/>
          </a:p>
        </p:txBody>
      </p:sp>
      <p:sp>
        <p:nvSpPr>
          <p:cNvPr id="27" name="Text 25"/>
          <p:cNvSpPr/>
          <p:nvPr/>
        </p:nvSpPr>
        <p:spPr>
          <a:xfrm>
            <a:off x="8641080" y="1645920"/>
            <a:ext cx="2560320" cy="384048"/>
          </a:xfrm>
          <a:prstGeom prst="rect">
            <a:avLst/>
          </a:prstGeom>
          <a:noFill/>
          <a:ln/>
        </p:spPr>
        <p:txBody>
          <a:bodyPr wrap="square" lIns="0" tIns="0" rIns="0" bIns="0" rtlCol="0" anchor="ctr"/>
          <a:lstStyle/>
          <a:p>
            <a:pPr marL="0" indent="0">
              <a:buNone/>
            </a:pPr>
            <a:r>
              <a:rPr lang="en-US" sz="1250" b="1" dirty="0">
                <a:solidFill>
                  <a:srgbClr val="13293D"/>
                </a:solidFill>
                <a:latin typeface="Calibri" pitchFamily="34" charset="0"/>
                <a:ea typeface="Calibri" pitchFamily="34" charset="-122"/>
                <a:cs typeface="Calibri" pitchFamily="34" charset="-120"/>
              </a:rPr>
              <a:t>Stateless app servers</a:t>
            </a:r>
            <a:endParaRPr lang="en-US" sz="1250" dirty="0"/>
          </a:p>
        </p:txBody>
      </p:sp>
      <p:sp>
        <p:nvSpPr>
          <p:cNvPr id="28" name="Text 26"/>
          <p:cNvSpPr/>
          <p:nvPr/>
        </p:nvSpPr>
        <p:spPr>
          <a:xfrm>
            <a:off x="8641080" y="1993392"/>
            <a:ext cx="2560320" cy="256032"/>
          </a:xfrm>
          <a:prstGeom prst="rect">
            <a:avLst/>
          </a:prstGeom>
          <a:noFill/>
          <a:ln/>
        </p:spPr>
        <p:txBody>
          <a:bodyPr wrap="square" lIns="0" tIns="0" rIns="0" bIns="0" rtlCol="0" anchor="ctr"/>
          <a:lstStyle/>
          <a:p>
            <a:pPr marL="0" indent="0">
              <a:buNone/>
            </a:pPr>
            <a:r>
              <a:rPr lang="en-US" sz="1050" i="1" dirty="0">
                <a:solidFill>
                  <a:srgbClr val="5A6B76"/>
                </a:solidFill>
                <a:latin typeface="Calibri" pitchFamily="34" charset="0"/>
                <a:ea typeface="Calibri" pitchFamily="34" charset="-122"/>
                <a:cs typeface="Calibri" pitchFamily="34" charset="-120"/>
              </a:rPr>
              <a:t>Round 2</a:t>
            </a:r>
            <a:endParaRPr lang="en-US" sz="1050" dirty="0"/>
          </a:p>
        </p:txBody>
      </p:sp>
      <p:sp>
        <p:nvSpPr>
          <p:cNvPr id="29" name="Shape 27"/>
          <p:cNvSpPr/>
          <p:nvPr/>
        </p:nvSpPr>
        <p:spPr>
          <a:xfrm>
            <a:off x="8412480" y="2468880"/>
            <a:ext cx="2971800" cy="749808"/>
          </a:xfrm>
          <a:prstGeom prst="roundRect">
            <a:avLst>
              <a:gd name="adj" fmla="val 6098"/>
            </a:avLst>
          </a:prstGeom>
          <a:solidFill>
            <a:srgbClr val="EAF5EF"/>
          </a:solidFill>
          <a:ln w="15240">
            <a:solidFill>
              <a:srgbClr val="2E7D5B"/>
            </a:solidFill>
            <a:prstDash val="solid"/>
          </a:ln>
        </p:spPr>
        <p:txBody>
          <a:bodyPr/>
          <a:lstStyle/>
          <a:p>
            <a:endParaRPr lang="en-US"/>
          </a:p>
        </p:txBody>
      </p:sp>
      <p:sp>
        <p:nvSpPr>
          <p:cNvPr id="30" name="Text 28"/>
          <p:cNvSpPr/>
          <p:nvPr/>
        </p:nvSpPr>
        <p:spPr>
          <a:xfrm>
            <a:off x="8641080" y="2560320"/>
            <a:ext cx="2560320" cy="384048"/>
          </a:xfrm>
          <a:prstGeom prst="rect">
            <a:avLst/>
          </a:prstGeom>
          <a:noFill/>
          <a:ln/>
        </p:spPr>
        <p:txBody>
          <a:bodyPr wrap="square" lIns="0" tIns="0" rIns="0" bIns="0" rtlCol="0" anchor="ctr"/>
          <a:lstStyle/>
          <a:p>
            <a:pPr marL="0" indent="0">
              <a:buNone/>
            </a:pPr>
            <a:r>
              <a:rPr lang="en-US" sz="1250" b="1" dirty="0">
                <a:solidFill>
                  <a:srgbClr val="13293D"/>
                </a:solidFill>
                <a:latin typeface="Calibri" pitchFamily="34" charset="0"/>
                <a:ea typeface="Calibri" pitchFamily="34" charset="-122"/>
                <a:cs typeface="Calibri" pitchFamily="34" charset="-120"/>
              </a:rPr>
              <a:t>Read replicas</a:t>
            </a:r>
            <a:endParaRPr lang="en-US" sz="1250" dirty="0"/>
          </a:p>
        </p:txBody>
      </p:sp>
      <p:sp>
        <p:nvSpPr>
          <p:cNvPr id="31" name="Text 29"/>
          <p:cNvSpPr/>
          <p:nvPr/>
        </p:nvSpPr>
        <p:spPr>
          <a:xfrm>
            <a:off x="8641080" y="2907792"/>
            <a:ext cx="2560320" cy="256032"/>
          </a:xfrm>
          <a:prstGeom prst="rect">
            <a:avLst/>
          </a:prstGeom>
          <a:noFill/>
          <a:ln/>
        </p:spPr>
        <p:txBody>
          <a:bodyPr wrap="square" lIns="0" tIns="0" rIns="0" bIns="0" rtlCol="0" anchor="ctr"/>
          <a:lstStyle/>
          <a:p>
            <a:pPr marL="0" indent="0">
              <a:buNone/>
            </a:pPr>
            <a:r>
              <a:rPr lang="en-US" sz="1050" i="1" dirty="0">
                <a:solidFill>
                  <a:srgbClr val="5A6B76"/>
                </a:solidFill>
                <a:latin typeface="Calibri" pitchFamily="34" charset="0"/>
                <a:ea typeface="Calibri" pitchFamily="34" charset="-122"/>
                <a:cs typeface="Calibri" pitchFamily="34" charset="-120"/>
              </a:rPr>
              <a:t>Round 3</a:t>
            </a:r>
            <a:endParaRPr lang="en-US" sz="1050" dirty="0"/>
          </a:p>
        </p:txBody>
      </p:sp>
      <p:sp>
        <p:nvSpPr>
          <p:cNvPr id="32" name="Shape 30"/>
          <p:cNvSpPr/>
          <p:nvPr/>
        </p:nvSpPr>
        <p:spPr>
          <a:xfrm>
            <a:off x="8412480" y="3383280"/>
            <a:ext cx="2971800" cy="749808"/>
          </a:xfrm>
          <a:prstGeom prst="roundRect">
            <a:avLst>
              <a:gd name="adj" fmla="val 6098"/>
            </a:avLst>
          </a:prstGeom>
          <a:solidFill>
            <a:srgbClr val="EAF5EF"/>
          </a:solidFill>
          <a:ln w="15240">
            <a:solidFill>
              <a:srgbClr val="2E7D5B"/>
            </a:solidFill>
            <a:prstDash val="solid"/>
          </a:ln>
        </p:spPr>
        <p:txBody>
          <a:bodyPr/>
          <a:lstStyle/>
          <a:p>
            <a:endParaRPr lang="en-US"/>
          </a:p>
        </p:txBody>
      </p:sp>
      <p:sp>
        <p:nvSpPr>
          <p:cNvPr id="33" name="Text 31"/>
          <p:cNvSpPr/>
          <p:nvPr/>
        </p:nvSpPr>
        <p:spPr>
          <a:xfrm>
            <a:off x="8641080" y="3474720"/>
            <a:ext cx="2560320" cy="384048"/>
          </a:xfrm>
          <a:prstGeom prst="rect">
            <a:avLst/>
          </a:prstGeom>
          <a:noFill/>
          <a:ln/>
        </p:spPr>
        <p:txBody>
          <a:bodyPr wrap="square" lIns="0" tIns="0" rIns="0" bIns="0" rtlCol="0" anchor="ctr"/>
          <a:lstStyle/>
          <a:p>
            <a:pPr marL="0" indent="0">
              <a:buNone/>
            </a:pPr>
            <a:r>
              <a:rPr lang="en-US" sz="1250" b="1" dirty="0">
                <a:solidFill>
                  <a:srgbClr val="13293D"/>
                </a:solidFill>
                <a:latin typeface="Calibri" pitchFamily="34" charset="0"/>
                <a:ea typeface="Calibri" pitchFamily="34" charset="-122"/>
                <a:cs typeface="Calibri" pitchFamily="34" charset="-120"/>
              </a:rPr>
              <a:t>Indexes</a:t>
            </a:r>
            <a:endParaRPr lang="en-US" sz="1250" dirty="0"/>
          </a:p>
        </p:txBody>
      </p:sp>
      <p:sp>
        <p:nvSpPr>
          <p:cNvPr id="34" name="Text 32"/>
          <p:cNvSpPr/>
          <p:nvPr/>
        </p:nvSpPr>
        <p:spPr>
          <a:xfrm>
            <a:off x="8641080" y="3822192"/>
            <a:ext cx="2560320" cy="256032"/>
          </a:xfrm>
          <a:prstGeom prst="rect">
            <a:avLst/>
          </a:prstGeom>
          <a:noFill/>
          <a:ln/>
        </p:spPr>
        <p:txBody>
          <a:bodyPr wrap="square" lIns="0" tIns="0" rIns="0" bIns="0" rtlCol="0" anchor="ctr"/>
          <a:lstStyle/>
          <a:p>
            <a:pPr marL="0" indent="0">
              <a:buNone/>
            </a:pPr>
            <a:r>
              <a:rPr lang="en-US" sz="1050" i="1" dirty="0">
                <a:solidFill>
                  <a:srgbClr val="5A6B76"/>
                </a:solidFill>
                <a:latin typeface="Calibri" pitchFamily="34" charset="0"/>
                <a:ea typeface="Calibri" pitchFamily="34" charset="-122"/>
                <a:cs typeface="Calibri" pitchFamily="34" charset="-120"/>
              </a:rPr>
              <a:t>Round 4</a:t>
            </a:r>
            <a:endParaRPr lang="en-US" sz="1050" dirty="0"/>
          </a:p>
        </p:txBody>
      </p:sp>
      <p:sp>
        <p:nvSpPr>
          <p:cNvPr id="35" name="Shape 33"/>
          <p:cNvSpPr/>
          <p:nvPr/>
        </p:nvSpPr>
        <p:spPr>
          <a:xfrm>
            <a:off x="8412480" y="4297680"/>
            <a:ext cx="2971800" cy="749808"/>
          </a:xfrm>
          <a:prstGeom prst="roundRect">
            <a:avLst>
              <a:gd name="adj" fmla="val 6098"/>
            </a:avLst>
          </a:prstGeom>
          <a:solidFill>
            <a:srgbClr val="FDF0EE"/>
          </a:solidFill>
          <a:ln w="15240">
            <a:solidFill>
              <a:srgbClr val="A03A3A"/>
            </a:solidFill>
            <a:prstDash val="solid"/>
          </a:ln>
        </p:spPr>
        <p:txBody>
          <a:bodyPr/>
          <a:lstStyle/>
          <a:p>
            <a:endParaRPr lang="en-US"/>
          </a:p>
        </p:txBody>
      </p:sp>
      <p:sp>
        <p:nvSpPr>
          <p:cNvPr id="36" name="Text 34"/>
          <p:cNvSpPr/>
          <p:nvPr/>
        </p:nvSpPr>
        <p:spPr>
          <a:xfrm>
            <a:off x="8641080" y="4389120"/>
            <a:ext cx="2560320" cy="384048"/>
          </a:xfrm>
          <a:prstGeom prst="rect">
            <a:avLst/>
          </a:prstGeom>
          <a:noFill/>
          <a:ln/>
        </p:spPr>
        <p:txBody>
          <a:bodyPr wrap="square" lIns="0" tIns="0" rIns="0" bIns="0" rtlCol="0" anchor="ctr"/>
          <a:lstStyle/>
          <a:p>
            <a:pPr marL="0" indent="0">
              <a:buNone/>
            </a:pPr>
            <a:r>
              <a:rPr lang="en-US" sz="1250" b="1" dirty="0">
                <a:solidFill>
                  <a:srgbClr val="A03A3A"/>
                </a:solidFill>
                <a:latin typeface="Calibri" pitchFamily="34" charset="0"/>
                <a:ea typeface="Calibri" pitchFamily="34" charset="-122"/>
                <a:cs typeface="Calibri" pitchFamily="34" charset="-120"/>
              </a:rPr>
              <a:t>All writes still hit one machine</a:t>
            </a:r>
            <a:endParaRPr lang="en-US" sz="1250" dirty="0"/>
          </a:p>
        </p:txBody>
      </p:sp>
      <p:sp>
        <p:nvSpPr>
          <p:cNvPr id="37" name="Text 35"/>
          <p:cNvSpPr/>
          <p:nvPr/>
        </p:nvSpPr>
        <p:spPr>
          <a:xfrm>
            <a:off x="8641080" y="4736592"/>
            <a:ext cx="2560320" cy="256032"/>
          </a:xfrm>
          <a:prstGeom prst="rect">
            <a:avLst/>
          </a:prstGeom>
          <a:noFill/>
          <a:ln/>
        </p:spPr>
        <p:txBody>
          <a:bodyPr wrap="square" lIns="0" tIns="0" rIns="0" bIns="0" rtlCol="0" anchor="ctr"/>
          <a:lstStyle/>
          <a:p>
            <a:pPr marL="0" indent="0">
              <a:buNone/>
            </a:pPr>
            <a:r>
              <a:rPr lang="en-US" sz="1050" i="1" dirty="0">
                <a:solidFill>
                  <a:srgbClr val="5A6B76"/>
                </a:solidFill>
                <a:latin typeface="Calibri" pitchFamily="34" charset="0"/>
                <a:ea typeface="Calibri" pitchFamily="34" charset="-122"/>
                <a:cs typeface="Calibri" pitchFamily="34" charset="-120"/>
              </a:rPr>
              <a:t>Round 5</a:t>
            </a:r>
            <a:endParaRPr lang="en-US" sz="1050" dirty="0"/>
          </a:p>
        </p:txBody>
      </p:sp>
      <p:sp>
        <p:nvSpPr>
          <p:cNvPr id="38" name="Text 36"/>
          <p:cNvSpPr/>
          <p:nvPr/>
        </p:nvSpPr>
        <p:spPr>
          <a:xfrm>
            <a:off x="777240" y="5623560"/>
            <a:ext cx="10607040" cy="457200"/>
          </a:xfrm>
          <a:prstGeom prst="rect">
            <a:avLst/>
          </a:prstGeom>
          <a:noFill/>
          <a:ln/>
        </p:spPr>
        <p:txBody>
          <a:bodyPr wrap="square" lIns="0" tIns="0" rIns="0" bIns="0" rtlCol="0" anchor="ctr"/>
          <a:lstStyle/>
          <a:p>
            <a:pPr marL="0" indent="0">
              <a:buNone/>
            </a:pPr>
            <a:r>
              <a:rPr lang="en-US" sz="1500" b="1" dirty="0">
                <a:solidFill>
                  <a:srgbClr val="065A82"/>
                </a:solidFill>
                <a:latin typeface="Calibri" pitchFamily="34" charset="0"/>
                <a:ea typeface="Calibri" pitchFamily="34" charset="-122"/>
                <a:cs typeface="Calibri" pitchFamily="34" charset="-120"/>
              </a:rPr>
              <a:t>Reads are now spread across three machines and answered in milliseconds. Writes are exactly where they were this morning.</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3293D"/>
        </a:solidFill>
        <a:effectLst/>
      </p:bgPr>
    </p:bg>
    <p:spTree>
      <p:nvGrpSpPr>
        <p:cNvPr id="1" name=""/>
        <p:cNvGrpSpPr/>
        <p:nvPr/>
      </p:nvGrpSpPr>
      <p:grpSpPr>
        <a:xfrm>
          <a:off x="0" y="0"/>
          <a:ext cx="0" cy="0"/>
          <a:chOff x="0" y="0"/>
          <a:chExt cx="0" cy="0"/>
        </a:xfrm>
      </p:grpSpPr>
      <p:sp>
        <p:nvSpPr>
          <p:cNvPr id="2" name="Shape 0"/>
          <p:cNvSpPr/>
          <p:nvPr/>
        </p:nvSpPr>
        <p:spPr>
          <a:xfrm>
            <a:off x="822960" y="640080"/>
            <a:ext cx="3291840" cy="411480"/>
          </a:xfrm>
          <a:prstGeom prst="roundRect">
            <a:avLst>
              <a:gd name="adj" fmla="val 44444"/>
            </a:avLst>
          </a:prstGeom>
          <a:solidFill>
            <a:srgbClr val="E8A33D"/>
          </a:solidFill>
          <a:ln/>
        </p:spPr>
        <p:txBody>
          <a:bodyPr/>
          <a:lstStyle/>
          <a:p>
            <a:endParaRPr lang="en-US"/>
          </a:p>
        </p:txBody>
      </p:sp>
      <p:sp>
        <p:nvSpPr>
          <p:cNvPr id="3" name="Text 1"/>
          <p:cNvSpPr/>
          <p:nvPr/>
        </p:nvSpPr>
        <p:spPr>
          <a:xfrm>
            <a:off x="822960" y="640080"/>
            <a:ext cx="3291840" cy="411480"/>
          </a:xfrm>
          <a:prstGeom prst="rect">
            <a:avLst/>
          </a:prstGeom>
          <a:noFill/>
          <a:ln/>
        </p:spPr>
        <p:txBody>
          <a:bodyPr wrap="square" rtlCol="0" anchor="ctr"/>
          <a:lstStyle/>
          <a:p>
            <a:pPr marL="0" indent="0" algn="ctr">
              <a:buNone/>
            </a:pPr>
            <a:r>
              <a:rPr lang="en-US" sz="1200" b="1" kern="0" spc="140" dirty="0">
                <a:solidFill>
                  <a:srgbClr val="13293D"/>
                </a:solidFill>
                <a:latin typeface="Calibri" pitchFamily="34" charset="0"/>
                <a:ea typeface="Calibri" pitchFamily="34" charset="-122"/>
                <a:cs typeface="Calibri" pitchFamily="34" charset="-120"/>
              </a:rPr>
              <a:t>ROUND 5  ·  QUESTION</a:t>
            </a:r>
            <a:endParaRPr lang="en-US" sz="1200" dirty="0"/>
          </a:p>
        </p:txBody>
      </p:sp>
      <p:sp>
        <p:nvSpPr>
          <p:cNvPr id="4" name="Text 2"/>
          <p:cNvSpPr/>
          <p:nvPr/>
        </p:nvSpPr>
        <p:spPr>
          <a:xfrm>
            <a:off x="822960" y="1325880"/>
            <a:ext cx="10515600" cy="1554480"/>
          </a:xfrm>
          <a:prstGeom prst="rect">
            <a:avLst/>
          </a:prstGeom>
          <a:noFill/>
          <a:ln/>
        </p:spPr>
        <p:txBody>
          <a:bodyPr wrap="square" lIns="0" tIns="0" rIns="0" bIns="0" rtlCol="0" anchor="ctr"/>
          <a:lstStyle/>
          <a:p>
            <a:pPr marL="0" indent="0">
              <a:lnSpc>
                <a:spcPts val="2600"/>
              </a:lnSpc>
              <a:buNone/>
            </a:pPr>
            <a:r>
              <a:rPr lang="en-US" sz="1700" dirty="0">
                <a:solidFill>
                  <a:srgbClr val="9AD1D4"/>
                </a:solidFill>
                <a:latin typeface="Calibri" pitchFamily="34" charset="0"/>
                <a:ea typeface="Calibri" pitchFamily="34" charset="-122"/>
                <a:cs typeface="Calibri" pitchFamily="34" charset="-120"/>
              </a:rPr>
              <a:t>It is festival night. Orders pour in at 40,000 per second. Reads are perfectly fast — the replicas are barely working. But order placement is timing out, and adding a fourth replica changes nothing.</a:t>
            </a:r>
            <a:endParaRPr lang="en-US" sz="1700" dirty="0"/>
          </a:p>
        </p:txBody>
      </p:sp>
      <p:sp>
        <p:nvSpPr>
          <p:cNvPr id="5" name="Shape 3"/>
          <p:cNvSpPr/>
          <p:nvPr/>
        </p:nvSpPr>
        <p:spPr>
          <a:xfrm>
            <a:off x="822960" y="3017520"/>
            <a:ext cx="10515600" cy="1600200"/>
          </a:xfrm>
          <a:prstGeom prst="roundRect">
            <a:avLst>
              <a:gd name="adj" fmla="val 4571"/>
            </a:avLst>
          </a:prstGeom>
          <a:solidFill>
            <a:srgbClr val="1D3D52"/>
          </a:solidFill>
          <a:ln/>
        </p:spPr>
        <p:txBody>
          <a:bodyPr/>
          <a:lstStyle/>
          <a:p>
            <a:endParaRPr lang="en-US"/>
          </a:p>
        </p:txBody>
      </p:sp>
      <p:sp>
        <p:nvSpPr>
          <p:cNvPr id="6" name="Text 4"/>
          <p:cNvSpPr/>
          <p:nvPr/>
        </p:nvSpPr>
        <p:spPr>
          <a:xfrm>
            <a:off x="1188720" y="3017520"/>
            <a:ext cx="9784080" cy="1600200"/>
          </a:xfrm>
          <a:prstGeom prst="rect">
            <a:avLst/>
          </a:prstGeom>
          <a:noFill/>
          <a:ln/>
        </p:spPr>
        <p:txBody>
          <a:bodyPr wrap="square" lIns="0" tIns="0" rIns="0" bIns="0" rtlCol="0" anchor="ctr"/>
          <a:lstStyle/>
          <a:p>
            <a:pPr marL="0" indent="0">
              <a:lnSpc>
                <a:spcPts val="3400"/>
              </a:lnSpc>
              <a:buNone/>
            </a:pPr>
            <a:r>
              <a:rPr lang="en-US" sz="2600" b="1" dirty="0">
                <a:solidFill>
                  <a:srgbClr val="FFFFFF"/>
                </a:solidFill>
                <a:latin typeface="Cambria" pitchFamily="34" charset="0"/>
                <a:ea typeface="Cambria" pitchFamily="34" charset="-122"/>
                <a:cs typeface="Cambria" pitchFamily="34" charset="-120"/>
              </a:rPr>
              <a:t>Can you replicate your way</a:t>
            </a:r>
            <a:endParaRPr lang="en-US" sz="2600" dirty="0"/>
          </a:p>
          <a:p>
            <a:pPr marL="0" indent="0">
              <a:lnSpc>
                <a:spcPts val="3400"/>
              </a:lnSpc>
              <a:buNone/>
            </a:pPr>
            <a:r>
              <a:rPr lang="en-US" sz="2600" b="1" dirty="0">
                <a:solidFill>
                  <a:srgbClr val="FFFFFF"/>
                </a:solidFill>
                <a:latin typeface="Cambria" pitchFamily="34" charset="0"/>
                <a:ea typeface="Cambria" pitchFamily="34" charset="-122"/>
                <a:cs typeface="Cambria" pitchFamily="34" charset="-120"/>
              </a:rPr>
              <a:t>out of a write problem?</a:t>
            </a:r>
            <a:endParaRPr lang="en-US" sz="2600" dirty="0"/>
          </a:p>
        </p:txBody>
      </p:sp>
      <p:sp>
        <p:nvSpPr>
          <p:cNvPr id="7" name="Text 5"/>
          <p:cNvSpPr/>
          <p:nvPr/>
        </p:nvSpPr>
        <p:spPr>
          <a:xfrm>
            <a:off x="868680" y="4892040"/>
            <a:ext cx="10424160" cy="548640"/>
          </a:xfrm>
          <a:prstGeom prst="rect">
            <a:avLst/>
          </a:prstGeom>
          <a:noFill/>
          <a:ln/>
        </p:spPr>
        <p:txBody>
          <a:bodyPr wrap="square" lIns="0" tIns="0" rIns="0" bIns="0" rtlCol="0" anchor="ctr"/>
          <a:lstStyle/>
          <a:p>
            <a:pPr marL="0" indent="0">
              <a:buNone/>
            </a:pPr>
            <a:r>
              <a:rPr lang="en-US" sz="1400" i="1" dirty="0">
                <a:solidFill>
                  <a:srgbClr val="E8A33D"/>
                </a:solidFill>
                <a:latin typeface="Calibri" pitchFamily="34" charset="0"/>
                <a:ea typeface="Calibri" pitchFamily="34" charset="-122"/>
                <a:cs typeface="Calibri" pitchFamily="34" charset="-120"/>
              </a:rPr>
              <a:t>Every replica is a copy of the primary. What would a fourth copy actually absorb?</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40080"/>
          </a:xfrm>
          <a:prstGeom prst="rect">
            <a:avLst/>
          </a:prstGeom>
          <a:noFill/>
          <a:ln/>
        </p:spPr>
        <p:txBody>
          <a:bodyPr wrap="square" lIns="0" tIns="0" rIns="0" bIns="0" rtlCol="0" anchor="ctr"/>
          <a:lstStyle/>
          <a:p>
            <a:pPr marL="0" indent="0">
              <a:buNone/>
            </a:pPr>
            <a:r>
              <a:rPr lang="en-US" sz="3100" b="1" dirty="0">
                <a:solidFill>
                  <a:srgbClr val="13293D"/>
                </a:solidFill>
                <a:latin typeface="Cambria" pitchFamily="34" charset="0"/>
                <a:ea typeface="Cambria" pitchFamily="34" charset="-122"/>
                <a:cs typeface="Cambria" pitchFamily="34" charset="-120"/>
              </a:rPr>
              <a:t>Round 5 — The Answer, and Next Lecture</a:t>
            </a:r>
            <a:endParaRPr lang="en-US" sz="3100" dirty="0"/>
          </a:p>
        </p:txBody>
      </p:sp>
      <p:sp>
        <p:nvSpPr>
          <p:cNvPr id="3" name="Text 1"/>
          <p:cNvSpPr/>
          <p:nvPr/>
        </p:nvSpPr>
        <p:spPr>
          <a:xfrm>
            <a:off x="658368" y="1005840"/>
            <a:ext cx="10972800" cy="384048"/>
          </a:xfrm>
          <a:prstGeom prst="rect">
            <a:avLst/>
          </a:prstGeom>
          <a:noFill/>
          <a:ln/>
        </p:spPr>
        <p:txBody>
          <a:bodyPr wrap="square" lIns="0" tIns="0" rIns="0" bIns="0" rtlCol="0" anchor="ctr"/>
          <a:lstStyle/>
          <a:p>
            <a:pPr marL="0" indent="0">
              <a:buNone/>
            </a:pPr>
            <a:r>
              <a:rPr lang="en-US" sz="1500" i="1" dirty="0">
                <a:solidFill>
                  <a:srgbClr val="5A6B76"/>
                </a:solidFill>
                <a:latin typeface="Calibri" pitchFamily="34" charset="0"/>
                <a:ea typeface="Calibri" pitchFamily="34" charset="-122"/>
                <a:cs typeface="Calibri" pitchFamily="34" charset="-120"/>
              </a:rPr>
              <a:t>No. Replication multiplies readers, never writers.</a:t>
            </a:r>
            <a:endParaRPr lang="en-US" sz="1500" dirty="0"/>
          </a:p>
        </p:txBody>
      </p:sp>
      <p:sp>
        <p:nvSpPr>
          <p:cNvPr id="4" name="Shape 2"/>
          <p:cNvSpPr/>
          <p:nvPr/>
        </p:nvSpPr>
        <p:spPr>
          <a:xfrm>
            <a:off x="777240" y="1463040"/>
            <a:ext cx="10607040" cy="841248"/>
          </a:xfrm>
          <a:prstGeom prst="roundRect">
            <a:avLst>
              <a:gd name="adj" fmla="val 6522"/>
            </a:avLst>
          </a:prstGeom>
          <a:solidFill>
            <a:srgbClr val="13293D"/>
          </a:solidFill>
          <a:ln/>
        </p:spPr>
        <p:txBody>
          <a:bodyPr/>
          <a:lstStyle/>
          <a:p>
            <a:endParaRPr lang="en-US"/>
          </a:p>
        </p:txBody>
      </p:sp>
      <p:sp>
        <p:nvSpPr>
          <p:cNvPr id="5" name="Text 3"/>
          <p:cNvSpPr/>
          <p:nvPr/>
        </p:nvSpPr>
        <p:spPr>
          <a:xfrm>
            <a:off x="1097280" y="1463040"/>
            <a:ext cx="10058400" cy="841248"/>
          </a:xfrm>
          <a:prstGeom prst="rect">
            <a:avLst/>
          </a:prstGeom>
          <a:noFill/>
          <a:ln/>
        </p:spPr>
        <p:txBody>
          <a:bodyPr wrap="square" lIns="0" tIns="0" rIns="0" bIns="0" rtlCol="0" anchor="ctr"/>
          <a:lstStyle/>
          <a:p>
            <a:pPr marL="0" indent="0">
              <a:lnSpc>
                <a:spcPts val="2100"/>
              </a:lnSpc>
              <a:buNone/>
            </a:pPr>
            <a:r>
              <a:rPr lang="en-US" sz="1550" dirty="0">
                <a:solidFill>
                  <a:srgbClr val="FFFFFF"/>
                </a:solidFill>
                <a:latin typeface="Calibri" pitchFamily="34" charset="0"/>
                <a:ea typeface="Calibri" pitchFamily="34" charset="-122"/>
                <a:cs typeface="Calibri" pitchFamily="34" charset="-120"/>
              </a:rPr>
              <a:t>Every replica must eventually apply every single write. A fourth replica does not absorb writes — it takes on all of them, plus the streaming cost. Replication is a read-scaling technique and nothing else.</a:t>
            </a:r>
            <a:endParaRPr lang="en-US" sz="1550" dirty="0"/>
          </a:p>
        </p:txBody>
      </p:sp>
      <p:sp>
        <p:nvSpPr>
          <p:cNvPr id="6" name="Shape 4"/>
          <p:cNvSpPr/>
          <p:nvPr/>
        </p:nvSpPr>
        <p:spPr>
          <a:xfrm>
            <a:off x="777240" y="2468880"/>
            <a:ext cx="5212080" cy="2194560"/>
          </a:xfrm>
          <a:prstGeom prst="roundRect">
            <a:avLst>
              <a:gd name="adj" fmla="val 2500"/>
            </a:avLst>
          </a:prstGeom>
          <a:solidFill>
            <a:srgbClr val="FDF0EE"/>
          </a:solidFill>
          <a:ln w="12700">
            <a:solidFill>
              <a:srgbClr val="E1E8ED"/>
            </a:solidFill>
            <a:prstDash val="solid"/>
          </a:ln>
        </p:spPr>
        <p:txBody>
          <a:bodyPr/>
          <a:lstStyle/>
          <a:p>
            <a:endParaRPr lang="en-US"/>
          </a:p>
        </p:txBody>
      </p:sp>
      <p:sp>
        <p:nvSpPr>
          <p:cNvPr id="7" name="Text 5"/>
          <p:cNvSpPr/>
          <p:nvPr/>
        </p:nvSpPr>
        <p:spPr>
          <a:xfrm>
            <a:off x="1033272" y="2651760"/>
            <a:ext cx="4754880" cy="365760"/>
          </a:xfrm>
          <a:prstGeom prst="rect">
            <a:avLst/>
          </a:prstGeom>
          <a:noFill/>
          <a:ln/>
        </p:spPr>
        <p:txBody>
          <a:bodyPr wrap="square" lIns="0" tIns="0" rIns="0" bIns="0" rtlCol="0" anchor="ctr"/>
          <a:lstStyle/>
          <a:p>
            <a:pPr marL="0" indent="0">
              <a:buNone/>
            </a:pPr>
            <a:r>
              <a:rPr lang="en-US" sz="1550" b="1" dirty="0">
                <a:solidFill>
                  <a:srgbClr val="A03A3A"/>
                </a:solidFill>
                <a:latin typeface="Calibri" pitchFamily="34" charset="0"/>
                <a:ea typeface="Calibri" pitchFamily="34" charset="-122"/>
                <a:cs typeface="Calibri" pitchFamily="34" charset="-120"/>
              </a:rPr>
              <a:t>What has run out</a:t>
            </a:r>
            <a:endParaRPr lang="en-US" sz="1550" dirty="0"/>
          </a:p>
        </p:txBody>
      </p:sp>
      <p:sp>
        <p:nvSpPr>
          <p:cNvPr id="8" name="Text 6"/>
          <p:cNvSpPr/>
          <p:nvPr/>
        </p:nvSpPr>
        <p:spPr>
          <a:xfrm>
            <a:off x="1033272" y="3044952"/>
            <a:ext cx="4754880" cy="1417320"/>
          </a:xfrm>
          <a:prstGeom prst="rect">
            <a:avLst/>
          </a:prstGeom>
          <a:noFill/>
          <a:ln/>
        </p:spPr>
        <p:txBody>
          <a:bodyPr wrap="square" lIns="0" tIns="0" rIns="0" bIns="0" rtlCol="0" anchor="ctr"/>
          <a:lstStyle/>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One machine’s disk write throughput</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One machine’s CPU for index updates</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One machine’s memory for the working set</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And the table no longer fits comfortably at all</a:t>
            </a:r>
            <a:endParaRPr lang="en-US" sz="1250" dirty="0"/>
          </a:p>
        </p:txBody>
      </p:sp>
      <p:sp>
        <p:nvSpPr>
          <p:cNvPr id="9" name="Shape 7"/>
          <p:cNvSpPr/>
          <p:nvPr/>
        </p:nvSpPr>
        <p:spPr>
          <a:xfrm>
            <a:off x="6172200" y="2468880"/>
            <a:ext cx="5212080" cy="2194560"/>
          </a:xfrm>
          <a:prstGeom prst="roundRect">
            <a:avLst>
              <a:gd name="adj" fmla="val 2500"/>
            </a:avLst>
          </a:prstGeom>
          <a:solidFill>
            <a:srgbClr val="F3EEF5"/>
          </a:solidFill>
          <a:ln w="12700">
            <a:solidFill>
              <a:srgbClr val="E1E8ED"/>
            </a:solidFill>
            <a:prstDash val="solid"/>
          </a:ln>
        </p:spPr>
        <p:txBody>
          <a:bodyPr/>
          <a:lstStyle/>
          <a:p>
            <a:endParaRPr lang="en-US"/>
          </a:p>
        </p:txBody>
      </p:sp>
      <p:sp>
        <p:nvSpPr>
          <p:cNvPr id="10" name="Text 8"/>
          <p:cNvSpPr/>
          <p:nvPr/>
        </p:nvSpPr>
        <p:spPr>
          <a:xfrm>
            <a:off x="6428232" y="2651760"/>
            <a:ext cx="4754880" cy="365760"/>
          </a:xfrm>
          <a:prstGeom prst="rect">
            <a:avLst/>
          </a:prstGeom>
          <a:noFill/>
          <a:ln/>
        </p:spPr>
        <p:txBody>
          <a:bodyPr wrap="square" lIns="0" tIns="0" rIns="0" bIns="0" rtlCol="0" anchor="ctr"/>
          <a:lstStyle/>
          <a:p>
            <a:pPr marL="0" indent="0">
              <a:buNone/>
            </a:pPr>
            <a:r>
              <a:rPr lang="en-US" sz="1550" b="1" dirty="0">
                <a:solidFill>
                  <a:srgbClr val="6B4E71"/>
                </a:solidFill>
                <a:latin typeface="Calibri" pitchFamily="34" charset="0"/>
                <a:ea typeface="Calibri" pitchFamily="34" charset="-122"/>
                <a:cs typeface="Calibri" pitchFamily="34" charset="-120"/>
              </a:rPr>
              <a:t>The only remaining option</a:t>
            </a:r>
            <a:endParaRPr lang="en-US" sz="1550" dirty="0"/>
          </a:p>
        </p:txBody>
      </p:sp>
      <p:sp>
        <p:nvSpPr>
          <p:cNvPr id="11" name="Text 9"/>
          <p:cNvSpPr/>
          <p:nvPr/>
        </p:nvSpPr>
        <p:spPr>
          <a:xfrm>
            <a:off x="6428232" y="3044952"/>
            <a:ext cx="4754880" cy="1417320"/>
          </a:xfrm>
          <a:prstGeom prst="rect">
            <a:avLst/>
          </a:prstGeom>
          <a:noFill/>
          <a:ln/>
        </p:spPr>
        <p:txBody>
          <a:bodyPr wrap="square" lIns="0" tIns="0" rIns="0" bIns="0" rtlCol="0" anchor="ctr"/>
          <a:lstStyle/>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Stop keeping all the data on one machine</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Split the rows across several databases</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Each machine owns a slice, and writes to it</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This is called sharding — and it is hard</a:t>
            </a:r>
            <a:endParaRPr lang="en-US" sz="1250" dirty="0"/>
          </a:p>
        </p:txBody>
      </p:sp>
      <p:sp>
        <p:nvSpPr>
          <p:cNvPr id="12" name="Shape 10"/>
          <p:cNvSpPr/>
          <p:nvPr/>
        </p:nvSpPr>
        <p:spPr>
          <a:xfrm>
            <a:off x="777240" y="4846320"/>
            <a:ext cx="10607040" cy="1280160"/>
          </a:xfrm>
          <a:prstGeom prst="roundRect">
            <a:avLst>
              <a:gd name="adj" fmla="val 4286"/>
            </a:avLst>
          </a:prstGeom>
          <a:solidFill>
            <a:srgbClr val="13293D"/>
          </a:solidFill>
          <a:ln/>
        </p:spPr>
        <p:txBody>
          <a:bodyPr/>
          <a:lstStyle/>
          <a:p>
            <a:endParaRPr lang="en-US"/>
          </a:p>
        </p:txBody>
      </p:sp>
      <p:sp>
        <p:nvSpPr>
          <p:cNvPr id="13" name="Text 11"/>
          <p:cNvSpPr/>
          <p:nvPr/>
        </p:nvSpPr>
        <p:spPr>
          <a:xfrm>
            <a:off x="1097280" y="4983480"/>
            <a:ext cx="3657600" cy="320040"/>
          </a:xfrm>
          <a:prstGeom prst="rect">
            <a:avLst/>
          </a:prstGeom>
          <a:noFill/>
          <a:ln/>
        </p:spPr>
        <p:txBody>
          <a:bodyPr wrap="square" lIns="0" tIns="0" rIns="0" bIns="0" rtlCol="0" anchor="ctr"/>
          <a:lstStyle/>
          <a:p>
            <a:pPr marL="0" indent="0">
              <a:buNone/>
            </a:pPr>
            <a:r>
              <a:rPr lang="en-US" sz="1200" b="1" kern="0" spc="150" dirty="0">
                <a:solidFill>
                  <a:srgbClr val="E8A33D"/>
                </a:solidFill>
                <a:latin typeface="Calibri" pitchFamily="34" charset="0"/>
                <a:ea typeface="Calibri" pitchFamily="34" charset="-122"/>
                <a:cs typeface="Calibri" pitchFamily="34" charset="-120"/>
              </a:rPr>
              <a:t>Next lecture</a:t>
            </a:r>
            <a:endParaRPr lang="en-US" sz="1200" dirty="0"/>
          </a:p>
        </p:txBody>
      </p:sp>
      <p:sp>
        <p:nvSpPr>
          <p:cNvPr id="14" name="Text 12"/>
          <p:cNvSpPr/>
          <p:nvPr/>
        </p:nvSpPr>
        <p:spPr>
          <a:xfrm>
            <a:off x="1097280" y="5321808"/>
            <a:ext cx="9966960" cy="731520"/>
          </a:xfrm>
          <a:prstGeom prst="rect">
            <a:avLst/>
          </a:prstGeom>
          <a:noFill/>
          <a:ln/>
        </p:spPr>
        <p:txBody>
          <a:bodyPr wrap="square" lIns="0" tIns="0" rIns="0" bIns="0" rtlCol="0" anchor="ctr"/>
          <a:lstStyle/>
          <a:p>
            <a:pPr marL="0" indent="0">
              <a:lnSpc>
                <a:spcPts val="2000"/>
              </a:lnSpc>
              <a:buNone/>
            </a:pPr>
            <a:r>
              <a:rPr lang="en-US" sz="1400" dirty="0">
                <a:solidFill>
                  <a:srgbClr val="FFFFFF"/>
                </a:solidFill>
                <a:latin typeface="Calibri" pitchFamily="34" charset="0"/>
                <a:ea typeface="Calibri" pitchFamily="34" charset="-122"/>
                <a:cs typeface="Calibri" pitchFamily="34" charset="-120"/>
              </a:rPr>
              <a:t>Sharding: how to choose what to split on, what breaks when you get it wrong, why a join across shards is painful — and where SQL and NoSQL genuinely differ once data no longer fits on one machine.</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40080"/>
          </a:xfrm>
          <a:prstGeom prst="rect">
            <a:avLst/>
          </a:prstGeom>
          <a:noFill/>
          <a:ln/>
        </p:spPr>
        <p:txBody>
          <a:bodyPr wrap="square" lIns="0" tIns="0" rIns="0" bIns="0" rtlCol="0" anchor="ctr"/>
          <a:lstStyle/>
          <a:p>
            <a:pPr marL="0" indent="0">
              <a:buNone/>
            </a:pPr>
            <a:r>
              <a:rPr lang="en-US" sz="3100" b="1" dirty="0">
                <a:solidFill>
                  <a:srgbClr val="13293D"/>
                </a:solidFill>
                <a:latin typeface="Cambria" pitchFamily="34" charset="0"/>
                <a:ea typeface="Cambria" pitchFamily="34" charset="-122"/>
                <a:cs typeface="Cambria" pitchFamily="34" charset="-120"/>
              </a:rPr>
              <a:t>Recap and Before Next Class</a:t>
            </a:r>
            <a:endParaRPr lang="en-US" sz="3100" dirty="0"/>
          </a:p>
        </p:txBody>
      </p:sp>
      <p:sp>
        <p:nvSpPr>
          <p:cNvPr id="3" name="Text 1"/>
          <p:cNvSpPr/>
          <p:nvPr/>
        </p:nvSpPr>
        <p:spPr>
          <a:xfrm>
            <a:off x="658368" y="1005840"/>
            <a:ext cx="10972800" cy="384048"/>
          </a:xfrm>
          <a:prstGeom prst="rect">
            <a:avLst/>
          </a:prstGeom>
          <a:noFill/>
          <a:ln/>
        </p:spPr>
        <p:txBody>
          <a:bodyPr wrap="square" lIns="0" tIns="0" rIns="0" bIns="0" rtlCol="0" anchor="ctr"/>
          <a:lstStyle/>
          <a:p>
            <a:pPr marL="0" indent="0">
              <a:buNone/>
            </a:pPr>
            <a:r>
              <a:rPr lang="en-US" sz="1500" i="1" dirty="0">
                <a:solidFill>
                  <a:srgbClr val="5A6B76"/>
                </a:solidFill>
                <a:latin typeface="Calibri" pitchFamily="34" charset="0"/>
                <a:ea typeface="Calibri" pitchFamily="34" charset="-122"/>
                <a:cs typeface="Calibri" pitchFamily="34" charset="-120"/>
              </a:rPr>
              <a:t>Lecture 6 takeaways</a:t>
            </a:r>
            <a:endParaRPr lang="en-US" sz="1500" dirty="0"/>
          </a:p>
        </p:txBody>
      </p:sp>
      <p:sp>
        <p:nvSpPr>
          <p:cNvPr id="4" name="Shape 2"/>
          <p:cNvSpPr/>
          <p:nvPr/>
        </p:nvSpPr>
        <p:spPr>
          <a:xfrm>
            <a:off x="777240" y="1554480"/>
            <a:ext cx="5212080" cy="3017520"/>
          </a:xfrm>
          <a:prstGeom prst="roundRect">
            <a:avLst>
              <a:gd name="adj" fmla="val 1818"/>
            </a:avLst>
          </a:prstGeom>
          <a:solidFill>
            <a:srgbClr val="F4F7F9"/>
          </a:solidFill>
          <a:ln w="12700">
            <a:solidFill>
              <a:srgbClr val="E1E8ED"/>
            </a:solidFill>
            <a:prstDash val="solid"/>
          </a:ln>
        </p:spPr>
        <p:txBody>
          <a:bodyPr/>
          <a:lstStyle/>
          <a:p>
            <a:endParaRPr lang="en-US"/>
          </a:p>
        </p:txBody>
      </p:sp>
      <p:sp>
        <p:nvSpPr>
          <p:cNvPr id="5" name="Text 3"/>
          <p:cNvSpPr/>
          <p:nvPr/>
        </p:nvSpPr>
        <p:spPr>
          <a:xfrm>
            <a:off x="1033272" y="1737360"/>
            <a:ext cx="4754880" cy="365760"/>
          </a:xfrm>
          <a:prstGeom prst="rect">
            <a:avLst/>
          </a:prstGeom>
          <a:noFill/>
          <a:ln/>
        </p:spPr>
        <p:txBody>
          <a:bodyPr wrap="square" lIns="0" tIns="0" rIns="0" bIns="0" rtlCol="0" anchor="ctr"/>
          <a:lstStyle/>
          <a:p>
            <a:pPr marL="0" indent="0">
              <a:buNone/>
            </a:pPr>
            <a:r>
              <a:rPr lang="en-US" sz="1550" b="1" dirty="0">
                <a:solidFill>
                  <a:srgbClr val="065A82"/>
                </a:solidFill>
                <a:latin typeface="Calibri" pitchFamily="34" charset="0"/>
                <a:ea typeface="Calibri" pitchFamily="34" charset="-122"/>
                <a:cs typeface="Calibri" pitchFamily="34" charset="-120"/>
              </a:rPr>
              <a:t>Remember these six</a:t>
            </a:r>
            <a:endParaRPr lang="en-US" sz="1550" dirty="0"/>
          </a:p>
        </p:txBody>
      </p:sp>
      <p:sp>
        <p:nvSpPr>
          <p:cNvPr id="6" name="Text 4"/>
          <p:cNvSpPr/>
          <p:nvPr/>
        </p:nvSpPr>
        <p:spPr>
          <a:xfrm>
            <a:off x="1033272" y="2130552"/>
            <a:ext cx="4754880" cy="2240280"/>
          </a:xfrm>
          <a:prstGeom prst="rect">
            <a:avLst/>
          </a:prstGeom>
          <a:noFill/>
          <a:ln/>
        </p:spPr>
        <p:txBody>
          <a:bodyPr wrap="square" lIns="0" tIns="0" rIns="0" bIns="0" rtlCol="0" anchor="ctr"/>
          <a:lstStyle/>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Scaling stateless things is easy; stateful is the hard part</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Vertical scaling has a ceiling; horizontal needs splittable work</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Sessions belong in Redis, never in server memory</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Replicas scale reads only, and cost you consistency</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Indexes trade write speed for read speed</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Nothing so far has helped write throughput</a:t>
            </a:r>
            <a:endParaRPr lang="en-US" sz="1250" dirty="0"/>
          </a:p>
        </p:txBody>
      </p:sp>
      <p:sp>
        <p:nvSpPr>
          <p:cNvPr id="7" name="Shape 5"/>
          <p:cNvSpPr/>
          <p:nvPr/>
        </p:nvSpPr>
        <p:spPr>
          <a:xfrm>
            <a:off x="6172200" y="1554480"/>
            <a:ext cx="5212080" cy="3017520"/>
          </a:xfrm>
          <a:prstGeom prst="roundRect">
            <a:avLst>
              <a:gd name="adj" fmla="val 1818"/>
            </a:avLst>
          </a:prstGeom>
          <a:solidFill>
            <a:srgbClr val="F3EEF5"/>
          </a:solidFill>
          <a:ln w="12700">
            <a:solidFill>
              <a:srgbClr val="E1E8ED"/>
            </a:solidFill>
            <a:prstDash val="solid"/>
          </a:ln>
        </p:spPr>
        <p:txBody>
          <a:bodyPr/>
          <a:lstStyle/>
          <a:p>
            <a:endParaRPr lang="en-US"/>
          </a:p>
        </p:txBody>
      </p:sp>
      <p:sp>
        <p:nvSpPr>
          <p:cNvPr id="8" name="Text 6"/>
          <p:cNvSpPr/>
          <p:nvPr/>
        </p:nvSpPr>
        <p:spPr>
          <a:xfrm>
            <a:off x="6428232" y="1737360"/>
            <a:ext cx="4754880" cy="365760"/>
          </a:xfrm>
          <a:prstGeom prst="rect">
            <a:avLst/>
          </a:prstGeom>
          <a:noFill/>
          <a:ln/>
        </p:spPr>
        <p:txBody>
          <a:bodyPr wrap="square" lIns="0" tIns="0" rIns="0" bIns="0" rtlCol="0" anchor="ctr"/>
          <a:lstStyle/>
          <a:p>
            <a:pPr marL="0" indent="0">
              <a:buNone/>
            </a:pPr>
            <a:r>
              <a:rPr lang="en-US" sz="1550" b="1" dirty="0">
                <a:solidFill>
                  <a:srgbClr val="6B4E71"/>
                </a:solidFill>
                <a:latin typeface="Calibri" pitchFamily="34" charset="0"/>
                <a:ea typeface="Calibri" pitchFamily="34" charset="-122"/>
                <a:cs typeface="Calibri" pitchFamily="34" charset="-120"/>
              </a:rPr>
              <a:t>Think before Lecture 7</a:t>
            </a:r>
            <a:endParaRPr lang="en-US" sz="1550" dirty="0"/>
          </a:p>
        </p:txBody>
      </p:sp>
      <p:sp>
        <p:nvSpPr>
          <p:cNvPr id="9" name="Text 7"/>
          <p:cNvSpPr/>
          <p:nvPr/>
        </p:nvSpPr>
        <p:spPr>
          <a:xfrm>
            <a:off x="6428232" y="2130552"/>
            <a:ext cx="4754880" cy="2240280"/>
          </a:xfrm>
          <a:prstGeom prst="rect">
            <a:avLst/>
          </a:prstGeom>
          <a:noFill/>
          <a:ln/>
        </p:spPr>
        <p:txBody>
          <a:bodyPr wrap="square" lIns="0" tIns="0" rIns="0" bIns="0" rtlCol="0" anchor="ctr"/>
          <a:lstStyle/>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If you had to split the orders table across four machines, what would you split on?</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What breaks if you split by city and one city has half your orders?</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How would you find one order if you no longer know which machine holds it?</a:t>
            </a:r>
            <a:endParaRPr lang="en-US" sz="1250" dirty="0"/>
          </a:p>
        </p:txBody>
      </p:sp>
      <p:sp>
        <p:nvSpPr>
          <p:cNvPr id="10" name="Shape 8"/>
          <p:cNvSpPr/>
          <p:nvPr/>
        </p:nvSpPr>
        <p:spPr>
          <a:xfrm>
            <a:off x="777240" y="4800600"/>
            <a:ext cx="10607040" cy="1234440"/>
          </a:xfrm>
          <a:prstGeom prst="roundRect">
            <a:avLst>
              <a:gd name="adj" fmla="val 4444"/>
            </a:avLst>
          </a:prstGeom>
          <a:solidFill>
            <a:srgbClr val="FDF3E3"/>
          </a:solidFill>
          <a:ln w="17780">
            <a:solidFill>
              <a:srgbClr val="E8A33D"/>
            </a:solidFill>
            <a:prstDash val="solid"/>
          </a:ln>
        </p:spPr>
        <p:txBody>
          <a:bodyPr/>
          <a:lstStyle/>
          <a:p>
            <a:endParaRPr lang="en-US"/>
          </a:p>
        </p:txBody>
      </p:sp>
      <p:sp>
        <p:nvSpPr>
          <p:cNvPr id="11" name="Text 9"/>
          <p:cNvSpPr/>
          <p:nvPr/>
        </p:nvSpPr>
        <p:spPr>
          <a:xfrm>
            <a:off x="1097280" y="4937760"/>
            <a:ext cx="10058400" cy="320040"/>
          </a:xfrm>
          <a:prstGeom prst="rect">
            <a:avLst/>
          </a:prstGeom>
          <a:noFill/>
          <a:ln/>
        </p:spPr>
        <p:txBody>
          <a:bodyPr wrap="square" lIns="0" tIns="0" rIns="0" bIns="0" rtlCol="0" anchor="ctr"/>
          <a:lstStyle/>
          <a:p>
            <a:pPr marL="0" indent="0">
              <a:buNone/>
            </a:pPr>
            <a:r>
              <a:rPr lang="en-US" sz="1350" b="1" dirty="0">
                <a:solidFill>
                  <a:srgbClr val="8A5A12"/>
                </a:solidFill>
                <a:latin typeface="Calibri" pitchFamily="34" charset="0"/>
                <a:ea typeface="Calibri" pitchFamily="34" charset="-122"/>
                <a:cs typeface="Calibri" pitchFamily="34" charset="-120"/>
              </a:rPr>
              <a:t>The sentence to carry forward</a:t>
            </a:r>
            <a:endParaRPr lang="en-US" sz="1350" dirty="0"/>
          </a:p>
        </p:txBody>
      </p:sp>
      <p:sp>
        <p:nvSpPr>
          <p:cNvPr id="12" name="Text 10"/>
          <p:cNvSpPr/>
          <p:nvPr/>
        </p:nvSpPr>
        <p:spPr>
          <a:xfrm>
            <a:off x="1097280" y="5285232"/>
            <a:ext cx="9966960" cy="685800"/>
          </a:xfrm>
          <a:prstGeom prst="rect">
            <a:avLst/>
          </a:prstGeom>
          <a:noFill/>
          <a:ln/>
        </p:spPr>
        <p:txBody>
          <a:bodyPr wrap="square" lIns="0" tIns="0" rIns="0" bIns="0" rtlCol="0" anchor="ctr"/>
          <a:lstStyle/>
          <a:p>
            <a:pPr marL="0" indent="0">
              <a:lnSpc>
                <a:spcPts val="1900"/>
              </a:lnSpc>
              <a:buNone/>
            </a:pPr>
            <a:r>
              <a:rPr lang="en-US" sz="1400" dirty="0">
                <a:solidFill>
                  <a:srgbClr val="1B2A33"/>
                </a:solidFill>
                <a:latin typeface="Calibri" pitchFamily="34" charset="0"/>
                <a:ea typeface="Calibri" pitchFamily="34" charset="-122"/>
                <a:cs typeface="Calibri" pitchFamily="34" charset="-120"/>
              </a:rPr>
              <a:t>Caching, replicas and indexes all make an existing machine cope better. None of them increase how much you can write. When writes are the limit, the data itself has to be divided.</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527</TotalTime>
  <Words>2494</Words>
  <Application>Microsoft Macintosh PowerPoint</Application>
  <PresentationFormat>Widescreen</PresentationFormat>
  <Paragraphs>262</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Gaurav Raj</cp:lastModifiedBy>
  <cp:revision>2</cp:revision>
  <dcterms:created xsi:type="dcterms:W3CDTF">2026-09-02T14:30:06Z</dcterms:created>
  <dcterms:modified xsi:type="dcterms:W3CDTF">2026-09-03T02:46:43Z</dcterms:modified>
</cp:coreProperties>
</file>