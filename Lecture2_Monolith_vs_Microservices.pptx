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960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the format today is different: each section starts with a scenario question. They must attempt an answer before the design slide appears. No 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Roughly 12 minutes per round. Keep the pace — do not let round 1 eat the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familiar app deliberately. Ask which features they think are hardest — most say tracking; actually payments is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many to say microservices because it sounds modern. Let them commit before showing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line: microservices solve an organisational problem, not a technical one. With four people you do not have that problem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monolith does not mean unstructured. Draw the internal module boundaries on the board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"add microservices" or "buy a bigger server". Push them: what exactly is running 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of the lecture. Most real systems never need to go past this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each new component and name the unit where we study it: load balancer = Unit 2, replica = Unit 3, Redis = Unit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turn of the lecture. The pain has shifted from performance to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of these five would you feel first as an engineer? Usually the release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Friday deploy test is a memorable heuristic. Use it again in the case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shared-database warning is the single most common student mistake in design questions. Say it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struggle with this. The word they are reaching for is transaction.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card is literally your DevOps lab. Point that out — microservices are why DevOps exists as a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students remember one slide from today, make it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Shopify is the useful counterexample — it stops students believing microservices are automatically the mature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 take-home question answers at the start of Lecture 3 as a participation 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762930" y="262167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656337" y="902247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52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 or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answer this by growing one real app — a campus food delivery</a:t>
            </a:r>
            <a:endParaRPr lang="en-US" sz="17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— from 50 users to 5 million, and seeing what breaks along the way.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 Works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070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" y="1947672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837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one: 50 users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560320" y="220370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build the very first version?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2825496"/>
            <a:ext cx="10607040" cy="987552"/>
          </a:xfrm>
          <a:prstGeom prst="roundRect">
            <a:avLst>
              <a:gd name="adj" fmla="val 555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3081528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30815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grows: 50,000 users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560320" y="3337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first, and what do you do about it?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77240" y="3959352"/>
            <a:ext cx="1060704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05840" y="4215384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421538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41056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split: 5 million users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560320" y="447141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break the app apart? Where exactly?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5093208"/>
            <a:ext cx="10607040" cy="987552"/>
          </a:xfrm>
          <a:prstGeom prst="roundRect">
            <a:avLst>
              <a:gd name="adj" fmla="val 5556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5840" y="5349240"/>
            <a:ext cx="1280160" cy="457200"/>
          </a:xfrm>
          <a:prstGeom prst="roundRect">
            <a:avLst>
              <a:gd name="adj" fmla="val 4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3492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5239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560320" y="5605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lose by splitting it?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App: CampusEats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food delivery app for our campus — built by four students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3383280" cy="1508760"/>
          </a:xfrm>
          <a:prstGeom prst="roundRect">
            <a:avLst>
              <a:gd name="adj" fmla="val 424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restaurants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5156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menus and prices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783080"/>
            <a:ext cx="3383280" cy="1508760"/>
          </a:xfrm>
          <a:prstGeom prst="roundRect">
            <a:avLst>
              <a:gd name="adj" fmla="val 424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0916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 order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70916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address, confirm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783080"/>
            <a:ext cx="3383280" cy="1508760"/>
          </a:xfrm>
          <a:prstGeom prst="roundRect">
            <a:avLst>
              <a:gd name="adj" fmla="val 4242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366760" y="2103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online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36676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or card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3566160"/>
            <a:ext cx="3383280" cy="1508760"/>
          </a:xfrm>
          <a:prstGeom prst="roundRect">
            <a:avLst>
              <a:gd name="adj" fmla="val 4242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delivery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my food?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3566160"/>
            <a:ext cx="3383280" cy="1508760"/>
          </a:xfrm>
          <a:prstGeom prst="roundRect">
            <a:avLst>
              <a:gd name="adj" fmla="val 4242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and review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709160" y="4297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and comments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92440" y="3566160"/>
            <a:ext cx="3383280" cy="1508760"/>
          </a:xfrm>
          <a:prstGeom prst="roundRect">
            <a:avLst>
              <a:gd name="adj" fmla="val 4242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6676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panel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366760" y="4297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accept orders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265176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·  QUESTION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day one. Four of you. Fifty users — your own hostel. You have three weeks before the college fest.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978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you build CampusEats?</a:t>
            </a:r>
            <a:endParaRPr lang="en-US" sz="27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application, or six separate services?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68680" y="4937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60 seconds. Justify your answer with a reason, not a preference.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1 — The Answer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monolith. Almost always, at this stage.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codebase. One database. One deployment. All six features live inside a single application — and that is the correct engineering decision here, not a compromise.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monolith wins on day one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3272" y="3182112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people can share one repository easily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calls another with a function call — no network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 command ships everything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Debugging: one log file, one stack trace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ship in three weeks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60604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FDF3E3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28232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microservices would cost you now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8232" y="3182112"/>
            <a:ext cx="4754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repos, six pipelines, six databases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call becomes a network call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service discovery and monitoring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students debugging across six services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would miss the fest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Design: Monolithic CampusEats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box — but still organised inside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737360" cy="1005840"/>
          </a:xfrm>
          <a:prstGeom prst="roundRect">
            <a:avLst>
              <a:gd name="adj" fmla="val 636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5669280" cy="3291840"/>
          </a:xfrm>
          <a:prstGeom prst="roundRect">
            <a:avLst>
              <a:gd name="adj" fmla="val 2222"/>
            </a:avLst>
          </a:prstGeom>
          <a:solidFill>
            <a:srgbClr val="EEF6F7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66160" y="14813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CampusEats application  (one process)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1965960"/>
            <a:ext cx="2468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1188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2468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965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11880" y="2788920"/>
            <a:ext cx="2468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11880" y="2788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2788920"/>
            <a:ext cx="2468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63640" y="27889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3611880"/>
            <a:ext cx="2468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11880" y="3611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2468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63640" y="3611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11880" y="42245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not services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875520" y="2377440"/>
            <a:ext cx="1554480" cy="1280160"/>
          </a:xfrm>
          <a:prstGeom prst="roundRect">
            <a:avLst>
              <a:gd name="adj" fmla="val 5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75520" y="237744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606040" y="2057400"/>
            <a:ext cx="713232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98280" y="3017520"/>
            <a:ext cx="713232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49377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modules inside are still separated cleanly. A good monolith is organised — it is not a mess. That discipline is what makes splitting it later possible.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265176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·  QUESTION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later. Five colleges, 50,000 users. Every evening between 8 and 10 pm the app becomes unusable. Ordering is slow. Even browsing menus is slow.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978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in your code changed.</a:t>
            </a:r>
            <a:endParaRPr lang="en-US" sz="27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it only break at 8 pm — and what do you do first?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68680" y="4937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Careful: the first instinct is usually the expensive one.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2 — The Answer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load problem, not an architecture problem</a:t>
            </a:r>
            <a:endParaRPr lang="en-US" sz="1500" b="1" dirty="0">
              <a:solidFill>
                <a:srgbClr val="00B05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 pm everyone orders dinner at once. One server has a fixed number of CPU cores, memory and database connections. You did not hit a design limit — you hit a capacity limit.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278892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65176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more copies of the same app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57800" y="265176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identical monoliths behind a load balancer. Nothing in the code changes.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5840" y="361188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611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34747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the menus in Redis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257800" y="347472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barely change but are read constantly. Serve them from memory, not the database.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4297680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05840" y="4434840"/>
            <a:ext cx="438912" cy="438912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434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42976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database read replica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57800" y="429768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browsing queries to the replica, keep orders on the primary.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5120640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DF0EE"/>
          </a:solidFill>
          <a:ln w="12700">
            <a:solidFill>
              <a:srgbClr val="E8C4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05840" y="5257800"/>
            <a:ext cx="438912" cy="438912"/>
          </a:xfrm>
          <a:prstGeom prst="ellipse">
            <a:avLst/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51206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microservices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257800" y="512064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work, and it would not have fixed tonight’s dinner rush.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scale the monolith first. It is cheaper, faster, and usually enough for a long time.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Design: A Scaled Monolith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application, three copies, one shared data layer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1554480" cy="914400"/>
          </a:xfrm>
          <a:prstGeom prst="roundRect">
            <a:avLst>
              <a:gd name="adj" fmla="val 7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0" y="2377440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7520" y="237744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0" y="160020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EEF6F7"/>
          </a:solidFill>
          <a:ln w="1524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0" y="16002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copy 1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0" y="260604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EEF6F7"/>
          </a:solidFill>
          <a:ln w="1524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copy 2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0" y="361188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EEF6F7"/>
          </a:solidFill>
          <a:ln w="1524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0" y="36118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copy 3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0" y="1600200"/>
            <a:ext cx="2651760" cy="1051560"/>
          </a:xfrm>
          <a:prstGeom prst="roundRect">
            <a:avLst>
              <a:gd name="adj" fmla="val 5217"/>
            </a:avLst>
          </a:prstGeom>
          <a:solidFill>
            <a:srgbClr val="FDF3E3"/>
          </a:solidFill>
          <a:ln w="1651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0" y="2084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sessions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0" y="288036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0" y="2880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database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0" y="379476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0" y="37947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replica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77440" y="2834640"/>
            <a:ext cx="566928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 flipV="1">
            <a:off x="4983480" y="1993392"/>
            <a:ext cx="621792" cy="841248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83480" y="2834640"/>
            <a:ext cx="621792" cy="16459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83480" y="2834640"/>
            <a:ext cx="621792" cy="117043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09560" y="3017520"/>
            <a:ext cx="713232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937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did NOT change: the application code. This is why scaling a monolith is the cheap move.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265176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·  QUESTION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on. 5 million users, 60 engineers. Payments needs a security patch shipped today. But payments lives inside the same application as everything else.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978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fix one line in payments,</a:t>
            </a:r>
            <a:endParaRPr lang="en-US" sz="27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must redeploy the entire app. What has gone wrong?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68680" y="4937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problem is now about people and risk, not about speed.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3 — The Answer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725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monolith genuinely hurts. Here is exactly how.</a:t>
            </a:r>
            <a:endParaRPr lang="en-US" sz="1500" b="1" dirty="0">
              <a:solidFill>
                <a:srgbClr val="00B05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engineers sharing one codebase and one deploy pipeline. Every release is a negotiation. One bad line in reviews can crash payments, because they run in the same process.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106070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8D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65176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coupling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114800" y="2651760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one-line payment fix requires redeploying reviews, tracking and admin too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364992"/>
            <a:ext cx="10607040" cy="603504"/>
          </a:xfrm>
          <a:prstGeom prst="roundRect">
            <a:avLst>
              <a:gd name="adj" fmla="val 7576"/>
            </a:avLst>
          </a:prstGeom>
          <a:solidFill>
            <a:srgbClr val="FDF0EE"/>
          </a:solidFill>
          <a:ln w="12700">
            <a:solidFill>
              <a:srgbClr val="E8D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336499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14800" y="3364992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leak in image uploads takes down order placement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078224"/>
            <a:ext cx="106070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8D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407822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waste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114800" y="4078224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needs 40 servers at dinner time; admin needs one. You must scale both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791456"/>
            <a:ext cx="10607040" cy="603504"/>
          </a:xfrm>
          <a:prstGeom prst="roundRect">
            <a:avLst>
              <a:gd name="adj" fmla="val 7576"/>
            </a:avLst>
          </a:prstGeom>
          <a:solidFill>
            <a:srgbClr val="FDF0EE"/>
          </a:solidFill>
          <a:ln w="12700">
            <a:solidFill>
              <a:srgbClr val="E8D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479145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collision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14800" y="4791456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Sixty engineers merging into one repo; the release queue is days long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5504688"/>
            <a:ext cx="106070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E8D5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550468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lock-in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114800" y="5504688"/>
            <a:ext cx="7040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would be better in Go, but the whole app is in Java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people-and-risk problem. That is the real trigger for microservices.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Exactly Do You Cut?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Split along business capabilities — not along technical layers</a:t>
            </a:r>
            <a:endParaRPr lang="en-US" sz="1500" b="1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FDF0EE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cut: by technical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3272" y="217627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"database service", a "UI service"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still touches every service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all the network cost, none of the independence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212080" cy="1965960"/>
          </a:xfrm>
          <a:prstGeom prst="roundRect">
            <a:avLst>
              <a:gd name="adj" fmla="val 2791"/>
            </a:avLst>
          </a:prstGeom>
          <a:solidFill>
            <a:srgbClr val="EAF5E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cut: by business capability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28232" y="2176272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owns everything about paying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its own data and its own team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be deployed alone, safely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CampusEats, split properly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425196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F4F7F9"/>
          </a:solidFill>
          <a:ln w="12700">
            <a:solidFill>
              <a:srgbClr val="C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menus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71800" y="425196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EEF6F7"/>
          </a:solidFill>
          <a:ln w="12700">
            <a:solidFill>
              <a:srgbClr val="C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0896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108960" y="4846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order lifecycle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66360" y="425196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F4F7F9"/>
          </a:solidFill>
          <a:ln w="12700">
            <a:solidFill>
              <a:srgbClr val="C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303520" y="4846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cards, refunds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60920" y="425196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EEF6F7"/>
          </a:solidFill>
          <a:ln w="12700">
            <a:solidFill>
              <a:srgbClr val="C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498080" y="4846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driver location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55480" y="4251960"/>
            <a:ext cx="1965960" cy="1371600"/>
          </a:xfrm>
          <a:prstGeom prst="roundRect">
            <a:avLst>
              <a:gd name="adj" fmla="val 4667"/>
            </a:avLst>
          </a:prstGeom>
          <a:solidFill>
            <a:srgbClr val="F4F7F9"/>
          </a:solidFill>
          <a:ln w="12700">
            <a:solidFill>
              <a:srgbClr val="C9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92640" y="44348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692640" y="4846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comments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 a good boundary: can one team own this service end to end, and deploy it on a Friday without asking anyone?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Design: Microservices CampusEats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owns its own data — that is the defining rule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463040" cy="731520"/>
          </a:xfrm>
          <a:prstGeom prst="roundRect">
            <a:avLst>
              <a:gd name="adj" fmla="val 875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160020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1600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12080" y="16002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EEF6F7"/>
          </a:solidFill>
          <a:ln w="1524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0" y="16002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13248" y="2514600"/>
            <a:ext cx="1005840" cy="566928"/>
          </a:xfrm>
          <a:prstGeom prst="roundRect">
            <a:avLst>
              <a:gd name="adj" fmla="val 8065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13248" y="2514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16168" y="2350008"/>
            <a:ext cx="0" cy="146304"/>
          </a:xfrm>
          <a:prstGeom prst="line">
            <a:avLst/>
          </a:prstGeom>
          <a:noFill/>
          <a:ln w="19050">
            <a:solidFill>
              <a:srgbClr val="5A6B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12280" y="16002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EEF6F7"/>
          </a:solidFill>
          <a:ln w="1524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12280" y="16002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13448" y="2514600"/>
            <a:ext cx="1005840" cy="566928"/>
          </a:xfrm>
          <a:prstGeom prst="roundRect">
            <a:avLst>
              <a:gd name="adj" fmla="val 8065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13448" y="2514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16368" y="2350008"/>
            <a:ext cx="0" cy="146304"/>
          </a:xfrm>
          <a:prstGeom prst="line">
            <a:avLst/>
          </a:prstGeom>
          <a:noFill/>
          <a:ln w="19050">
            <a:solidFill>
              <a:srgbClr val="5A6B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12480" y="16002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EEF6F7"/>
          </a:solidFill>
          <a:ln w="1524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12480" y="16002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13648" y="2514600"/>
            <a:ext cx="1005840" cy="566928"/>
          </a:xfrm>
          <a:prstGeom prst="roundRect">
            <a:avLst>
              <a:gd name="adj" fmla="val 8065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13648" y="2514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16568" y="2350008"/>
            <a:ext cx="0" cy="146304"/>
          </a:xfrm>
          <a:prstGeom prst="line">
            <a:avLst/>
          </a:prstGeom>
          <a:noFill/>
          <a:ln w="19050">
            <a:solidFill>
              <a:srgbClr val="5A6B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012680" y="16002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EEF6F7"/>
          </a:solidFill>
          <a:ln w="1524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12680" y="1600200"/>
            <a:ext cx="1417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213848" y="2514600"/>
            <a:ext cx="1005840" cy="566928"/>
          </a:xfrm>
          <a:prstGeom prst="roundRect">
            <a:avLst>
              <a:gd name="adj" fmla="val 8065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213848" y="251460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716768" y="2350008"/>
            <a:ext cx="0" cy="146304"/>
          </a:xfrm>
          <a:prstGeom prst="line">
            <a:avLst/>
          </a:prstGeom>
          <a:noFill/>
          <a:ln w="19050">
            <a:solidFill>
              <a:srgbClr val="5A6B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286000" y="1965960"/>
            <a:ext cx="402336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17720" y="1965960"/>
            <a:ext cx="54864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12080" y="3520440"/>
            <a:ext cx="6217920" cy="77724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651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12080" y="352044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services announce events instead of calling each other directly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flow:  Order service publishes "order placed"  →  Payment charges the card  →  Tracking starts following the driver  →  none of them waited for the others.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services share one database, you do not have microservices — you have a monolith with extra network calls.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2651760" cy="411480"/>
          </a:xfrm>
          <a:prstGeom prst="roundRect">
            <a:avLst>
              <a:gd name="adj" fmla="val 44444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85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  ·  QUESTION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split CampusEats into five services. A student places an order, the payment succeeds, but the Order service crashed one second earlier and never recorded the order.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88720" y="2926080"/>
            <a:ext cx="9784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taken. No order exists.</a:t>
            </a:r>
            <a:endParaRPr lang="en-US" sz="27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monolith this was impossible. Why?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68680" y="4937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price of the split. Think about what a database transaction used to give you.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4 — The Answer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traded a transaction for a network — and networks fail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monolith, order and payment were rows in one database, written in one transaction: both succeed or both roll back. Once they are separate services with separate databases, no such guarantee exists.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3337560" cy="2926080"/>
          </a:xfrm>
          <a:prstGeom prst="roundRect">
            <a:avLst>
              <a:gd name="adj" fmla="val 1875"/>
            </a:avLst>
          </a:prstGeom>
          <a:solidFill>
            <a:srgbClr val="EAF5E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gained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3272" y="3182112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each service alone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stay contained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is busy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work independently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language per service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2606040"/>
            <a:ext cx="3337560" cy="2926080"/>
          </a:xfrm>
          <a:prstGeom prst="roundRect">
            <a:avLst>
              <a:gd name="adj" fmla="val 1875"/>
            </a:avLst>
          </a:prstGeom>
          <a:solidFill>
            <a:srgbClr val="FDF0EE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72584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0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72584" y="3182112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transactions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read logs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local debugging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function calls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mental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2606040"/>
            <a:ext cx="3337560" cy="2926080"/>
          </a:xfrm>
          <a:prstGeom prst="roundRect">
            <a:avLst>
              <a:gd name="adj" fmla="val 1875"/>
            </a:avLst>
          </a:prstGeom>
          <a:solidFill>
            <a:srgbClr val="FDF3E3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02752" y="2788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must build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2752" y="3182112"/>
            <a:ext cx="2880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and idempotency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logging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checks, tracing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for every service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to run it all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How Do You Actually Decide?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answer engineers use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69164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team, unclear product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810512"/>
            <a:ext cx="3749040" cy="475488"/>
          </a:xfrm>
          <a:prstGeom prst="roundRect">
            <a:avLst>
              <a:gd name="adj" fmla="val 38462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06640" y="18105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532888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532888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traffic, stable team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06640" y="2651760"/>
            <a:ext cx="3749040" cy="475488"/>
          </a:xfrm>
          <a:prstGeom prst="roundRect">
            <a:avLst>
              <a:gd name="adj" fmla="val 38462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06640" y="26517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monolith + cache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374136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374136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teams blocking each other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06640" y="3493008"/>
            <a:ext cx="3749040" cy="475488"/>
          </a:xfrm>
          <a:prstGeom prst="roundRect">
            <a:avLst>
              <a:gd name="adj" fmla="val 38462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06640" y="34930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splitting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4215384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4215384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has extreme, different load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06640" y="4334256"/>
            <a:ext cx="3749040" cy="475488"/>
          </a:xfrm>
          <a:prstGeom prst="roundRect">
            <a:avLst>
              <a:gd name="adj" fmla="val 38462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06640" y="433425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that one feature only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" y="5056632"/>
            <a:ext cx="1060704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51560" y="5056632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it because it sounds modern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406640" y="5175504"/>
            <a:ext cx="3749040" cy="475488"/>
          </a:xfrm>
          <a:prstGeom prst="roundRect">
            <a:avLst>
              <a:gd name="adj" fmla="val 38462"/>
            </a:avLst>
          </a:prstGeom>
          <a:solidFill>
            <a:srgbClr val="A03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06640" y="517550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 the monolith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starts with microservices. You migrate into them when the pain of not having them exceeds the pain of having them.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Actually Happened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49808" y="1143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D1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company you admire followed the same path we just walked.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074920" cy="1691640"/>
          </a:xfrm>
          <a:prstGeom prst="roundRect">
            <a:avLst>
              <a:gd name="adj" fmla="val 3784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69848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9848" y="24688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 one large application called Obidos. Split it in the early 2000s after deployments became unmanageable.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074920" cy="1691640"/>
          </a:xfrm>
          <a:prstGeom prst="roundRect">
            <a:avLst>
              <a:gd name="adj" fmla="val 378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64808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Netflix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64808" y="24688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a monolith until a database failure in 2008 stopped DVD shipping for days. That outage triggered the move to services.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794760"/>
            <a:ext cx="5074920" cy="1691640"/>
          </a:xfrm>
          <a:prstGeom prst="roundRect">
            <a:avLst>
              <a:gd name="adj" fmla="val 3784"/>
            </a:avLst>
          </a:prstGeom>
          <a:solidFill>
            <a:srgbClr val="1D3D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3977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69848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as a monolith for one city. Split as it expanded to hundreds of cities and hundreds of engineers.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074920" cy="1691640"/>
          </a:xfrm>
          <a:prstGeom prst="roundRect">
            <a:avLst>
              <a:gd name="adj" fmla="val 378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64808" y="39776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Shopify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64808" y="44348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runs a modular monolith today, at enormous scale — proof that splitting is a choice, not an obligation.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Next Class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212080" cy="2834640"/>
          </a:xfrm>
          <a:prstGeom prst="roundRect">
            <a:avLst>
              <a:gd name="adj" fmla="val 1935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these five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33272" y="2176272"/>
            <a:ext cx="4754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= one deployable unit, one database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= independent services, own data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monolith before splitting it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business capability, not by layer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costs you transactions and simplicity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212080" cy="2834640"/>
          </a:xfrm>
          <a:prstGeom prst="roundRect">
            <a:avLst>
              <a:gd name="adj" fmla="val 1935"/>
            </a:avLst>
          </a:prstGeom>
          <a:solidFill>
            <a:srgbClr val="EEF6F7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Lecture 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28232" y="2176272"/>
            <a:ext cx="4754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app you use. Where would you cut it?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can WhatsApp not simply add more servers?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"own database" mean for a login service?</a:t>
            </a:r>
            <a:endParaRPr lang="en-US" sz="13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one question to class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663440"/>
            <a:ext cx="10607040" cy="1188720"/>
          </a:xfrm>
          <a:prstGeom prst="roundRect">
            <a:avLst>
              <a:gd name="adj" fmla="val 4615"/>
            </a:avLst>
          </a:prstGeom>
          <a:solidFill>
            <a:srgbClr val="132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4800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51206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Scalability, availability, reliability — and the numbers behind them. We measure what we only described today.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1996</Words>
  <Application>Microsoft Macintosh PowerPoint</Application>
  <PresentationFormat>Widescreen</PresentationFormat>
  <Paragraphs>267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Raj</cp:lastModifiedBy>
  <cp:revision>2</cp:revision>
  <dcterms:created xsi:type="dcterms:W3CDTF">2026-08-05T19:25:22Z</dcterms:created>
  <dcterms:modified xsi:type="dcterms:W3CDTF">2026-08-06T02:01:43Z</dcterms:modified>
</cp:coreProperties>
</file>