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87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the packet travels. Click 2: Eve has a perfect copy. Ask: what would you do with this if you were Eve?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SSL: public key only to deliver a short secret; the secret then drives fast symmetric encryption.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through slowly. Ask after each click: does the client notice anything? (No.) This is why public keys alone are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1–4: hello and identity. 5: the only public-key operation from the client. 6–7: “Finished” proves both computed the same keys and nobody altered the handshake. 8: normal encrypted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click sends one packet. Packets pile up at the destination; that is fine, it shows what each side has received.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C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SSL / TLS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padlock in your browser really keeps you safe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picture-by-picture story, told through six test cases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6949440" cy="685800"/>
          </a:xfrm>
          <a:prstGeom prst="roundRect">
            <a:avLst>
              <a:gd name="adj" fmla="val 46667"/>
            </a:avLst>
          </a:prstGeom>
          <a:solidFill>
            <a:srgbClr val="141414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lo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69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3931920"/>
            <a:ext cx="5943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bank.com</a:t>
            </a:r>
            <a:r>
              <a:rPr lang="en-US" sz="22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280160"/>
            <a:ext cx="914400" cy="9144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280160"/>
            <a:ext cx="914400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555480" y="1737360"/>
            <a:ext cx="100584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150876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38160" y="5760720"/>
            <a:ext cx="3474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C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Gaurav Raj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5 0.0000 E" pathEditMode="relative" ptsTypes="AA">
                                      <p:cBhvr>
                                        <p:cTn id="6" dur="1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log in to your bank from a café Wi-Fi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6002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5176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Wi-Fi router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600200"/>
            <a:ext cx="822960" cy="8229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12064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provider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600200"/>
            <a:ext cx="822960" cy="8229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58952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routers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1600200"/>
            <a:ext cx="822960" cy="8229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05840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1691640" y="2011680"/>
            <a:ext cx="1417320" cy="91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4160520" y="2011680"/>
            <a:ext cx="1417320" cy="91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6629400" y="2011680"/>
            <a:ext cx="1417320" cy="91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9098280" y="2011680"/>
            <a:ext cx="1417320" cy="91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pw"/>
          <p:cNvSpPr/>
          <p:nvPr/>
        </p:nvSpPr>
        <p:spPr>
          <a:xfrm>
            <a:off x="1097280" y="29718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00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password=Ganga@123</a:t>
            </a:r>
            <a:endParaRPr lang="en-US" sz="1200" dirty="0"/>
          </a:p>
        </p:txBody>
      </p:sp>
      <p:sp>
        <p:nvSpPr>
          <p:cNvPr id="19" name="many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passes through many hands you do not know or control.</a:t>
            </a:r>
            <a:endParaRPr lang="en-US" sz="1800" dirty="0"/>
          </a:p>
        </p:txBody>
      </p:sp>
      <p:sp>
        <p:nvSpPr>
          <p:cNvPr id="20" name="g0"/>
          <p:cNvSpPr/>
          <p:nvPr/>
        </p:nvSpPr>
        <p:spPr>
          <a:xfrm>
            <a:off x="548640" y="429768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480560"/>
            <a:ext cx="548640" cy="5486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63040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900" dirty="0"/>
          </a:p>
        </p:txBody>
      </p:sp>
      <p:sp>
        <p:nvSpPr>
          <p:cNvPr id="23" name="Text 15"/>
          <p:cNvSpPr txBox="1"/>
          <p:nvPr/>
        </p:nvSpPr>
        <p:spPr>
          <a:xfrm>
            <a:off x="777240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can READ it</a:t>
            </a:r>
            <a:endParaRPr lang="en-US" sz="1500" dirty="0"/>
          </a:p>
        </p:txBody>
      </p:sp>
      <p:sp>
        <p:nvSpPr>
          <p:cNvPr id="24" name="g1"/>
          <p:cNvSpPr/>
          <p:nvPr/>
        </p:nvSpPr>
        <p:spPr>
          <a:xfrm>
            <a:off x="4325112" y="429768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3712" y="4480560"/>
            <a:ext cx="548640" cy="54864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239512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4553712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CHANGE it unnoticed</a:t>
            </a:r>
            <a:endParaRPr lang="en-US" sz="1500" dirty="0"/>
          </a:p>
        </p:txBody>
      </p:sp>
      <p:sp>
        <p:nvSpPr>
          <p:cNvPr id="28" name="g2"/>
          <p:cNvSpPr/>
          <p:nvPr/>
        </p:nvSpPr>
        <p:spPr>
          <a:xfrm>
            <a:off x="8101584" y="429768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0184" y="4480560"/>
            <a:ext cx="548640" cy="54864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015984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31" name="Text 21"/>
          <p:cNvSpPr txBox="1"/>
          <p:nvPr/>
        </p:nvSpPr>
        <p:spPr>
          <a:xfrm>
            <a:off x="8330184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really talking to bank.com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750 0.0000 E" pathEditMode="relative" ptsTypes="AA">
                                      <p:cBhvr>
                                        <p:cTn id="6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4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journey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test cases, each one fixing the last one’s weakness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06191A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4919472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0352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 (no encryption)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4279392"/>
            <a:ext cx="1737360" cy="1755648"/>
          </a:xfrm>
          <a:prstGeom prst="roundRect">
            <a:avLst>
              <a:gd name="adj" fmla="val 3158"/>
            </a:avLst>
          </a:prstGeom>
          <a:solidFill>
            <a:srgbClr val="06191A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514600" y="4352544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4736592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secret 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712464"/>
            <a:ext cx="1737360" cy="2322576"/>
          </a:xfrm>
          <a:prstGeom prst="roundRect">
            <a:avLst>
              <a:gd name="adj" fmla="val 3158"/>
            </a:avLst>
          </a:prstGeom>
          <a:solidFill>
            <a:srgbClr val="06191A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89120" y="3785616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169664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Server’s public key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145536"/>
            <a:ext cx="1737360" cy="2889504"/>
          </a:xfrm>
          <a:prstGeom prst="roundRect">
            <a:avLst>
              <a:gd name="adj" fmla="val 3158"/>
            </a:avLst>
          </a:prstGeom>
          <a:solidFill>
            <a:srgbClr val="06191A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63640" y="3218688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602736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key pairs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578608"/>
            <a:ext cx="1737360" cy="3456432"/>
          </a:xfrm>
          <a:prstGeom prst="roundRect">
            <a:avLst>
              <a:gd name="adj" fmla="val 3158"/>
            </a:avLst>
          </a:prstGeom>
          <a:solidFill>
            <a:srgbClr val="06191A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13816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12680" y="2011680"/>
            <a:ext cx="1737360" cy="4023360"/>
          </a:xfrm>
          <a:prstGeom prst="roundRect">
            <a:avLst>
              <a:gd name="adj" fmla="val 3158"/>
            </a:avLst>
          </a:prstGeom>
          <a:solidFill>
            <a:srgbClr val="06190C"/>
          </a:solidFill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012680" y="2084832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10412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→ SSL/TLS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secure →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step: watch the packets move, spot the attack, then fix it.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cast as Lecture 1, plus one new trusted friend</a:t>
            </a:r>
            <a:endParaRPr lang="en-US" sz="3000" dirty="0"/>
          </a:p>
        </p:txBody>
      </p:sp>
      <p:sp>
        <p:nvSpPr>
          <p:cNvPr id="4" name="c0"/>
          <p:cNvSpPr/>
          <p:nvPr/>
        </p:nvSpPr>
        <p:spPr>
          <a:xfrm>
            <a:off x="548640" y="155448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26080"/>
            <a:ext cx="20848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20440"/>
            <a:ext cx="181051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</a:t>
            </a:r>
            <a:endParaRPr lang="en-US" sz="1400" dirty="0"/>
          </a:p>
        </p:txBody>
      </p:sp>
      <p:sp>
        <p:nvSpPr>
          <p:cNvPr id="8" name="c1"/>
          <p:cNvSpPr/>
          <p:nvPr/>
        </p:nvSpPr>
        <p:spPr>
          <a:xfrm>
            <a:off x="2816352" y="155448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82880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6352" y="2926080"/>
            <a:ext cx="20848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2953512" y="3520440"/>
            <a:ext cx="181051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400" dirty="0"/>
          </a:p>
        </p:txBody>
      </p:sp>
      <p:sp>
        <p:nvSpPr>
          <p:cNvPr id="12" name="c2"/>
          <p:cNvSpPr/>
          <p:nvPr/>
        </p:nvSpPr>
        <p:spPr>
          <a:xfrm>
            <a:off x="5084064" y="155448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84064" y="2926080"/>
            <a:ext cx="20848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5221224" y="3520440"/>
            <a:ext cx="181051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LISTENS (passive)</a:t>
            </a:r>
            <a:endParaRPr lang="en-US" sz="1400" dirty="0"/>
          </a:p>
        </p:txBody>
      </p:sp>
      <p:sp>
        <p:nvSpPr>
          <p:cNvPr id="16" name="c3"/>
          <p:cNvSpPr/>
          <p:nvPr/>
        </p:nvSpPr>
        <p:spPr>
          <a:xfrm>
            <a:off x="7351776" y="155448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1828800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51776" y="2926080"/>
            <a:ext cx="20848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Mallory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7488936" y="3520440"/>
            <a:ext cx="181051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THE MIDDLE, changes things (active)</a:t>
            </a:r>
            <a:endParaRPr lang="en-US" sz="1400" dirty="0"/>
          </a:p>
        </p:txBody>
      </p:sp>
      <p:sp>
        <p:nvSpPr>
          <p:cNvPr id="20" name="c4"/>
          <p:cNvSpPr/>
          <p:nvPr/>
        </p:nvSpPr>
        <p:spPr>
          <a:xfrm>
            <a:off x="9619488" y="155448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4" y="1828800"/>
            <a:ext cx="914400" cy="9144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19488" y="2926080"/>
            <a:ext cx="20848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9756648" y="3520440"/>
            <a:ext cx="181051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Authority: a trusted “passport office” (appears later)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HTTP: send the password as it is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148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743200"/>
            <a:ext cx="85039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99048" y="2743200"/>
            <a:ext cx="914" cy="1234440"/>
          </a:xfrm>
          <a:prstGeom prst="line">
            <a:avLst/>
          </a:prstGeom>
          <a:noFill/>
          <a:ln w="15875">
            <a:solidFill>
              <a:srgbClr val="FFC76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97764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37760" y="4681728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(same café Wi-Fi)</a:t>
            </a:r>
            <a:endParaRPr lang="en-US" sz="1200" dirty="0"/>
          </a:p>
        </p:txBody>
      </p:sp>
      <p:sp>
        <p:nvSpPr>
          <p:cNvPr id="13" name="pk"/>
          <p:cNvSpPr/>
          <p:nvPr/>
        </p:nvSpPr>
        <p:spPr>
          <a:xfrm>
            <a:off x="2011680" y="21488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00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password=Ganga@123</a:t>
            </a:r>
            <a:endParaRPr lang="en-US" sz="1200" dirty="0"/>
          </a:p>
        </p:txBody>
      </p:sp>
      <p:sp>
        <p:nvSpPr>
          <p:cNvPr id="14" name="ec"/>
          <p:cNvSpPr/>
          <p:nvPr/>
        </p:nvSpPr>
        <p:spPr>
          <a:xfrm>
            <a:off x="6629400" y="41148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Eve’s copy: password=Ganga@123</a:t>
            </a:r>
            <a:endParaRPr lang="en-US" sz="1400" dirty="0"/>
          </a:p>
        </p:txBody>
      </p:sp>
      <p:sp>
        <p:nvSpPr>
          <p:cNvPr id="15" name="mc"/>
          <p:cNvSpPr/>
          <p:nvPr/>
        </p:nvSpPr>
        <p:spPr>
          <a:xfrm>
            <a:off x="274320" y="4892040"/>
            <a:ext cx="44805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Mallory could even change “pay ₹100” into “pay ₹9000”</a:t>
            </a:r>
            <a:endParaRPr lang="en-US" sz="1300" dirty="0"/>
          </a:p>
        </p:txBody>
      </p:sp>
      <p:sp>
        <p:nvSpPr>
          <p:cNvPr id="16" name="v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2A0A0A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FAIL: no confidentiality, no integrity, no authentication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secret key K (AES) and encrypt everything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148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743200"/>
            <a:ext cx="85039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99048" y="2743200"/>
            <a:ext cx="914" cy="1234440"/>
          </a:xfrm>
          <a:prstGeom prst="line">
            <a:avLst/>
          </a:prstGeom>
          <a:noFill/>
          <a:ln w="15875">
            <a:solidFill>
              <a:srgbClr val="FFC76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97764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37760" y="4681728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(same café Wi-Fi)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417320"/>
            <a:ext cx="411480" cy="41148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1417320"/>
            <a:ext cx="411480" cy="4114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1417320"/>
            <a:ext cx="365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11201400" y="1417320"/>
            <a:ext cx="365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7" name="pk"/>
          <p:cNvSpPr/>
          <p:nvPr/>
        </p:nvSpPr>
        <p:spPr>
          <a:xfrm>
            <a:off x="2011680" y="21488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AES(K): 8f3a…c91e</a:t>
            </a:r>
            <a:endParaRPr lang="en-US" sz="1200" dirty="0"/>
          </a:p>
        </p:txBody>
      </p:sp>
      <p:sp>
        <p:nvSpPr>
          <p:cNvPr id="18" name="ec"/>
          <p:cNvSpPr/>
          <p:nvPr/>
        </p:nvSpPr>
        <p:spPr>
          <a:xfrm>
            <a:off x="6629400" y="41148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Eve’s copy: 8f3a…c91e  (gibberish)</a:t>
            </a:r>
            <a:endParaRPr lang="en-US" sz="1400" dirty="0"/>
          </a:p>
        </p:txBody>
      </p:sp>
      <p:sp>
        <p:nvSpPr>
          <p:cNvPr id="19" name="v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F3D1C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Eve cannot read it … IF both sides already have K. But do they?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how does K reach the server?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148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743200"/>
            <a:ext cx="85039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99048" y="2743200"/>
            <a:ext cx="914" cy="1234440"/>
          </a:xfrm>
          <a:prstGeom prst="line">
            <a:avLst/>
          </a:prstGeom>
          <a:noFill/>
          <a:ln w="15875">
            <a:solidFill>
              <a:srgbClr val="FFC76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97764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37760" y="4681728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(same café Wi-Fi)</a:t>
            </a:r>
            <a:endParaRPr lang="en-US" sz="1200" dirty="0"/>
          </a:p>
        </p:txBody>
      </p:sp>
      <p:sp>
        <p:nvSpPr>
          <p:cNvPr id="13" name="pk"/>
          <p:cNvSpPr/>
          <p:nvPr/>
        </p:nvSpPr>
        <p:spPr>
          <a:xfrm>
            <a:off x="2011680" y="21488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C76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our key: K</a:t>
            </a:r>
            <a:endParaRPr lang="en-US" sz="1300" dirty="0"/>
          </a:p>
        </p:txBody>
      </p:sp>
      <p:sp>
        <p:nvSpPr>
          <p:cNvPr id="14" name="ec"/>
          <p:cNvSpPr/>
          <p:nvPr/>
        </p:nvSpPr>
        <p:spPr>
          <a:xfrm>
            <a:off x="6629400" y="411480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Eve’s copy: K</a:t>
            </a:r>
            <a:endParaRPr lang="en-US" sz="1400" dirty="0"/>
          </a:p>
        </p:txBody>
      </p:sp>
      <p:sp>
        <p:nvSpPr>
          <p:cNvPr id="15" name="pk2"/>
          <p:cNvSpPr/>
          <p:nvPr/>
        </p:nvSpPr>
        <p:spPr>
          <a:xfrm>
            <a:off x="2011680" y="21488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AES(K): 8f3a…c91e</a:t>
            </a:r>
            <a:endParaRPr lang="en-US" sz="1200" dirty="0"/>
          </a:p>
        </p:txBody>
      </p:sp>
      <p:sp>
        <p:nvSpPr>
          <p:cNvPr id="16" name="dec"/>
          <p:cNvSpPr/>
          <p:nvPr/>
        </p:nvSpPr>
        <p:spPr>
          <a:xfrm>
            <a:off x="274320" y="4892040"/>
            <a:ext cx="44805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Eve: decrypt(K, 8f3a…) = password=Ganga@123</a:t>
            </a:r>
            <a:endParaRPr lang="en-US" sz="1200" dirty="0"/>
          </a:p>
        </p:txBody>
      </p:sp>
      <p:sp>
        <p:nvSpPr>
          <p:cNvPr id="17" name="v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2A0A0A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FAIL: sending the key in the open is as bad as sending the password in the open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22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meet everyone in advance to share keys?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08960" y="1783080"/>
            <a:ext cx="1357815" cy="56242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1783080"/>
            <a:ext cx="1920240" cy="1920240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1783080"/>
            <a:ext cx="1357815" cy="327805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08960" y="1783080"/>
            <a:ext cx="914" cy="3840480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1751145" y="1783080"/>
            <a:ext cx="1357815" cy="327805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1188720" y="1783080"/>
            <a:ext cx="1920240" cy="1920240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1751145" y="1783080"/>
            <a:ext cx="1357815" cy="56242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66775" y="2345505"/>
            <a:ext cx="56242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66775" y="2345505"/>
            <a:ext cx="914" cy="2715629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3108960" y="2345505"/>
            <a:ext cx="1357815" cy="327805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1751145" y="2345505"/>
            <a:ext cx="2715629" cy="2715629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1188720" y="2345505"/>
            <a:ext cx="327805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1751145" y="2345505"/>
            <a:ext cx="2715629" cy="914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4466775" y="3703320"/>
            <a:ext cx="56242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3108960" y="3703320"/>
            <a:ext cx="1920240" cy="1920240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1751145" y="3703320"/>
            <a:ext cx="327805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1188720" y="3703320"/>
            <a:ext cx="3840480" cy="914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 flipV="1">
            <a:off x="1751145" y="2345505"/>
            <a:ext cx="327805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>
            <a:off x="3108960" y="5061135"/>
            <a:ext cx="1357815" cy="56242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>
            <a:off x="1751145" y="5061135"/>
            <a:ext cx="2715629" cy="914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H="1" flipV="1">
            <a:off x="1188720" y="3703320"/>
            <a:ext cx="327805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H="1" flipV="1">
            <a:off x="1751145" y="2345505"/>
            <a:ext cx="2715629" cy="2715629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H="1" flipV="1">
            <a:off x="1751145" y="5061135"/>
            <a:ext cx="1357815" cy="56242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 flipV="1">
            <a:off x="1188720" y="3703320"/>
            <a:ext cx="1920240" cy="1920240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H="1" flipV="1">
            <a:off x="1751145" y="2345505"/>
            <a:ext cx="1357815" cy="327805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H="1" flipV="1">
            <a:off x="1188720" y="3703320"/>
            <a:ext cx="56242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H="1" flipV="1">
            <a:off x="1751145" y="2345505"/>
            <a:ext cx="0" cy="2715629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1188720" y="2345505"/>
            <a:ext cx="562425" cy="1357815"/>
          </a:xfrm>
          <a:prstGeom prst="line">
            <a:avLst/>
          </a:prstGeom>
          <a:noFill/>
          <a:ln w="952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880360" y="155448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1664208"/>
            <a:ext cx="237744" cy="237744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4238175" y="2116905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03" y="2226633"/>
            <a:ext cx="237744" cy="237744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4800600" y="347472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584448"/>
            <a:ext cx="237744" cy="237744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4238175" y="4832535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03" y="4942263"/>
            <a:ext cx="237744" cy="237744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2880360" y="539496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5504688"/>
            <a:ext cx="237744" cy="237744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1522545" y="4832535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73" y="4942263"/>
            <a:ext cx="237744" cy="237744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960120" y="347472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584448"/>
            <a:ext cx="237744" cy="237744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1522545" y="2116905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73" y="2226633"/>
            <a:ext cx="237744" cy="23774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188720" y="580644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parties → 28 secret keys</a:t>
            </a:r>
            <a:endParaRPr lang="en-US" sz="1500" dirty="0"/>
          </a:p>
        </p:txBody>
      </p:sp>
      <p:sp>
        <p:nvSpPr>
          <p:cNvPr id="50" name="a"/>
          <p:cNvSpPr/>
          <p:nvPr/>
        </p:nvSpPr>
        <p:spPr>
          <a:xfrm>
            <a:off x="6035040" y="1554480"/>
            <a:ext cx="5605272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users × millions of websites → n(n − 1)/2 keys: impossible to pre-share</a:t>
            </a:r>
            <a:endParaRPr lang="en-US" sz="1600" dirty="0"/>
          </a:p>
        </p:txBody>
      </p:sp>
      <p:sp>
        <p:nvSpPr>
          <p:cNvPr id="51" name="b"/>
          <p:cNvSpPr/>
          <p:nvPr/>
        </p:nvSpPr>
        <p:spPr>
          <a:xfrm>
            <a:off x="6035040" y="2880360"/>
            <a:ext cx="5605272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a shopping site for the first time. You have NEVER met it. How could you already share a key?</a:t>
            </a:r>
            <a:endParaRPr lang="en-US" sz="1600" dirty="0"/>
          </a:p>
        </p:txBody>
      </p:sp>
      <p:sp>
        <p:nvSpPr>
          <p:cNvPr id="52" name="c"/>
          <p:cNvSpPr/>
          <p:nvPr/>
        </p:nvSpPr>
        <p:spPr>
          <a:xfrm>
            <a:off x="6035040" y="4206240"/>
            <a:ext cx="560527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need: agree on a secret with a STRANGER, over a channel everyone can hear → public-key cryptography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gets a key pair: an open padlock + its private key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5394960" cy="2743200"/>
          </a:xfrm>
          <a:prstGeom prst="roundRect">
            <a:avLst>
              <a:gd name="adj" fmla="val 4000"/>
            </a:avLst>
          </a:prstGeom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2044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= open padlock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4023360"/>
            <a:ext cx="39319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copies for anyone who asks.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SNAP it shut (encrypt).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open it with the padlock itself.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45352" y="3291840"/>
            <a:ext cx="5394960" cy="2743200"/>
          </a:xfrm>
          <a:prstGeom prst="roundRect">
            <a:avLst>
              <a:gd name="adj" fmla="val 4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352044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16952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= the only key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7616952" y="4023360"/>
            <a:ext cx="39319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the server.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it can OPEN the padlock (decrypt).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leaks, everything is lost.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shares a public key first, and why?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1463040"/>
            <a:ext cx="822960" cy="822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234440" y="2651760"/>
            <a:ext cx="914" cy="118872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927080" y="2651760"/>
            <a:ext cx="914" cy="118872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 txBox="1"/>
          <p:nvPr/>
        </p:nvSpPr>
        <p:spPr>
          <a:xfrm>
            <a:off x="2743200" y="2331720"/>
            <a:ext cx="6675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“Hello! I want a secure connection”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80160" y="2743200"/>
            <a:ext cx="9601200" cy="91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h2"/>
          <p:cNvSpPr txBox="1"/>
          <p:nvPr/>
        </p:nvSpPr>
        <p:spPr>
          <a:xfrm>
            <a:off x="2743200" y="3063240"/>
            <a:ext cx="6675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“Here is my PUBLIC key (open padlock)”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 flipH="1">
            <a:off x="1280160" y="3474720"/>
            <a:ext cx="9601200" cy="914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w0"/>
          <p:cNvSpPr/>
          <p:nvPr/>
        </p:nvSpPr>
        <p:spPr>
          <a:xfrm>
            <a:off x="548640" y="416052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w1"/>
          <p:cNvSpPr/>
          <p:nvPr/>
        </p:nvSpPr>
        <p:spPr>
          <a:xfrm>
            <a:off x="4325112" y="416052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w2"/>
          <p:cNvSpPr/>
          <p:nvPr/>
        </p:nvSpPr>
        <p:spPr>
          <a:xfrm>
            <a:off x="8101584" y="416052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4251960"/>
            <a:ext cx="3172968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speaks first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one starting the connection (it “knocks on the door”).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507992" y="4251960"/>
            <a:ext cx="3172968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SERVER’s public key is shared first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wants to send a secret TO the server, and to lock something for X you need X’s padlock.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284464" y="4251960"/>
            <a:ext cx="3172968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 never travels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public half is ever sent, so copying it gives Eve nothing useful.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fresh secret key with the server’s padlock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148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743200"/>
            <a:ext cx="85039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99048" y="2743200"/>
            <a:ext cx="914" cy="1234440"/>
          </a:xfrm>
          <a:prstGeom prst="line">
            <a:avLst/>
          </a:prstGeom>
          <a:noFill/>
          <a:ln w="15875">
            <a:solidFill>
              <a:srgbClr val="FFC76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97764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37760" y="4681728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(same café Wi-Fi)</a:t>
            </a:r>
            <a:endParaRPr lang="en-US" sz="1200" dirty="0"/>
          </a:p>
        </p:txBody>
      </p:sp>
      <p:sp>
        <p:nvSpPr>
          <p:cNvPr id="13" name="pad"/>
          <p:cNvSpPr/>
          <p:nvPr/>
        </p:nvSpPr>
        <p:spPr>
          <a:xfrm>
            <a:off x="8229600" y="292608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bank’s PUBLIC padlock</a:t>
            </a:r>
            <a:endParaRPr lang="en-US" sz="1200" dirty="0"/>
          </a:p>
        </p:txBody>
      </p:sp>
      <p:sp>
        <p:nvSpPr>
          <p:cNvPr id="14" name="e1"/>
          <p:cNvSpPr/>
          <p:nvPr/>
        </p:nvSpPr>
        <p:spPr>
          <a:xfrm>
            <a:off x="7315200" y="4069080"/>
            <a:ext cx="4325112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copies the padlock: it can only LOCK, so it is harmless</a:t>
            </a:r>
            <a:endParaRPr lang="en-US" sz="1300" dirty="0"/>
          </a:p>
        </p:txBody>
      </p:sp>
      <p:sp>
        <p:nvSpPr>
          <p:cNvPr id="15" name="k"/>
          <p:cNvSpPr/>
          <p:nvPr/>
        </p:nvSpPr>
        <p:spPr>
          <a:xfrm>
            <a:off x="274320" y="132588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session key K</a:t>
            </a:r>
            <a:endParaRPr lang="en-US" sz="1200" dirty="0"/>
          </a:p>
        </p:txBody>
      </p:sp>
      <p:sp>
        <p:nvSpPr>
          <p:cNvPr id="16" name="box"/>
          <p:cNvSpPr/>
          <p:nvPr/>
        </p:nvSpPr>
        <p:spPr>
          <a:xfrm>
            <a:off x="2011680" y="21488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C76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locked in bank’s padlock</a:t>
            </a:r>
            <a:endParaRPr lang="en-US" sz="1200" dirty="0"/>
          </a:p>
        </p:txBody>
      </p:sp>
      <p:sp>
        <p:nvSpPr>
          <p:cNvPr id="17" name="e2"/>
          <p:cNvSpPr/>
          <p:nvPr/>
        </p:nvSpPr>
        <p:spPr>
          <a:xfrm>
            <a:off x="7315200" y="4754880"/>
            <a:ext cx="4325112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copies a LOCKED box: she has no private key to open it</a:t>
            </a:r>
            <a:endParaRPr lang="en-US" sz="1300" dirty="0"/>
          </a:p>
        </p:txBody>
      </p:sp>
      <p:sp>
        <p:nvSpPr>
          <p:cNvPr id="18" name="open"/>
          <p:cNvSpPr/>
          <p:nvPr/>
        </p:nvSpPr>
        <p:spPr>
          <a:xfrm>
            <a:off x="9326880" y="132588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PRIVATE key → K</a:t>
            </a:r>
            <a:endParaRPr lang="en-US" sz="1200" dirty="0"/>
          </a:p>
        </p:txBody>
      </p:sp>
      <p:sp>
        <p:nvSpPr>
          <p:cNvPr id="19" name="v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F3D1C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Both now share K, and Eve never saw it. From here on: fast AES with K.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875 0.0000 E" pathEditMode="relative" ptsTypes="AA">
                                      <p:cBhvr>
                                        <p:cTn id="2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the public key for everything?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(symmetric)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6035040" cy="457200"/>
          </a:xfrm>
          <a:prstGeom prst="rect">
            <a:avLst/>
          </a:prstGeom>
          <a:solidFill>
            <a:srgbClr val="7CE38B"/>
          </a:solidFill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41832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fast: GB per second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(public key)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164592" cy="45720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47872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1000× slower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91672" cy="2057400"/>
          </a:xfrm>
          <a:prstGeom prst="roundRect">
            <a:avLst>
              <a:gd name="adj" fmla="val 5333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4114800"/>
            <a:ext cx="10725912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encryption (Lecture 3, Keys 101):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→ ONLY to deliver a small secret (the session key K).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AES → for ALL the actual data.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both: no pre-shared key, and full speed.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BOTH client and server have key pairs?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182880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423160"/>
            <a:ext cx="85039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p"/>
          <p:cNvSpPr/>
          <p:nvPr/>
        </p:nvSpPr>
        <p:spPr>
          <a:xfrm>
            <a:off x="274320" y="123444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pair: public PubC + private PrivC</a:t>
            </a:r>
            <a:endParaRPr lang="en-US" sz="1200" dirty="0"/>
          </a:p>
        </p:txBody>
      </p:sp>
      <p:sp>
        <p:nvSpPr>
          <p:cNvPr id="11" name="sp"/>
          <p:cNvSpPr/>
          <p:nvPr/>
        </p:nvSpPr>
        <p:spPr>
          <a:xfrm>
            <a:off x="8595360" y="123444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pair: public PubS + private PrivS</a:t>
            </a:r>
            <a:endParaRPr lang="en-US" sz="1200" dirty="0"/>
          </a:p>
        </p:txBody>
      </p:sp>
      <p:sp>
        <p:nvSpPr>
          <p:cNvPr id="12" name="pc"/>
          <p:cNvSpPr/>
          <p:nvPr/>
        </p:nvSpPr>
        <p:spPr>
          <a:xfrm>
            <a:off x="2011680" y="18288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PUBLIC PubC</a:t>
            </a:r>
            <a:endParaRPr lang="en-US" sz="1200" dirty="0"/>
          </a:p>
        </p:txBody>
      </p:sp>
      <p:sp>
        <p:nvSpPr>
          <p:cNvPr id="13" name="ps"/>
          <p:cNvSpPr/>
          <p:nvPr/>
        </p:nvSpPr>
        <p:spPr>
          <a:xfrm>
            <a:off x="8229600" y="265176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00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PUBLIC PubS</a:t>
            </a:r>
            <a:endParaRPr lang="en-US" sz="1200" dirty="0"/>
          </a:p>
        </p:txBody>
      </p:sp>
      <p:sp>
        <p:nvSpPr>
          <p:cNvPr id="14" name="m1"/>
          <p:cNvSpPr/>
          <p:nvPr/>
        </p:nvSpPr>
        <p:spPr>
          <a:xfrm>
            <a:off x="2011680" y="18288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C76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 locked with PubS</a:t>
            </a:r>
            <a:endParaRPr lang="en-US" sz="1200" dirty="0"/>
          </a:p>
        </p:txBody>
      </p:sp>
      <p:sp>
        <p:nvSpPr>
          <p:cNvPr id="15" name="m2"/>
          <p:cNvSpPr/>
          <p:nvPr/>
        </p:nvSpPr>
        <p:spPr>
          <a:xfrm>
            <a:off x="8229600" y="265176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7CE38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locked with PubC</a:t>
            </a:r>
            <a:endParaRPr lang="en-US" sz="1200" dirty="0"/>
          </a:p>
        </p:txBody>
      </p:sp>
      <p:sp>
        <p:nvSpPr>
          <p:cNvPr id="16" name="t0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with SERVER public · server decrypts with SERVER private</a:t>
            </a:r>
            <a:endParaRPr lang="en-US" sz="1500" dirty="0"/>
          </a:p>
        </p:txBody>
      </p:sp>
      <p:sp>
        <p:nvSpPr>
          <p:cNvPr id="17" name="t1"/>
          <p:cNvSpPr txBox="1"/>
          <p:nvPr/>
        </p:nvSpPr>
        <p:spPr>
          <a:xfrm>
            <a:off x="548640" y="443484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with CLIENT public · client decrypts with CLIENT private</a:t>
            </a:r>
            <a:endParaRPr lang="en-US" sz="1500" dirty="0"/>
          </a:p>
        </p:txBody>
      </p:sp>
      <p:sp>
        <p:nvSpPr>
          <p:cNvPr id="18" name="n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9050">
            <a:solidFill>
              <a:srgbClr val="7F7F7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both ways, but it is slow, and most browsers have no key pair of their own. Real use: “mutual TLS” (client certificates) for banking APIs, enterprise VPNs and machine-to-machine links. Normal websites: only the SERVER has a key pair; you prove yourself later with password + OTP.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14" dur="1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30000" decel="3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16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27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"/>
                            </p:stCondLst>
                            <p:childTnLst>
                              <p:par>
                                <p:cTn id="37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38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1" animBg="1"/>
      <p:bldP spid="13" grpId="1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which key? (the four-cell table)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Undone / checked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secret to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encrypts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public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decrypts with SERVER private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“I am the server”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signs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private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verifies with SERVER public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secret to client (mutual TLS)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encrypts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public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decrypts with CLIENT private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“I am the client” (mutual TLS)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signs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private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verifies with CLIENT public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LOCK with their public key · SIGN with your private key.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 · 2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32004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5000" b="1" dirty="0">
                <a:solidFill>
                  <a:srgbClr val="FF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50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280160"/>
            <a:ext cx="7589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encrypt with the server’s public key. Eve cannot read anything.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194560"/>
            <a:ext cx="7589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… is it secure now?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108960"/>
            <a:ext cx="75895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could an attacker stand?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could she REPLACE instead of just reading?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client KNOW the padlock came from bank.com?</a:t>
            </a:r>
            <a:endParaRPr lang="en-US" sz="1800" dirty="0"/>
          </a:p>
        </p:txBody>
      </p:sp>
      <p:sp>
        <p:nvSpPr>
          <p:cNvPr id="8" name="hint"/>
          <p:cNvSpPr/>
          <p:nvPr/>
        </p:nvSpPr>
        <p:spPr>
          <a:xfrm>
            <a:off x="4023360" y="5120640"/>
            <a:ext cx="7616952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 padlock has no name written on it…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Man-in-the-middle: Mallory swaps the padlock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148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743200"/>
            <a:ext cx="361188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766560" y="2743200"/>
            <a:ext cx="356616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2240280"/>
            <a:ext cx="914400" cy="914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320040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Mallory</a:t>
            </a:r>
            <a:endParaRPr lang="en-US" sz="1300" dirty="0"/>
          </a:p>
        </p:txBody>
      </p:sp>
      <p:sp>
        <p:nvSpPr>
          <p:cNvPr id="13" name="p1"/>
          <p:cNvSpPr/>
          <p:nvPr/>
        </p:nvSpPr>
        <p:spPr>
          <a:xfrm>
            <a:off x="8503920" y="28803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bank’s padlock</a:t>
            </a:r>
            <a:endParaRPr lang="en-US" sz="1200" dirty="0"/>
          </a:p>
        </p:txBody>
      </p:sp>
      <p:sp>
        <p:nvSpPr>
          <p:cNvPr id="14" name="p2"/>
          <p:cNvSpPr/>
          <p:nvPr/>
        </p:nvSpPr>
        <p:spPr>
          <a:xfrm>
            <a:off x="3657600" y="2880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01010"/>
          </a:solidFill>
          <a:ln w="25400">
            <a:solidFill>
              <a:srgbClr val="FF5C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Mallory’s padlock “I am bank.com”</a:t>
            </a:r>
            <a:endParaRPr lang="en-US" sz="1100" dirty="0"/>
          </a:p>
        </p:txBody>
      </p:sp>
      <p:sp>
        <p:nvSpPr>
          <p:cNvPr id="15" name="b1"/>
          <p:cNvSpPr/>
          <p:nvPr/>
        </p:nvSpPr>
        <p:spPr>
          <a:xfrm>
            <a:off x="1920240" y="20116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01010"/>
          </a:solidFill>
          <a:ln w="25400">
            <a:solidFill>
              <a:srgbClr val="FF5C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locked with Mallory’s padlock</a:t>
            </a:r>
            <a:endParaRPr lang="en-US" sz="1100" dirty="0"/>
          </a:p>
        </p:txBody>
      </p:sp>
      <p:sp>
        <p:nvSpPr>
          <p:cNvPr id="16" name="rd"/>
          <p:cNvSpPr/>
          <p:nvPr/>
        </p:nvSpPr>
        <p:spPr>
          <a:xfrm>
            <a:off x="4480560" y="38862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Mallory opens it: K is hers!</a:t>
            </a:r>
            <a:endParaRPr lang="en-US" sz="1400" dirty="0"/>
          </a:p>
        </p:txBody>
      </p:sp>
      <p:sp>
        <p:nvSpPr>
          <p:cNvPr id="17" name="b2"/>
          <p:cNvSpPr/>
          <p:nvPr/>
        </p:nvSpPr>
        <p:spPr>
          <a:xfrm>
            <a:off x="6812280" y="20116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re-locked with bank’s padlock</a:t>
            </a:r>
            <a:endParaRPr lang="en-US" sz="1100" dirty="0"/>
          </a:p>
        </p:txBody>
      </p:sp>
      <p:sp>
        <p:nvSpPr>
          <p:cNvPr id="18" name="both"/>
          <p:cNvSpPr/>
          <p:nvPr/>
        </p:nvSpPr>
        <p:spPr>
          <a:xfrm>
            <a:off x="548640" y="4572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“secure ✔”   ·   Bank: “secure ✔”   ·   Mallory: reads and edits EVERYTHING</a:t>
            </a:r>
            <a:endParaRPr lang="en-US" sz="1500" dirty="0"/>
          </a:p>
        </p:txBody>
      </p:sp>
      <p:sp>
        <p:nvSpPr>
          <p:cNvPr id="19" name="v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2A0A0A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FAIL: encryption without authentication. Nobody checked WHOSE padlock it was.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388 0.0000 E" pathEditMode="relative" ptsTypes="AA">
                                      <p:cBhvr>
                                        <p:cTn id="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388 0.0000 E" pathEditMode="relative" ptsTypes="AA">
                                      <p:cBhvr>
                                        <p:cTn id="1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25 0.0000 E" pathEditMode="relative" ptsTypes="AA">
                                      <p:cBhvr>
                                        <p:cTn id="14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88 0.0000 E" pathEditMode="relative" ptsTypes="AA">
                                      <p:cBhvr>
                                        <p:cTn id="2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key is just a number: it carries no name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3333"/>
            </a:avLst>
          </a:prstGeom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6916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4846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print “Manager, State Bank” on a card. Showing it proves nothing.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3333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691640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45352" y="283464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519672" y="3337560"/>
            <a:ext cx="4846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a TRUSTED authority after checking you. Hard to forge because of the official stamp.</a:t>
            </a:r>
            <a:endParaRPr lang="en-US" sz="1600" dirty="0"/>
          </a:p>
        </p:txBody>
      </p:sp>
      <p:sp>
        <p:nvSpPr>
          <p:cNvPr id="12" name="ans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trusted third party that stamps:  “this public key really belongs to bank.com”  → a CERTIFICATE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Authority (CA): a passport office for websites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73736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98348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Authority</a:t>
            </a:r>
            <a:endParaRPr lang="en-US" sz="1300" dirty="0"/>
          </a:p>
        </p:txBody>
      </p:sp>
      <p:sp>
        <p:nvSpPr>
          <p:cNvPr id="9" name="req"/>
          <p:cNvSpPr/>
          <p:nvPr/>
        </p:nvSpPr>
        <p:spPr>
          <a:xfrm>
            <a:off x="2011680" y="196596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bank.com + PubS</a:t>
            </a:r>
            <a:endParaRPr lang="en-US" sz="1200" dirty="0"/>
          </a:p>
        </p:txBody>
      </p:sp>
      <p:sp>
        <p:nvSpPr>
          <p:cNvPr id="10" name="chk"/>
          <p:cNvSpPr/>
          <p:nvPr/>
        </p:nvSpPr>
        <p:spPr>
          <a:xfrm>
            <a:off x="4480560" y="324612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checks: do you really control bank.com?</a:t>
            </a:r>
            <a:endParaRPr lang="en-US" sz="1300" dirty="0"/>
          </a:p>
        </p:txBody>
      </p:sp>
      <p:sp>
        <p:nvSpPr>
          <p:cNvPr id="11" name="sig"/>
          <p:cNvSpPr/>
          <p:nvPr/>
        </p:nvSpPr>
        <p:spPr>
          <a:xfrm>
            <a:off x="4480560" y="393192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signs it with the CA’s PRIVATE key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0" y="1463040"/>
            <a:ext cx="3410712" cy="3657600"/>
          </a:xfrm>
          <a:prstGeom prst="roundRect">
            <a:avLst>
              <a:gd name="adj" fmla="val 2145"/>
            </a:avLst>
          </a:prstGeom>
          <a:solidFill>
            <a:srgbClr val="06190C"/>
          </a:solidFill>
          <a:ln w="317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8229600" y="1554480"/>
            <a:ext cx="341071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(X.509)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2057400"/>
            <a:ext cx="31089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 (2048-bit RSA)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TrustedCA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→ Jan 2027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</a:t>
            </a:r>
            <a:r>
              <a:rPr lang="en-US" sz="14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CA’s stamp</a:t>
            </a:r>
            <a:endParaRPr lang="en-US" sz="1400" dirty="0"/>
          </a:p>
        </p:txBody>
      </p:sp>
      <p:sp>
        <p:nvSpPr>
          <p:cNvPr id="15" name="cer"/>
          <p:cNvSpPr txBox="1"/>
          <p:nvPr/>
        </p:nvSpPr>
        <p:spPr>
          <a:xfrm>
            <a:off x="73152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issued</a:t>
            </a:r>
            <a:endParaRPr lang="en-US" sz="1300" dirty="0"/>
          </a:p>
        </p:txBody>
      </p:sp>
      <p:sp>
        <p:nvSpPr>
          <p:cNvPr id="16" name="ex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9050">
            <a:solidFill>
              <a:srgbClr val="7F7F7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is public. Anyone can read it, but only the CA could have made that stamp.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00 0.0000 E" pathEditMode="relative" ptsTypes="AA">
                                      <p:cBhvr>
                                        <p:cTn id="6" dur="1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browser checks a certificate (in milliseconds)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every browser / OS: a list of ~150 trusted root CA public keys</a:t>
            </a:r>
            <a:endParaRPr lang="en-US" sz="1300" dirty="0"/>
          </a:p>
        </p:txBody>
      </p:sp>
      <p:sp>
        <p:nvSpPr>
          <p:cNvPr id="7" name="c0"/>
          <p:cNvSpPr/>
          <p:nvPr/>
        </p:nvSpPr>
        <p:spPr>
          <a:xfrm>
            <a:off x="3200400" y="1463040"/>
            <a:ext cx="8439912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8" name="i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27632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31920" y="1463040"/>
            <a:ext cx="7589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hash(certificate) = signature opened with the CA’s PUBLIC key</a:t>
            </a:r>
            <a:endParaRPr lang="en-US" sz="1500" dirty="0"/>
          </a:p>
        </p:txBody>
      </p:sp>
      <p:sp>
        <p:nvSpPr>
          <p:cNvPr id="10" name="c1"/>
          <p:cNvSpPr/>
          <p:nvPr/>
        </p:nvSpPr>
        <p:spPr>
          <a:xfrm>
            <a:off x="3200400" y="2331720"/>
            <a:ext cx="8439912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1" name="i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496312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31920" y="2331720"/>
            <a:ext cx="7589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matches?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says bank.com and you typed bank.com</a:t>
            </a:r>
            <a:endParaRPr lang="en-US" sz="1500" dirty="0"/>
          </a:p>
        </p:txBody>
      </p:sp>
      <p:sp>
        <p:nvSpPr>
          <p:cNvPr id="13" name="c2"/>
          <p:cNvSpPr/>
          <p:nvPr/>
        </p:nvSpPr>
        <p:spPr>
          <a:xfrm>
            <a:off x="3200400" y="3200400"/>
            <a:ext cx="8439912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4" name="i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36499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3192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valid?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between “valid from” and “valid to”</a:t>
            </a:r>
            <a:endParaRPr lang="en-US" sz="1500" dirty="0"/>
          </a:p>
        </p:txBody>
      </p:sp>
      <p:sp>
        <p:nvSpPr>
          <p:cNvPr id="16" name="c3"/>
          <p:cNvSpPr/>
          <p:nvPr/>
        </p:nvSpPr>
        <p:spPr>
          <a:xfrm>
            <a:off x="3200400" y="4069080"/>
            <a:ext cx="8439912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7" name="i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233672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93192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revoked?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CA’s cancelled list (CRL / OCSP)</a:t>
            </a:r>
            <a:endParaRPr lang="en-US" sz="1500" dirty="0"/>
          </a:p>
        </p:txBody>
      </p:sp>
      <p:sp>
        <p:nvSpPr>
          <p:cNvPr id="19" name="c4"/>
          <p:cNvSpPr/>
          <p:nvPr/>
        </p:nvSpPr>
        <p:spPr>
          <a:xfrm>
            <a:off x="3200400" y="4937760"/>
            <a:ext cx="8439912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0" name="i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5102352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931920" y="4937760"/>
            <a:ext cx="7589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reaches a trusted root?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signed by the one above</a:t>
            </a:r>
            <a:endParaRPr lang="en-US" sz="1500" dirty="0"/>
          </a:p>
        </p:txBody>
      </p:sp>
      <p:sp>
        <p:nvSpPr>
          <p:cNvPr id="22" name="all"/>
          <p:cNvSpPr/>
          <p:nvPr/>
        </p:nvSpPr>
        <p:spPr>
          <a:xfrm>
            <a:off x="548640" y="58978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✔ → padlock shown.  Any ✘ → full-page warning.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  <p:bldP spid="19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trust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0" y="1463040"/>
            <a:ext cx="6336792" cy="1051560"/>
          </a:xfrm>
          <a:prstGeom prst="roundRect">
            <a:avLst>
              <a:gd name="adj" fmla="val 10435"/>
            </a:avLst>
          </a:prstGeom>
          <a:ln w="254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916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931920" y="1554480"/>
            <a:ext cx="52120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· pre-installed in your browser / OS · kept offline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2880360"/>
            <a:ext cx="6336792" cy="1051560"/>
          </a:xfrm>
          <a:prstGeom prst="roundRect">
            <a:avLst>
              <a:gd name="adj" fmla="val 10435"/>
            </a:avLst>
          </a:prstGeom>
          <a:ln w="254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10896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31920" y="2971800"/>
            <a:ext cx="52120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the Root CA · does the daily signing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926080" y="4297680"/>
            <a:ext cx="6336792" cy="1051560"/>
          </a:xfrm>
          <a:prstGeom prst="roundRect">
            <a:avLst>
              <a:gd name="adj" fmla="val 10435"/>
            </a:avLst>
          </a:prstGeom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452628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31920" y="4389120"/>
            <a:ext cx="52120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the Intermediate CA · sent to you during the handshake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099048" y="2514600"/>
            <a:ext cx="914" cy="365760"/>
          </a:xfrm>
          <a:prstGeom prst="line">
            <a:avLst/>
          </a:prstGeom>
          <a:noFill/>
          <a:ln w="25400">
            <a:solidFill>
              <a:srgbClr val="FFC76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099048" y="3931920"/>
            <a:ext cx="914" cy="365760"/>
          </a:xfrm>
          <a:prstGeom prst="line">
            <a:avLst/>
          </a:prstGeom>
          <a:noFill/>
          <a:ln w="25400">
            <a:solidFill>
              <a:srgbClr val="FF00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217920" y="2487168"/>
            <a:ext cx="1097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↓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904488"/>
            <a:ext cx="1097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↓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walks UP the chain until it reaches a root it already trusts.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the attack: Mallory vs certificates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148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498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743200"/>
            <a:ext cx="361188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766560" y="2743200"/>
            <a:ext cx="356616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2240280"/>
            <a:ext cx="914400" cy="914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3200400"/>
            <a:ext cx="1417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Mallory</a:t>
            </a:r>
            <a:endParaRPr lang="en-US" sz="1300" dirty="0"/>
          </a:p>
        </p:txBody>
      </p:sp>
      <p:sp>
        <p:nvSpPr>
          <p:cNvPr id="13" name="f1"/>
          <p:cNvSpPr/>
          <p:nvPr/>
        </p:nvSpPr>
        <p:spPr>
          <a:xfrm>
            <a:off x="3657600" y="28803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01010"/>
          </a:solidFill>
          <a:ln w="25400">
            <a:solidFill>
              <a:srgbClr val="FF5C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 “bank.com” signed by Mallory</a:t>
            </a:r>
            <a:endParaRPr lang="en-US" sz="1100" dirty="0"/>
          </a:p>
        </p:txBody>
      </p:sp>
      <p:sp>
        <p:nvSpPr>
          <p:cNvPr id="14" name="x1"/>
          <p:cNvSpPr/>
          <p:nvPr/>
        </p:nvSpPr>
        <p:spPr>
          <a:xfrm>
            <a:off x="274320" y="393192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signature does not open with any trusted CA key</a:t>
            </a:r>
            <a:endParaRPr lang="en-US" sz="1300" dirty="0"/>
          </a:p>
        </p:txBody>
      </p:sp>
      <p:sp>
        <p:nvSpPr>
          <p:cNvPr id="15" name="f2"/>
          <p:cNvSpPr/>
          <p:nvPr/>
        </p:nvSpPr>
        <p:spPr>
          <a:xfrm>
            <a:off x="3657600" y="28803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01010"/>
          </a:solidFill>
          <a:ln w="25400">
            <a:solidFill>
              <a:srgbClr val="FF5C5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cert, but for “mallory.com”</a:t>
            </a:r>
            <a:endParaRPr lang="en-US" sz="1100" dirty="0"/>
          </a:p>
        </p:txBody>
      </p:sp>
      <p:sp>
        <p:nvSpPr>
          <p:cNvPr id="16" name="x2"/>
          <p:cNvSpPr/>
          <p:nvPr/>
        </p:nvSpPr>
        <p:spPr>
          <a:xfrm>
            <a:off x="274320" y="452628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name mismatch: you asked for bank.com</a:t>
            </a:r>
            <a:endParaRPr lang="en-US" sz="1300" dirty="0"/>
          </a:p>
        </p:txBody>
      </p:sp>
      <p:sp>
        <p:nvSpPr>
          <p:cNvPr id="17" name="warn"/>
          <p:cNvSpPr/>
          <p:nvPr/>
        </p:nvSpPr>
        <p:spPr>
          <a:xfrm>
            <a:off x="5852160" y="3840480"/>
            <a:ext cx="5788152" cy="1188720"/>
          </a:xfrm>
          <a:prstGeom prst="roundRect">
            <a:avLst>
              <a:gd name="adj" fmla="val 7692"/>
            </a:avLst>
          </a:prstGeom>
          <a:solidFill>
            <a:srgbClr val="3A0A0A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Your connection is not private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might be trying to steal your information from bank.com</a:t>
            </a:r>
            <a:endParaRPr lang="en-US" sz="1500" dirty="0"/>
          </a:p>
        </p:txBody>
      </p:sp>
      <p:sp>
        <p:nvSpPr>
          <p:cNvPr id="18" name="v"/>
          <p:cNvSpPr/>
          <p:nvPr/>
        </p:nvSpPr>
        <p:spPr>
          <a:xfrm>
            <a:off x="548640" y="53035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F3D1C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ATTACK DETECTED: Mallory cannot get a CA stamp for bank.com. (Never click “proceed anyway”!)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25 0.0000 E" pathEditMode="relative" ptsTypes="AA">
                                      <p:cBhvr>
                                        <p:cTn id="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25 0.0000 E" pathEditMode="relative" ptsTypes="AA">
                                      <p:cBhvr>
                                        <p:cTn id="2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TLS = public key + certificates + symmetric key +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731520"/>
          </a:xfrm>
          <a:prstGeom prst="roundRect">
            <a:avLst>
              <a:gd name="adj" fmla="val 15000"/>
            </a:avLst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pages, forms, passwords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06190C"/>
          </a:solidFill>
          <a:ln w="317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(SSL)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· check integrity · prove identity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120640" cy="731520"/>
          </a:xfrm>
          <a:prstGeom prst="roundRect">
            <a:avLst>
              <a:gd name="adj" fmla="val 15000"/>
            </a:avLst>
          </a:prstGeom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120640" cy="731520"/>
          </a:xfrm>
          <a:prstGeom prst="roundRect">
            <a:avLst>
              <a:gd name="adj" fmla="val 15000"/>
            </a:avLst>
          </a:prstGeom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406908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and routing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TLS = HTTPS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→ port 443</a:t>
            </a:r>
            <a:endParaRPr lang="en-US" sz="1500" dirty="0"/>
          </a:p>
        </p:txBody>
      </p:sp>
      <p:sp>
        <p:nvSpPr>
          <p:cNvPr id="14" name="g0"/>
          <p:cNvSpPr/>
          <p:nvPr/>
        </p:nvSpPr>
        <p:spPr>
          <a:xfrm>
            <a:off x="6035040" y="1463040"/>
            <a:ext cx="5605272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g1"/>
          <p:cNvSpPr/>
          <p:nvPr/>
        </p:nvSpPr>
        <p:spPr>
          <a:xfrm>
            <a:off x="6035040" y="2514600"/>
            <a:ext cx="5605272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g2"/>
          <p:cNvSpPr/>
          <p:nvPr/>
        </p:nvSpPr>
        <p:spPr>
          <a:xfrm>
            <a:off x="6035040" y="3566160"/>
            <a:ext cx="5605272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g3"/>
          <p:cNvSpPr/>
          <p:nvPr/>
        </p:nvSpPr>
        <p:spPr>
          <a:xfrm>
            <a:off x="6035040" y="4617720"/>
            <a:ext cx="5605272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481328"/>
            <a:ext cx="5303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(RSA / ECDHE)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session key with a stranger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532888"/>
            <a:ext cx="5303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+ CA signature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server is really bank.com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84448"/>
            <a:ext cx="5303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cipher (AES)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all data, fast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636008"/>
            <a:ext cx="5303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AEAD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any change to the data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SSL/TLS handshake (classic RSA version)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through: every message, in order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23444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7532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234440" y="2194560"/>
            <a:ext cx="914" cy="438912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961120" y="2194560"/>
            <a:ext cx="914" cy="438912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a1"/>
          <p:cNvSpPr/>
          <p:nvPr/>
        </p:nvSpPr>
        <p:spPr>
          <a:xfrm>
            <a:off x="1280160" y="2651760"/>
            <a:ext cx="763524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1"/>
          <p:cNvSpPr txBox="1"/>
          <p:nvPr/>
        </p:nvSpPr>
        <p:spPr>
          <a:xfrm>
            <a:off x="1417320" y="2359152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ClientHello: TLS versions, cipher suites, client random</a:t>
            </a:r>
            <a:endParaRPr lang="en-US" sz="1200" dirty="0"/>
          </a:p>
        </p:txBody>
      </p:sp>
      <p:sp>
        <p:nvSpPr>
          <p:cNvPr id="12" name="a2"/>
          <p:cNvSpPr/>
          <p:nvPr/>
        </p:nvSpPr>
        <p:spPr>
          <a:xfrm flipH="1">
            <a:off x="1280160" y="3172968"/>
            <a:ext cx="763524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2"/>
          <p:cNvSpPr txBox="1"/>
          <p:nvPr/>
        </p:nvSpPr>
        <p:spPr>
          <a:xfrm>
            <a:off x="1417320" y="2880360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ServerHello: chosen cipher suite, server random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 flipH="1">
            <a:off x="1280160" y="3694176"/>
            <a:ext cx="7635240" cy="914"/>
          </a:xfrm>
          <a:prstGeom prst="line">
            <a:avLst/>
          </a:prstGeom>
          <a:noFill/>
          <a:ln w="25400">
            <a:solidFill>
              <a:srgbClr val="7CE3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3"/>
          <p:cNvSpPr txBox="1"/>
          <p:nvPr/>
        </p:nvSpPr>
        <p:spPr>
          <a:xfrm>
            <a:off x="1417320" y="3401568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Certificate: bank.com’s public key + CA signature</a:t>
            </a:r>
            <a:endParaRPr lang="en-US" sz="1200" dirty="0"/>
          </a:p>
        </p:txBody>
      </p:sp>
      <p:sp>
        <p:nvSpPr>
          <p:cNvPr id="16" name="a4"/>
          <p:cNvSpPr/>
          <p:nvPr/>
        </p:nvSpPr>
        <p:spPr>
          <a:xfrm flipH="1">
            <a:off x="1280160" y="4215384"/>
            <a:ext cx="763524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4"/>
          <p:cNvSpPr txBox="1"/>
          <p:nvPr/>
        </p:nvSpPr>
        <p:spPr>
          <a:xfrm>
            <a:off x="1417320" y="3922776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ServerHelloDone</a:t>
            </a:r>
            <a:endParaRPr lang="en-US" sz="1200" dirty="0"/>
          </a:p>
        </p:txBody>
      </p:sp>
      <p:sp>
        <p:nvSpPr>
          <p:cNvPr id="18" name="a5"/>
          <p:cNvSpPr/>
          <p:nvPr/>
        </p:nvSpPr>
        <p:spPr>
          <a:xfrm>
            <a:off x="1280160" y="4736592"/>
            <a:ext cx="7635240" cy="914"/>
          </a:xfrm>
          <a:prstGeom prst="line">
            <a:avLst/>
          </a:prstGeom>
          <a:noFill/>
          <a:ln w="25400">
            <a:solidFill>
              <a:srgbClr val="FFC76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5"/>
          <p:cNvSpPr txBox="1"/>
          <p:nvPr/>
        </p:nvSpPr>
        <p:spPr>
          <a:xfrm>
            <a:off x="1417320" y="4443984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ClientKeyExchange: pre-master secret locked with server’s public key</a:t>
            </a:r>
            <a:endParaRPr lang="en-US" sz="1200" dirty="0"/>
          </a:p>
        </p:txBody>
      </p:sp>
      <p:sp>
        <p:nvSpPr>
          <p:cNvPr id="20" name="a6"/>
          <p:cNvSpPr/>
          <p:nvPr/>
        </p:nvSpPr>
        <p:spPr>
          <a:xfrm>
            <a:off x="1280160" y="5257800"/>
            <a:ext cx="7635240" cy="914"/>
          </a:xfrm>
          <a:prstGeom prst="line">
            <a:avLst/>
          </a:prstGeom>
          <a:noFill/>
          <a:ln w="25400">
            <a:solidFill>
              <a:srgbClr val="FF00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6"/>
          <p:cNvSpPr txBox="1"/>
          <p:nvPr/>
        </p:nvSpPr>
        <p:spPr>
          <a:xfrm>
            <a:off x="1417320" y="4965192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ChangeCipherSpec + Finished (encrypted)</a:t>
            </a:r>
            <a:endParaRPr lang="en-US" sz="1200" dirty="0"/>
          </a:p>
        </p:txBody>
      </p:sp>
      <p:sp>
        <p:nvSpPr>
          <p:cNvPr id="22" name="a7"/>
          <p:cNvSpPr/>
          <p:nvPr/>
        </p:nvSpPr>
        <p:spPr>
          <a:xfrm flipH="1">
            <a:off x="1280160" y="5779008"/>
            <a:ext cx="7635240" cy="914"/>
          </a:xfrm>
          <a:prstGeom prst="line">
            <a:avLst/>
          </a:prstGeom>
          <a:noFill/>
          <a:ln w="25400">
            <a:solidFill>
              <a:srgbClr val="FF00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7"/>
          <p:cNvSpPr txBox="1"/>
          <p:nvPr/>
        </p:nvSpPr>
        <p:spPr>
          <a:xfrm>
            <a:off x="1417320" y="5486400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ChangeCipherSpec + Finished (encrypted)</a:t>
            </a:r>
            <a:endParaRPr lang="en-US" sz="1200" dirty="0"/>
          </a:p>
        </p:txBody>
      </p:sp>
      <p:sp>
        <p:nvSpPr>
          <p:cNvPr id="24" name="a8"/>
          <p:cNvSpPr/>
          <p:nvPr/>
        </p:nvSpPr>
        <p:spPr>
          <a:xfrm>
            <a:off x="1280160" y="6300216"/>
            <a:ext cx="7635240" cy="914"/>
          </a:xfrm>
          <a:prstGeom prst="line">
            <a:avLst/>
          </a:prstGeom>
          <a:noFill/>
          <a:ln w="25400">
            <a:solidFill>
              <a:srgbClr val="00FFF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8"/>
          <p:cNvSpPr txBox="1"/>
          <p:nvPr/>
        </p:nvSpPr>
        <p:spPr>
          <a:xfrm>
            <a:off x="1417320" y="6007608"/>
            <a:ext cx="7360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Application data: AES + MAC, both ways</a:t>
            </a:r>
            <a:endParaRPr lang="en-US" sz="1200" dirty="0"/>
          </a:p>
        </p:txBody>
      </p:sp>
      <p:sp>
        <p:nvSpPr>
          <p:cNvPr id="26" name="v3"/>
          <p:cNvSpPr/>
          <p:nvPr/>
        </p:nvSpPr>
        <p:spPr>
          <a:xfrm>
            <a:off x="9235440" y="3429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checks the certificate (5 checks). Fail → warning, stop.</a:t>
            </a:r>
            <a:endParaRPr lang="en-US" sz="1200" dirty="0"/>
          </a:p>
        </p:txBody>
      </p:sp>
      <p:sp>
        <p:nvSpPr>
          <p:cNvPr id="27" name="v5"/>
          <p:cNvSpPr/>
          <p:nvPr/>
        </p:nvSpPr>
        <p:spPr>
          <a:xfrm>
            <a:off x="9235440" y="45262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compute the SAME session keys from: client random + server random + pre-master secret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handshake travel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eight steps as moving packets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(browser)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1463040"/>
            <a:ext cx="1097280" cy="1097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14984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bank.com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828800" y="2057400"/>
            <a:ext cx="85039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099048" y="2057400"/>
            <a:ext cx="914" cy="1234440"/>
          </a:xfrm>
          <a:prstGeom prst="line">
            <a:avLst/>
          </a:prstGeom>
          <a:noFill/>
          <a:ln w="15875">
            <a:solidFill>
              <a:srgbClr val="FFC76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29184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37760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(same café Wi-Fi)</a:t>
            </a:r>
            <a:endParaRPr lang="en-US" sz="1200" dirty="0"/>
          </a:p>
        </p:txBody>
      </p:sp>
      <p:sp>
        <p:nvSpPr>
          <p:cNvPr id="12" name="k0"/>
          <p:cNvSpPr/>
          <p:nvPr/>
        </p:nvSpPr>
        <p:spPr>
          <a:xfrm>
            <a:off x="2011680" y="1508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ClientHello + random</a:t>
            </a:r>
            <a:endParaRPr lang="en-US" sz="1100" dirty="0"/>
          </a:p>
        </p:txBody>
      </p:sp>
      <p:sp>
        <p:nvSpPr>
          <p:cNvPr id="13" name="k1"/>
          <p:cNvSpPr/>
          <p:nvPr/>
        </p:nvSpPr>
        <p:spPr>
          <a:xfrm>
            <a:off x="8229600" y="22860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ServerHello + random</a:t>
            </a:r>
            <a:endParaRPr lang="en-US" sz="1100" dirty="0"/>
          </a:p>
        </p:txBody>
      </p:sp>
      <p:sp>
        <p:nvSpPr>
          <p:cNvPr id="14" name="k2"/>
          <p:cNvSpPr/>
          <p:nvPr/>
        </p:nvSpPr>
        <p:spPr>
          <a:xfrm>
            <a:off x="8229600" y="22860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7CE38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(PubS + CA stamp)</a:t>
            </a:r>
            <a:endParaRPr lang="en-US" sz="1100" dirty="0"/>
          </a:p>
        </p:txBody>
      </p:sp>
      <p:sp>
        <p:nvSpPr>
          <p:cNvPr id="15" name="k3"/>
          <p:cNvSpPr/>
          <p:nvPr/>
        </p:nvSpPr>
        <p:spPr>
          <a:xfrm>
            <a:off x="2011680" y="1508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C76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pre-master locked with PubS</a:t>
            </a:r>
            <a:endParaRPr lang="en-US" sz="1100" dirty="0"/>
          </a:p>
        </p:txBody>
      </p:sp>
      <p:sp>
        <p:nvSpPr>
          <p:cNvPr id="16" name="k4"/>
          <p:cNvSpPr/>
          <p:nvPr/>
        </p:nvSpPr>
        <p:spPr>
          <a:xfrm>
            <a:off x="2011680" y="1508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00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(encrypted)</a:t>
            </a:r>
            <a:endParaRPr lang="en-US" sz="1100" dirty="0"/>
          </a:p>
        </p:txBody>
      </p:sp>
      <p:sp>
        <p:nvSpPr>
          <p:cNvPr id="17" name="k5"/>
          <p:cNvSpPr/>
          <p:nvPr/>
        </p:nvSpPr>
        <p:spPr>
          <a:xfrm>
            <a:off x="8229600" y="22860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FF00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(encrypted)</a:t>
            </a:r>
            <a:endParaRPr lang="en-US" sz="1100" dirty="0"/>
          </a:p>
        </p:txBody>
      </p:sp>
      <p:sp>
        <p:nvSpPr>
          <p:cNvPr id="18" name="k6"/>
          <p:cNvSpPr/>
          <p:nvPr/>
        </p:nvSpPr>
        <p:spPr>
          <a:xfrm>
            <a:off x="2011680" y="1508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data ⇄</a:t>
            </a:r>
            <a:endParaRPr lang="en-US" sz="1100" dirty="0"/>
          </a:p>
        </p:txBody>
      </p:sp>
      <p:sp>
        <p:nvSpPr>
          <p:cNvPr id="19" name="k7"/>
          <p:cNvSpPr/>
          <p:nvPr/>
        </p:nvSpPr>
        <p:spPr>
          <a:xfrm>
            <a:off x="8229600" y="22860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01010"/>
          </a:solidFill>
          <a:ln w="25400">
            <a:solidFill>
              <a:srgbClr val="00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data ⇄</a:t>
            </a:r>
            <a:endParaRPr lang="en-US" sz="1100" dirty="0"/>
          </a:p>
        </p:txBody>
      </p:sp>
      <p:sp>
        <p:nvSpPr>
          <p:cNvPr id="20" name="eve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sees: hellos, randoms, the certificate (all public), a locked pre-master, and ciphertext. Nothing she can use.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10" dur="1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21" dur="1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32" dur="1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43" dur="1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"/>
                            </p:stCondLst>
                            <p:childTnLst>
                              <p:par>
                                <p:cTn id="53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54" dur="1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"/>
                            </p:stCondLst>
                            <p:childTnLst>
                              <p:par>
                                <p:cTn id="64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65" dur="1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"/>
                            </p:stCondLst>
                            <p:childTnLst>
                              <p:par>
                                <p:cTn id="75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100 0.0000 E" pathEditMode="relative" ptsTypes="AA">
                                      <p:cBhvr>
                                        <p:cTn id="76" dur="1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"/>
                            </p:stCondLst>
                            <p:childTnLst>
                              <p:par>
                                <p:cTn id="86" presetID="0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100 0.0000 E" pathEditMode="relative" ptsTypes="AA">
                                      <p:cBhvr>
                                        <p:cTn id="87" dur="1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session keys come from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ingredients, one recipe, the same result on both sides</a:t>
            </a:r>
            <a:endParaRPr lang="en-US" sz="3000" dirty="0"/>
          </a:p>
        </p:txBody>
      </p:sp>
      <p:sp>
        <p:nvSpPr>
          <p:cNvPr id="4" name="i0"/>
          <p:cNvSpPr/>
          <p:nvPr/>
        </p:nvSpPr>
        <p:spPr>
          <a:xfrm>
            <a:off x="548640" y="15544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3017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random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ClientHello (public)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86200" y="2011680"/>
            <a:ext cx="960120" cy="914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i1"/>
          <p:cNvSpPr/>
          <p:nvPr/>
        </p:nvSpPr>
        <p:spPr>
          <a:xfrm>
            <a:off x="548640" y="26974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15768"/>
            <a:ext cx="3017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random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ServerHello (public)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 flipV="1">
            <a:off x="3886200" y="2926080"/>
            <a:ext cx="960120" cy="2286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i2"/>
          <p:cNvSpPr/>
          <p:nvPr/>
        </p:nvSpPr>
        <p:spPr>
          <a:xfrm>
            <a:off x="548640" y="38404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58768"/>
            <a:ext cx="30175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pre-master secret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client + server know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flipV="1">
            <a:off x="3886200" y="2926080"/>
            <a:ext cx="960120" cy="1371600"/>
          </a:xfrm>
          <a:prstGeom prst="line">
            <a:avLst/>
          </a:prstGeom>
          <a:noFill/>
          <a:ln w="19050">
            <a:solidFill>
              <a:srgbClr val="FFC76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2468880"/>
            <a:ext cx="1737360" cy="914400"/>
          </a:xfrm>
          <a:prstGeom prst="roundRect">
            <a:avLst>
              <a:gd name="adj" fmla="val 12000"/>
            </a:avLst>
          </a:prstGeom>
          <a:ln w="15875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9204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function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(PRF)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640080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60920" y="2606040"/>
            <a:ext cx="1737360" cy="640080"/>
          </a:xfrm>
          <a:prstGeom prst="roundRect">
            <a:avLst>
              <a:gd name="adj" fmla="val 17143"/>
            </a:avLst>
          </a:prstGeom>
          <a:ln w="15875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6092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secret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2926080"/>
            <a:ext cx="457200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46920" y="2011680"/>
            <a:ext cx="2011680" cy="548640"/>
          </a:xfrm>
          <a:prstGeom prst="roundRect">
            <a:avLst>
              <a:gd name="adj" fmla="val 20000"/>
            </a:avLst>
          </a:prstGeom>
          <a:ln w="15875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6469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write key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46920" y="2743200"/>
            <a:ext cx="2011680" cy="548640"/>
          </a:xfrm>
          <a:prstGeom prst="roundRect">
            <a:avLst>
              <a:gd name="adj" fmla="val 20000"/>
            </a:avLst>
          </a:prstGeom>
          <a:ln w="15875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4692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write key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46920" y="3474720"/>
            <a:ext cx="2011680" cy="548640"/>
          </a:xfrm>
          <a:prstGeom prst="roundRect">
            <a:avLst>
              <a:gd name="adj" fmla="val 20000"/>
            </a:avLst>
          </a:prstGeom>
          <a:ln w="15875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64692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keys / IVs</a:t>
            </a:r>
            <a:endParaRPr lang="en-US" sz="1300" dirty="0"/>
          </a:p>
        </p:txBody>
      </p:sp>
      <p:sp>
        <p:nvSpPr>
          <p:cNvPr id="25" name="why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randoms? Fresh keys for EVERY session, so recorded old messages cannot be replayed into a new session.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handshake: protecting each message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layer, step by step</a:t>
            </a:r>
            <a:endParaRPr lang="en-US" sz="3000" dirty="0"/>
          </a:p>
        </p:txBody>
      </p:sp>
      <p:sp>
        <p:nvSpPr>
          <p:cNvPr id="4" name="s0"/>
          <p:cNvSpPr/>
          <p:nvPr/>
        </p:nvSpPr>
        <p:spPr>
          <a:xfrm>
            <a:off x="548640" y="182880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554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form / page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12848" y="2697480"/>
            <a:ext cx="192024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1"/>
          <p:cNvSpPr/>
          <p:nvPr/>
        </p:nvSpPr>
        <p:spPr>
          <a:xfrm>
            <a:off x="2423160" y="182880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9050">
            <a:solidFill>
              <a:srgbClr val="A6A6A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874520"/>
            <a:ext cx="1554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records (≤ 16 KB)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87368" y="2697480"/>
            <a:ext cx="192024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2"/>
          <p:cNvSpPr/>
          <p:nvPr/>
        </p:nvSpPr>
        <p:spPr>
          <a:xfrm>
            <a:off x="4297680" y="182880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874520"/>
            <a:ext cx="1554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integrity tag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61888" y="2697480"/>
            <a:ext cx="192024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3"/>
          <p:cNvSpPr/>
          <p:nvPr/>
        </p:nvSpPr>
        <p:spPr>
          <a:xfrm>
            <a:off x="6172200" y="182880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1554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with the session key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36408" y="2697480"/>
            <a:ext cx="192024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4"/>
          <p:cNvSpPr/>
          <p:nvPr/>
        </p:nvSpPr>
        <p:spPr>
          <a:xfrm>
            <a:off x="8046720" y="182880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9050">
            <a:solidFill>
              <a:srgbClr val="A6A6A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1874520"/>
            <a:ext cx="1554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version, length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10928" y="2697480"/>
            <a:ext cx="192024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5"/>
          <p:cNvSpPr/>
          <p:nvPr/>
        </p:nvSpPr>
        <p:spPr>
          <a:xfrm>
            <a:off x="9921240" y="182880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1874520"/>
            <a:ext cx="1554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TCP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11091672" cy="2011680"/>
          </a:xfrm>
          <a:prstGeom prst="roundRect">
            <a:avLst>
              <a:gd name="adj" fmla="val 5455"/>
            </a:avLst>
          </a:prstGeom>
          <a:ln w="12700">
            <a:solidFill>
              <a:srgbClr val="7CE3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4114800"/>
            <a:ext cx="1072591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TLS uses AEAD (e.g. AES-GCM):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+ integrity in ONE step (CTR mode + authentication tag, Lecture 3). Change one bit of a record and the tag check fails, so the record is rejected. Each record also carries a sequence number, so it cannot be replayed or reordered.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TLS 1.3 (2018)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and safe even if the server key is stolen later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3246120"/>
          </a:xfrm>
          <a:prstGeom prst="roundRect">
            <a:avLst>
              <a:gd name="adj" fmla="val 3380"/>
            </a:avLst>
          </a:prstGeom>
          <a:ln w="1270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(classic RSA)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5074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round trips before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locks pre-master with server’s RSA 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ciphers still allowed (CBC, RC4, …)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server key → past sessions readable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440680" cy="3246120"/>
          </a:xfrm>
          <a:prstGeom prst="roundRect">
            <a:avLst>
              <a:gd name="adj" fmla="val 338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382512" y="150876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057400"/>
            <a:ext cx="5074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round trip before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Diffie–Hellman (ECDHE), signed with the certificate 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strong AEAD ciphers (AES-GCM, ChaCha20)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 built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8889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10725912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Diffie–Hellman (Lecture 5)?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side makes a throw-away secret for this session only. The certificate just SIGNS the DH value to stop Mallory. When the session ends, the secrets are deleted.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secrecy, in one picture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thief steals the server’s private key in 2027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key transport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91840" y="1874520"/>
            <a:ext cx="80467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1737360"/>
            <a:ext cx="274320" cy="274320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91840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274320" cy="274320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83680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41280" y="1737360"/>
            <a:ext cx="274320" cy="274320"/>
          </a:xfrm>
          <a:prstGeom prst="ellipse">
            <a:avLst/>
          </a:prstGeom>
          <a:solidFill>
            <a:srgbClr val="FF5C5C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875520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recorded by Eve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ECDHE (TLS 1.3)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91840" y="3520440"/>
            <a:ext cx="804672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0" y="3383280"/>
            <a:ext cx="274320" cy="274320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291840" y="367588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3383280"/>
            <a:ext cx="274320" cy="274320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83680" y="367588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0" y="3383280"/>
            <a:ext cx="274320" cy="274320"/>
          </a:xfrm>
          <a:prstGeom prst="ellipse">
            <a:avLst/>
          </a:prstGeom>
          <a:solidFill>
            <a:srgbClr val="FF5C5C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875520" y="3675888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recorded by Eve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234440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880360"/>
            <a:ext cx="365760" cy="365760"/>
          </a:xfrm>
          <a:prstGeom prst="rect">
            <a:avLst/>
          </a:prstGeom>
        </p:spPr>
      </p:pic>
      <p:sp>
        <p:nvSpPr>
          <p:cNvPr id="24" name="b1"/>
          <p:cNvSpPr/>
          <p:nvPr/>
        </p:nvSpPr>
        <p:spPr>
          <a:xfrm>
            <a:off x="548640" y="23774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stolen key opens every recorded pre-master → all old sessions readable</a:t>
            </a:r>
            <a:endParaRPr lang="en-US" sz="1500" dirty="0"/>
          </a:p>
        </p:txBody>
      </p:sp>
      <p:sp>
        <p:nvSpPr>
          <p:cNvPr id="25" name="b2"/>
          <p:cNvSpPr/>
          <p:nvPr/>
        </p:nvSpPr>
        <p:spPr>
          <a:xfrm>
            <a:off x="548640" y="40233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session secrets were thrown away → stolen key reads NOTHING from the past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link: “harvest now, decrypt later”. Attackers store traffic today and hope to get keys later (Lecture 5).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attack, and the part of TLS that stops it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security picture</a:t>
            </a:r>
            <a:endParaRPr lang="en-US" sz="3000" dirty="0"/>
          </a:p>
        </p:txBody>
      </p:sp>
      <p:sp>
        <p:nvSpPr>
          <p:cNvPr id="4" name="r0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5" name="ic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45336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 (Eve)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417320"/>
            <a:ext cx="457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417320"/>
            <a:ext cx="54864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with the session key</a:t>
            </a:r>
            <a:endParaRPr lang="en-US" sz="1600" dirty="0"/>
          </a:p>
        </p:txBody>
      </p:sp>
      <p:sp>
        <p:nvSpPr>
          <p:cNvPr id="9" name="r1"/>
          <p:cNvSpPr/>
          <p:nvPr/>
        </p:nvSpPr>
        <p:spPr>
          <a:xfrm>
            <a:off x="548640" y="219456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0" name="ic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3225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194560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with data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2194560"/>
            <a:ext cx="457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2194560"/>
            <a:ext cx="54864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AEAD tag on every record</a:t>
            </a:r>
            <a:endParaRPr lang="en-US" sz="1600" dirty="0"/>
          </a:p>
        </p:txBody>
      </p:sp>
      <p:sp>
        <p:nvSpPr>
          <p:cNvPr id="14" name="r2"/>
          <p:cNvSpPr/>
          <p:nvPr/>
        </p:nvSpPr>
        <p:spPr>
          <a:xfrm>
            <a:off x="548640" y="297180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5" name="ic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99816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971800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server / man-in-the-middle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577840" y="2971800"/>
            <a:ext cx="457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0" y="2971800"/>
            <a:ext cx="54864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+ CA signature + name check</a:t>
            </a:r>
            <a:endParaRPr lang="en-US" sz="1600" dirty="0"/>
          </a:p>
        </p:txBody>
      </p:sp>
      <p:sp>
        <p:nvSpPr>
          <p:cNvPr id="19" name="r3"/>
          <p:cNvSpPr/>
          <p:nvPr/>
        </p:nvSpPr>
        <p:spPr>
          <a:xfrm>
            <a:off x="548640" y="374904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FFC764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0" name="ic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877056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749040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Replaying old messages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749040"/>
            <a:ext cx="457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035040" y="3749040"/>
            <a:ext cx="54864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randoms + sequence numbers</a:t>
            </a:r>
            <a:endParaRPr lang="en-US" sz="1600" dirty="0"/>
          </a:p>
        </p:txBody>
      </p:sp>
      <p:sp>
        <p:nvSpPr>
          <p:cNvPr id="24" name="r4"/>
          <p:cNvSpPr/>
          <p:nvPr/>
        </p:nvSpPr>
        <p:spPr>
          <a:xfrm>
            <a:off x="548640" y="452628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00FF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5" name="ic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654296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4526280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key stolen later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577840" y="4526280"/>
            <a:ext cx="457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6035040" y="4526280"/>
            <a:ext cx="54864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 (ECDHE)</a:t>
            </a:r>
            <a:endParaRPr lang="en-US" sz="1600" dirty="0"/>
          </a:p>
        </p:txBody>
      </p:sp>
      <p:sp>
        <p:nvSpPr>
          <p:cNvPr id="29" name="r5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FF00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30" name="ic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431536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71600" y="5303520"/>
            <a:ext cx="4297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handshake (downgrade)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577840" y="5303520"/>
            <a:ext cx="457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6035040" y="5303520"/>
            <a:ext cx="54864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“Finished” message checks the whole handshake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  <p:bldP spid="19" grpId="0" animBg="1"/>
      <p:bldP spid="24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padlock does NOT promise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thinking for exams and for real life</a:t>
            </a:r>
            <a:endParaRPr lang="en-US" sz="3000" dirty="0"/>
          </a:p>
        </p:txBody>
      </p:sp>
      <p:sp>
        <p:nvSpPr>
          <p:cNvPr id="4" name="n0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honest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463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site like paypa1.com can get a valid certificate too. The padlock means “private line to THIS name”, not “good people”.</a:t>
            </a:r>
            <a:endParaRPr lang="en-US" sz="1500" dirty="0"/>
          </a:p>
        </p:txBody>
      </p:sp>
      <p:sp>
        <p:nvSpPr>
          <p:cNvPr id="8" name="n1"/>
          <p:cNvSpPr/>
          <p:nvPr/>
        </p:nvSpPr>
        <p:spPr>
          <a:xfrm>
            <a:off x="6245352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69164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96912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 is clean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519672" y="2423160"/>
            <a:ext cx="48463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on your laptop reads data before it is encrypted.</a:t>
            </a:r>
            <a:endParaRPr lang="en-US" sz="1500" dirty="0"/>
          </a:p>
        </p:txBody>
      </p:sp>
      <p:sp>
        <p:nvSpPr>
          <p:cNvPr id="12" name="n2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6908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is safe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4800600"/>
            <a:ext cx="48463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bank’s database is hacked, TLS cannot help.</a:t>
            </a:r>
            <a:endParaRPr lang="en-US" sz="1500" dirty="0"/>
          </a:p>
        </p:txBody>
      </p:sp>
      <p:sp>
        <p:nvSpPr>
          <p:cNvPr id="16" name="n3"/>
          <p:cNvSpPr/>
          <p:nvPr/>
        </p:nvSpPr>
        <p:spPr>
          <a:xfrm>
            <a:off x="6245352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06908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96912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invisibility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6519672" y="4800600"/>
            <a:ext cx="48463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still sees IP addresses, the website name (SNI), data sizes and timing.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SSL to TLS: a short history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still say “SSL”, but today it is always TLS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0698480" cy="914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834640"/>
            <a:ext cx="365760" cy="365760"/>
          </a:xfrm>
          <a:prstGeom prst="ellipse">
            <a:avLst/>
          </a:prstGeom>
          <a:solidFill>
            <a:srgbClr val="FF5C5C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2.0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834640"/>
            <a:ext cx="365760" cy="365760"/>
          </a:xfrm>
          <a:prstGeom prst="ellipse">
            <a:avLst/>
          </a:prstGeom>
          <a:solidFill>
            <a:srgbClr val="FF5C5C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46888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3.0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(POODLE, 2014)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365760" cy="365760"/>
          </a:xfrm>
          <a:prstGeom prst="ellipse">
            <a:avLst/>
          </a:prstGeom>
          <a:solidFill>
            <a:srgbClr val="FF5C5C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48056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1.0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2021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834640"/>
            <a:ext cx="365760" cy="365760"/>
          </a:xfrm>
          <a:prstGeom prst="ellipse">
            <a:avLst/>
          </a:prstGeom>
          <a:solidFill>
            <a:srgbClr val="FF5C5C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9224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1.1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2021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2834640"/>
            <a:ext cx="365760" cy="365760"/>
          </a:xfrm>
          <a:prstGeom prst="ellipse">
            <a:avLst/>
          </a:prstGeom>
          <a:solidFill>
            <a:srgbClr val="FFC764"/>
          </a:solidFill>
          <a:ln w="1905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50392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064240" y="2834640"/>
            <a:ext cx="365760" cy="365760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51560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today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1.0 and 1.1 were formally deprecated by the IETF in 2021 (RFC 8996). TLS 1.3 is RFC 8446.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(2 minutes)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https website in your browser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FC764"/>
          </a:solidFill>
          <a:ln w="1905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727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1463040"/>
            <a:ext cx="9509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padlock / settings icon left of the address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rgbClr val="FFC764"/>
          </a:solidFill>
          <a:ln w="1905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468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3120" y="2359152"/>
            <a:ext cx="9509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“Connection is secure” → “Certificate is valid”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731520" y="3346704"/>
            <a:ext cx="502920" cy="502920"/>
          </a:xfrm>
          <a:prstGeom prst="ellipse">
            <a:avLst/>
          </a:prstGeom>
          <a:solidFill>
            <a:srgbClr val="FFC764"/>
          </a:solidFill>
          <a:ln w="1905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3152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36499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03120" y="3255264"/>
            <a:ext cx="9509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Issued to · Issued by · Valid from / to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731520" y="4242816"/>
            <a:ext cx="502920" cy="502920"/>
          </a:xfrm>
          <a:prstGeom prst="ellipse">
            <a:avLst/>
          </a:prstGeom>
          <a:solidFill>
            <a:srgbClr val="FFC764"/>
          </a:solidFill>
          <a:ln w="1905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73152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426110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103120" y="4151376"/>
            <a:ext cx="9509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chain: root → intermediate → site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731520" y="5138928"/>
            <a:ext cx="502920" cy="502920"/>
          </a:xfrm>
          <a:prstGeom prst="ellipse">
            <a:avLst/>
          </a:prstGeom>
          <a:solidFill>
            <a:srgbClr val="FFC764"/>
          </a:solidFill>
          <a:ln w="19050">
            <a:solidFill>
              <a:srgbClr val="FFC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73152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5157216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103120" y="5047488"/>
            <a:ext cx="9509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public key: RSA 2048 or EC 256?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035040"/>
            <a:ext cx="110916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who issued your bank’s certificate? When does it expire?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story on one slide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test cases → SSL/TLS</a:t>
            </a:r>
            <a:endParaRPr lang="en-US" sz="3000" dirty="0"/>
          </a:p>
        </p:txBody>
      </p:sp>
      <p:sp>
        <p:nvSpPr>
          <p:cNvPr id="4" name="l0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1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417320"/>
            <a:ext cx="5212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reads everything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1417320"/>
            <a:ext cx="731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2400" dirty="0"/>
          </a:p>
        </p:txBody>
      </p:sp>
      <p:sp>
        <p:nvSpPr>
          <p:cNvPr id="8" name="l1"/>
          <p:cNvSpPr/>
          <p:nvPr/>
        </p:nvSpPr>
        <p:spPr>
          <a:xfrm>
            <a:off x="548640" y="219456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2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 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194560"/>
            <a:ext cx="5212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do you share K?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2194560"/>
            <a:ext cx="731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2400" dirty="0"/>
          </a:p>
        </p:txBody>
      </p:sp>
      <p:sp>
        <p:nvSpPr>
          <p:cNvPr id="12" name="l2"/>
          <p:cNvSpPr/>
          <p:nvPr/>
        </p:nvSpPr>
        <p:spPr>
          <a:xfrm>
            <a:off x="548640" y="297180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7180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3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Server’s public key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971800"/>
            <a:ext cx="5212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delivered safely 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2971800"/>
            <a:ext cx="731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400" dirty="0"/>
          </a:p>
        </p:txBody>
      </p:sp>
      <p:sp>
        <p:nvSpPr>
          <p:cNvPr id="16" name="l3"/>
          <p:cNvSpPr/>
          <p:nvPr/>
        </p:nvSpPr>
        <p:spPr>
          <a:xfrm>
            <a:off x="548640" y="374904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4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key pairs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749040"/>
            <a:ext cx="5212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slow; used in mutual TLS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3749040"/>
            <a:ext cx="731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400" dirty="0"/>
          </a:p>
        </p:txBody>
      </p:sp>
      <p:sp>
        <p:nvSpPr>
          <p:cNvPr id="20" name="l4"/>
          <p:cNvSpPr/>
          <p:nvPr/>
        </p:nvSpPr>
        <p:spPr>
          <a:xfrm>
            <a:off x="548640" y="452628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FF5C5C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52628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5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4526280"/>
            <a:ext cx="5212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padlock swapped: no identity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698480" y="4526280"/>
            <a:ext cx="731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2400" dirty="0"/>
          </a:p>
        </p:txBody>
      </p:sp>
      <p:sp>
        <p:nvSpPr>
          <p:cNvPr id="24" name="l5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9050">
            <a:solidFill>
              <a:srgbClr val="7CE38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303520"/>
            <a:ext cx="4572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6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(CA)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5303520"/>
            <a:ext cx="5212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proven → SSL/TLS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698480" y="5303520"/>
            <a:ext cx="731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  <p:bldP spid="20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quick questions · question slide, then answer slide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1945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each. Explain WHY the other options are wrong.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332720" y="301752"/>
            <a:ext cx="685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SSL/TLS, whose public key is sent first, and why?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client’s, because it starts the connection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server’s, because the client must lock a secret for the server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 exactly the same time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CA’s, inside ClientHello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320040"/>
            <a:ext cx="12344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24160" y="320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SSL/TLS, whose public key is sent first, and why?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client’s, because it starts the connection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0F3D1C"/>
          </a:solidFill>
          <a:ln w="254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server’s, because the client must lock a secret for the server</a:t>
            </a:r>
            <a:endParaRPr lang="en-US" sz="17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2377440"/>
            <a:ext cx="329184" cy="3291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 exactly the same time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CA’s, inside ClientHello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1691640"/>
          </a:xfrm>
          <a:prstGeom prst="roundRect">
            <a:avLst>
              <a:gd name="adj" fmla="val 6486"/>
            </a:avLst>
          </a:prstGeom>
          <a:ln w="12700">
            <a:solidFill>
              <a:srgbClr val="FF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4160520"/>
            <a:ext cx="10725912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says Hello first, but the first PUBLIC KEY sent is the server’s (inside its certificate). To send a secret to someone you need THEIR padlock.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332720" y="301752"/>
            <a:ext cx="685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handshake, the actual web page data is encrypted with: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server’s RSA private key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CA’s public key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session key (e.g. AES)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client’s password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320040"/>
            <a:ext cx="12344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24160" y="320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handshake, the actual web page data is encrypted with: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server’s RSA private key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CA’s public key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0F3D1C"/>
          </a:solidFill>
          <a:ln w="254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session key (e.g. AES)</a:t>
            </a:r>
            <a:endParaRPr lang="en-US" sz="17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227832"/>
            <a:ext cx="329184" cy="32918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client’s password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1691640"/>
          </a:xfrm>
          <a:prstGeom prst="roundRect">
            <a:avLst>
              <a:gd name="adj" fmla="val 6486"/>
            </a:avLst>
          </a:prstGeom>
          <a:ln w="12700">
            <a:solidFill>
              <a:srgbClr val="FF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4160520"/>
            <a:ext cx="10725912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operations are ~1000× slower, so they are used only to set up the session key. All bulk data uses fast symmetric encryption (hybrid).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332720" y="301752"/>
            <a:ext cx="685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checks the signature on a server certificate using: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server’s private key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CA’s public key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key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client’s private key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320040"/>
            <a:ext cx="12344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24160" y="320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checks the signature on a server certificate using: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server’s private key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0F3D1C"/>
          </a:solidFill>
          <a:ln w="254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CA’s public key</a:t>
            </a:r>
            <a:endParaRPr lang="en-US" sz="17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2377440"/>
            <a:ext cx="329184" cy="3291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key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client’s private key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1691640"/>
          </a:xfrm>
          <a:prstGeom prst="roundRect">
            <a:avLst>
              <a:gd name="adj" fmla="val 6486"/>
            </a:avLst>
          </a:prstGeom>
          <a:ln w="12700">
            <a:solidFill>
              <a:srgbClr val="FF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4160520"/>
            <a:ext cx="10725912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 signed with its PRIVATE key; anyone verifies with the CA’s PUBLIC key, which comes pre-installed in the browser / OS root store.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332720" y="301752"/>
            <a:ext cx="685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bank.com, but Mallory sends a valid certificate issued for mallory.com. What happens?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silently succeeds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shows a warning: the name does not match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still encrypted for bank.com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fixes the certificate automatically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320040"/>
            <a:ext cx="12344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24160" y="320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bank.com, but Mallory sends a valid certificate issued for mallory.com. What happens?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silently succeeds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0F3D1C"/>
          </a:solidFill>
          <a:ln w="254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shows a warning: the name does not match</a:t>
            </a:r>
            <a:endParaRPr lang="en-US" sz="17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2377440"/>
            <a:ext cx="329184" cy="3291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still encrypted for bank.com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fixes the certificate automatically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1691640"/>
          </a:xfrm>
          <a:prstGeom prst="roundRect">
            <a:avLst>
              <a:gd name="adj" fmla="val 6486"/>
            </a:avLst>
          </a:prstGeom>
          <a:ln w="12700">
            <a:solidFill>
              <a:srgbClr val="FF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4160520"/>
            <a:ext cx="10725912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is genuine, but the subject name is wrong. The name check fails and the browser shows “Your connection is not private”.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332720" y="301752"/>
            <a:ext cx="685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keeps OLD recorded sessions safe even if the server’s private key leaks later?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RSA key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 using ephemeral (EC)DHE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mode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certificate lifetime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320040"/>
            <a:ext cx="12344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24160" y="320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keeps OLD recorded sessions safe even if the server’s private key leaks later?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RSA key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0F3D1C"/>
          </a:solidFill>
          <a:ln w="254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 using ephemeral (EC)DHE</a:t>
            </a:r>
            <a:endParaRPr lang="en-US" sz="17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2377440"/>
            <a:ext cx="329184" cy="3291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mode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certificate lifetime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1691640"/>
          </a:xfrm>
          <a:prstGeom prst="roundRect">
            <a:avLst>
              <a:gd name="adj" fmla="val 6486"/>
            </a:avLst>
          </a:prstGeom>
          <a:ln w="12700">
            <a:solidFill>
              <a:srgbClr val="FF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4160520"/>
            <a:ext cx="10725912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ephemeral Diffie–Hellman, each session’s secret is thrown away. The long-term key only signs, so stealing it later does not unlock past traffic.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332720" y="301752"/>
            <a:ext cx="685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(HTTP over TLS) uses which default port?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459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320040"/>
            <a:ext cx="1234440" cy="329184"/>
          </a:xfrm>
          <a:prstGeom prst="roundRect">
            <a:avLst>
              <a:gd name="adj" fmla="val 50000"/>
            </a:avLst>
          </a:prstGeom>
          <a:ln w="127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24160" y="320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(HTTP over TLS) uses which default port?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8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194560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36792" y="2322576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36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044952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0F3D1C"/>
          </a:solidFill>
          <a:ln w="2540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172968"/>
            <a:ext cx="420624" cy="420624"/>
          </a:xfrm>
          <a:prstGeom prst="ellipse">
            <a:avLst/>
          </a:prstGeom>
          <a:solidFill>
            <a:srgbClr val="7CE38B"/>
          </a:solidFill>
          <a:ln w="19050">
            <a:solidFill>
              <a:srgbClr val="7CE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8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E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7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227832"/>
            <a:ext cx="329184" cy="32918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199632" y="3044952"/>
            <a:ext cx="5440680" cy="685800"/>
          </a:xfrm>
          <a:prstGeom prst="roundRect">
            <a:avLst>
              <a:gd name="adj" fmla="val 16000"/>
            </a:avLst>
          </a:prstGeom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36792" y="3172968"/>
            <a:ext cx="420624" cy="420624"/>
          </a:xfrm>
          <a:prstGeom prst="ellipse">
            <a:avLst/>
          </a:prstGeom>
          <a:solidFill>
            <a:srgbClr val="00FFFF"/>
          </a:solidFill>
          <a:ln w="1905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3679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4495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1691640"/>
          </a:xfrm>
          <a:prstGeom prst="roundRect">
            <a:avLst>
              <a:gd name="adj" fmla="val 6486"/>
            </a:avLst>
          </a:prstGeom>
          <a:ln w="12700">
            <a:solidFill>
              <a:srgbClr val="FF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4160520"/>
            <a:ext cx="10725912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is HTTPS. 80 is plain HTTP, 22 is SSH, and 8080 is a common alternative HTTP port.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280160"/>
            <a:ext cx="6702552" cy="777240"/>
          </a:xfrm>
          <a:prstGeom prst="roundRect">
            <a:avLst>
              <a:gd name="adj" fmla="val 47059"/>
            </a:avLst>
          </a:prstGeom>
          <a:solidFill>
            <a:srgbClr val="141414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463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566160" y="1280160"/>
            <a:ext cx="5669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bank.com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you see the padlock, you know the whole story: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C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→ identity · public key → session key · AES → privacy · MAC → integrity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1109167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C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5760720"/>
            <a:ext cx="3474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C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Gaurav Raj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3754</Words>
  <Application>Microsoft Macintosh PowerPoint</Application>
  <PresentationFormat>Widescreen</PresentationFormat>
  <Paragraphs>622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SSL / TLS — How the padlock keeps you safe</dc:title>
  <dc:subject>PptxGenJS Presentation</dc:subject>
  <dc:creator>Gaurav Raj</dc:creator>
  <cp:lastModifiedBy>Gaurav Raj</cp:lastModifiedBy>
  <cp:revision>2</cp:revision>
  <dcterms:created xsi:type="dcterms:W3CDTF">2026-10-06T08:01:07Z</dcterms:created>
  <dcterms:modified xsi:type="dcterms:W3CDTF">2026-10-06T09:04:35Z</dcterms:modified>
</cp:coreProperties>
</file>