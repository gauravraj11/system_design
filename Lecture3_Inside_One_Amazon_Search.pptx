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05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96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today is a story. Every scene ends with a question they must answer before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7 minutes per scene. Do not let scene 1 run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 minute on the cast. Students will refer back to these names all lecture — use the names, not the technical terms, until the reveal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3-4 guesses aloud. Typical answers: all of them, 1000, 100. The real answer surprises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"2 million to 40 to 12" collapse is the spine of the whole lecture. Repeat it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compute: 2 million ms = about 33 minutes. Let that number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cliffhanger. Do not name Elasticsearch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hint is deliberate — the index at the back of a book is exactly the right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student asks how the index is built: a background job re-indexes products as they change. Mention it, do not detour.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cliffhanger into the CDN scene, which is the part students most often get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estimate: how big is one product photo vs one line of text?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live later in the Network tab: one small JSON call, then dozens of image calls to a different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arrive at "keep copies nearby" on their own. Let them say it before naming CDN.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Lecture 1 CDN slide. Ask: what should NOT be put on a CDN? Answer: anything personal or changing, like your cart.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call out where the next arrow goes before you advance. Each slide adds exactly one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is the answer to the whole lecture. Leave it on screen while they take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everyone says no. Push them: where would you keep the previous answer, and for how long?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term cache hit ratio here. Ask what happens the moment a price changes — invalidation is the hard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answers the question students actually came with: where is it stored? Give them time to copy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from backend tricks to frontend perception. Say explicitly that the answer is not about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name which of these they have personally noticed. Most have seen skeletons without knowing the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this diagnostic rule — it is genuinely useful in internships and in debugging their own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 the projector if the network allows. It is the highest-impact two minutes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31D6-5A77-7BA4-1224-041D6EDA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C04AA-E5BF-EC91-19B6-6616B974F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30DB5-6BEB-1E61-CDE5-ADE6E1A17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range: four cloud tracks plus two AI/ML tracks plus operations. Cloud roles are among the highest-paying entry-level tech jobs — and this training normally costs serious money outside.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EFE4D-BBE4-0831-AF04-EA722D04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45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365760"/>
            <a:ext cx="4114800" cy="457200"/>
          </a:xfrm>
          <a:prstGeom prst="roundRect">
            <a:avLst>
              <a:gd name="adj" fmla="val 44000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38600" y="365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74370" y="10972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One Amazon Search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really happens in the 300 milliseconds after you</a:t>
            </a:r>
            <a:endParaRPr lang="en-US" sz="19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"men's shirt" and press enter.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0515600" cy="1051560"/>
          </a:xfrm>
          <a:prstGeom prst="roundRect">
            <a:avLst>
              <a:gd name="adj" fmla="val 6087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42062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has about two million men’s shirts. You will see exactly how many of them move, where they move from, and who does the work.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of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scenes. Each one is a puzzle before it is an answer.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60704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755648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75564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0280" y="164592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impossible request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645920"/>
            <a:ext cx="5669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million shirts. One user. One second.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13432"/>
            <a:ext cx="10607040" cy="576072"/>
          </a:xfrm>
          <a:prstGeom prst="roundRect">
            <a:avLst>
              <a:gd name="adj" fmla="val 793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2423160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4231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2313432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database cannot do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313432"/>
            <a:ext cx="5669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two million rows directly is hopeless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2980944"/>
            <a:ext cx="1060704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3090672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09067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0280" y="2980944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index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2980944"/>
            <a:ext cx="5669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already knows where everything 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3648456"/>
            <a:ext cx="10607040" cy="576072"/>
          </a:xfrm>
          <a:prstGeom prst="roundRect">
            <a:avLst>
              <a:gd name="adj" fmla="val 793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3758184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37581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40280" y="3648456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API sends back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3648456"/>
            <a:ext cx="5669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weighs nothing; pictures weigh everything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4315968"/>
            <a:ext cx="1060704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" y="4425696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442569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40280" y="4315968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images come from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4315968"/>
            <a:ext cx="5669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travel by a completely different road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7240" y="4983480"/>
            <a:ext cx="10607040" cy="576072"/>
          </a:xfrm>
          <a:prstGeom prst="roundRect">
            <a:avLst>
              <a:gd name="adj" fmla="val 793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60120" y="5093208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0120" y="50932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40280" y="498348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0" y="4983480"/>
            <a:ext cx="5669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second user never waits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7240" y="5650992"/>
            <a:ext cx="1060704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0120" y="5760720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0120" y="5760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240280" y="5650992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illusions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486400" y="5650992"/>
            <a:ext cx="5669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hides the wait it cannot remove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Pieces Involved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49808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does one job. Learn what each is FOR, and the whole flow becomes obvious.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715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or the app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0449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one request, then draws whatever comes back.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6280" y="2715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search service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30449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nothing itself. It knows which system to ask.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16916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92440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index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092440" y="2715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or similar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92440" y="30449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lists of which products match which words.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88620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2B4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4050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OF TRUTH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0120" y="4910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5239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two million rows. Slow to search but always correct.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4050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cache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526280" y="4910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5239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answers given moments ago, ready to reuse.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09560" y="388620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3F6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92440" y="4050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NETWORK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092440" y="4910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Cloudflare, CloudFront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92440" y="5239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of images kept in cities near the user.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1089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in Jaipur types "men’s shirt" into Amazon and presses Enter. Amazon’s catalogue holds about two million matching products.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products does the API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in that one call?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a number before the next slide. Commit to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1 — The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forty. That is the whole trick.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API call returns roughly 20 to 60 products. Amazon's results page: about 48 to 60. Swiggy's restaurant list: about 15 to 30. The database query literally ends with LIMIT 40.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2468880" cy="1600200"/>
          </a:xfrm>
          <a:prstGeom prst="roundRect">
            <a:avLst>
              <a:gd name="adj" fmla="val 4000"/>
            </a:avLst>
          </a:prstGeom>
          <a:solidFill>
            <a:srgbClr val="5A6B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2,000,000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shirts that exist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02152" y="2606040"/>
            <a:ext cx="2468880" cy="1600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02152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639312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by the 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27064" y="2606040"/>
            <a:ext cx="2468880" cy="1600200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364224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on your screen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51976" y="2606040"/>
            <a:ext cx="2468880" cy="1600200"/>
          </a:xfrm>
          <a:prstGeom prst="roundRect">
            <a:avLst>
              <a:gd name="adj" fmla="val 400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51976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089136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actually loaded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collapse: two million to forty to twelve. Every layer of this course exists to make one of those arrows possible.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983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reach item 30 before the app quietly fetches the next forty. That is why it feels endless.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1089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 backend queried the database directly with a text match — checking two million product titles, one by one, for the word "shirt".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one row per millisecond,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long does the user wait?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arithmetic. It is the point of the scene.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2 — The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Thirty-three minutes. Nobody is waiting that long.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every row to find matches is called a full scan. It gets slower as the catalogue grows — which is the one thing a growing business cannot accept.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database is wrong for searching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33272" y="3182112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grows with the number of shirts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times the catalogue, ten times the wait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 competes for the same disks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hundred users at once makes it far worse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EAF5E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28232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database is used differently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28232" y="3182112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hold the truth: price, stock, seller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asked for specific items by ID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asked to hunt through text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 does the finding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raises the obvious question — who does the finding?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1089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system — the search index — answers the same question in under a millisecond, no matter how large the catalogue grows.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it possibly have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 in advance?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last page of a textbook.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3 — The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built an index — the same idea as the index at the back of your textbook.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inverted index flips the question around. Instead of "what words does product 7 contain?", it stores "which products contain the word shirt?" — pre-computed, sorted by relevance, ready before anyone asks.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5029200" cy="2286000"/>
          </a:xfrm>
          <a:prstGeom prst="roundRect">
            <a:avLst>
              <a:gd name="adj" fmla="val 28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index actually stores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"shirt"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8471, 2290, 5563, 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8471, 1102, 5563, ...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"cotton"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2290, 9987, 8471, 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617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ID numbers. No prices, no pictures.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2560320"/>
            <a:ext cx="5303520" cy="2286000"/>
          </a:xfrm>
          <a:prstGeom prst="roundRect">
            <a:avLst>
              <a:gd name="adj" fmla="val 2400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changes everything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36792" y="3136392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time barely grows with catalogue size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40 IDs, ranked by relevance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then asks the database for exactly those 40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both fast, instead of one hopeless hunt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this is Elasticsearch, Solr, or a company’s own in-house search service.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is the index’s real skill: sponsored items, your past orders, ratings and stock all reorder that list before it is returned.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So Far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search, two questions, forty results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"men's shirt"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18688" y="28803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9584" y="20116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12464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12464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answers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12464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 IDs, ranked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16752" y="28803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20116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0528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10528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answers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0528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those 40 only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14816" y="28803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25712" y="20116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08592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308592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replies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08592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JSON response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so far: roughly 50 to 200 milliseconds. The user has not blinked yet.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something is still missing from this picture. Forty shirts have arrived — and not one of them has a photograph.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1089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sends back one JSON response. In it: forty titles, forty prices, forty ratings — and forty image URLs.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send image URLs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instead of the images themselves?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size of the text to the size of the photos.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4 — The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words weigh almost nothing and the pictures weigh everything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response is pure text — JSON. Forty products with title, price, rating and an image URL each comes to roughly 30 to 80 KB. The forty images together would be 2 to 4 MB: fifty times heavier.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5120640" cy="2377440"/>
          </a:xfrm>
          <a:prstGeom prst="roundRect">
            <a:avLst>
              <a:gd name="adj" fmla="val 269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item in the JSON looks like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8471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410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"Cotton Casual Shirt"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3712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price: 899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4014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rating: 4.2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"cdn.shop.com/8471.jpg"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4626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line is an address, not a picture.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256032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6792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buys you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36792" y="3136392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arrives in one quick trip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then fetches pictures on its own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picture requests run in parallel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below the fold are never fetched at all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images travel entirely separate roads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misunderstood point of the whole flow: the API never carries images.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1089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is in Jaipur. Amazon’s image storage is far away. Forty photos must arrive almost instantly — and tomorrow a thousand more users in Jaipur will want the very same photos.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every image travel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that way, every single time?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— what would you change about where the images live?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5 — The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of every image already sit in a server near Jaipur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CDN keeps duplicates of every image on edge servers across the country. The first user to ask causes one fetch from the origin. Every user after that is served locally.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566160" y="2606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has no copy. It fetches once from the origin and stores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0" y="2788920"/>
            <a:ext cx="1554480" cy="457200"/>
          </a:xfrm>
          <a:prstGeom prst="roundRect">
            <a:avLst>
              <a:gd name="adj" fmla="val 36000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0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after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66160" y="35661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already holds it. Served immediately.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0" y="3749040"/>
            <a:ext cx="1554480" cy="457200"/>
          </a:xfrm>
          <a:prstGeom prst="roundRect">
            <a:avLst>
              <a:gd name="adj" fmla="val 3600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52628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566160" y="45262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hears about any of these requests at all.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0" y="4709160"/>
            <a:ext cx="1554480" cy="457200"/>
          </a:xfrm>
          <a:prstGeom prst="roundRect">
            <a:avLst>
              <a:gd name="adj" fmla="val 3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0" y="4709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load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does this so seriously that it ships physical servers to Jio and Airtel — your show streams from inside your own ISP’s building.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640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Watch It Happen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49808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story, no metaphor. A real browser in Jaipur, Amazon's real servers,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arrow that moves between them — one step at a time.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clicks. Predict the next arrow before you see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leaves the browser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01200" y="365760"/>
            <a:ext cx="1783080" cy="457200"/>
          </a:xfrm>
          <a:prstGeom prst="roundRect">
            <a:avLst>
              <a:gd name="adj" fmla="val 4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typed "men's shirt" and pressed Enter. Nothing is on screen yet.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9FB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200400" cy="384048"/>
          </a:xfrm>
          <a:prstGeom prst="rect">
            <a:avLst/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737360"/>
            <a:ext cx="100584" cy="100584"/>
          </a:xfrm>
          <a:prstGeom prst="ellipse">
            <a:avLst/>
          </a:prstGeom>
          <a:solidFill>
            <a:srgbClr val="E07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1737360"/>
            <a:ext cx="100584" cy="100584"/>
          </a:xfrm>
          <a:prstGeom prst="ellipse">
            <a:avLst/>
          </a:prstGeom>
          <a:solidFill>
            <a:srgbClr val="E8C1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737360"/>
            <a:ext cx="100584" cy="100584"/>
          </a:xfrm>
          <a:prstGeom prst="ellipse">
            <a:avLst/>
          </a:prstGeom>
          <a:solidFill>
            <a:srgbClr val="7FB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691640"/>
            <a:ext cx="237744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amazon.in/s?k=men's+shirt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pressed.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screen yet.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 Jaipur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3317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backend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920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4173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95360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9536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product IDs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9536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95360" y="2642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9536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40 IDs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95360" y="36118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95360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9536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answers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4315968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4443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9204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86200" y="2697480"/>
            <a:ext cx="96012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2900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request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06240" y="22860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06240" y="2286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25780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524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HTTP request goes to Amazon's backend. The page is still blank — but the browser has already drawn the grey skeleton boxes so it does not look frozen.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backend asks the index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01200" y="365760"/>
            <a:ext cx="1783080" cy="457200"/>
          </a:xfrm>
          <a:prstGeom prst="roundRect">
            <a:avLst>
              <a:gd name="adj" fmla="val 4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does not search the database. It asks the search index.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9FB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200400" cy="384048"/>
          </a:xfrm>
          <a:prstGeom prst="rect">
            <a:avLst/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737360"/>
            <a:ext cx="100584" cy="100584"/>
          </a:xfrm>
          <a:prstGeom prst="ellipse">
            <a:avLst/>
          </a:prstGeom>
          <a:solidFill>
            <a:srgbClr val="E07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1737360"/>
            <a:ext cx="100584" cy="100584"/>
          </a:xfrm>
          <a:prstGeom prst="ellipse">
            <a:avLst/>
          </a:prstGeom>
          <a:solidFill>
            <a:srgbClr val="E8C1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737360"/>
            <a:ext cx="100584" cy="100584"/>
          </a:xfrm>
          <a:prstGeom prst="ellipse">
            <a:avLst/>
          </a:prstGeom>
          <a:solidFill>
            <a:srgbClr val="7FB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691640"/>
            <a:ext cx="237744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amazon.in/s?k=men's+shirt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8308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3794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3794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3794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8892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4378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378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4378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210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8308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3794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3794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3794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8892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4378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84378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4378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 Jaipur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23317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backend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920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95360" y="14173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0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59536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product IDs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9536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95360" y="2642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59536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40 IDs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95360" y="36118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95360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59536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answers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4315968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4443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89204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86200" y="2697480"/>
            <a:ext cx="960120" cy="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2900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request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flipV="1">
            <a:off x="7269480" y="1828800"/>
            <a:ext cx="1280160" cy="68580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03720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772400" y="146304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772400" y="1463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" y="525780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524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6012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 checks Redis for a cached answer. On a miss, it asks the search index: which products match these words? Note that it asks for IDs, not for products.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index returns forty IDs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01200" y="365760"/>
            <a:ext cx="1783080" cy="457200"/>
          </a:xfrm>
          <a:prstGeom prst="roundRect">
            <a:avLst>
              <a:gd name="adj" fmla="val 4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relevance, sponsored placement and your history.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9FB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200400" cy="384048"/>
          </a:xfrm>
          <a:prstGeom prst="rect">
            <a:avLst/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737360"/>
            <a:ext cx="100584" cy="100584"/>
          </a:xfrm>
          <a:prstGeom prst="ellipse">
            <a:avLst/>
          </a:prstGeom>
          <a:solidFill>
            <a:srgbClr val="E07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1737360"/>
            <a:ext cx="100584" cy="100584"/>
          </a:xfrm>
          <a:prstGeom prst="ellipse">
            <a:avLst/>
          </a:prstGeom>
          <a:solidFill>
            <a:srgbClr val="E8C1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737360"/>
            <a:ext cx="100584" cy="100584"/>
          </a:xfrm>
          <a:prstGeom prst="ellipse">
            <a:avLst/>
          </a:prstGeom>
          <a:solidFill>
            <a:srgbClr val="7FB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691640"/>
            <a:ext cx="237744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amazon.in/s?k=men's+shirt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8308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3794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3794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3794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8892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4378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378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4378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210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8308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3794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3794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3794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8892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4378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84378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4378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 Jaipur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23317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backend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920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95360" y="14173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0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59536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product IDs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9536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95360" y="2642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59536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40 IDs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95360" y="36118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95360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59536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answers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4315968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4443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89204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86200" y="2697480"/>
            <a:ext cx="960120" cy="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2900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request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flipV="1">
            <a:off x="7269480" y="1828800"/>
            <a:ext cx="1280160" cy="68580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03720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 flipV="1">
            <a:off x="7269480" y="2084832"/>
            <a:ext cx="1280160" cy="566928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4944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 IDs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772400" y="263347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772400" y="2633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40080" y="525780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524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6012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numbers come back — 8471, 2290, 5563 and so on. Milliseconds, no matter whether the catalogue holds two thousand shirts or two million.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backend fetches those forty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01200" y="365760"/>
            <a:ext cx="1783080" cy="457200"/>
          </a:xfrm>
          <a:prstGeom prst="roundRect">
            <a:avLst>
              <a:gd name="adj" fmla="val 4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and only now, does the database get touched.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9FB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200400" cy="384048"/>
          </a:xfrm>
          <a:prstGeom prst="rect">
            <a:avLst/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737360"/>
            <a:ext cx="100584" cy="100584"/>
          </a:xfrm>
          <a:prstGeom prst="ellipse">
            <a:avLst/>
          </a:prstGeom>
          <a:solidFill>
            <a:srgbClr val="E07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1737360"/>
            <a:ext cx="100584" cy="100584"/>
          </a:xfrm>
          <a:prstGeom prst="ellipse">
            <a:avLst/>
          </a:prstGeom>
          <a:solidFill>
            <a:srgbClr val="E8C1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737360"/>
            <a:ext cx="100584" cy="100584"/>
          </a:xfrm>
          <a:prstGeom prst="ellipse">
            <a:avLst/>
          </a:prstGeom>
          <a:solidFill>
            <a:srgbClr val="7FB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691640"/>
            <a:ext cx="237744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amazon.in/s?k=men's+shirt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8308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3794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3794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3794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8892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4378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378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4378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210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8308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3794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3794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3794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8892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4378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84378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4378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 Jaipur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23317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backend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920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95360" y="14173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0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59536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product IDs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9536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95360" y="2642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59536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40 IDs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95360" y="36118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95360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59536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answers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4315968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4443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89204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86200" y="2697480"/>
            <a:ext cx="960120" cy="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2900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request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flipV="1">
            <a:off x="7269480" y="1828800"/>
            <a:ext cx="1280160" cy="68580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03720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 flipV="1">
            <a:off x="7269480" y="2084832"/>
            <a:ext cx="1280160" cy="566928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4944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 IDs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69480" y="2834640"/>
            <a:ext cx="1280160" cy="4572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949440" y="2542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those 40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772400" y="306324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772400" y="3063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40080" y="525780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524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6012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like WHERE id IN (8471, 2290, ...) with LIMIT 40. It reads exactly forty rows. The other 1,999,960 shirts are never looked at.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returns the details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01200" y="365760"/>
            <a:ext cx="1783080" cy="457200"/>
          </a:xfrm>
          <a:prstGeom prst="roundRect">
            <a:avLst>
              <a:gd name="adj" fmla="val 4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prices, ratings, stock — and image URLs.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9FB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200400" cy="384048"/>
          </a:xfrm>
          <a:prstGeom prst="rect">
            <a:avLst/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737360"/>
            <a:ext cx="100584" cy="100584"/>
          </a:xfrm>
          <a:prstGeom prst="ellipse">
            <a:avLst/>
          </a:prstGeom>
          <a:solidFill>
            <a:srgbClr val="E07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1737360"/>
            <a:ext cx="100584" cy="100584"/>
          </a:xfrm>
          <a:prstGeom prst="ellipse">
            <a:avLst/>
          </a:prstGeom>
          <a:solidFill>
            <a:srgbClr val="E8C1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737360"/>
            <a:ext cx="100584" cy="100584"/>
          </a:xfrm>
          <a:prstGeom prst="ellipse">
            <a:avLst/>
          </a:prstGeom>
          <a:solidFill>
            <a:srgbClr val="7FB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691640"/>
            <a:ext cx="237744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amazon.in/s?k=men's+shirt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8308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3794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3794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3794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8892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4378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3784" y="2825496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43784" y="2971800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210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8308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3794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3794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3794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8892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4378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843784" y="3986784"/>
            <a:ext cx="64008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43784" y="4133088"/>
            <a:ext cx="365760" cy="82296"/>
          </a:xfrm>
          <a:prstGeom prst="rect">
            <a:avLst/>
          </a:prstGeom>
          <a:solidFill>
            <a:srgbClr val="E2E8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 Jaipur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23317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backend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920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95360" y="14173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0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59536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product IDs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9536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95360" y="2642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59536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40 IDs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95360" y="36118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95360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59536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answers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4315968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4443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89204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86200" y="2697480"/>
            <a:ext cx="960120" cy="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2900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request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flipV="1">
            <a:off x="7269480" y="1828800"/>
            <a:ext cx="1280160" cy="68580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03720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 flipV="1">
            <a:off x="7269480" y="2084832"/>
            <a:ext cx="1280160" cy="566928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4944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 IDs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69480" y="2834640"/>
            <a:ext cx="1280160" cy="4572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949440" y="2542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those 40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69480" y="2999232"/>
            <a:ext cx="1280160" cy="4572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94944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prices, URLs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772400" y="2487168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772400" y="2487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525780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524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6012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is coming back: an image URL for each product, not an image. The database stores addresses of pictures, never the pictures themselves.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response reaches the browser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01200" y="365760"/>
            <a:ext cx="1783080" cy="457200"/>
          </a:xfrm>
          <a:prstGeom prst="roundRect">
            <a:avLst>
              <a:gd name="adj" fmla="val 4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payload, about 50 KB, roughly 200 ms after you pressed Enter.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9FB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200400" cy="384048"/>
          </a:xfrm>
          <a:prstGeom prst="rect">
            <a:avLst/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737360"/>
            <a:ext cx="100584" cy="100584"/>
          </a:xfrm>
          <a:prstGeom prst="ellipse">
            <a:avLst/>
          </a:prstGeom>
          <a:solidFill>
            <a:srgbClr val="E07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1737360"/>
            <a:ext cx="100584" cy="100584"/>
          </a:xfrm>
          <a:prstGeom prst="ellipse">
            <a:avLst/>
          </a:prstGeom>
          <a:solidFill>
            <a:srgbClr val="E8C1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737360"/>
            <a:ext cx="100584" cy="100584"/>
          </a:xfrm>
          <a:prstGeom prst="ellipse">
            <a:avLst/>
          </a:prstGeom>
          <a:solidFill>
            <a:srgbClr val="7FB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691640"/>
            <a:ext cx="237744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amazon.in/s?k=men's+shirt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32104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78308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3794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37944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37944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8892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4378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43784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843784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7724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2104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2104" y="4114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78308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3794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837944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37944" y="4114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8892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4378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43784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843784" y="4114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008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 Jaipur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23317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backend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920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95360" y="14173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0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59536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product IDs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9536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95360" y="2642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59536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40 IDs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95360" y="36118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95360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59536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answers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4315968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DF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4443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89204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86200" y="2697480"/>
            <a:ext cx="960120" cy="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2900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request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flipV="1">
            <a:off x="7269480" y="1828800"/>
            <a:ext cx="1280160" cy="68580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03720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 flipV="1">
            <a:off x="7269480" y="2084832"/>
            <a:ext cx="1280160" cy="566928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4944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 IDs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69480" y="2834640"/>
            <a:ext cx="1280160" cy="4572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949440" y="2542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those 40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69480" y="2999232"/>
            <a:ext cx="1280160" cy="4572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94944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prices, URLs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886200" y="2971800"/>
            <a:ext cx="96012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429000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~50 KB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206240" y="32461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206240" y="3246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525780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524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6012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appears immediately — titles, prices, stars. The image slots are still empty. This is the moment users describe as "the page loaded".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asks the CDN for pictures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01200" y="365760"/>
            <a:ext cx="1783080" cy="457200"/>
          </a:xfrm>
          <a:prstGeom prst="roundRect">
            <a:avLst>
              <a:gd name="adj" fmla="val 4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completely separate set of requests, to completely different servers.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9FB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200400" cy="384048"/>
          </a:xfrm>
          <a:prstGeom prst="rect">
            <a:avLst/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737360"/>
            <a:ext cx="100584" cy="100584"/>
          </a:xfrm>
          <a:prstGeom prst="ellipse">
            <a:avLst/>
          </a:prstGeom>
          <a:solidFill>
            <a:srgbClr val="E07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1737360"/>
            <a:ext cx="100584" cy="100584"/>
          </a:xfrm>
          <a:prstGeom prst="ellipse">
            <a:avLst/>
          </a:prstGeom>
          <a:solidFill>
            <a:srgbClr val="E8C1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737360"/>
            <a:ext cx="100584" cy="100584"/>
          </a:xfrm>
          <a:prstGeom prst="ellipse">
            <a:avLst/>
          </a:prstGeom>
          <a:solidFill>
            <a:srgbClr val="7FB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691640"/>
            <a:ext cx="237744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amazon.in/s?k=men's+shirt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32104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78308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3794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37944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37944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8892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4378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43784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843784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7724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2104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2104" y="4114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78308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3794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837944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37944" y="4114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8892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4378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43784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843784" y="4114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008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 Jaipur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23317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backend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920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95360" y="14173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0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59536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product IDs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9536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95360" y="2642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59536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40 IDs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95360" y="36118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95360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59536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answers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4315968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3F6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4443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89204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86200" y="2697480"/>
            <a:ext cx="960120" cy="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2900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request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flipV="1">
            <a:off x="7269480" y="1828800"/>
            <a:ext cx="1280160" cy="68580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03720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 flipV="1">
            <a:off x="7269480" y="2084832"/>
            <a:ext cx="1280160" cy="566928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4944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 IDs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69480" y="2834640"/>
            <a:ext cx="1280160" cy="4572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949440" y="2542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those 40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69480" y="2999232"/>
            <a:ext cx="1280160" cy="4572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94944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prices, URLs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886200" y="2971800"/>
            <a:ext cx="960120" cy="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429000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~50 KB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886200" y="4114800"/>
            <a:ext cx="960120" cy="658368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91840" y="4828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image calls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160520" y="448056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60520" y="4480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525780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524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6012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eight image requests fire in parallel — only for products currently on screen. The other thirty-two images are not requested until you scroll.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pictures arrive from nearby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01200" y="365760"/>
            <a:ext cx="1783080" cy="457200"/>
          </a:xfrm>
          <a:prstGeom prst="roundRect">
            <a:avLst>
              <a:gd name="adj" fmla="val 4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edge server in India, not from Amazon's origin.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9FB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200400" cy="384048"/>
          </a:xfrm>
          <a:prstGeom prst="rect">
            <a:avLst/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737360"/>
            <a:ext cx="100584" cy="100584"/>
          </a:xfrm>
          <a:prstGeom prst="ellipse">
            <a:avLst/>
          </a:prstGeom>
          <a:solidFill>
            <a:srgbClr val="E07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1737360"/>
            <a:ext cx="100584" cy="100584"/>
          </a:xfrm>
          <a:prstGeom prst="ellipse">
            <a:avLst/>
          </a:prstGeom>
          <a:solidFill>
            <a:srgbClr val="E8C1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737360"/>
            <a:ext cx="100584" cy="100584"/>
          </a:xfrm>
          <a:prstGeom prst="ellipse">
            <a:avLst/>
          </a:prstGeom>
          <a:solidFill>
            <a:srgbClr val="7FB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691640"/>
            <a:ext cx="237744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amazon.in/s?k=men's+shirt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32104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78308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3794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37944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37944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88920" y="214884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43784" y="2203704"/>
            <a:ext cx="804672" cy="548640"/>
          </a:xfrm>
          <a:prstGeom prst="roundRect">
            <a:avLst>
              <a:gd name="adj" fmla="val 5000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43784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843784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7724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3F6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2104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2104" y="4114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78308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3794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837944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37944" y="4114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88920" y="3310128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43784" y="3364992"/>
            <a:ext cx="804672" cy="548640"/>
          </a:xfrm>
          <a:prstGeom prst="roundRect">
            <a:avLst>
              <a:gd name="adj" fmla="val 5000"/>
            </a:avLst>
          </a:prstGeom>
          <a:solidFill>
            <a:srgbClr val="2B4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43784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Shirt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843784" y="4114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₹899  ★ 4.2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008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 Jaipur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23317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backend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920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95360" y="14173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0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59536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product IDs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9536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95360" y="2642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59536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40 IDs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95360" y="36118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95360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59536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answers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4315968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3F6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4443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89204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86200" y="2697480"/>
            <a:ext cx="960120" cy="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2900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request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flipV="1">
            <a:off x="7269480" y="1828800"/>
            <a:ext cx="1280160" cy="68580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03720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 flipV="1">
            <a:off x="7269480" y="2084832"/>
            <a:ext cx="1280160" cy="566928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4944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 IDs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69480" y="2834640"/>
            <a:ext cx="1280160" cy="4572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949440" y="2542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those 40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69480" y="2999232"/>
            <a:ext cx="1280160" cy="4572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94944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prices, URLs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886200" y="2971800"/>
            <a:ext cx="960120" cy="0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429000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~50 KB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886200" y="4114800"/>
            <a:ext cx="960120" cy="658368"/>
          </a:xfrm>
          <a:prstGeom prst="line">
            <a:avLst/>
          </a:prstGeom>
          <a:noFill/>
          <a:ln w="22225">
            <a:solidFill>
              <a:srgbClr val="C2CD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91840" y="4828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image calls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886200" y="4343400"/>
            <a:ext cx="960120" cy="658368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572000" y="452628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572000" y="4526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40080" y="525780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FDF3E3"/>
          </a:solidFill>
          <a:ln w="1524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6012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about 300 ms, one API call, and dozens of image calls on a separate road. The user saw a page appear instantly and never suspected any of this.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Roads, One Page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and the pictures never travel together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160020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336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  ·  ~40 items  ·  ~50 KB text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23360" y="306324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3F6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0" y="3182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calls now  ·  images  ·  MBs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03920" y="1600200"/>
            <a:ext cx="2880360" cy="1051560"/>
          </a:xfrm>
          <a:prstGeom prst="roundRect">
            <a:avLst>
              <a:gd name="adj" fmla="val 608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0" y="16002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database + cache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503920" y="3063240"/>
            <a:ext cx="2880360" cy="1051560"/>
          </a:xfrm>
          <a:prstGeom prst="roundRect">
            <a:avLst>
              <a:gd name="adj" fmla="val 6087"/>
            </a:avLst>
          </a:prstGeom>
          <a:solidFill>
            <a:srgbClr val="2B4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306324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image store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flipV="1">
            <a:off x="2560320" y="2130552"/>
            <a:ext cx="1417320" cy="68580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0" y="2834640"/>
            <a:ext cx="1417320" cy="749808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78040" y="2121408"/>
            <a:ext cx="12801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78040" y="3584448"/>
            <a:ext cx="1280160" cy="0"/>
          </a:xfrm>
          <a:prstGeom prst="line">
            <a:avLst/>
          </a:prstGeom>
          <a:noFill/>
          <a:ln w="25400">
            <a:solidFill>
              <a:srgbClr val="5A6B76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804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a miss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call gave you the facts. Dozens of separate calls, to a different set of servers, bring the pictures. Your eyes see one page.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1089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seconds later, a different user searches for exactly the same thing: "men’s shirt". The index is ready to search again. The database is ready to be queried again.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the whole journey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really happen a second time?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thousand people will run this same search today.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6 — The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keeps recent answers in Redis and checks there first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the index, the backend checks Redis. If the result for "men’s shirt" was cached moments ago, it is returned straight away — roughly 5 milliseconds, and neither the index nor the database is disturbed.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F3EEF5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B4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sits in Redis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33272" y="3182112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popular searches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of best-selling products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for seconds to minutes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memory, not on disk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606040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EAF5E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72584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room?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72584" y="3182112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popular searches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50 KB each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5 GB in total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Redis instance. Yes.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606040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02752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never cached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02752" y="3182112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"blue slim cotton size 42 under 800"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searches nobody repeats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cart and your addresses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personal to one user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queries may never reach the database at all. The rare ones always do — and that is fine, because they are rare.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Where Is Everything Actually Kept?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layers, from your screen outward — each with a different job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109728" cy="6217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memory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06240" y="16459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~40 items you are looking 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52560" y="16459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you reload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109728" cy="6217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3774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disk cache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06240" y="23774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scripts, stylesheets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52560" y="2377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months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108960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108960"/>
            <a:ext cx="109728" cy="621792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1089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 server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06240" y="310896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sometimes popular pages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52560" y="31089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days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840480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840480"/>
            <a:ext cx="109728" cy="621792"/>
          </a:xfrm>
          <a:prstGeom prst="rect">
            <a:avLst/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38404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206240" y="384048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search results, hot products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52560" y="38404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minutes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572000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4572000"/>
            <a:ext cx="109728" cy="62179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45720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206240" y="457200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to product-ID lists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52560" y="45720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continuously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303520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7240" y="5303520"/>
            <a:ext cx="109728" cy="621792"/>
          </a:xfrm>
          <a:prstGeom prst="rect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53035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206240" y="53035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two million rows, the truth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52560" y="53035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6080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the user = faster but less trustworthy. Further away = slower but always correct. Every cache is that trade.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1089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7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every trick so far, the JSON still takes about 200 milliseconds to arrive, and the images longer. Yet the user will swear the page appeared instantly.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wait was not removed.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how did it disappear?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scene belongs entirely to the frontend.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7 — The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cannot remove the wait, so it hides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17465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screens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33272" y="211226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shimmering boxes appear in 10 ms, before any data exists. Something happened, so it feels fast.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7465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images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28232" y="211226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below the fold is not requested until you are about to scroll to it. Eight load, not forty.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081528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3227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scrolling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33272" y="359359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~12 cards truly exist on the page. As you scroll they are recycled and refilled.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081528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8232" y="3227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28232" y="359359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item 25, the next forty are already being fetched. Infinite scroll is just good timing.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562856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4709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33272" y="5074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"shirt" is five keystrokes but one request, sent 300 ms after you stop typing.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562856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28232" y="4709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updates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28232" y="5074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+ on Swiggy and the cart count changes instantly, before the server has agreed.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make the server faster. Every one of them makes the user believe it is.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— Frontend or Backend?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Both. And the line between them is clean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owns:  which forty, and in what order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63640" y="1600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owns:  how the wait feels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5120640" cy="2423160"/>
          </a:xfrm>
          <a:prstGeom prst="roundRect">
            <a:avLst>
              <a:gd name="adj" fmla="val 2264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and selection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3090672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Searching, filtering, ranking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and sponsored placement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limits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in Redis and at the CDN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price and payment truth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514600"/>
            <a:ext cx="5120640" cy="2423160"/>
          </a:xfrm>
          <a:prstGeom prst="roundRect">
            <a:avLst>
              <a:gd name="adj" fmla="val 2264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9672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and smoothness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9672" y="3090672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Skeletons and loading states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images and virtual lists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Prefetching the next page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Debouncing the search box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fetched pages for the Back button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512064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DF3E3"/>
          </a:solidFill>
          <a:ln w="1778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51206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tell them apart:  wrong or slow to arrive  →  backend.     Arrives fine but stutters or flashes  →  frontend.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Yourself, Right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any laptop or phone browser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6070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7190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Amazon or Swiggy and press F12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249424"/>
            <a:ext cx="10607040" cy="512064"/>
          </a:xfrm>
          <a:prstGeom prst="roundRect">
            <a:avLst>
              <a:gd name="adj" fmla="val 892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232257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24942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Network tab, filter to Fetch/XHR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852928"/>
            <a:ext cx="106070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29260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85292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anything. Watch one small JSON call appear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3456432"/>
            <a:ext cx="10607040" cy="512064"/>
          </a:xfrm>
          <a:prstGeom prst="roundRect">
            <a:avLst>
              <a:gd name="adj" fmla="val 892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5840" y="35295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45643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it and count the items. Not two million. About forty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059936"/>
            <a:ext cx="106070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05840" y="413308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405993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filter to Img — see the pictures loading from a different domain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4663440"/>
            <a:ext cx="10607040" cy="512064"/>
          </a:xfrm>
          <a:prstGeom prst="roundRect">
            <a:avLst>
              <a:gd name="adj" fmla="val 892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47365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466344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and watch a second request fire on its own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" y="5349240"/>
            <a:ext cx="10607040" cy="777240"/>
          </a:xfrm>
          <a:prstGeom prst="roundRect">
            <a:avLst>
              <a:gd name="adj" fmla="val 7059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collapse:  2,000,000 exist  →  40 are sent  →  12 are drawn  →  8 pictures load.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C7A54-98E5-D0EE-56B7-9F40A84F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702AF2FE-CCD9-8115-4E0A-2F0A83108B72}"/>
              </a:ext>
            </a:extLst>
          </p:cNvPr>
          <p:cNvSpPr txBox="1"/>
          <p:nvPr/>
        </p:nvSpPr>
        <p:spPr>
          <a:xfrm>
            <a:off x="4150979" y="3044279"/>
            <a:ext cx="36888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APPLE CHANCERY" panose="03020702040506060504" pitchFamily="66" charset="-79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65060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3798</Words>
  <Application>Microsoft Macintosh PowerPoint</Application>
  <PresentationFormat>Widescreen</PresentationFormat>
  <Paragraphs>574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Cambria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Raj</cp:lastModifiedBy>
  <cp:revision>2</cp:revision>
  <dcterms:created xsi:type="dcterms:W3CDTF">2026-08-09T17:07:38Z</dcterms:created>
  <dcterms:modified xsi:type="dcterms:W3CDTF">2026-08-12T20:05:31Z</dcterms:modified>
</cp:coreProperties>
</file>