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078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collecting homework answers on the board: refuse writes, or accept and reconcile? Payment vs like button. Do not label anything CAP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the ordering explicitly. Students who have met CAP elsewhere will have been taught it badly.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8 minutes per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they pick one. The whole point is that there is no clever escape.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labels CP and AP small for now. The next slides explain why those names are slightly misleading.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"slow node looks exactly like a dead node" point is what makes partitions feel real rather than theoretical.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student has been taught "pick two", correct it gently but firmly. This slide is why the lecture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round exists because "consistent" is the most overloaded word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Read-your-own-writes callback: this is exactly the review-disappears bug from Lecture 6, now with a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"eventually" has no time bound in the formal definition. In practice milliseconds; during a partition,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students instinctively know payment is different. Make them articulate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them add one row of their own for an app they use. It forces reasoning rather than memorisation.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DNS example from Lecture 4 is the best proof that eventual consistency is a design choice, not a compromise.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propose numbers. Someone usually says "all three", which opens the availability objection.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three circles on the board and shade W and R. The overlap picture sticks far better than the inequality.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bill for choosing AP. Make them feel it is a real cost, not a footnote.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vector clocks in passing: they are how a database detects that two versions conflict rather than one superseding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hint gets them there: coordination costs round trips whether or not anything is broken.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Lecture 4: a cross-country round trip is ~250 ms. A quorum spanning regions pays that on every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them to defend one row they disagree with. The coupon row is a good argument starter.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a minute on ACID vs CAP. It is the most common genuine misunderstanding in this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lecture begins the case studies with Instagram. Everything from Units 1 to 4 gets used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97280"/>
            <a:ext cx="2377440" cy="457200"/>
          </a:xfrm>
          <a:prstGeom prst="roundRect">
            <a:avLst>
              <a:gd name="adj" fmla="val 44000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Network</a:t>
            </a:r>
            <a:r>
              <a:rPr lang="en-US" sz="4400" dirty="0"/>
              <a:t> 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Breaks in Half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Consistency, availability and the CAP theorem. 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Lecture Comes Now, Not Earlier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444752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44475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courses teach CAP  as a triangle to memorise. You have spent number of lectures building the machinery it describes.          So now it is a decision you can reason about rather than a diagram you recite.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109728" cy="62179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24688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46888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data exists in several copies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182112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" y="3182112"/>
            <a:ext cx="109728" cy="62179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18211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lag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3182112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seen a copy disagree with the original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3895344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3895344"/>
            <a:ext cx="109728" cy="621792"/>
          </a:xfrm>
          <a:prstGeom prst="rect">
            <a:avLst/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7280" y="389534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3895344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data is split across machines that can fail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4608576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7240" y="4608576"/>
            <a:ext cx="109728" cy="621792"/>
          </a:xfrm>
          <a:prstGeom prst="rect">
            <a:avLst/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97280" y="460857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Cross-shard transactions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0" y="4608576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atomicity stops at the machine boundary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" y="5321808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7240" y="5321808"/>
            <a:ext cx="109728" cy="62179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9728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0" y="5321808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already accepted being wrong for a while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When those machines cannot talk to each other, what should the system do?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Six Rounds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a dilemma before it is a definition</a:t>
            </a:r>
            <a:endParaRPr lang="en-US" sz="1450" b="1" dirty="0">
              <a:solidFill>
                <a:srgbClr val="00B0F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6070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783080"/>
            <a:ext cx="1280160" cy="402336"/>
          </a:xfrm>
          <a:prstGeom prst="roundRect">
            <a:avLst>
              <a:gd name="adj" fmla="val 4545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645920"/>
            <a:ext cx="3749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cable is cut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0" y="1645920"/>
            <a:ext cx="47548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halves, both alive, unable to speak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423160"/>
            <a:ext cx="10607040" cy="667512"/>
          </a:xfrm>
          <a:prstGeom prst="roundRect">
            <a:avLst>
              <a:gd name="adj" fmla="val 8219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560320"/>
            <a:ext cx="1280160" cy="402336"/>
          </a:xfrm>
          <a:prstGeom prst="roundRect">
            <a:avLst>
              <a:gd name="adj" fmla="val 4545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423160"/>
            <a:ext cx="3749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"consistent" mean?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0" y="2423160"/>
            <a:ext cx="47548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spectrum, not a switch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200400"/>
            <a:ext cx="106070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3337560"/>
            <a:ext cx="1280160" cy="402336"/>
          </a:xfrm>
          <a:prstGeom prst="roundRect">
            <a:avLst>
              <a:gd name="adj" fmla="val 4545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3375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200400"/>
            <a:ext cx="3749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or like button?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00800" y="3200400"/>
            <a:ext cx="47548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is per feature, never per company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3977640"/>
            <a:ext cx="10607040" cy="667512"/>
          </a:xfrm>
          <a:prstGeom prst="roundRect">
            <a:avLst>
              <a:gd name="adj" fmla="val 8219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4114800"/>
            <a:ext cx="1280160" cy="402336"/>
          </a:xfrm>
          <a:prstGeom prst="roundRect">
            <a:avLst>
              <a:gd name="adj" fmla="val 4545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411480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3977640"/>
            <a:ext cx="3749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must agree?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0" y="3977640"/>
            <a:ext cx="47548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arithmetic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4754880"/>
            <a:ext cx="106070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5840" y="4892040"/>
            <a:ext cx="1280160" cy="402336"/>
          </a:xfrm>
          <a:prstGeom prst="roundRect">
            <a:avLst>
              <a:gd name="adj" fmla="val 4545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5840" y="48920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4754880"/>
            <a:ext cx="3749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halves accepted a write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400800" y="4754880"/>
            <a:ext cx="47548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two versions of the truth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77240" y="5532120"/>
            <a:ext cx="10607040" cy="667512"/>
          </a:xfrm>
          <a:prstGeom prst="roundRect">
            <a:avLst>
              <a:gd name="adj" fmla="val 8219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05840" y="5669280"/>
            <a:ext cx="1280160" cy="402336"/>
          </a:xfrm>
          <a:prstGeom prst="roundRect">
            <a:avLst>
              <a:gd name="adj" fmla="val 45455"/>
            </a:avLst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05840" y="566928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0" y="5532120"/>
            <a:ext cx="3749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fault today. Is it free?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400800" y="5532120"/>
            <a:ext cx="47548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half of the story CAP leaves out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38328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CampusEats runs in two data centres, Mumbai and Delhi, each holding a copy of the data. At 8 pm the link between them fails. Both are healthy. Both are serving users. Neither can reach the other.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user in Delhi places an order.</a:t>
            </a:r>
            <a:endParaRPr lang="en-US" sz="25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you accept it, or refuse it?</a:t>
            </a: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1 — There Are Exactly Two Choices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whichever you pick, something is lost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444752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44475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network partition. The machines are fine; the link between them is not. You cannot make the two halves agree, because they cannot talk — so you must choose what to sacrifice.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5212080" cy="59436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the write  —  stay consistent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3108960"/>
            <a:ext cx="5212080" cy="2377440"/>
          </a:xfrm>
          <a:prstGeom prst="roundRect">
            <a:avLst>
              <a:gd name="adj" fmla="val 2308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14984" y="3273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14984" y="36576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replies "service unavailable"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users ever see different data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briefly unusable for some people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CP: consistent, not available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423160"/>
            <a:ext cx="5212080" cy="594360"/>
          </a:xfrm>
          <a:prstGeom prst="roundRect">
            <a:avLst>
              <a:gd name="adj" fmla="val 7692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2200" y="242316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write  —  stay available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72200" y="3108960"/>
            <a:ext cx="5212080" cy="2377440"/>
          </a:xfrm>
          <a:prstGeom prst="roundRect">
            <a:avLst>
              <a:gd name="adj" fmla="val 2308"/>
            </a:avLst>
          </a:prstGeom>
          <a:solidFill>
            <a:srgbClr val="EAF5E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9944" y="3273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9944" y="36576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takes the order and carries on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does not know about it yet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halves now disagree, and must be merged later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AP: available, not consistent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that you are not choosing between good and bad. You are choosing which kind of wrong your business can survive.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Partition Actually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has crashed. The machines simply cannot hear each other.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22960" y="1572768"/>
            <a:ext cx="4663440" cy="2743200"/>
          </a:xfrm>
          <a:prstGeom prst="roundRect">
            <a:avLst>
              <a:gd name="adj" fmla="val 2667"/>
            </a:avLst>
          </a:prstGeom>
          <a:solidFill>
            <a:srgbClr val="EEF6F7"/>
          </a:solidFill>
          <a:ln w="1651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842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 ·  serving users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71600" y="237744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237744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23774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33375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0" y="33375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572768"/>
            <a:ext cx="4663440" cy="2743200"/>
          </a:xfrm>
          <a:prstGeom prst="roundRect">
            <a:avLst>
              <a:gd name="adj" fmla="val 2667"/>
            </a:avLst>
          </a:prstGeom>
          <a:solidFill>
            <a:srgbClr val="EAF5EF"/>
          </a:solidFill>
          <a:ln w="1651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1691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19842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 ·  serving users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23760" y="2377440"/>
            <a:ext cx="868680" cy="86868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23760" y="23774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0" y="2377440"/>
            <a:ext cx="868680" cy="86868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52560" y="23774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3337560"/>
            <a:ext cx="868680" cy="86868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38160" y="33375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816352"/>
            <a:ext cx="1005840" cy="0"/>
          </a:xfrm>
          <a:prstGeom prst="line">
            <a:avLst/>
          </a:prstGeom>
          <a:noFill/>
          <a:ln w="38100">
            <a:solidFill>
              <a:srgbClr val="A03A3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06440" y="2542032"/>
            <a:ext cx="548640" cy="548640"/>
          </a:xfrm>
          <a:prstGeom prst="ellipse">
            <a:avLst/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06440" y="2542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9496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down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4617720"/>
            <a:ext cx="10607040" cy="1463040"/>
          </a:xfrm>
          <a:prstGeom prst="roundRect">
            <a:avLst>
              <a:gd name="adj" fmla="val 3750"/>
            </a:avLst>
          </a:prstGeom>
          <a:solidFill>
            <a:srgbClr val="FDF3E3"/>
          </a:solidFill>
          <a:ln w="1778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97280" y="47731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cannot simply refuse to have partitions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51206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are cut, switches fail, cloud regions lose connectivity, and a machine busy enough to stop replying is indistinguishable from one that is unreachable. Over any real network, partitions happen. They are a fact to survive, not an option to decline.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 Theorem, Stated Honestly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famous triangle is the most misremembered diagram in computing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212080" cy="1920240"/>
          </a:xfrm>
          <a:prstGeom prst="roundRect">
            <a:avLst>
              <a:gd name="adj" fmla="val 2857"/>
            </a:avLst>
          </a:prstGeom>
          <a:solidFill>
            <a:srgbClr val="FDF0EE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4984" y="16733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say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4984" y="20574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"Pick any two of Consistency, Availability, Partition tolerance"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Implies CA systems exist and are a real option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it is a one-time architectural choice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212080" cy="1920240"/>
          </a:xfrm>
          <a:prstGeom prst="roundRect">
            <a:avLst>
              <a:gd name="adj" fmla="val 2857"/>
            </a:avLst>
          </a:prstGeom>
          <a:solidFill>
            <a:srgbClr val="EAF5E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9944" y="16733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says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9944" y="20574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partition occurs, you must choose C or A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is not a choice — networks partition, so you tolerate it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is made per operation, during the fault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657600"/>
            <a:ext cx="3337560" cy="192024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05840" y="38404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45262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 sees the most recent write, or an error. Not the C in ACID.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0" y="3657600"/>
            <a:ext cx="3337560" cy="1920240"/>
          </a:xfrm>
          <a:prstGeom prst="roundRect">
            <a:avLst>
              <a:gd name="adj" fmla="val 3333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17720" y="38404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1772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0352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617720" y="45262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gets a non-error response, even if it may be stale.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01000" y="3657600"/>
            <a:ext cx="3337560" cy="1920240"/>
          </a:xfrm>
          <a:prstGeom prst="roundRect">
            <a:avLst>
              <a:gd name="adj" fmla="val 3333"/>
            </a:avLst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0" y="38404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91540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tolerance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229600" y="45262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keeps working when messages between nodes are lost.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is CA is simply a system that has not been partitioned yet. The moment it is, it must behave as CP or AP.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38328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engineers argue. One says their system is consistent because a write is never lost. The other says it is not, because a read a moment later can still return the old value.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are describing the same system.</a:t>
            </a:r>
            <a:endParaRPr lang="en-US" sz="25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who is right?</a:t>
            </a:r>
            <a:endParaRPr lang="en-US"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2 — Consistency Is a Spectrum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engineers are right, because they mean different guarantees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070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109728" cy="8961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167335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 always returns the latest write. Behaves like one machine.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0" y="1600200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Slowest, most coordination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624328"/>
            <a:ext cx="10607040" cy="896112"/>
          </a:xfrm>
          <a:prstGeom prst="roundRect">
            <a:avLst>
              <a:gd name="adj" fmla="val 612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624328"/>
            <a:ext cx="109728" cy="89611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715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own writes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26974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always see your own changes; others may lag.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0" y="262432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replication-lag fix from Lecture 6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648456"/>
            <a:ext cx="106070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648456"/>
            <a:ext cx="109728" cy="896112"/>
          </a:xfrm>
          <a:prstGeom prst="rect">
            <a:avLst/>
          </a:prstGeom>
          <a:solidFill>
            <a:srgbClr val="6B4E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7398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reads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31920" y="37216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see time go backwards — nothing you saw disappears.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0" y="3648456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and surprisingly important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4672584"/>
            <a:ext cx="10607040" cy="896112"/>
          </a:xfrm>
          <a:prstGeom prst="roundRect">
            <a:avLst>
              <a:gd name="adj" fmla="val 612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4672584"/>
            <a:ext cx="109728" cy="896112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4764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31920" y="474573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writes stop, all copies converge. Until then, anything goes.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86800" y="4672584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weakest promise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5806440"/>
            <a:ext cx="10607040" cy="6858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and slowest at the top, weakest and fastest at the bottom. Every row is a legitimate engineering choice for some feature.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"Eventually" Actually Means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timeline of one write spreading across three replicas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070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801368"/>
            <a:ext cx="1280160" cy="493776"/>
          </a:xfrm>
          <a:prstGeom prst="roundRect">
            <a:avLst>
              <a:gd name="adj" fmla="val 33333"/>
            </a:avLst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01368"/>
            <a:ext cx="1280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0 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14600" y="160020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lands on replica 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1600200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new,  B = old,  C = old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624328"/>
            <a:ext cx="10607040" cy="896112"/>
          </a:xfrm>
          <a:prstGeom prst="roundRect">
            <a:avLst>
              <a:gd name="adj" fmla="val 612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825496"/>
            <a:ext cx="1280160" cy="493776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825496"/>
            <a:ext cx="1280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5 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2624328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streams the change outward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2240" y="2624328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new,  B = new,  C = old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648456"/>
            <a:ext cx="106070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3849624"/>
            <a:ext cx="1280160" cy="493776"/>
          </a:xfrm>
          <a:prstGeom prst="roundRect">
            <a:avLst>
              <a:gd name="adj" fmla="val 33333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849624"/>
            <a:ext cx="1280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40 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3648456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replicas have applied 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3648456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new,  B = new,  C = new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4672584"/>
            <a:ext cx="10607040" cy="896112"/>
          </a:xfrm>
          <a:prstGeom prst="roundRect">
            <a:avLst>
              <a:gd name="adj" fmla="val 612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4873752"/>
            <a:ext cx="1280160" cy="493776"/>
          </a:xfrm>
          <a:prstGeom prst="roundRect">
            <a:avLst>
              <a:gd name="adj" fmla="val 33333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4873752"/>
            <a:ext cx="1280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41 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4672584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2240" y="4672584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read now returns the new value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5760720"/>
            <a:ext cx="10607040" cy="777240"/>
          </a:xfrm>
          <a:prstGeom prst="roundRect">
            <a:avLst>
              <a:gd name="adj" fmla="val 7059"/>
            </a:avLst>
          </a:prstGeom>
          <a:solidFill>
            <a:srgbClr val="FDF3E3"/>
          </a:solidFill>
          <a:ln w="1651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97280" y="57607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 is the window, not the destination. Eventual consistency guarantees you arrive — it promises nothing about what a user sees between 0 and 40 milliseconds, and nothing at all while writes keep coming.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38328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Mumbai–Delhi partition, two things happen: a customer pays ₹450 for an order, and a different customer taps the like button on a restaurant.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both be handled the same way?</a:t>
            </a:r>
            <a:endParaRPr lang="en-US" sz="25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not, which one gets refused?</a:t>
            </a:r>
            <a:endParaRPr lang="en-US" sz="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3 — The Choice Is Per Feature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useful idea in this lecture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444752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44475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forces a company to pick one answer. Inside one application the payment path can refuse writes during a partition while the like button happily accepts them — because the cost of being wrong is wildly different.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FDF0EE"/>
          </a:solidFill>
          <a:ln w="12700">
            <a:solidFill>
              <a:srgbClr val="A0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46888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/ wallet balance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43400" y="246888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Double-spending is unacceptable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49640" y="2587752"/>
            <a:ext cx="2606040" cy="384048"/>
          </a:xfrm>
          <a:prstGeom prst="roundRect">
            <a:avLst>
              <a:gd name="adj" fmla="val 38095"/>
            </a:avLst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49640" y="258775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the write  (CP)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182112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FDF0EE"/>
          </a:solidFill>
          <a:ln w="12700">
            <a:solidFill>
              <a:srgbClr val="A0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318211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on a flash sale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343400" y="318211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Overselling costs money and trust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49640" y="3300984"/>
            <a:ext cx="2606040" cy="384048"/>
          </a:xfrm>
          <a:prstGeom prst="roundRect">
            <a:avLst>
              <a:gd name="adj" fmla="val 38095"/>
            </a:avLst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49640" y="330098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or reserve  (CP)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895344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EAF5EF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389534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43400" y="389534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an order is worse than a duplicate you can detect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49640" y="4014216"/>
            <a:ext cx="2606040" cy="384048"/>
          </a:xfrm>
          <a:prstGeom prst="roundRect">
            <a:avLst>
              <a:gd name="adj" fmla="val 38095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49640" y="401421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dedupe later  (AP)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4608576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EAF5EF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51560" y="460857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count / view count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343400" y="460857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off by a few for a minute harms nobody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49640" y="4727448"/>
            <a:ext cx="2606040" cy="384048"/>
          </a:xfrm>
          <a:prstGeom prst="roundRect">
            <a:avLst>
              <a:gd name="adj" fmla="val 38095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49640" y="47274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freely  (AP)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5321808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EAF5EF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51560" y="532180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location pings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343400" y="532180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latest value matters anyway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49640" y="5440680"/>
            <a:ext cx="2606040" cy="384048"/>
          </a:xfrm>
          <a:prstGeom prst="roundRect">
            <a:avLst>
              <a:gd name="adj" fmla="val 38095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549640" y="54406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freely  (AP)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interview answer is "it depends on the operation" — followed immediately by naming which operations, and why.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Real Databases Sit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are configurable, which is why the labels are rough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5212080" cy="2468880"/>
          </a:xfrm>
          <a:prstGeom prst="roundRect">
            <a:avLst>
              <a:gd name="adj" fmla="val 222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4984" y="17190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CP — refuse rather than diverge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4984" y="21031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with majority writes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and MySQL with synchronous replication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HBase, etcd, ZooKeeper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balances, inventory, configuration, locks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212080" cy="2468880"/>
          </a:xfrm>
          <a:prstGeom prst="roundRect">
            <a:avLst>
              <a:gd name="adj" fmla="val 2222"/>
            </a:avLst>
          </a:prstGeom>
          <a:solidFill>
            <a:srgbClr val="EAF5E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9944" y="17190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AP — accept and reconcile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9944" y="21031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 and DynamoDB at low consistency levels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Riak, CouchDB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— the largest AP system in the world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feeds, counters, sensor data, sessions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4206240"/>
            <a:ext cx="10607040" cy="1508760"/>
          </a:xfrm>
          <a:prstGeom prst="roundRect">
            <a:avLst>
              <a:gd name="adj" fmla="val 3636"/>
            </a:avLst>
          </a:prstGeom>
          <a:solidFill>
            <a:srgbClr val="FDF3E3"/>
          </a:solidFill>
          <a:ln w="1778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4343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belongs to the configuration, not the product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 with a quorum write and a quorum read behaves like a CP system. MongoDB reading from a secondary behaves like an AP system. Asking "is Cassandra AP?" is far less useful than asking "what consistency level did you set on that query?"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is worth dwelling on: eventually consistent by design, perfectly partition tolerant, and it runs the internet.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38328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replicated on three nodes. A write arrives. You could require all three to confirm it, or just one, or something in between.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must confirm a write,</a:t>
            </a:r>
            <a:endParaRPr lang="en-US" sz="25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how many must be read?</a:t>
            </a:r>
            <a:endParaRPr lang="en-US" sz="2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4 — Quorums, and One Inequality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nodes hold the data, W must confirm a write, R are read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10607040" cy="777240"/>
          </a:xfrm>
          <a:prstGeom prst="roundRect">
            <a:avLst>
              <a:gd name="adj" fmla="val 7059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W + R  &gt;  N,  then every read set and every write set share at least one node — so a read is guaranteed to see the latest write.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2468880" cy="2194560"/>
          </a:xfrm>
          <a:prstGeom prst="roundRect">
            <a:avLst>
              <a:gd name="adj" fmla="val 291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W=3, R=1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3+1 &gt; 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566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4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reads, slow writes. One node down and writes stop.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02152" y="2514600"/>
            <a:ext cx="2468880" cy="2194560"/>
          </a:xfrm>
          <a:prstGeom prst="roundRect">
            <a:avLst>
              <a:gd name="adj" fmla="val 2917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02152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W=2, R=2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02152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D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2+2 &gt;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85032" y="3566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ED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Balanced. Survives one node failing. The usual choice.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7064" y="2514600"/>
            <a:ext cx="2468880" cy="2194560"/>
          </a:xfrm>
          <a:prstGeom prst="roundRect">
            <a:avLst>
              <a:gd name="adj" fmla="val 291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27064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W=1, R=3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227064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D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1+3 &gt;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9944" y="3566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ED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writes, slow reads. Good for write-heavy logging.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51976" y="2514600"/>
            <a:ext cx="2468880" cy="2194560"/>
          </a:xfrm>
          <a:prstGeom prst="roundRect">
            <a:avLst>
              <a:gd name="adj" fmla="val 2917"/>
            </a:avLst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51976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W=1, R=1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951976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D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1+1 &lt;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34856" y="3566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ED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and weakest — eventual, with no guarantee.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knob. Turning W and R up buys consistency and costs availability; turning them down does the reverse — on the same database, per query.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N=3 and W=2 a write still succeeds while one node is unreachable. With W=3 it does not — which is how a consistency setting quietly becomes an availability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38328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5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chose availability. During the partition, Mumbai recorded the delivery address as "Hostel 4" and Delhi recorded it as "Hostel 9". The link is now restored.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versions of the truth.</a:t>
            </a:r>
            <a:endParaRPr lang="en-US" sz="25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survives — and who decides?</a:t>
            </a:r>
            <a:endParaRPr lang="en-US" sz="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5 — Four Ways to Resolve a Conflict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AP means signing up to write this logic yourself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106070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9728" cy="98755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664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write wins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840480" y="164592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whichever carries the later timestamp and discard the other.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0" y="212140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Trivial, and it silently loses data. Clock skew makes it worse.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670048"/>
            <a:ext cx="10607040" cy="987552"/>
          </a:xfrm>
          <a:prstGeom prst="roundRect">
            <a:avLst>
              <a:gd name="adj" fmla="val 555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670048"/>
            <a:ext cx="109728" cy="9875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7797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both, ask the user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840480" y="2761488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both versions and let the person choose, the way Git surfaces a merge conflict.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40480" y="323697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but only works where a human is present.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785616"/>
            <a:ext cx="106070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785616"/>
            <a:ext cx="109728" cy="987552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8953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by data type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840480" y="3877056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structure that merges on its own — a counter adds, a set unions. These are CRDTs.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40480" y="435254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conflict is possible by construction. Not every type fits.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4901184"/>
            <a:ext cx="10607040" cy="987552"/>
          </a:xfrm>
          <a:prstGeom prst="roundRect">
            <a:avLst>
              <a:gd name="adj" fmla="val 555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4901184"/>
            <a:ext cx="109728" cy="9875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50109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840480" y="4992624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domain logic: a later address wins, but a cancelled order always beats a confirmed one.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840480" y="546811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correct, most work, and it lives in your code.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carts are the classic case: Amazon merged conflicting carts by union, so a deleted item could reappear — judged better than losing one the customer wanted.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338328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6  · 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cable is repaired. The network is perfectly healthy. No partition anywhere. You still have three replicas across two cities, and you still require a quorum on every write.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fault today.</a:t>
            </a:r>
            <a:endParaRPr lang="en-US" sz="25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is strong consistency now free?</a:t>
            </a:r>
            <a:endParaRPr lang="en-US" sz="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6 — PACELC, the Half CAP Leaves 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does not disappear when the network is healthy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10607040" cy="777240"/>
          </a:xfrm>
          <a:prstGeom prst="roundRect">
            <a:avLst>
              <a:gd name="adj" fmla="val 7059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 is a Partition, choose Availability or Consistency.    Else, choose Latency or Consistency.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5212080" cy="548640"/>
          </a:xfrm>
          <a:prstGeom prst="roundRect">
            <a:avLst>
              <a:gd name="adj" fmla="val 8333"/>
            </a:avLst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partition   (the CAP half)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108960"/>
            <a:ext cx="5212080" cy="2103120"/>
          </a:xfrm>
          <a:prstGeom prst="roundRect">
            <a:avLst>
              <a:gd name="adj" fmla="val 2609"/>
            </a:avLst>
          </a:prstGeom>
          <a:solidFill>
            <a:srgbClr val="FDF0EE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14984" y="3273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or Consistency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14984" y="36576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writes and diverge, or refuse and stay correct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rarely — perhaps hours per year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consequences are dramatic when it does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468880"/>
            <a:ext cx="5212080" cy="54864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2200" y="24688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moment   (the ELC half)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108960"/>
            <a:ext cx="5212080" cy="2103120"/>
          </a:xfrm>
          <a:prstGeom prst="roundRect">
            <a:avLst>
              <a:gd name="adj" fmla="val 2609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9944" y="3273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or Consistency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9944" y="36576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replicas to agree, or answer now from one copy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on every single request, all year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quorum spanning two cities costs real milliseconds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394960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FDF3E3"/>
          </a:solidFill>
          <a:ln w="1778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5394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PACELC matters more in practice than CAP. Partitions are rare; latency is charged on every request of every day. Most systems that call themselves "eventually consistent" chose it for speed, not for partitions.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CampusEats, Decided Feature by Feature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would actually write in a design document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07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109728" cy="640080"/>
          </a:xfrm>
          <a:prstGeom prst="rect">
            <a:avLst/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balance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0" y="1600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 write and read, single region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0" y="1600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must never be wrong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10607040" cy="640080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331720"/>
            <a:ext cx="109728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own writes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0" y="2331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primary, read own orders from primary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must see their order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063240"/>
            <a:ext cx="10607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3063240"/>
            <a:ext cx="109728" cy="640080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728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menu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063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Eventual, 60 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0" y="3063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in Redis with a TTL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minute-old price is acceptable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3794760"/>
            <a:ext cx="10607040" cy="640080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" y="3794760"/>
            <a:ext cx="109728" cy="640080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728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location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3794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0" y="3794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value wins, older pings discarded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961120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newest ping matters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" y="4526280"/>
            <a:ext cx="10607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7240" y="4526280"/>
            <a:ext cx="109728" cy="640080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97280" y="4526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count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4720" y="4526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merged by addition, a CRDT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961120" y="4526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is fine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" y="5257800"/>
            <a:ext cx="10607040" cy="640080"/>
          </a:xfrm>
          <a:prstGeom prst="roundRect">
            <a:avLst>
              <a:gd name="adj" fmla="val 7143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77240" y="5257800"/>
            <a:ext cx="109728" cy="640080"/>
          </a:xfrm>
          <a:prstGeom prst="rect">
            <a:avLst/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97280" y="5257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redemption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5257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0" y="5257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Single-shard atomic check and set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961120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coupon, one use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features, four different consistency models, one application. This table is what "it depends" looks like when it is said properly.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People Get Wrong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correcting now, before an interview does it for you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DF0EE"/>
          </a:solidFill>
          <a:ln w="12700">
            <a:solidFill>
              <a:srgbClr val="E8C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837944"/>
            <a:ext cx="438912" cy="438912"/>
          </a:xfrm>
          <a:prstGeom prst="ellipse">
            <a:avLst/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379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737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"Pick two of three"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0574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choose during a partition, and P is not optional.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578608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DF0EE"/>
          </a:solidFill>
          <a:ln w="12700">
            <a:solidFill>
              <a:srgbClr val="E8C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770632"/>
            <a:ext cx="438912" cy="438912"/>
          </a:xfrm>
          <a:prstGeom prst="ellipse">
            <a:avLst/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7706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26700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"NoSQL is AP, SQL is CP"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29900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configurable. The consistency level on the query decides.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511296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DF0EE"/>
          </a:solidFill>
          <a:ln w="12700">
            <a:solidFill>
              <a:srgbClr val="E8C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3703320"/>
            <a:ext cx="438912" cy="438912"/>
          </a:xfrm>
          <a:prstGeom prst="ellipse">
            <a:avLst/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703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45920" y="36027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"Eventual consistency means unreliable"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92277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is eventually consistent, and it runs the internet.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4443984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DF0EE"/>
          </a:solidFill>
          <a:ln w="12700">
            <a:solidFill>
              <a:srgbClr val="E8C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4636008"/>
            <a:ext cx="438912" cy="438912"/>
          </a:xfrm>
          <a:prstGeom prst="ellipse">
            <a:avLst/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4636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45920" y="45354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 in CAP is the C in ACID"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45920" y="485546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ideas. CAP’s C is replicas agreeing; ACID’s C is database invariants holding.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5376672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DF0EE"/>
          </a:solidFill>
          <a:ln w="12700">
            <a:solidFill>
              <a:srgbClr val="E8C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5840" y="5568696"/>
            <a:ext cx="438912" cy="438912"/>
          </a:xfrm>
          <a:prstGeom prst="ellipse">
            <a:avLst/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5840" y="55686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45920" y="54681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chose AP for the whole company"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45920" y="578815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is chosen per operation. Payments and like counts never share an answer.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ACID confusion on row four catches almost everyone, including people who have been writing software for years.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and Before Next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5212080" cy="3108960"/>
          </a:xfrm>
          <a:prstGeom prst="roundRect">
            <a:avLst>
              <a:gd name="adj" fmla="val 1765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4984" y="17190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these seven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4984" y="21031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are a fact, not a design option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partition you choose consistency or availability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 system is one that has not been partitioned yet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is a spectrum, not a switch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+ R &gt; N guarantees a read sees the latest write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AP means writing conflict-resolution logic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PACELC: with no partition, latency still fights consistency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212080" cy="3108960"/>
          </a:xfrm>
          <a:prstGeom prst="roundRect">
            <a:avLst>
              <a:gd name="adj" fmla="val 1765"/>
            </a:avLst>
          </a:prstGeom>
          <a:solidFill>
            <a:srgbClr val="F3EEF5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9944" y="17190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Next Lecture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9944" y="21031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shows a post to its author instantly but to followers seconds later. Which consistency model is that?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seat-booking site must never double-book. What does that force about availability?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app you use and write its CampusEats-style decision table for three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4846320"/>
            <a:ext cx="10607040" cy="1280160"/>
          </a:xfrm>
          <a:prstGeom prst="roundRect">
            <a:avLst>
              <a:gd name="adj" fmla="val 4286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 to carry forward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532180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is not a property you switch on. It is a price you pay in latency and availability, and you pay it separately for every operation in your system.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2975</Words>
  <Application>Microsoft Macintosh PowerPoint</Application>
  <PresentationFormat>Widescreen</PresentationFormat>
  <Paragraphs>326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Gaurav Raj</cp:lastModifiedBy>
  <cp:revision>5</cp:revision>
  <dcterms:created xsi:type="dcterms:W3CDTF">2026-10-13T07:13:03Z</dcterms:created>
  <dcterms:modified xsi:type="dcterms:W3CDTF">2026-10-13T12:19:50Z</dcterms:modified>
</cp:coreProperties>
</file>