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4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35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halves today. Say so up front: the first is a journey, the second is arithmetic. Both are examinable.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Part 2 involves arithmetic and they should have a pen 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has anyone ever typed an IP address into a browser directly? Try 1.1.1.1 live if you have internet.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say "it asks DNS". Push them: would you really ask the internet every single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if possible: chrome://net-internals/#dns, or ipconfig /displaydns on Windows.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reason about why a single server is impossible: scale, and a single point of failure for the entire internet.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postal analogy: country, then city, then street. Reading a domain right-to-left is exactly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Lecture 1. This is the slide that makes load balancing finally make sense.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phone-call analogy usually gets them to "hello, can you hear me" — which is exactly the handshake.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cost: this round trip happens before the request is even sent. It is why connection reuse matters.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question is the one students never think of — authentication matters as much as encryption.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padlock in the browser live and show a real certificate. It takes ten seconds and makes it concrete.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justifies connection reuse, HTTP/2, and CDNs in one picture. Do not rush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word idempotent here informally. It returns in the microservices and retries discussion.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502 and 504 are load balancer errors specifically — worth flagging, they will meet them in the lab.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Protocol column in DevTools Network tab — students can see h2 or h3 on real sites.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be able to draw this from memory. It is worth a full answer in any interview.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 out. This half is arithmetic and will appear in the quiz.</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hint example on the board: the average is 200 ms, and one user in ten had an awful experience.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famously targets p99.9 rather than averages. Mention that SLAs are always written in percentiles.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callback to Lecture 2 round 4. Microservices have a measurable latency cost, and this is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sanity-check any design against this table. If a design needs 50 sequential cross-country trips, it is wrong.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0.999^5 on the board. Students consistently guess the answer is still about 99.9%.</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real two minutes with pen and paper. Then collect answers before revealing.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the number, it is that the number changes the design. Say that explicitly.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nslookup exercise usually produces different IPs across students — a perfect live demonstration of GeoDNS.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4766310" y="491490"/>
            <a:ext cx="2377440" cy="457200"/>
          </a:xfrm>
          <a:prstGeom prst="roundRect">
            <a:avLst>
              <a:gd name="adj" fmla="val 44000"/>
            </a:avLst>
          </a:prstGeom>
          <a:solidFill>
            <a:srgbClr val="1D3D52"/>
          </a:solidFill>
          <a:ln/>
        </p:spPr>
        <p:txBody>
          <a:bodyPr/>
          <a:lstStyle/>
          <a:p>
            <a:endParaRPr lang="en-US" sz="2800" dirty="0"/>
          </a:p>
        </p:txBody>
      </p:sp>
      <p:sp>
        <p:nvSpPr>
          <p:cNvPr id="3" name="Text 1"/>
          <p:cNvSpPr/>
          <p:nvPr/>
        </p:nvSpPr>
        <p:spPr>
          <a:xfrm>
            <a:off x="4766310" y="491490"/>
            <a:ext cx="2377440" cy="457200"/>
          </a:xfrm>
          <a:prstGeom prst="rect">
            <a:avLst/>
          </a:prstGeom>
          <a:noFill/>
          <a:ln/>
        </p:spPr>
        <p:txBody>
          <a:bodyPr wrap="square" rtlCol="0" anchor="ctr"/>
          <a:lstStyle/>
          <a:p>
            <a:pPr marL="0" indent="0" algn="ctr">
              <a:buNone/>
            </a:pPr>
            <a:r>
              <a:rPr lang="en-US" b="1" kern="0" spc="200" dirty="0">
                <a:solidFill>
                  <a:srgbClr val="E8A33D"/>
                </a:solidFill>
                <a:latin typeface="Calibri" pitchFamily="34" charset="0"/>
                <a:ea typeface="Calibri" pitchFamily="34" charset="-122"/>
                <a:cs typeface="Calibri" pitchFamily="34" charset="-120"/>
              </a:rPr>
              <a:t>LECTURE 4</a:t>
            </a:r>
            <a:endParaRPr lang="en-US" dirty="0"/>
          </a:p>
        </p:txBody>
      </p:sp>
      <p:sp>
        <p:nvSpPr>
          <p:cNvPr id="4" name="Text 2"/>
          <p:cNvSpPr/>
          <p:nvPr/>
        </p:nvSpPr>
        <p:spPr>
          <a:xfrm>
            <a:off x="822960" y="1783080"/>
            <a:ext cx="9601200" cy="1828800"/>
          </a:xfrm>
          <a:prstGeom prst="rect">
            <a:avLst/>
          </a:prstGeom>
          <a:noFill/>
          <a:ln/>
        </p:spPr>
        <p:txBody>
          <a:bodyPr wrap="square" rtlCol="0" anchor="ctr"/>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Press Enter,</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Then Count</a:t>
            </a:r>
            <a:endParaRPr lang="en-US" sz="4600" dirty="0"/>
          </a:p>
        </p:txBody>
      </p:sp>
      <p:sp>
        <p:nvSpPr>
          <p:cNvPr id="5" name="Text 3"/>
          <p:cNvSpPr/>
          <p:nvPr/>
        </p:nvSpPr>
        <p:spPr>
          <a:xfrm>
            <a:off x="822960" y="3749040"/>
            <a:ext cx="10058400" cy="1097280"/>
          </a:xfrm>
          <a:prstGeom prst="rect">
            <a:avLst/>
          </a:prstGeom>
          <a:noFill/>
          <a:ln/>
        </p:spPr>
        <p:txBody>
          <a:bodyPr wrap="square" rtlCol="0" anchor="ctr"/>
          <a:lstStyle/>
          <a:p>
            <a:pPr marL="0" indent="0">
              <a:lnSpc>
                <a:spcPts val="2800"/>
              </a:lnSpc>
              <a:buNone/>
            </a:pPr>
            <a:r>
              <a:rPr lang="en-US" sz="1800" dirty="0">
                <a:solidFill>
                  <a:srgbClr val="9AD1D4"/>
                </a:solidFill>
                <a:latin typeface="Calibri" pitchFamily="34" charset="0"/>
                <a:ea typeface="Calibri" pitchFamily="34" charset="-122"/>
                <a:cs typeface="Calibri" pitchFamily="34" charset="-120"/>
              </a:rPr>
              <a:t>First half: how a request even finds Amazon.</a:t>
            </a:r>
            <a:endParaRPr lang="en-US" sz="1800" dirty="0"/>
          </a:p>
          <a:p>
            <a:pPr marL="0" indent="0">
              <a:lnSpc>
                <a:spcPts val="2800"/>
              </a:lnSpc>
              <a:buNone/>
            </a:pPr>
            <a:r>
              <a:rPr lang="en-US" sz="1800" dirty="0">
                <a:solidFill>
                  <a:srgbClr val="9AD1D4"/>
                </a:solidFill>
                <a:latin typeface="Calibri" pitchFamily="34" charset="0"/>
                <a:ea typeface="Calibri" pitchFamily="34" charset="-122"/>
                <a:cs typeface="Calibri" pitchFamily="34" charset="-120"/>
              </a:rPr>
              <a:t>Second half: the numbers every engineer is expected to know.</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Today's Plan</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Two halves, roughly equal time</a:t>
            </a:r>
            <a:endParaRPr lang="en-US" sz="1500" dirty="0"/>
          </a:p>
        </p:txBody>
      </p:sp>
      <p:sp>
        <p:nvSpPr>
          <p:cNvPr id="4" name="Shape 2"/>
          <p:cNvSpPr/>
          <p:nvPr/>
        </p:nvSpPr>
        <p:spPr>
          <a:xfrm>
            <a:off x="777240" y="1600200"/>
            <a:ext cx="5212080" cy="731520"/>
          </a:xfrm>
          <a:prstGeom prst="roundRect">
            <a:avLst>
              <a:gd name="adj" fmla="val 7500"/>
            </a:avLst>
          </a:prstGeom>
          <a:solidFill>
            <a:srgbClr val="065A82"/>
          </a:solidFill>
          <a:ln/>
        </p:spPr>
        <p:txBody>
          <a:bodyPr/>
          <a:lstStyle/>
          <a:p>
            <a:endParaRPr lang="en-US"/>
          </a:p>
        </p:txBody>
      </p:sp>
      <p:sp>
        <p:nvSpPr>
          <p:cNvPr id="5" name="Text 3"/>
          <p:cNvSpPr/>
          <p:nvPr/>
        </p:nvSpPr>
        <p:spPr>
          <a:xfrm>
            <a:off x="777240" y="1600200"/>
            <a:ext cx="5212080" cy="7315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Part 1  —  The Journey</a:t>
            </a:r>
            <a:endParaRPr lang="en-US" sz="1700" dirty="0"/>
          </a:p>
        </p:txBody>
      </p:sp>
      <p:sp>
        <p:nvSpPr>
          <p:cNvPr id="6" name="Shape 4"/>
          <p:cNvSpPr/>
          <p:nvPr/>
        </p:nvSpPr>
        <p:spPr>
          <a:xfrm>
            <a:off x="6172200" y="1600200"/>
            <a:ext cx="5212080" cy="731520"/>
          </a:xfrm>
          <a:prstGeom prst="roundRect">
            <a:avLst>
              <a:gd name="adj" fmla="val 7500"/>
            </a:avLst>
          </a:prstGeom>
          <a:solidFill>
            <a:srgbClr val="6B4E71"/>
          </a:solidFill>
          <a:ln/>
        </p:spPr>
        <p:txBody>
          <a:bodyPr/>
          <a:lstStyle/>
          <a:p>
            <a:endParaRPr lang="en-US"/>
          </a:p>
        </p:txBody>
      </p:sp>
      <p:sp>
        <p:nvSpPr>
          <p:cNvPr id="7" name="Text 5"/>
          <p:cNvSpPr/>
          <p:nvPr/>
        </p:nvSpPr>
        <p:spPr>
          <a:xfrm>
            <a:off x="6172200" y="1600200"/>
            <a:ext cx="5212080" cy="7315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Part 2  —  The Numbers</a:t>
            </a:r>
            <a:endParaRPr lang="en-US" sz="1700" dirty="0"/>
          </a:p>
        </p:txBody>
      </p:sp>
      <p:sp>
        <p:nvSpPr>
          <p:cNvPr id="8" name="Shape 6"/>
          <p:cNvSpPr/>
          <p:nvPr/>
        </p:nvSpPr>
        <p:spPr>
          <a:xfrm>
            <a:off x="777240" y="2468880"/>
            <a:ext cx="5212080" cy="3291840"/>
          </a:xfrm>
          <a:prstGeom prst="roundRect">
            <a:avLst>
              <a:gd name="adj" fmla="val 1667"/>
            </a:avLst>
          </a:prstGeom>
          <a:solidFill>
            <a:srgbClr val="F4F7F9"/>
          </a:solidFill>
          <a:ln w="12700">
            <a:solidFill>
              <a:srgbClr val="E1E8ED"/>
            </a:solidFill>
            <a:prstDash val="solid"/>
          </a:ln>
        </p:spPr>
        <p:txBody>
          <a:bodyPr/>
          <a:lstStyle/>
          <a:p>
            <a:endParaRPr lang="en-US"/>
          </a:p>
        </p:txBody>
      </p:sp>
      <p:sp>
        <p:nvSpPr>
          <p:cNvPr id="9" name="Text 7"/>
          <p:cNvSpPr/>
          <p:nvPr/>
        </p:nvSpPr>
        <p:spPr>
          <a:xfrm>
            <a:off x="1033272" y="265176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What happens when you press Enter</a:t>
            </a:r>
            <a:endParaRPr lang="en-US" sz="1550" dirty="0"/>
          </a:p>
        </p:txBody>
      </p:sp>
      <p:sp>
        <p:nvSpPr>
          <p:cNvPr id="10" name="Text 8"/>
          <p:cNvSpPr/>
          <p:nvPr/>
        </p:nvSpPr>
        <p:spPr>
          <a:xfrm>
            <a:off x="1033272" y="3044952"/>
            <a:ext cx="4754880" cy="25146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Where the browser looks for the IP first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DNS: root, TLD and authoritative servers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TCP handshake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TLS handshake, and why HTTPS matters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HTTP request and response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Why one name can mean many servers</a:t>
            </a:r>
            <a:endParaRPr lang="en-US" sz="1250" dirty="0"/>
          </a:p>
        </p:txBody>
      </p:sp>
      <p:sp>
        <p:nvSpPr>
          <p:cNvPr id="11" name="Shape 9"/>
          <p:cNvSpPr/>
          <p:nvPr/>
        </p:nvSpPr>
        <p:spPr>
          <a:xfrm>
            <a:off x="6172200" y="2468880"/>
            <a:ext cx="5212080" cy="3291840"/>
          </a:xfrm>
          <a:prstGeom prst="roundRect">
            <a:avLst>
              <a:gd name="adj" fmla="val 1667"/>
            </a:avLst>
          </a:prstGeom>
          <a:solidFill>
            <a:srgbClr val="F3EEF5"/>
          </a:solidFill>
          <a:ln w="12700">
            <a:solidFill>
              <a:srgbClr val="E1E8ED"/>
            </a:solidFill>
            <a:prstDash val="solid"/>
          </a:ln>
        </p:spPr>
        <p:txBody>
          <a:bodyPr/>
          <a:lstStyle/>
          <a:p>
            <a:endParaRPr lang="en-US"/>
          </a:p>
        </p:txBody>
      </p:sp>
      <p:sp>
        <p:nvSpPr>
          <p:cNvPr id="12" name="Text 10"/>
          <p:cNvSpPr/>
          <p:nvPr/>
        </p:nvSpPr>
        <p:spPr>
          <a:xfrm>
            <a:off x="6428232" y="265176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The numbers you are expected to know</a:t>
            </a:r>
            <a:endParaRPr lang="en-US" sz="1550" dirty="0"/>
          </a:p>
        </p:txBody>
      </p:sp>
      <p:sp>
        <p:nvSpPr>
          <p:cNvPr id="13" name="Text 11"/>
          <p:cNvSpPr/>
          <p:nvPr/>
        </p:nvSpPr>
        <p:spPr>
          <a:xfrm>
            <a:off x="6428232" y="3044952"/>
            <a:ext cx="4754880" cy="25146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Why the average latency lies to you</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p50, p95 and p99 — and tail amplification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Latency figures worth memorising</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Availability arithmetic, done properly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Back-of-the-envelope estimation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full worked example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Where We Left Off</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Last lecture had a gap at the very start, and someone should have noticed</a:t>
            </a:r>
            <a:endParaRPr lang="en-US" sz="1500" dirty="0"/>
          </a:p>
        </p:txBody>
      </p:sp>
      <p:sp>
        <p:nvSpPr>
          <p:cNvPr id="4" name="Shape 2"/>
          <p:cNvSpPr/>
          <p:nvPr/>
        </p:nvSpPr>
        <p:spPr>
          <a:xfrm>
            <a:off x="777240" y="1508760"/>
            <a:ext cx="10607040" cy="822960"/>
          </a:xfrm>
          <a:prstGeom prst="roundRect">
            <a:avLst>
              <a:gd name="adj" fmla="val 6667"/>
            </a:avLst>
          </a:prstGeom>
          <a:solidFill>
            <a:srgbClr val="13293D"/>
          </a:solidFill>
          <a:ln/>
        </p:spPr>
        <p:txBody>
          <a:bodyPr/>
          <a:lstStyle/>
          <a:p>
            <a:endParaRPr lang="en-US"/>
          </a:p>
        </p:txBody>
      </p:sp>
      <p:sp>
        <p:nvSpPr>
          <p:cNvPr id="5" name="Text 3"/>
          <p:cNvSpPr/>
          <p:nvPr/>
        </p:nvSpPr>
        <p:spPr>
          <a:xfrm>
            <a:off x="1097280" y="1508760"/>
            <a:ext cx="10058400" cy="82296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The Amazon flow began with "the request leaves the browser and arrives at Amazon's backend." But how did it know where Amazon is? A request cannot travel to a name. It travels to a number.</a:t>
            </a:r>
            <a:endParaRPr lang="en-US" sz="1550" dirty="0"/>
          </a:p>
        </p:txBody>
      </p:sp>
      <p:sp>
        <p:nvSpPr>
          <p:cNvPr id="6" name="Shape 4"/>
          <p:cNvSpPr/>
          <p:nvPr/>
        </p:nvSpPr>
        <p:spPr>
          <a:xfrm>
            <a:off x="777240" y="2606040"/>
            <a:ext cx="5212080" cy="2286000"/>
          </a:xfrm>
          <a:prstGeom prst="roundRect">
            <a:avLst>
              <a:gd name="adj" fmla="val 2400"/>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33272" y="2788920"/>
            <a:ext cx="4754880" cy="365760"/>
          </a:xfrm>
          <a:prstGeom prst="rect">
            <a:avLst/>
          </a:prstGeom>
          <a:noFill/>
          <a:ln/>
        </p:spPr>
        <p:txBody>
          <a:bodyPr wrap="square" lIns="0" tIns="0" rIns="0" bIns="0" rtlCol="0" anchor="ctr"/>
          <a:lstStyle/>
          <a:p>
            <a:pPr marL="0" indent="0">
              <a:buNone/>
            </a:pPr>
            <a:r>
              <a:rPr lang="en-US" sz="1550" b="1" dirty="0">
                <a:solidFill>
                  <a:srgbClr val="1C7293"/>
                </a:solidFill>
                <a:latin typeface="Calibri" pitchFamily="34" charset="0"/>
                <a:ea typeface="Calibri" pitchFamily="34" charset="-122"/>
                <a:cs typeface="Calibri" pitchFamily="34" charset="-120"/>
              </a:rPr>
              <a:t>What you type</a:t>
            </a:r>
            <a:endParaRPr lang="en-US" sz="1550" dirty="0"/>
          </a:p>
        </p:txBody>
      </p:sp>
      <p:sp>
        <p:nvSpPr>
          <p:cNvPr id="8" name="Text 6"/>
          <p:cNvSpPr/>
          <p:nvPr/>
        </p:nvSpPr>
        <p:spPr>
          <a:xfrm>
            <a:off x="1033272" y="318211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amazon.in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name, meant for humans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Easy to remember, easy to print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Completely useless to the network</a:t>
            </a:r>
            <a:endParaRPr lang="en-US" sz="1250" dirty="0"/>
          </a:p>
        </p:txBody>
      </p:sp>
      <p:sp>
        <p:nvSpPr>
          <p:cNvPr id="9" name="Shape 7"/>
          <p:cNvSpPr/>
          <p:nvPr/>
        </p:nvSpPr>
        <p:spPr>
          <a:xfrm>
            <a:off x="6172200" y="2606040"/>
            <a:ext cx="5212080" cy="2286000"/>
          </a:xfrm>
          <a:prstGeom prst="roundRect">
            <a:avLst>
              <a:gd name="adj" fmla="val 2400"/>
            </a:avLst>
          </a:prstGeom>
          <a:solidFill>
            <a:srgbClr val="EEF6F7"/>
          </a:solidFill>
          <a:ln w="12700">
            <a:solidFill>
              <a:srgbClr val="E1E8ED"/>
            </a:solidFill>
            <a:prstDash val="solid"/>
          </a:ln>
        </p:spPr>
        <p:txBody>
          <a:bodyPr/>
          <a:lstStyle/>
          <a:p>
            <a:endParaRPr lang="en-US"/>
          </a:p>
        </p:txBody>
      </p:sp>
      <p:sp>
        <p:nvSpPr>
          <p:cNvPr id="10" name="Text 8"/>
          <p:cNvSpPr/>
          <p:nvPr/>
        </p:nvSpPr>
        <p:spPr>
          <a:xfrm>
            <a:off x="6428232" y="278892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What the network needs</a:t>
            </a:r>
            <a:endParaRPr lang="en-US" sz="1550" dirty="0"/>
          </a:p>
        </p:txBody>
      </p:sp>
      <p:sp>
        <p:nvSpPr>
          <p:cNvPr id="11" name="Text 9"/>
          <p:cNvSpPr/>
          <p:nvPr/>
        </p:nvSpPr>
        <p:spPr>
          <a:xfrm>
            <a:off x="6428232" y="318211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52.94.236.248</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An IP address, meant for routers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Impossible to remember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only thing that actually works</a:t>
            </a:r>
            <a:endParaRPr lang="en-US" sz="1250" dirty="0"/>
          </a:p>
        </p:txBody>
      </p:sp>
      <p:sp>
        <p:nvSpPr>
          <p:cNvPr id="12" name="Text 10"/>
          <p:cNvSpPr/>
          <p:nvPr/>
        </p:nvSpPr>
        <p:spPr>
          <a:xfrm>
            <a:off x="777240" y="5120640"/>
            <a:ext cx="10607040" cy="50292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Something must translate one into the other, in a few milliseconds, for every website on earth. That system is DNS.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1</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 press Enter on amazon.in. Your browser needs an IP address before it can send a single byte anywhere.</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Does it ask the internet straight away</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 or does it check somewhere closer first?</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You visited this site yesterday. Does that change your answer?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It Checks Four Places First</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fastest DNS lookup is the one that never happens</a:t>
            </a:r>
            <a:endParaRPr lang="en-US" sz="1500" dirty="0"/>
          </a:p>
        </p:txBody>
      </p:sp>
      <p:sp>
        <p:nvSpPr>
          <p:cNvPr id="4" name="Shape 2"/>
          <p:cNvSpPr/>
          <p:nvPr/>
        </p:nvSpPr>
        <p:spPr>
          <a:xfrm>
            <a:off x="777240" y="1600200"/>
            <a:ext cx="10607040" cy="731520"/>
          </a:xfrm>
          <a:prstGeom prst="roundRect">
            <a:avLst>
              <a:gd name="adj" fmla="val 6250"/>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1005840" y="1764792"/>
            <a:ext cx="402336" cy="402336"/>
          </a:xfrm>
          <a:prstGeom prst="ellipse">
            <a:avLst/>
          </a:prstGeom>
          <a:solidFill>
            <a:srgbClr val="1C7293"/>
          </a:solidFill>
          <a:ln/>
        </p:spPr>
        <p:txBody>
          <a:bodyPr/>
          <a:lstStyle/>
          <a:p>
            <a:endParaRPr lang="en-US"/>
          </a:p>
        </p:txBody>
      </p:sp>
      <p:sp>
        <p:nvSpPr>
          <p:cNvPr id="6" name="Text 4"/>
          <p:cNvSpPr/>
          <p:nvPr/>
        </p:nvSpPr>
        <p:spPr>
          <a:xfrm>
            <a:off x="1005840" y="176479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00200" y="1600200"/>
            <a:ext cx="301752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Browser cache</a:t>
            </a:r>
            <a:endParaRPr lang="en-US" sz="1500" dirty="0"/>
          </a:p>
        </p:txBody>
      </p:sp>
      <p:sp>
        <p:nvSpPr>
          <p:cNvPr id="8" name="Text 6"/>
          <p:cNvSpPr/>
          <p:nvPr/>
        </p:nvSpPr>
        <p:spPr>
          <a:xfrm>
            <a:off x="4663440" y="1600200"/>
            <a:ext cx="5212080" cy="73152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Chrome remembers recent lookups itself</a:t>
            </a:r>
            <a:endParaRPr lang="en-US" sz="1250" dirty="0"/>
          </a:p>
        </p:txBody>
      </p:sp>
      <p:sp>
        <p:nvSpPr>
          <p:cNvPr id="9" name="Text 7"/>
          <p:cNvSpPr/>
          <p:nvPr/>
        </p:nvSpPr>
        <p:spPr>
          <a:xfrm>
            <a:off x="9875520" y="1600200"/>
            <a:ext cx="1371600" cy="731520"/>
          </a:xfrm>
          <a:prstGeom prst="rect">
            <a:avLst/>
          </a:prstGeom>
          <a:noFill/>
          <a:ln/>
        </p:spPr>
        <p:txBody>
          <a:bodyPr wrap="square" lIns="0" tIns="0" rIns="0" bIns="0" rtlCol="0" anchor="ctr"/>
          <a:lstStyle/>
          <a:p>
            <a:pPr marL="0" indent="0" algn="r">
              <a:buNone/>
            </a:pPr>
            <a:r>
              <a:rPr lang="en-US" sz="1300" b="1" dirty="0">
                <a:solidFill>
                  <a:srgbClr val="1C7293"/>
                </a:solidFill>
                <a:latin typeface="Calibri" pitchFamily="34" charset="0"/>
                <a:ea typeface="Calibri" pitchFamily="34" charset="-122"/>
                <a:cs typeface="Calibri" pitchFamily="34" charset="-120"/>
              </a:rPr>
              <a:t>0 ms</a:t>
            </a:r>
            <a:endParaRPr lang="en-US" sz="1300" dirty="0"/>
          </a:p>
        </p:txBody>
      </p:sp>
      <p:sp>
        <p:nvSpPr>
          <p:cNvPr id="10" name="Shape 8"/>
          <p:cNvSpPr/>
          <p:nvPr/>
        </p:nvSpPr>
        <p:spPr>
          <a:xfrm>
            <a:off x="777240" y="2441448"/>
            <a:ext cx="10607040" cy="731520"/>
          </a:xfrm>
          <a:prstGeom prst="roundRect">
            <a:avLst>
              <a:gd name="adj" fmla="val 6250"/>
            </a:avLst>
          </a:prstGeom>
          <a:solidFill>
            <a:srgbClr val="F4F7F9"/>
          </a:solidFill>
          <a:ln w="12700">
            <a:solidFill>
              <a:srgbClr val="E1E8ED"/>
            </a:solidFill>
            <a:prstDash val="solid"/>
          </a:ln>
        </p:spPr>
        <p:txBody>
          <a:bodyPr/>
          <a:lstStyle/>
          <a:p>
            <a:endParaRPr lang="en-US"/>
          </a:p>
        </p:txBody>
      </p:sp>
      <p:sp>
        <p:nvSpPr>
          <p:cNvPr id="11" name="Shape 9"/>
          <p:cNvSpPr/>
          <p:nvPr/>
        </p:nvSpPr>
        <p:spPr>
          <a:xfrm>
            <a:off x="1005840" y="2606040"/>
            <a:ext cx="402336" cy="402336"/>
          </a:xfrm>
          <a:prstGeom prst="ellipse">
            <a:avLst/>
          </a:prstGeom>
          <a:solidFill>
            <a:srgbClr val="065A82"/>
          </a:solidFill>
          <a:ln/>
        </p:spPr>
        <p:txBody>
          <a:bodyPr/>
          <a:lstStyle/>
          <a:p>
            <a:endParaRPr lang="en-US"/>
          </a:p>
        </p:txBody>
      </p:sp>
      <p:sp>
        <p:nvSpPr>
          <p:cNvPr id="12" name="Text 10"/>
          <p:cNvSpPr/>
          <p:nvPr/>
        </p:nvSpPr>
        <p:spPr>
          <a:xfrm>
            <a:off x="1005840" y="2606040"/>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600200" y="2441448"/>
            <a:ext cx="301752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Operating system cache</a:t>
            </a:r>
            <a:endParaRPr lang="en-US" sz="1500" dirty="0"/>
          </a:p>
        </p:txBody>
      </p:sp>
      <p:sp>
        <p:nvSpPr>
          <p:cNvPr id="14" name="Text 12"/>
          <p:cNvSpPr/>
          <p:nvPr/>
        </p:nvSpPr>
        <p:spPr>
          <a:xfrm>
            <a:off x="4663440" y="2441448"/>
            <a:ext cx="5212080" cy="73152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The OS keeps its own copy, plus the hosts file</a:t>
            </a:r>
            <a:endParaRPr lang="en-US" sz="1250" dirty="0"/>
          </a:p>
        </p:txBody>
      </p:sp>
      <p:sp>
        <p:nvSpPr>
          <p:cNvPr id="15" name="Text 13"/>
          <p:cNvSpPr/>
          <p:nvPr/>
        </p:nvSpPr>
        <p:spPr>
          <a:xfrm>
            <a:off x="9875520" y="2441448"/>
            <a:ext cx="1371600" cy="73152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0 ms</a:t>
            </a:r>
            <a:endParaRPr lang="en-US" sz="1300" dirty="0"/>
          </a:p>
        </p:txBody>
      </p:sp>
      <p:sp>
        <p:nvSpPr>
          <p:cNvPr id="16" name="Shape 14"/>
          <p:cNvSpPr/>
          <p:nvPr/>
        </p:nvSpPr>
        <p:spPr>
          <a:xfrm>
            <a:off x="777240" y="3282696"/>
            <a:ext cx="10607040" cy="731520"/>
          </a:xfrm>
          <a:prstGeom prst="roundRect">
            <a:avLst>
              <a:gd name="adj" fmla="val 6250"/>
            </a:avLst>
          </a:prstGeom>
          <a:solidFill>
            <a:srgbClr val="FFFFFF"/>
          </a:solidFill>
          <a:ln w="12700">
            <a:solidFill>
              <a:srgbClr val="E1E8ED"/>
            </a:solidFill>
            <a:prstDash val="solid"/>
          </a:ln>
        </p:spPr>
        <p:txBody>
          <a:bodyPr/>
          <a:lstStyle/>
          <a:p>
            <a:endParaRPr lang="en-US"/>
          </a:p>
        </p:txBody>
      </p:sp>
      <p:sp>
        <p:nvSpPr>
          <p:cNvPr id="17" name="Shape 15"/>
          <p:cNvSpPr/>
          <p:nvPr/>
        </p:nvSpPr>
        <p:spPr>
          <a:xfrm>
            <a:off x="1005840" y="3447288"/>
            <a:ext cx="402336" cy="402336"/>
          </a:xfrm>
          <a:prstGeom prst="ellipse">
            <a:avLst/>
          </a:prstGeom>
          <a:solidFill>
            <a:srgbClr val="6B4E71"/>
          </a:solidFill>
          <a:ln/>
        </p:spPr>
        <p:txBody>
          <a:bodyPr/>
          <a:lstStyle/>
          <a:p>
            <a:endParaRPr lang="en-US"/>
          </a:p>
        </p:txBody>
      </p:sp>
      <p:sp>
        <p:nvSpPr>
          <p:cNvPr id="18" name="Text 16"/>
          <p:cNvSpPr/>
          <p:nvPr/>
        </p:nvSpPr>
        <p:spPr>
          <a:xfrm>
            <a:off x="1005840" y="3447288"/>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00200" y="3282696"/>
            <a:ext cx="301752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Your router</a:t>
            </a:r>
            <a:endParaRPr lang="en-US" sz="1500" dirty="0"/>
          </a:p>
        </p:txBody>
      </p:sp>
      <p:sp>
        <p:nvSpPr>
          <p:cNvPr id="20" name="Text 18"/>
          <p:cNvSpPr/>
          <p:nvPr/>
        </p:nvSpPr>
        <p:spPr>
          <a:xfrm>
            <a:off x="4663440" y="3282696"/>
            <a:ext cx="5212080" cy="73152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Home routers cache for every device on the wifi</a:t>
            </a:r>
            <a:endParaRPr lang="en-US" sz="1250" dirty="0"/>
          </a:p>
        </p:txBody>
      </p:sp>
      <p:sp>
        <p:nvSpPr>
          <p:cNvPr id="21" name="Text 19"/>
          <p:cNvSpPr/>
          <p:nvPr/>
        </p:nvSpPr>
        <p:spPr>
          <a:xfrm>
            <a:off x="9875520" y="3282696"/>
            <a:ext cx="1371600" cy="731520"/>
          </a:xfrm>
          <a:prstGeom prst="rect">
            <a:avLst/>
          </a:prstGeom>
          <a:noFill/>
          <a:ln/>
        </p:spPr>
        <p:txBody>
          <a:bodyPr wrap="square" lIns="0" tIns="0" rIns="0" bIns="0" rtlCol="0" anchor="ctr"/>
          <a:lstStyle/>
          <a:p>
            <a:pPr marL="0" indent="0" algn="r">
              <a:buNone/>
            </a:pPr>
            <a:r>
              <a:rPr lang="en-US" sz="1300" b="1" dirty="0">
                <a:solidFill>
                  <a:srgbClr val="6B4E71"/>
                </a:solidFill>
                <a:latin typeface="Calibri" pitchFamily="34" charset="0"/>
                <a:ea typeface="Calibri" pitchFamily="34" charset="-122"/>
                <a:cs typeface="Calibri" pitchFamily="34" charset="-120"/>
              </a:rPr>
              <a:t>~1 ms</a:t>
            </a:r>
            <a:endParaRPr lang="en-US" sz="1300" dirty="0"/>
          </a:p>
        </p:txBody>
      </p:sp>
      <p:sp>
        <p:nvSpPr>
          <p:cNvPr id="22" name="Shape 20"/>
          <p:cNvSpPr/>
          <p:nvPr/>
        </p:nvSpPr>
        <p:spPr>
          <a:xfrm>
            <a:off x="777240" y="4123944"/>
            <a:ext cx="10607040" cy="731520"/>
          </a:xfrm>
          <a:prstGeom prst="roundRect">
            <a:avLst>
              <a:gd name="adj" fmla="val 6250"/>
            </a:avLst>
          </a:prstGeom>
          <a:solidFill>
            <a:srgbClr val="F4F7F9"/>
          </a:solidFill>
          <a:ln w="12700">
            <a:solidFill>
              <a:srgbClr val="E1E8ED"/>
            </a:solidFill>
            <a:prstDash val="solid"/>
          </a:ln>
        </p:spPr>
        <p:txBody>
          <a:bodyPr/>
          <a:lstStyle/>
          <a:p>
            <a:endParaRPr lang="en-US"/>
          </a:p>
        </p:txBody>
      </p:sp>
      <p:sp>
        <p:nvSpPr>
          <p:cNvPr id="23" name="Shape 21"/>
          <p:cNvSpPr/>
          <p:nvPr/>
        </p:nvSpPr>
        <p:spPr>
          <a:xfrm>
            <a:off x="1005840" y="4288536"/>
            <a:ext cx="402336" cy="402336"/>
          </a:xfrm>
          <a:prstGeom prst="ellipse">
            <a:avLst/>
          </a:prstGeom>
          <a:solidFill>
            <a:srgbClr val="13293D"/>
          </a:solidFill>
          <a:ln/>
        </p:spPr>
        <p:txBody>
          <a:bodyPr/>
          <a:lstStyle/>
          <a:p>
            <a:endParaRPr lang="en-US"/>
          </a:p>
        </p:txBody>
      </p:sp>
      <p:sp>
        <p:nvSpPr>
          <p:cNvPr id="24" name="Text 22"/>
          <p:cNvSpPr/>
          <p:nvPr/>
        </p:nvSpPr>
        <p:spPr>
          <a:xfrm>
            <a:off x="1005840" y="4288536"/>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600200" y="4123944"/>
            <a:ext cx="301752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ISP resolver</a:t>
            </a:r>
            <a:endParaRPr lang="en-US" sz="1500" dirty="0"/>
          </a:p>
        </p:txBody>
      </p:sp>
      <p:sp>
        <p:nvSpPr>
          <p:cNvPr id="26" name="Text 24"/>
          <p:cNvSpPr/>
          <p:nvPr/>
        </p:nvSpPr>
        <p:spPr>
          <a:xfrm>
            <a:off x="4663440" y="4123944"/>
            <a:ext cx="5212080" cy="73152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Jio or Airtel’s server — caches for millions of users</a:t>
            </a:r>
            <a:endParaRPr lang="en-US" sz="1250" dirty="0"/>
          </a:p>
        </p:txBody>
      </p:sp>
      <p:sp>
        <p:nvSpPr>
          <p:cNvPr id="27" name="Text 25"/>
          <p:cNvSpPr/>
          <p:nvPr/>
        </p:nvSpPr>
        <p:spPr>
          <a:xfrm>
            <a:off x="9875520" y="4123944"/>
            <a:ext cx="1371600" cy="731520"/>
          </a:xfrm>
          <a:prstGeom prst="rect">
            <a:avLst/>
          </a:prstGeom>
          <a:noFill/>
          <a:ln/>
        </p:spPr>
        <p:txBody>
          <a:bodyPr wrap="square" lIns="0" tIns="0" rIns="0" bIns="0" rtlCol="0" anchor="ctr"/>
          <a:lstStyle/>
          <a:p>
            <a:pPr marL="0" indent="0" algn="r">
              <a:buNone/>
            </a:pPr>
            <a:r>
              <a:rPr lang="en-US" sz="1300" b="1" dirty="0">
                <a:solidFill>
                  <a:srgbClr val="13293D"/>
                </a:solidFill>
                <a:latin typeface="Calibri" pitchFamily="34" charset="0"/>
                <a:ea typeface="Calibri" pitchFamily="34" charset="-122"/>
                <a:cs typeface="Calibri" pitchFamily="34" charset="-120"/>
              </a:rPr>
              <a:t>~10 ms</a:t>
            </a:r>
            <a:endParaRPr lang="en-US" sz="1300" dirty="0"/>
          </a:p>
        </p:txBody>
      </p:sp>
      <p:sp>
        <p:nvSpPr>
          <p:cNvPr id="28" name="Shape 26"/>
          <p:cNvSpPr/>
          <p:nvPr/>
        </p:nvSpPr>
        <p:spPr>
          <a:xfrm>
            <a:off x="777240" y="4965192"/>
            <a:ext cx="10607040" cy="731520"/>
          </a:xfrm>
          <a:prstGeom prst="roundRect">
            <a:avLst>
              <a:gd name="adj" fmla="val 6250"/>
            </a:avLst>
          </a:prstGeom>
          <a:solidFill>
            <a:srgbClr val="FDF0EE"/>
          </a:solidFill>
          <a:ln w="12700">
            <a:solidFill>
              <a:srgbClr val="E1E8ED"/>
            </a:solidFill>
            <a:prstDash val="solid"/>
          </a:ln>
        </p:spPr>
        <p:txBody>
          <a:bodyPr/>
          <a:lstStyle/>
          <a:p>
            <a:endParaRPr lang="en-US"/>
          </a:p>
        </p:txBody>
      </p:sp>
      <p:sp>
        <p:nvSpPr>
          <p:cNvPr id="29" name="Shape 27"/>
          <p:cNvSpPr/>
          <p:nvPr/>
        </p:nvSpPr>
        <p:spPr>
          <a:xfrm>
            <a:off x="1005840" y="5129784"/>
            <a:ext cx="402336" cy="402336"/>
          </a:xfrm>
          <a:prstGeom prst="ellipse">
            <a:avLst/>
          </a:prstGeom>
          <a:solidFill>
            <a:srgbClr val="A03A3A"/>
          </a:solidFill>
          <a:ln/>
        </p:spPr>
        <p:txBody>
          <a:bodyPr/>
          <a:lstStyle/>
          <a:p>
            <a:endParaRPr lang="en-US"/>
          </a:p>
        </p:txBody>
      </p:sp>
      <p:sp>
        <p:nvSpPr>
          <p:cNvPr id="30" name="Text 28"/>
          <p:cNvSpPr/>
          <p:nvPr/>
        </p:nvSpPr>
        <p:spPr>
          <a:xfrm>
            <a:off x="1005840" y="5129784"/>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600200" y="4965192"/>
            <a:ext cx="301752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The full DNS hierarchy</a:t>
            </a:r>
            <a:endParaRPr lang="en-US" sz="1500" dirty="0"/>
          </a:p>
        </p:txBody>
      </p:sp>
      <p:sp>
        <p:nvSpPr>
          <p:cNvPr id="32" name="Text 30"/>
          <p:cNvSpPr/>
          <p:nvPr/>
        </p:nvSpPr>
        <p:spPr>
          <a:xfrm>
            <a:off x="4663440" y="4965192"/>
            <a:ext cx="5212080" cy="73152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Only if all four above came up empty</a:t>
            </a:r>
            <a:endParaRPr lang="en-US" sz="1250" dirty="0"/>
          </a:p>
        </p:txBody>
      </p:sp>
      <p:sp>
        <p:nvSpPr>
          <p:cNvPr id="33" name="Text 31"/>
          <p:cNvSpPr/>
          <p:nvPr/>
        </p:nvSpPr>
        <p:spPr>
          <a:xfrm>
            <a:off x="9875520" y="4965192"/>
            <a:ext cx="1371600" cy="731520"/>
          </a:xfrm>
          <a:prstGeom prst="rect">
            <a:avLst/>
          </a:prstGeom>
          <a:noFill/>
          <a:ln/>
        </p:spPr>
        <p:txBody>
          <a:bodyPr wrap="square" lIns="0" tIns="0" rIns="0" bIns="0" rtlCol="0" anchor="ctr"/>
          <a:lstStyle/>
          <a:p>
            <a:pPr marL="0" indent="0" algn="r">
              <a:buNone/>
            </a:pPr>
            <a:r>
              <a:rPr lang="en-US" sz="1300" b="1" dirty="0">
                <a:solidFill>
                  <a:srgbClr val="A03A3A"/>
                </a:solidFill>
                <a:latin typeface="Calibri" pitchFamily="34" charset="0"/>
                <a:ea typeface="Calibri" pitchFamily="34" charset="-122"/>
                <a:cs typeface="Calibri" pitchFamily="34" charset="-120"/>
              </a:rPr>
              <a:t>~50–200 ms</a:t>
            </a:r>
            <a:endParaRPr lang="en-US" sz="1300" dirty="0"/>
          </a:p>
        </p:txBody>
      </p:sp>
      <p:sp>
        <p:nvSpPr>
          <p:cNvPr id="34" name="Text 32"/>
          <p:cNvSpPr/>
          <p:nvPr/>
        </p:nvSpPr>
        <p:spPr>
          <a:xfrm>
            <a:off x="777240" y="5852160"/>
            <a:ext cx="10607040" cy="411480"/>
          </a:xfrm>
          <a:prstGeom prst="rect">
            <a:avLst/>
          </a:prstGeom>
          <a:noFill/>
          <a:ln/>
        </p:spPr>
        <p:txBody>
          <a:bodyPr wrap="square" lIns="0" tIns="0" rIns="0" bIns="0" rtlCol="0" anchor="ctr"/>
          <a:lstStyle/>
          <a:p>
            <a:pPr marL="0" indent="0">
              <a:buNone/>
            </a:pPr>
            <a:r>
              <a:rPr lang="en-US" sz="1400" i="1" dirty="0">
                <a:solidFill>
                  <a:srgbClr val="065A82"/>
                </a:solidFill>
                <a:latin typeface="Calibri" pitchFamily="34" charset="0"/>
                <a:ea typeface="Calibri" pitchFamily="34" charset="-122"/>
                <a:cs typeface="Calibri" pitchFamily="34" charset="-120"/>
              </a:rPr>
              <a:t>This is the same caching idea as Redis and the CDN from last lecture — applied to names instead of data.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2</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Nobody has it cached. This is a genuinely fresh lookup. There are over 350 million domain names in the world.</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Is there one giant server</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that holds all of them?</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If yes, what happens when it goes down? If no, how is the work divided?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The Work Is Split Into Three Levels</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Nobody knows everything; everybody knows who to ask next</a:t>
            </a:r>
            <a:endParaRPr lang="en-US" sz="1500" dirty="0"/>
          </a:p>
        </p:txBody>
      </p:sp>
      <p:sp>
        <p:nvSpPr>
          <p:cNvPr id="4" name="Shape 2"/>
          <p:cNvSpPr/>
          <p:nvPr/>
        </p:nvSpPr>
        <p:spPr>
          <a:xfrm>
            <a:off x="777240" y="1508760"/>
            <a:ext cx="10607040" cy="822960"/>
          </a:xfrm>
          <a:prstGeom prst="roundRect">
            <a:avLst>
              <a:gd name="adj" fmla="val 6667"/>
            </a:avLst>
          </a:prstGeom>
          <a:solidFill>
            <a:srgbClr val="13293D"/>
          </a:solidFill>
          <a:ln/>
        </p:spPr>
        <p:txBody>
          <a:bodyPr/>
          <a:lstStyle/>
          <a:p>
            <a:endParaRPr lang="en-US"/>
          </a:p>
        </p:txBody>
      </p:sp>
      <p:sp>
        <p:nvSpPr>
          <p:cNvPr id="5" name="Text 3"/>
          <p:cNvSpPr/>
          <p:nvPr/>
        </p:nvSpPr>
        <p:spPr>
          <a:xfrm>
            <a:off x="1097280" y="1508760"/>
            <a:ext cx="10058400" cy="82296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DNS is a hierarchy, like a postal address read backwards. The root knows who handles .in. The .in server knows who handles amazon.in. Amazon’s own server knows the actual IP.</a:t>
            </a:r>
            <a:endParaRPr lang="en-US" sz="1550" dirty="0"/>
          </a:p>
        </p:txBody>
      </p:sp>
      <p:sp>
        <p:nvSpPr>
          <p:cNvPr id="6" name="Shape 4"/>
          <p:cNvSpPr/>
          <p:nvPr/>
        </p:nvSpPr>
        <p:spPr>
          <a:xfrm>
            <a:off x="777240" y="2651760"/>
            <a:ext cx="3337560" cy="2286000"/>
          </a:xfrm>
          <a:prstGeom prst="roundRect">
            <a:avLst>
              <a:gd name="adj" fmla="val 2800"/>
            </a:avLst>
          </a:prstGeom>
          <a:solidFill>
            <a:srgbClr val="6B4E71"/>
          </a:solidFill>
          <a:ln/>
        </p:spPr>
        <p:txBody>
          <a:bodyPr/>
          <a:lstStyle/>
          <a:p>
            <a:endParaRPr lang="en-US"/>
          </a:p>
        </p:txBody>
      </p:sp>
      <p:sp>
        <p:nvSpPr>
          <p:cNvPr id="7" name="Text 5"/>
          <p:cNvSpPr/>
          <p:nvPr/>
        </p:nvSpPr>
        <p:spPr>
          <a:xfrm>
            <a:off x="1005840" y="2880360"/>
            <a:ext cx="288036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Root servers</a:t>
            </a:r>
            <a:endParaRPr lang="en-US" sz="1900" dirty="0"/>
          </a:p>
        </p:txBody>
      </p:sp>
      <p:sp>
        <p:nvSpPr>
          <p:cNvPr id="8" name="Text 6"/>
          <p:cNvSpPr/>
          <p:nvPr/>
        </p:nvSpPr>
        <p:spPr>
          <a:xfrm>
            <a:off x="1005840" y="3429000"/>
            <a:ext cx="2880360" cy="822960"/>
          </a:xfrm>
          <a:prstGeom prst="rect">
            <a:avLst/>
          </a:prstGeom>
          <a:noFill/>
          <a:ln/>
        </p:spPr>
        <p:txBody>
          <a:bodyPr wrap="square" lIns="0" tIns="0" rIns="0" bIns="0" rtlCol="0" anchor="ctr"/>
          <a:lstStyle/>
          <a:p>
            <a:pPr marL="0" indent="0">
              <a:lnSpc>
                <a:spcPts val="1800"/>
              </a:lnSpc>
              <a:buNone/>
            </a:pPr>
            <a:r>
              <a:rPr lang="en-US" sz="1300" dirty="0">
                <a:solidFill>
                  <a:srgbClr val="DCEAEF"/>
                </a:solidFill>
                <a:latin typeface="Calibri" pitchFamily="34" charset="0"/>
                <a:ea typeface="Calibri" pitchFamily="34" charset="-122"/>
                <a:cs typeface="Calibri" pitchFamily="34" charset="-120"/>
              </a:rPr>
              <a:t>Knows every top-level domain: .com, .in, .org</a:t>
            </a:r>
            <a:endParaRPr lang="en-US" sz="1300" dirty="0"/>
          </a:p>
        </p:txBody>
      </p:sp>
      <p:sp>
        <p:nvSpPr>
          <p:cNvPr id="9" name="Text 7"/>
          <p:cNvSpPr/>
          <p:nvPr/>
        </p:nvSpPr>
        <p:spPr>
          <a:xfrm>
            <a:off x="1005840" y="4315968"/>
            <a:ext cx="2880360" cy="502920"/>
          </a:xfrm>
          <a:prstGeom prst="rect">
            <a:avLst/>
          </a:prstGeom>
          <a:noFill/>
          <a:ln/>
        </p:spPr>
        <p:txBody>
          <a:bodyPr wrap="square" lIns="0" tIns="0" rIns="0" bIns="0" rtlCol="0" anchor="ctr"/>
          <a:lstStyle/>
          <a:p>
            <a:pPr marL="0" indent="0">
              <a:lnSpc>
                <a:spcPts val="1500"/>
              </a:lnSpc>
              <a:buNone/>
            </a:pPr>
            <a:r>
              <a:rPr lang="en-US" sz="1150" i="1" dirty="0">
                <a:solidFill>
                  <a:srgbClr val="E8A33D"/>
                </a:solidFill>
                <a:latin typeface="Calibri" pitchFamily="34" charset="0"/>
                <a:ea typeface="Calibri" pitchFamily="34" charset="-122"/>
                <a:cs typeface="Calibri" pitchFamily="34" charset="-120"/>
              </a:rPr>
              <a:t>13 addresses worldwide, heavily replicated</a:t>
            </a:r>
            <a:endParaRPr lang="en-US" sz="1150" dirty="0"/>
          </a:p>
        </p:txBody>
      </p:sp>
      <p:sp>
        <p:nvSpPr>
          <p:cNvPr id="10" name="Shape 8"/>
          <p:cNvSpPr/>
          <p:nvPr/>
        </p:nvSpPr>
        <p:spPr>
          <a:xfrm>
            <a:off x="4389120" y="2651760"/>
            <a:ext cx="3337560" cy="2286000"/>
          </a:xfrm>
          <a:prstGeom prst="roundRect">
            <a:avLst>
              <a:gd name="adj" fmla="val 2800"/>
            </a:avLst>
          </a:prstGeom>
          <a:solidFill>
            <a:srgbClr val="2B4257"/>
          </a:solidFill>
          <a:ln/>
        </p:spPr>
        <p:txBody>
          <a:bodyPr/>
          <a:lstStyle/>
          <a:p>
            <a:endParaRPr lang="en-US"/>
          </a:p>
        </p:txBody>
      </p:sp>
      <p:sp>
        <p:nvSpPr>
          <p:cNvPr id="11" name="Text 9"/>
          <p:cNvSpPr/>
          <p:nvPr/>
        </p:nvSpPr>
        <p:spPr>
          <a:xfrm>
            <a:off x="4617720" y="2880360"/>
            <a:ext cx="288036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TLD servers</a:t>
            </a:r>
            <a:endParaRPr lang="en-US" sz="1900" dirty="0"/>
          </a:p>
        </p:txBody>
      </p:sp>
      <p:sp>
        <p:nvSpPr>
          <p:cNvPr id="12" name="Text 10"/>
          <p:cNvSpPr/>
          <p:nvPr/>
        </p:nvSpPr>
        <p:spPr>
          <a:xfrm>
            <a:off x="4617720" y="3429000"/>
            <a:ext cx="2880360" cy="822960"/>
          </a:xfrm>
          <a:prstGeom prst="rect">
            <a:avLst/>
          </a:prstGeom>
          <a:noFill/>
          <a:ln/>
        </p:spPr>
        <p:txBody>
          <a:bodyPr wrap="square" lIns="0" tIns="0" rIns="0" bIns="0" rtlCol="0" anchor="ctr"/>
          <a:lstStyle/>
          <a:p>
            <a:pPr marL="0" indent="0">
              <a:lnSpc>
                <a:spcPts val="1800"/>
              </a:lnSpc>
              <a:buNone/>
            </a:pPr>
            <a:r>
              <a:rPr lang="en-US" sz="1300" dirty="0">
                <a:solidFill>
                  <a:srgbClr val="DCEAEF"/>
                </a:solidFill>
                <a:latin typeface="Calibri" pitchFamily="34" charset="0"/>
                <a:ea typeface="Calibri" pitchFamily="34" charset="-122"/>
                <a:cs typeface="Calibri" pitchFamily="34" charset="-120"/>
              </a:rPr>
              <a:t>Knows every domain ending in .in</a:t>
            </a:r>
            <a:endParaRPr lang="en-US" sz="1300" dirty="0"/>
          </a:p>
        </p:txBody>
      </p:sp>
      <p:sp>
        <p:nvSpPr>
          <p:cNvPr id="13" name="Text 11"/>
          <p:cNvSpPr/>
          <p:nvPr/>
        </p:nvSpPr>
        <p:spPr>
          <a:xfrm>
            <a:off x="4617720" y="4315968"/>
            <a:ext cx="2880360" cy="502920"/>
          </a:xfrm>
          <a:prstGeom prst="rect">
            <a:avLst/>
          </a:prstGeom>
          <a:noFill/>
          <a:ln/>
        </p:spPr>
        <p:txBody>
          <a:bodyPr wrap="square" lIns="0" tIns="0" rIns="0" bIns="0" rtlCol="0" anchor="ctr"/>
          <a:lstStyle/>
          <a:p>
            <a:pPr marL="0" indent="0">
              <a:lnSpc>
                <a:spcPts val="1500"/>
              </a:lnSpc>
              <a:buNone/>
            </a:pPr>
            <a:r>
              <a:rPr lang="en-US" sz="1150" i="1" dirty="0">
                <a:solidFill>
                  <a:srgbClr val="E8A33D"/>
                </a:solidFill>
                <a:latin typeface="Calibri" pitchFamily="34" charset="0"/>
                <a:ea typeface="Calibri" pitchFamily="34" charset="-122"/>
                <a:cs typeface="Calibri" pitchFamily="34" charset="-120"/>
              </a:rPr>
              <a:t>Run by the .in registry</a:t>
            </a:r>
            <a:endParaRPr lang="en-US" sz="1150" dirty="0"/>
          </a:p>
        </p:txBody>
      </p:sp>
      <p:sp>
        <p:nvSpPr>
          <p:cNvPr id="14" name="Shape 12"/>
          <p:cNvSpPr/>
          <p:nvPr/>
        </p:nvSpPr>
        <p:spPr>
          <a:xfrm>
            <a:off x="8001000" y="2651760"/>
            <a:ext cx="3337560" cy="2286000"/>
          </a:xfrm>
          <a:prstGeom prst="roundRect">
            <a:avLst>
              <a:gd name="adj" fmla="val 2800"/>
            </a:avLst>
          </a:prstGeom>
          <a:solidFill>
            <a:srgbClr val="2E7D5B"/>
          </a:solidFill>
          <a:ln/>
        </p:spPr>
        <p:txBody>
          <a:bodyPr/>
          <a:lstStyle/>
          <a:p>
            <a:endParaRPr lang="en-US"/>
          </a:p>
        </p:txBody>
      </p:sp>
      <p:sp>
        <p:nvSpPr>
          <p:cNvPr id="15" name="Text 13"/>
          <p:cNvSpPr/>
          <p:nvPr/>
        </p:nvSpPr>
        <p:spPr>
          <a:xfrm>
            <a:off x="8229600" y="2880360"/>
            <a:ext cx="288036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Authoritative servers</a:t>
            </a:r>
            <a:endParaRPr lang="en-US" sz="1900" dirty="0"/>
          </a:p>
        </p:txBody>
      </p:sp>
      <p:sp>
        <p:nvSpPr>
          <p:cNvPr id="16" name="Text 14"/>
          <p:cNvSpPr/>
          <p:nvPr/>
        </p:nvSpPr>
        <p:spPr>
          <a:xfrm>
            <a:off x="8229600" y="3429000"/>
            <a:ext cx="2880360" cy="822960"/>
          </a:xfrm>
          <a:prstGeom prst="rect">
            <a:avLst/>
          </a:prstGeom>
          <a:noFill/>
          <a:ln/>
        </p:spPr>
        <p:txBody>
          <a:bodyPr wrap="square" lIns="0" tIns="0" rIns="0" bIns="0" rtlCol="0" anchor="ctr"/>
          <a:lstStyle/>
          <a:p>
            <a:pPr marL="0" indent="0">
              <a:lnSpc>
                <a:spcPts val="1800"/>
              </a:lnSpc>
              <a:buNone/>
            </a:pPr>
            <a:r>
              <a:rPr lang="en-US" sz="1300" dirty="0">
                <a:solidFill>
                  <a:srgbClr val="DCEAEF"/>
                </a:solidFill>
                <a:latin typeface="Calibri" pitchFamily="34" charset="0"/>
                <a:ea typeface="Calibri" pitchFamily="34" charset="-122"/>
                <a:cs typeface="Calibri" pitchFamily="34" charset="-120"/>
              </a:rPr>
              <a:t>Knows the real IPs for amazon.in</a:t>
            </a:r>
            <a:endParaRPr lang="en-US" sz="1300" dirty="0"/>
          </a:p>
        </p:txBody>
      </p:sp>
      <p:sp>
        <p:nvSpPr>
          <p:cNvPr id="17" name="Text 15"/>
          <p:cNvSpPr/>
          <p:nvPr/>
        </p:nvSpPr>
        <p:spPr>
          <a:xfrm>
            <a:off x="8229600" y="4315968"/>
            <a:ext cx="2880360" cy="502920"/>
          </a:xfrm>
          <a:prstGeom prst="rect">
            <a:avLst/>
          </a:prstGeom>
          <a:noFill/>
          <a:ln/>
        </p:spPr>
        <p:txBody>
          <a:bodyPr wrap="square" lIns="0" tIns="0" rIns="0" bIns="0" rtlCol="0" anchor="ctr"/>
          <a:lstStyle/>
          <a:p>
            <a:pPr marL="0" indent="0">
              <a:lnSpc>
                <a:spcPts val="1500"/>
              </a:lnSpc>
              <a:buNone/>
            </a:pPr>
            <a:r>
              <a:rPr lang="en-US" sz="1150" i="1" dirty="0">
                <a:solidFill>
                  <a:srgbClr val="E8A33D"/>
                </a:solidFill>
                <a:latin typeface="Calibri" pitchFamily="34" charset="0"/>
                <a:ea typeface="Calibri" pitchFamily="34" charset="-122"/>
                <a:cs typeface="Calibri" pitchFamily="34" charset="-120"/>
              </a:rPr>
              <a:t>Run by Amazon itself</a:t>
            </a:r>
            <a:endParaRPr lang="en-US" sz="1150" dirty="0"/>
          </a:p>
        </p:txBody>
      </p:sp>
      <p:sp>
        <p:nvSpPr>
          <p:cNvPr id="18" name="Text 16"/>
          <p:cNvSpPr/>
          <p:nvPr/>
        </p:nvSpPr>
        <p:spPr>
          <a:xfrm>
            <a:off x="777240" y="516636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resolver does all the running around. Your browser asks exactly one question and waits.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503920" cy="548640"/>
          </a:xfrm>
          <a:prstGeom prst="rect">
            <a:avLst/>
          </a:prstGeom>
          <a:noFill/>
          <a:ln/>
        </p:spPr>
        <p:txBody>
          <a:bodyPr wrap="square" lIns="0" tIns="0" rIns="0" bIns="0" rtlCol="0" anchor="ctr"/>
          <a:lstStyle/>
          <a:p>
            <a:pPr marL="0" indent="0">
              <a:buNone/>
            </a:pPr>
            <a:r>
              <a:rPr lang="en-US" sz="2700" b="1" dirty="0">
                <a:solidFill>
                  <a:srgbClr val="13293D"/>
                </a:solidFill>
                <a:latin typeface="Cambria" pitchFamily="34" charset="0"/>
                <a:ea typeface="Cambria" pitchFamily="34" charset="-122"/>
                <a:cs typeface="Cambria" pitchFamily="34" charset="-120"/>
              </a:rPr>
              <a:t>Your browser asks one question</a:t>
            </a:r>
            <a:endParaRPr lang="en-US" sz="2700" dirty="0"/>
          </a:p>
        </p:txBody>
      </p:sp>
      <p:sp>
        <p:nvSpPr>
          <p:cNvPr id="3" name="Shape 1"/>
          <p:cNvSpPr/>
          <p:nvPr/>
        </p:nvSpPr>
        <p:spPr>
          <a:xfrm>
            <a:off x="9509760" y="365760"/>
            <a:ext cx="1874520" cy="457200"/>
          </a:xfrm>
          <a:prstGeom prst="roundRect">
            <a:avLst>
              <a:gd name="adj" fmla="val 40000"/>
            </a:avLst>
          </a:prstGeom>
          <a:solidFill>
            <a:srgbClr val="13293D"/>
          </a:solidFill>
          <a:ln/>
        </p:spPr>
        <p:txBody>
          <a:bodyPr/>
          <a:lstStyle/>
          <a:p>
            <a:endParaRPr lang="en-US"/>
          </a:p>
        </p:txBody>
      </p:sp>
      <p:sp>
        <p:nvSpPr>
          <p:cNvPr id="4" name="Text 2"/>
          <p:cNvSpPr/>
          <p:nvPr/>
        </p:nvSpPr>
        <p:spPr>
          <a:xfrm>
            <a:off x="9509760" y="365760"/>
            <a:ext cx="1874520" cy="457200"/>
          </a:xfrm>
          <a:prstGeom prst="rect">
            <a:avLst/>
          </a:prstGeom>
          <a:noFill/>
          <a:ln/>
        </p:spPr>
        <p:txBody>
          <a:bodyPr wrap="square" rtlCol="0" anchor="ctr"/>
          <a:lstStyle/>
          <a:p>
            <a:pPr marL="0" indent="0" algn="ctr">
              <a:buNone/>
            </a:pPr>
            <a:r>
              <a:rPr lang="en-US" sz="1200" b="1" dirty="0">
                <a:solidFill>
                  <a:srgbClr val="E8A33D"/>
                </a:solidFill>
                <a:latin typeface="Calibri" pitchFamily="34" charset="0"/>
                <a:ea typeface="Calibri" pitchFamily="34" charset="-122"/>
                <a:cs typeface="Calibri" pitchFamily="34" charset="-120"/>
              </a:rPr>
              <a:t>Step 1 of 5</a:t>
            </a:r>
            <a:endParaRPr lang="en-US" sz="1200" dirty="0"/>
          </a:p>
        </p:txBody>
      </p:sp>
      <p:sp>
        <p:nvSpPr>
          <p:cNvPr id="5" name="Text 3"/>
          <p:cNvSpPr/>
          <p:nvPr/>
        </p:nvSpPr>
        <p:spPr>
          <a:xfrm>
            <a:off x="658368" y="896112"/>
            <a:ext cx="10607040" cy="365760"/>
          </a:xfrm>
          <a:prstGeom prst="rect">
            <a:avLst/>
          </a:prstGeom>
          <a:noFill/>
          <a:ln/>
        </p:spPr>
        <p:txBody>
          <a:bodyPr wrap="square" lIns="0" tIns="0" rIns="0" bIns="0" rtlCol="0" anchor="ctr"/>
          <a:lstStyle/>
          <a:p>
            <a:pPr marL="0" indent="0">
              <a:buNone/>
            </a:pPr>
            <a:r>
              <a:rPr lang="en-US" sz="1450" i="1" dirty="0">
                <a:solidFill>
                  <a:srgbClr val="5A6B76"/>
                </a:solidFill>
                <a:latin typeface="Calibri" pitchFamily="34" charset="0"/>
                <a:ea typeface="Calibri" pitchFamily="34" charset="-122"/>
                <a:cs typeface="Calibri" pitchFamily="34" charset="-120"/>
              </a:rPr>
              <a:t>It hands the whole problem to the ISP resolver and waits.</a:t>
            </a:r>
            <a:endParaRPr lang="en-US" sz="1450" dirty="0"/>
          </a:p>
        </p:txBody>
      </p:sp>
      <p:sp>
        <p:nvSpPr>
          <p:cNvPr id="6" name="Shape 4"/>
          <p:cNvSpPr/>
          <p:nvPr/>
        </p:nvSpPr>
        <p:spPr>
          <a:xfrm>
            <a:off x="640080" y="2606040"/>
            <a:ext cx="2011680" cy="822960"/>
          </a:xfrm>
          <a:prstGeom prst="roundRect">
            <a:avLst>
              <a:gd name="adj" fmla="val 6667"/>
            </a:avLst>
          </a:prstGeom>
          <a:solidFill>
            <a:srgbClr val="1C7293"/>
          </a:solidFill>
          <a:ln/>
        </p:spPr>
        <p:txBody>
          <a:bodyPr/>
          <a:lstStyle/>
          <a:p>
            <a:endParaRPr lang="en-US"/>
          </a:p>
        </p:txBody>
      </p:sp>
      <p:sp>
        <p:nvSpPr>
          <p:cNvPr id="7" name="Text 5"/>
          <p:cNvSpPr/>
          <p:nvPr/>
        </p:nvSpPr>
        <p:spPr>
          <a:xfrm>
            <a:off x="640080" y="2724912"/>
            <a:ext cx="201168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Your browser</a:t>
            </a:r>
            <a:endParaRPr lang="en-US" sz="1350" dirty="0"/>
          </a:p>
        </p:txBody>
      </p:sp>
      <p:sp>
        <p:nvSpPr>
          <p:cNvPr id="8" name="Text 6"/>
          <p:cNvSpPr/>
          <p:nvPr/>
        </p:nvSpPr>
        <p:spPr>
          <a:xfrm>
            <a:off x="640080" y="3026664"/>
            <a:ext cx="201168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wants an IP</a:t>
            </a:r>
            <a:endParaRPr lang="en-US" sz="950" dirty="0"/>
          </a:p>
        </p:txBody>
      </p:sp>
      <p:sp>
        <p:nvSpPr>
          <p:cNvPr id="9" name="Shape 7"/>
          <p:cNvSpPr/>
          <p:nvPr/>
        </p:nvSpPr>
        <p:spPr>
          <a:xfrm>
            <a:off x="3566160" y="2606040"/>
            <a:ext cx="2377440" cy="822960"/>
          </a:xfrm>
          <a:prstGeom prst="roundRect">
            <a:avLst>
              <a:gd name="adj" fmla="val 6667"/>
            </a:avLst>
          </a:prstGeom>
          <a:solidFill>
            <a:srgbClr val="065A82"/>
          </a:solidFill>
          <a:ln/>
        </p:spPr>
        <p:txBody>
          <a:bodyPr/>
          <a:lstStyle/>
          <a:p>
            <a:endParaRPr lang="en-US"/>
          </a:p>
        </p:txBody>
      </p:sp>
      <p:sp>
        <p:nvSpPr>
          <p:cNvPr id="10" name="Text 8"/>
          <p:cNvSpPr/>
          <p:nvPr/>
        </p:nvSpPr>
        <p:spPr>
          <a:xfrm>
            <a:off x="3566160" y="2724912"/>
            <a:ext cx="237744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ISP resolver</a:t>
            </a:r>
            <a:endParaRPr lang="en-US" sz="1350" dirty="0"/>
          </a:p>
        </p:txBody>
      </p:sp>
      <p:sp>
        <p:nvSpPr>
          <p:cNvPr id="11" name="Text 9"/>
          <p:cNvSpPr/>
          <p:nvPr/>
        </p:nvSpPr>
        <p:spPr>
          <a:xfrm>
            <a:off x="3566160" y="3026664"/>
            <a:ext cx="237744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does the legwork</a:t>
            </a:r>
            <a:endParaRPr lang="en-US" sz="950" dirty="0"/>
          </a:p>
        </p:txBody>
      </p:sp>
      <p:sp>
        <p:nvSpPr>
          <p:cNvPr id="12" name="Shape 10"/>
          <p:cNvSpPr/>
          <p:nvPr/>
        </p:nvSpPr>
        <p:spPr>
          <a:xfrm>
            <a:off x="7589520" y="1371600"/>
            <a:ext cx="2743200" cy="822960"/>
          </a:xfrm>
          <a:prstGeom prst="roundRect">
            <a:avLst>
              <a:gd name="adj" fmla="val 6667"/>
            </a:avLst>
          </a:prstGeom>
          <a:solidFill>
            <a:srgbClr val="DFE7EB"/>
          </a:solidFill>
          <a:ln/>
        </p:spPr>
        <p:txBody>
          <a:bodyPr/>
          <a:lstStyle/>
          <a:p>
            <a:endParaRPr lang="en-US"/>
          </a:p>
        </p:txBody>
      </p:sp>
      <p:sp>
        <p:nvSpPr>
          <p:cNvPr id="13" name="Text 11"/>
          <p:cNvSpPr/>
          <p:nvPr/>
        </p:nvSpPr>
        <p:spPr>
          <a:xfrm>
            <a:off x="7589520" y="149047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Root nameserver</a:t>
            </a:r>
            <a:endParaRPr lang="en-US" sz="1350" dirty="0"/>
          </a:p>
        </p:txBody>
      </p:sp>
      <p:sp>
        <p:nvSpPr>
          <p:cNvPr id="14" name="Text 12"/>
          <p:cNvSpPr/>
          <p:nvPr/>
        </p:nvSpPr>
        <p:spPr>
          <a:xfrm>
            <a:off x="7589520" y="179222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knows every TLD</a:t>
            </a:r>
            <a:endParaRPr lang="en-US" sz="950" dirty="0"/>
          </a:p>
        </p:txBody>
      </p:sp>
      <p:sp>
        <p:nvSpPr>
          <p:cNvPr id="15" name="Shape 13"/>
          <p:cNvSpPr/>
          <p:nvPr/>
        </p:nvSpPr>
        <p:spPr>
          <a:xfrm>
            <a:off x="7589520" y="2606040"/>
            <a:ext cx="2743200" cy="822960"/>
          </a:xfrm>
          <a:prstGeom prst="roundRect">
            <a:avLst>
              <a:gd name="adj" fmla="val 6667"/>
            </a:avLst>
          </a:prstGeom>
          <a:solidFill>
            <a:srgbClr val="DFE7EB"/>
          </a:solidFill>
          <a:ln/>
        </p:spPr>
        <p:txBody>
          <a:bodyPr/>
          <a:lstStyle/>
          <a:p>
            <a:endParaRPr lang="en-US"/>
          </a:p>
        </p:txBody>
      </p:sp>
      <p:sp>
        <p:nvSpPr>
          <p:cNvPr id="16" name="Text 14"/>
          <p:cNvSpPr/>
          <p:nvPr/>
        </p:nvSpPr>
        <p:spPr>
          <a:xfrm>
            <a:off x="7589520" y="272491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.in nameserver</a:t>
            </a:r>
            <a:endParaRPr lang="en-US" sz="1350" dirty="0"/>
          </a:p>
        </p:txBody>
      </p:sp>
      <p:sp>
        <p:nvSpPr>
          <p:cNvPr id="17" name="Text 15"/>
          <p:cNvSpPr/>
          <p:nvPr/>
        </p:nvSpPr>
        <p:spPr>
          <a:xfrm>
            <a:off x="7589520" y="302666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knows every .in domain</a:t>
            </a:r>
            <a:endParaRPr lang="en-US" sz="950" dirty="0"/>
          </a:p>
        </p:txBody>
      </p:sp>
      <p:sp>
        <p:nvSpPr>
          <p:cNvPr id="18" name="Shape 16"/>
          <p:cNvSpPr/>
          <p:nvPr/>
        </p:nvSpPr>
        <p:spPr>
          <a:xfrm>
            <a:off x="7589520" y="3840480"/>
            <a:ext cx="2743200" cy="822960"/>
          </a:xfrm>
          <a:prstGeom prst="roundRect">
            <a:avLst>
              <a:gd name="adj" fmla="val 6667"/>
            </a:avLst>
          </a:prstGeom>
          <a:solidFill>
            <a:srgbClr val="DFE7EB"/>
          </a:solidFill>
          <a:ln/>
        </p:spPr>
        <p:txBody>
          <a:bodyPr/>
          <a:lstStyle/>
          <a:p>
            <a:endParaRPr lang="en-US"/>
          </a:p>
        </p:txBody>
      </p:sp>
      <p:sp>
        <p:nvSpPr>
          <p:cNvPr id="19" name="Text 17"/>
          <p:cNvSpPr/>
          <p:nvPr/>
        </p:nvSpPr>
        <p:spPr>
          <a:xfrm>
            <a:off x="7589520" y="395935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Amazon nameserver</a:t>
            </a:r>
            <a:endParaRPr lang="en-US" sz="1350" dirty="0"/>
          </a:p>
        </p:txBody>
      </p:sp>
      <p:sp>
        <p:nvSpPr>
          <p:cNvPr id="20" name="Text 18"/>
          <p:cNvSpPr/>
          <p:nvPr/>
        </p:nvSpPr>
        <p:spPr>
          <a:xfrm>
            <a:off x="7589520" y="426110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the authority</a:t>
            </a:r>
            <a:endParaRPr lang="en-US" sz="950" dirty="0"/>
          </a:p>
        </p:txBody>
      </p:sp>
      <p:sp>
        <p:nvSpPr>
          <p:cNvPr id="21" name="Shape 19"/>
          <p:cNvSpPr/>
          <p:nvPr/>
        </p:nvSpPr>
        <p:spPr>
          <a:xfrm>
            <a:off x="2697480" y="2926080"/>
            <a:ext cx="822960" cy="0"/>
          </a:xfrm>
          <a:prstGeom prst="line">
            <a:avLst/>
          </a:prstGeom>
          <a:noFill/>
          <a:ln w="38100">
            <a:solidFill>
              <a:srgbClr val="E8A33D"/>
            </a:solidFill>
            <a:prstDash val="solid"/>
            <a:headEnd type="none"/>
            <a:tailEnd type="triangle"/>
          </a:ln>
        </p:spPr>
        <p:txBody>
          <a:bodyPr/>
          <a:lstStyle/>
          <a:p>
            <a:endParaRPr lang="en-US"/>
          </a:p>
        </p:txBody>
      </p:sp>
      <p:sp>
        <p:nvSpPr>
          <p:cNvPr id="22" name="Text 20"/>
          <p:cNvSpPr/>
          <p:nvPr/>
        </p:nvSpPr>
        <p:spPr>
          <a:xfrm>
            <a:off x="2057400" y="3035808"/>
            <a:ext cx="210312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"amazon.in?"</a:t>
            </a:r>
            <a:endParaRPr lang="en-US" sz="950" dirty="0"/>
          </a:p>
        </p:txBody>
      </p:sp>
      <p:sp>
        <p:nvSpPr>
          <p:cNvPr id="23" name="Shape 21"/>
          <p:cNvSpPr/>
          <p:nvPr/>
        </p:nvSpPr>
        <p:spPr>
          <a:xfrm>
            <a:off x="2971800" y="2542032"/>
            <a:ext cx="292608" cy="292608"/>
          </a:xfrm>
          <a:prstGeom prst="ellipse">
            <a:avLst/>
          </a:prstGeom>
          <a:solidFill>
            <a:srgbClr val="E8A33D"/>
          </a:solidFill>
          <a:ln/>
        </p:spPr>
        <p:txBody>
          <a:bodyPr/>
          <a:lstStyle/>
          <a:p>
            <a:endParaRPr lang="en-US"/>
          </a:p>
        </p:txBody>
      </p:sp>
      <p:sp>
        <p:nvSpPr>
          <p:cNvPr id="24" name="Text 22"/>
          <p:cNvSpPr/>
          <p:nvPr/>
        </p:nvSpPr>
        <p:spPr>
          <a:xfrm>
            <a:off x="2971800" y="2542032"/>
            <a:ext cx="292608" cy="292608"/>
          </a:xfrm>
          <a:prstGeom prst="rect">
            <a:avLst/>
          </a:prstGeom>
          <a:noFill/>
          <a:ln/>
        </p:spPr>
        <p:txBody>
          <a:bodyPr wrap="square" rtlCol="0" anchor="ctr"/>
          <a:lstStyle/>
          <a:p>
            <a:pPr marL="0" indent="0" algn="ctr">
              <a:buNone/>
            </a:pPr>
            <a:r>
              <a:rPr lang="en-US" sz="1050" b="1" dirty="0">
                <a:solidFill>
                  <a:srgbClr val="13293D"/>
                </a:solidFill>
                <a:latin typeface="Calibri" pitchFamily="34" charset="0"/>
                <a:ea typeface="Calibri" pitchFamily="34" charset="-122"/>
                <a:cs typeface="Calibri" pitchFamily="34" charset="-120"/>
              </a:rPr>
              <a:t>1</a:t>
            </a:r>
            <a:endParaRPr lang="en-US" sz="1050" dirty="0"/>
          </a:p>
        </p:txBody>
      </p:sp>
      <p:sp>
        <p:nvSpPr>
          <p:cNvPr id="25" name="Shape 23"/>
          <p:cNvSpPr/>
          <p:nvPr/>
        </p:nvSpPr>
        <p:spPr>
          <a:xfrm>
            <a:off x="640080" y="5120640"/>
            <a:ext cx="10698480" cy="914400"/>
          </a:xfrm>
          <a:prstGeom prst="roundRect">
            <a:avLst>
              <a:gd name="adj" fmla="val 6000"/>
            </a:avLst>
          </a:prstGeom>
          <a:solidFill>
            <a:srgbClr val="F4F7F9"/>
          </a:solidFill>
          <a:ln w="15240">
            <a:solidFill>
              <a:srgbClr val="E1E8ED"/>
            </a:solidFill>
            <a:prstDash val="solid"/>
          </a:ln>
        </p:spPr>
        <p:txBody>
          <a:bodyPr/>
          <a:lstStyle/>
          <a:p>
            <a:endParaRPr lang="en-US"/>
          </a:p>
        </p:txBody>
      </p:sp>
      <p:sp>
        <p:nvSpPr>
          <p:cNvPr id="26" name="Text 24"/>
          <p:cNvSpPr/>
          <p:nvPr/>
        </p:nvSpPr>
        <p:spPr>
          <a:xfrm>
            <a:off x="960120" y="512064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resolver is usually your ISP’s, or a public one like 8.8.8.8 (Google) or 1.1.1.1 (Cloudflare). Everything that follows is the resolver working on your behalf.</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503920" cy="548640"/>
          </a:xfrm>
          <a:prstGeom prst="rect">
            <a:avLst/>
          </a:prstGeom>
          <a:noFill/>
          <a:ln/>
        </p:spPr>
        <p:txBody>
          <a:bodyPr wrap="square" lIns="0" tIns="0" rIns="0" bIns="0" rtlCol="0" anchor="ctr"/>
          <a:lstStyle/>
          <a:p>
            <a:pPr marL="0" indent="0">
              <a:buNone/>
            </a:pPr>
            <a:r>
              <a:rPr lang="en-US" sz="2700" b="1" dirty="0">
                <a:solidFill>
                  <a:srgbClr val="13293D"/>
                </a:solidFill>
                <a:latin typeface="Cambria" pitchFamily="34" charset="0"/>
                <a:ea typeface="Cambria" pitchFamily="34" charset="-122"/>
                <a:cs typeface="Cambria" pitchFamily="34" charset="-120"/>
              </a:rPr>
              <a:t>The resolver asks a root server</a:t>
            </a:r>
            <a:endParaRPr lang="en-US" sz="2700" dirty="0"/>
          </a:p>
        </p:txBody>
      </p:sp>
      <p:sp>
        <p:nvSpPr>
          <p:cNvPr id="3" name="Shape 1"/>
          <p:cNvSpPr/>
          <p:nvPr/>
        </p:nvSpPr>
        <p:spPr>
          <a:xfrm>
            <a:off x="9509760" y="365760"/>
            <a:ext cx="1874520" cy="457200"/>
          </a:xfrm>
          <a:prstGeom prst="roundRect">
            <a:avLst>
              <a:gd name="adj" fmla="val 40000"/>
            </a:avLst>
          </a:prstGeom>
          <a:solidFill>
            <a:srgbClr val="13293D"/>
          </a:solidFill>
          <a:ln/>
        </p:spPr>
        <p:txBody>
          <a:bodyPr/>
          <a:lstStyle/>
          <a:p>
            <a:endParaRPr lang="en-US"/>
          </a:p>
        </p:txBody>
      </p:sp>
      <p:sp>
        <p:nvSpPr>
          <p:cNvPr id="4" name="Text 2"/>
          <p:cNvSpPr/>
          <p:nvPr/>
        </p:nvSpPr>
        <p:spPr>
          <a:xfrm>
            <a:off x="9509760" y="365760"/>
            <a:ext cx="1874520" cy="457200"/>
          </a:xfrm>
          <a:prstGeom prst="rect">
            <a:avLst/>
          </a:prstGeom>
          <a:noFill/>
          <a:ln/>
        </p:spPr>
        <p:txBody>
          <a:bodyPr wrap="square" rtlCol="0" anchor="ctr"/>
          <a:lstStyle/>
          <a:p>
            <a:pPr marL="0" indent="0" algn="ctr">
              <a:buNone/>
            </a:pPr>
            <a:r>
              <a:rPr lang="en-US" sz="1200" b="1" dirty="0">
                <a:solidFill>
                  <a:srgbClr val="E8A33D"/>
                </a:solidFill>
                <a:latin typeface="Calibri" pitchFamily="34" charset="0"/>
                <a:ea typeface="Calibri" pitchFamily="34" charset="-122"/>
                <a:cs typeface="Calibri" pitchFamily="34" charset="-120"/>
              </a:rPr>
              <a:t>Step 2 of 5</a:t>
            </a:r>
            <a:endParaRPr lang="en-US" sz="1200" dirty="0"/>
          </a:p>
        </p:txBody>
      </p:sp>
      <p:sp>
        <p:nvSpPr>
          <p:cNvPr id="5" name="Text 3"/>
          <p:cNvSpPr/>
          <p:nvPr/>
        </p:nvSpPr>
        <p:spPr>
          <a:xfrm>
            <a:off x="658368" y="896112"/>
            <a:ext cx="10607040" cy="365760"/>
          </a:xfrm>
          <a:prstGeom prst="rect">
            <a:avLst/>
          </a:prstGeom>
          <a:noFill/>
          <a:ln/>
        </p:spPr>
        <p:txBody>
          <a:bodyPr wrap="square" lIns="0" tIns="0" rIns="0" bIns="0" rtlCol="0" anchor="ctr"/>
          <a:lstStyle/>
          <a:p>
            <a:pPr marL="0" indent="0">
              <a:buNone/>
            </a:pPr>
            <a:r>
              <a:rPr lang="en-US" sz="1450" i="1" dirty="0">
                <a:solidFill>
                  <a:srgbClr val="5A6B76"/>
                </a:solidFill>
                <a:latin typeface="Calibri" pitchFamily="34" charset="0"/>
                <a:ea typeface="Calibri" pitchFamily="34" charset="-122"/>
                <a:cs typeface="Calibri" pitchFamily="34" charset="-120"/>
              </a:rPr>
              <a:t>It does not know amazon.in. It knows who handles .in.</a:t>
            </a:r>
            <a:endParaRPr lang="en-US" sz="1450" dirty="0"/>
          </a:p>
        </p:txBody>
      </p:sp>
      <p:sp>
        <p:nvSpPr>
          <p:cNvPr id="6" name="Shape 4"/>
          <p:cNvSpPr/>
          <p:nvPr/>
        </p:nvSpPr>
        <p:spPr>
          <a:xfrm>
            <a:off x="640080" y="2606040"/>
            <a:ext cx="2011680" cy="822960"/>
          </a:xfrm>
          <a:prstGeom prst="roundRect">
            <a:avLst>
              <a:gd name="adj" fmla="val 6667"/>
            </a:avLst>
          </a:prstGeom>
          <a:solidFill>
            <a:srgbClr val="1C7293"/>
          </a:solidFill>
          <a:ln/>
        </p:spPr>
        <p:txBody>
          <a:bodyPr/>
          <a:lstStyle/>
          <a:p>
            <a:endParaRPr lang="en-US"/>
          </a:p>
        </p:txBody>
      </p:sp>
      <p:sp>
        <p:nvSpPr>
          <p:cNvPr id="7" name="Text 5"/>
          <p:cNvSpPr/>
          <p:nvPr/>
        </p:nvSpPr>
        <p:spPr>
          <a:xfrm>
            <a:off x="640080" y="2724912"/>
            <a:ext cx="201168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Your browser</a:t>
            </a:r>
            <a:endParaRPr lang="en-US" sz="1350" dirty="0"/>
          </a:p>
        </p:txBody>
      </p:sp>
      <p:sp>
        <p:nvSpPr>
          <p:cNvPr id="8" name="Text 6"/>
          <p:cNvSpPr/>
          <p:nvPr/>
        </p:nvSpPr>
        <p:spPr>
          <a:xfrm>
            <a:off x="640080" y="3026664"/>
            <a:ext cx="201168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wants an IP</a:t>
            </a:r>
            <a:endParaRPr lang="en-US" sz="950" dirty="0"/>
          </a:p>
        </p:txBody>
      </p:sp>
      <p:sp>
        <p:nvSpPr>
          <p:cNvPr id="9" name="Shape 7"/>
          <p:cNvSpPr/>
          <p:nvPr/>
        </p:nvSpPr>
        <p:spPr>
          <a:xfrm>
            <a:off x="3566160" y="2606040"/>
            <a:ext cx="2377440" cy="822960"/>
          </a:xfrm>
          <a:prstGeom prst="roundRect">
            <a:avLst>
              <a:gd name="adj" fmla="val 6667"/>
            </a:avLst>
          </a:prstGeom>
          <a:solidFill>
            <a:srgbClr val="065A82"/>
          </a:solidFill>
          <a:ln/>
        </p:spPr>
        <p:txBody>
          <a:bodyPr/>
          <a:lstStyle/>
          <a:p>
            <a:endParaRPr lang="en-US"/>
          </a:p>
        </p:txBody>
      </p:sp>
      <p:sp>
        <p:nvSpPr>
          <p:cNvPr id="10" name="Text 8"/>
          <p:cNvSpPr/>
          <p:nvPr/>
        </p:nvSpPr>
        <p:spPr>
          <a:xfrm>
            <a:off x="3566160" y="2724912"/>
            <a:ext cx="237744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ISP resolver</a:t>
            </a:r>
            <a:endParaRPr lang="en-US" sz="1350" dirty="0"/>
          </a:p>
        </p:txBody>
      </p:sp>
      <p:sp>
        <p:nvSpPr>
          <p:cNvPr id="11" name="Text 9"/>
          <p:cNvSpPr/>
          <p:nvPr/>
        </p:nvSpPr>
        <p:spPr>
          <a:xfrm>
            <a:off x="3566160" y="3026664"/>
            <a:ext cx="237744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does the legwork</a:t>
            </a:r>
            <a:endParaRPr lang="en-US" sz="950" dirty="0"/>
          </a:p>
        </p:txBody>
      </p:sp>
      <p:sp>
        <p:nvSpPr>
          <p:cNvPr id="12" name="Shape 10"/>
          <p:cNvSpPr/>
          <p:nvPr/>
        </p:nvSpPr>
        <p:spPr>
          <a:xfrm>
            <a:off x="7589520" y="1371600"/>
            <a:ext cx="2743200" cy="822960"/>
          </a:xfrm>
          <a:prstGeom prst="roundRect">
            <a:avLst>
              <a:gd name="adj" fmla="val 6667"/>
            </a:avLst>
          </a:prstGeom>
          <a:solidFill>
            <a:srgbClr val="6B4E71"/>
          </a:solidFill>
          <a:ln/>
        </p:spPr>
        <p:txBody>
          <a:bodyPr/>
          <a:lstStyle/>
          <a:p>
            <a:endParaRPr lang="en-US"/>
          </a:p>
        </p:txBody>
      </p:sp>
      <p:sp>
        <p:nvSpPr>
          <p:cNvPr id="13" name="Text 11"/>
          <p:cNvSpPr/>
          <p:nvPr/>
        </p:nvSpPr>
        <p:spPr>
          <a:xfrm>
            <a:off x="7589520" y="149047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Root nameserver</a:t>
            </a:r>
            <a:endParaRPr lang="en-US" sz="1350" dirty="0"/>
          </a:p>
        </p:txBody>
      </p:sp>
      <p:sp>
        <p:nvSpPr>
          <p:cNvPr id="14" name="Text 12"/>
          <p:cNvSpPr/>
          <p:nvPr/>
        </p:nvSpPr>
        <p:spPr>
          <a:xfrm>
            <a:off x="7589520" y="179222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TLD</a:t>
            </a:r>
            <a:endParaRPr lang="en-US" sz="950" dirty="0"/>
          </a:p>
        </p:txBody>
      </p:sp>
      <p:sp>
        <p:nvSpPr>
          <p:cNvPr id="15" name="Shape 13"/>
          <p:cNvSpPr/>
          <p:nvPr/>
        </p:nvSpPr>
        <p:spPr>
          <a:xfrm>
            <a:off x="7589520" y="2606040"/>
            <a:ext cx="2743200" cy="822960"/>
          </a:xfrm>
          <a:prstGeom prst="roundRect">
            <a:avLst>
              <a:gd name="adj" fmla="val 6667"/>
            </a:avLst>
          </a:prstGeom>
          <a:solidFill>
            <a:srgbClr val="DFE7EB"/>
          </a:solidFill>
          <a:ln/>
        </p:spPr>
        <p:txBody>
          <a:bodyPr/>
          <a:lstStyle/>
          <a:p>
            <a:endParaRPr lang="en-US"/>
          </a:p>
        </p:txBody>
      </p:sp>
      <p:sp>
        <p:nvSpPr>
          <p:cNvPr id="16" name="Text 14"/>
          <p:cNvSpPr/>
          <p:nvPr/>
        </p:nvSpPr>
        <p:spPr>
          <a:xfrm>
            <a:off x="7589520" y="272491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.in nameserver</a:t>
            </a:r>
            <a:endParaRPr lang="en-US" sz="1350" dirty="0"/>
          </a:p>
        </p:txBody>
      </p:sp>
      <p:sp>
        <p:nvSpPr>
          <p:cNvPr id="17" name="Text 15"/>
          <p:cNvSpPr/>
          <p:nvPr/>
        </p:nvSpPr>
        <p:spPr>
          <a:xfrm>
            <a:off x="7589520" y="302666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knows every .in domain</a:t>
            </a:r>
            <a:endParaRPr lang="en-US" sz="950" dirty="0"/>
          </a:p>
        </p:txBody>
      </p:sp>
      <p:sp>
        <p:nvSpPr>
          <p:cNvPr id="18" name="Shape 16"/>
          <p:cNvSpPr/>
          <p:nvPr/>
        </p:nvSpPr>
        <p:spPr>
          <a:xfrm>
            <a:off x="7589520" y="3840480"/>
            <a:ext cx="2743200" cy="822960"/>
          </a:xfrm>
          <a:prstGeom prst="roundRect">
            <a:avLst>
              <a:gd name="adj" fmla="val 6667"/>
            </a:avLst>
          </a:prstGeom>
          <a:solidFill>
            <a:srgbClr val="DFE7EB"/>
          </a:solidFill>
          <a:ln/>
        </p:spPr>
        <p:txBody>
          <a:bodyPr/>
          <a:lstStyle/>
          <a:p>
            <a:endParaRPr lang="en-US"/>
          </a:p>
        </p:txBody>
      </p:sp>
      <p:sp>
        <p:nvSpPr>
          <p:cNvPr id="19" name="Text 17"/>
          <p:cNvSpPr/>
          <p:nvPr/>
        </p:nvSpPr>
        <p:spPr>
          <a:xfrm>
            <a:off x="7589520" y="395935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Amazon nameserver</a:t>
            </a:r>
            <a:endParaRPr lang="en-US" sz="1350" dirty="0"/>
          </a:p>
        </p:txBody>
      </p:sp>
      <p:sp>
        <p:nvSpPr>
          <p:cNvPr id="20" name="Text 18"/>
          <p:cNvSpPr/>
          <p:nvPr/>
        </p:nvSpPr>
        <p:spPr>
          <a:xfrm>
            <a:off x="7589520" y="426110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the authority</a:t>
            </a:r>
            <a:endParaRPr lang="en-US" sz="950" dirty="0"/>
          </a:p>
        </p:txBody>
      </p:sp>
      <p:sp>
        <p:nvSpPr>
          <p:cNvPr id="21" name="Shape 19"/>
          <p:cNvSpPr/>
          <p:nvPr/>
        </p:nvSpPr>
        <p:spPr>
          <a:xfrm>
            <a:off x="2697480" y="2926080"/>
            <a:ext cx="822960" cy="0"/>
          </a:xfrm>
          <a:prstGeom prst="line">
            <a:avLst/>
          </a:prstGeom>
          <a:noFill/>
          <a:ln w="22225">
            <a:solidFill>
              <a:srgbClr val="C2CDD4"/>
            </a:solidFill>
            <a:prstDash val="solid"/>
            <a:headEnd type="none"/>
            <a:tailEnd type="triangle"/>
          </a:ln>
        </p:spPr>
        <p:txBody>
          <a:bodyPr/>
          <a:lstStyle/>
          <a:p>
            <a:endParaRPr lang="en-US"/>
          </a:p>
        </p:txBody>
      </p:sp>
      <p:sp>
        <p:nvSpPr>
          <p:cNvPr id="22" name="Text 20"/>
          <p:cNvSpPr/>
          <p:nvPr/>
        </p:nvSpPr>
        <p:spPr>
          <a:xfrm>
            <a:off x="2057400" y="303580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"amazon.in?"</a:t>
            </a:r>
            <a:endParaRPr lang="en-US" sz="950" dirty="0"/>
          </a:p>
        </p:txBody>
      </p:sp>
      <p:sp>
        <p:nvSpPr>
          <p:cNvPr id="23" name="Shape 21"/>
          <p:cNvSpPr/>
          <p:nvPr/>
        </p:nvSpPr>
        <p:spPr>
          <a:xfrm flipV="1">
            <a:off x="5989320" y="1965960"/>
            <a:ext cx="1554480" cy="868680"/>
          </a:xfrm>
          <a:prstGeom prst="line">
            <a:avLst/>
          </a:prstGeom>
          <a:noFill/>
          <a:ln w="38100">
            <a:solidFill>
              <a:srgbClr val="E8A33D"/>
            </a:solidFill>
            <a:prstDash val="solid"/>
            <a:headEnd type="none"/>
            <a:tailEnd type="triangle"/>
          </a:ln>
        </p:spPr>
        <p:txBody>
          <a:bodyPr/>
          <a:lstStyle/>
          <a:p>
            <a:endParaRPr lang="en-US"/>
          </a:p>
        </p:txBody>
      </p:sp>
      <p:sp>
        <p:nvSpPr>
          <p:cNvPr id="24" name="Text 22"/>
          <p:cNvSpPr/>
          <p:nvPr/>
        </p:nvSpPr>
        <p:spPr>
          <a:xfrm>
            <a:off x="5029200" y="2395728"/>
            <a:ext cx="210312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"where is .in?"</a:t>
            </a:r>
            <a:endParaRPr lang="en-US" sz="950" dirty="0"/>
          </a:p>
        </p:txBody>
      </p:sp>
      <p:sp>
        <p:nvSpPr>
          <p:cNvPr id="25" name="Shape 23"/>
          <p:cNvSpPr/>
          <p:nvPr/>
        </p:nvSpPr>
        <p:spPr>
          <a:xfrm>
            <a:off x="6766560" y="1975104"/>
            <a:ext cx="292608" cy="292608"/>
          </a:xfrm>
          <a:prstGeom prst="ellipse">
            <a:avLst/>
          </a:prstGeom>
          <a:solidFill>
            <a:srgbClr val="E8A33D"/>
          </a:solidFill>
          <a:ln/>
        </p:spPr>
        <p:txBody>
          <a:bodyPr/>
          <a:lstStyle/>
          <a:p>
            <a:endParaRPr lang="en-US"/>
          </a:p>
        </p:txBody>
      </p:sp>
      <p:sp>
        <p:nvSpPr>
          <p:cNvPr id="26" name="Text 24"/>
          <p:cNvSpPr/>
          <p:nvPr/>
        </p:nvSpPr>
        <p:spPr>
          <a:xfrm>
            <a:off x="6766560" y="1975104"/>
            <a:ext cx="292608" cy="292608"/>
          </a:xfrm>
          <a:prstGeom prst="rect">
            <a:avLst/>
          </a:prstGeom>
          <a:noFill/>
          <a:ln/>
        </p:spPr>
        <p:txBody>
          <a:bodyPr wrap="square" rtlCol="0" anchor="ctr"/>
          <a:lstStyle/>
          <a:p>
            <a:pPr marL="0" indent="0" algn="ctr">
              <a:buNone/>
            </a:pPr>
            <a:r>
              <a:rPr lang="en-US" sz="1050" b="1" dirty="0">
                <a:solidFill>
                  <a:srgbClr val="13293D"/>
                </a:solidFill>
                <a:latin typeface="Calibri" pitchFamily="34" charset="0"/>
                <a:ea typeface="Calibri" pitchFamily="34" charset="-122"/>
                <a:cs typeface="Calibri" pitchFamily="34" charset="-120"/>
              </a:rPr>
              <a:t>2</a:t>
            </a:r>
            <a:endParaRPr lang="en-US" sz="1050" dirty="0"/>
          </a:p>
        </p:txBody>
      </p:sp>
      <p:sp>
        <p:nvSpPr>
          <p:cNvPr id="27" name="Shape 25"/>
          <p:cNvSpPr/>
          <p:nvPr/>
        </p:nvSpPr>
        <p:spPr>
          <a:xfrm flipV="1">
            <a:off x="5989320" y="2212848"/>
            <a:ext cx="1554480" cy="749808"/>
          </a:xfrm>
          <a:prstGeom prst="line">
            <a:avLst/>
          </a:prstGeom>
          <a:noFill/>
          <a:ln w="38100">
            <a:solidFill>
              <a:srgbClr val="E8A33D"/>
            </a:solidFill>
            <a:prstDash val="solid"/>
            <a:headEnd type="triangle"/>
            <a:tailEnd type="none"/>
          </a:ln>
        </p:spPr>
        <p:txBody>
          <a:bodyPr/>
          <a:lstStyle/>
          <a:p>
            <a:endParaRPr lang="en-US"/>
          </a:p>
        </p:txBody>
      </p:sp>
      <p:sp>
        <p:nvSpPr>
          <p:cNvPr id="28" name="Text 26"/>
          <p:cNvSpPr/>
          <p:nvPr/>
        </p:nvSpPr>
        <p:spPr>
          <a:xfrm>
            <a:off x="5623560" y="1664208"/>
            <a:ext cx="228600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"ask the .in server"</a:t>
            </a:r>
            <a:endParaRPr lang="en-US" sz="950" dirty="0"/>
          </a:p>
        </p:txBody>
      </p:sp>
      <p:sp>
        <p:nvSpPr>
          <p:cNvPr id="29" name="Shape 27"/>
          <p:cNvSpPr/>
          <p:nvPr/>
        </p:nvSpPr>
        <p:spPr>
          <a:xfrm>
            <a:off x="640080" y="5120640"/>
            <a:ext cx="10698480" cy="914400"/>
          </a:xfrm>
          <a:prstGeom prst="roundRect">
            <a:avLst>
              <a:gd name="adj" fmla="val 6000"/>
            </a:avLst>
          </a:prstGeom>
          <a:solidFill>
            <a:srgbClr val="F4F7F9"/>
          </a:solidFill>
          <a:ln w="15240">
            <a:solidFill>
              <a:srgbClr val="E1E8ED"/>
            </a:solidFill>
            <a:prstDash val="solid"/>
          </a:ln>
        </p:spPr>
        <p:txBody>
          <a:bodyPr/>
          <a:lstStyle/>
          <a:p>
            <a:endParaRPr lang="en-US"/>
          </a:p>
        </p:txBody>
      </p:sp>
      <p:sp>
        <p:nvSpPr>
          <p:cNvPr id="30" name="Text 28"/>
          <p:cNvSpPr/>
          <p:nvPr/>
        </p:nvSpPr>
        <p:spPr>
          <a:xfrm>
            <a:off x="960120" y="512064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There are 13 root server addresses in the world, each backed by hundreds of physical machines. The root replies with a referral, never with the final answer.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503920" cy="548640"/>
          </a:xfrm>
          <a:prstGeom prst="rect">
            <a:avLst/>
          </a:prstGeom>
          <a:noFill/>
          <a:ln/>
        </p:spPr>
        <p:txBody>
          <a:bodyPr wrap="square" lIns="0" tIns="0" rIns="0" bIns="0" rtlCol="0" anchor="ctr"/>
          <a:lstStyle/>
          <a:p>
            <a:pPr marL="0" indent="0">
              <a:buNone/>
            </a:pPr>
            <a:r>
              <a:rPr lang="en-US" sz="2700" b="1" dirty="0">
                <a:solidFill>
                  <a:srgbClr val="13293D"/>
                </a:solidFill>
                <a:latin typeface="Cambria" pitchFamily="34" charset="0"/>
                <a:ea typeface="Cambria" pitchFamily="34" charset="-122"/>
                <a:cs typeface="Cambria" pitchFamily="34" charset="-120"/>
              </a:rPr>
              <a:t>The resolver asks the .in server</a:t>
            </a:r>
            <a:endParaRPr lang="en-US" sz="2700" dirty="0"/>
          </a:p>
        </p:txBody>
      </p:sp>
      <p:sp>
        <p:nvSpPr>
          <p:cNvPr id="3" name="Shape 1"/>
          <p:cNvSpPr/>
          <p:nvPr/>
        </p:nvSpPr>
        <p:spPr>
          <a:xfrm>
            <a:off x="9509760" y="365760"/>
            <a:ext cx="1874520" cy="457200"/>
          </a:xfrm>
          <a:prstGeom prst="roundRect">
            <a:avLst>
              <a:gd name="adj" fmla="val 40000"/>
            </a:avLst>
          </a:prstGeom>
          <a:solidFill>
            <a:srgbClr val="13293D"/>
          </a:solidFill>
          <a:ln/>
        </p:spPr>
        <p:txBody>
          <a:bodyPr/>
          <a:lstStyle/>
          <a:p>
            <a:endParaRPr lang="en-US"/>
          </a:p>
        </p:txBody>
      </p:sp>
      <p:sp>
        <p:nvSpPr>
          <p:cNvPr id="4" name="Text 2"/>
          <p:cNvSpPr/>
          <p:nvPr/>
        </p:nvSpPr>
        <p:spPr>
          <a:xfrm>
            <a:off x="9509760" y="365760"/>
            <a:ext cx="1874520" cy="457200"/>
          </a:xfrm>
          <a:prstGeom prst="rect">
            <a:avLst/>
          </a:prstGeom>
          <a:noFill/>
          <a:ln/>
        </p:spPr>
        <p:txBody>
          <a:bodyPr wrap="square" rtlCol="0" anchor="ctr"/>
          <a:lstStyle/>
          <a:p>
            <a:pPr marL="0" indent="0" algn="ctr">
              <a:buNone/>
            </a:pPr>
            <a:r>
              <a:rPr lang="en-US" sz="1200" b="1" dirty="0">
                <a:solidFill>
                  <a:srgbClr val="E8A33D"/>
                </a:solidFill>
                <a:latin typeface="Calibri" pitchFamily="34" charset="0"/>
                <a:ea typeface="Calibri" pitchFamily="34" charset="-122"/>
                <a:cs typeface="Calibri" pitchFamily="34" charset="-120"/>
              </a:rPr>
              <a:t>Step 3 of 5</a:t>
            </a:r>
            <a:endParaRPr lang="en-US" sz="1200" dirty="0"/>
          </a:p>
        </p:txBody>
      </p:sp>
      <p:sp>
        <p:nvSpPr>
          <p:cNvPr id="5" name="Text 3"/>
          <p:cNvSpPr/>
          <p:nvPr/>
        </p:nvSpPr>
        <p:spPr>
          <a:xfrm>
            <a:off x="658368" y="896112"/>
            <a:ext cx="10607040" cy="365760"/>
          </a:xfrm>
          <a:prstGeom prst="rect">
            <a:avLst/>
          </a:prstGeom>
          <a:noFill/>
          <a:ln/>
        </p:spPr>
        <p:txBody>
          <a:bodyPr wrap="square" lIns="0" tIns="0" rIns="0" bIns="0" rtlCol="0" anchor="ctr"/>
          <a:lstStyle/>
          <a:p>
            <a:pPr marL="0" indent="0">
              <a:buNone/>
            </a:pPr>
            <a:r>
              <a:rPr lang="en-US" sz="1450" i="1" dirty="0">
                <a:solidFill>
                  <a:srgbClr val="5A6B76"/>
                </a:solidFill>
                <a:latin typeface="Calibri" pitchFamily="34" charset="0"/>
                <a:ea typeface="Calibri" pitchFamily="34" charset="-122"/>
                <a:cs typeface="Calibri" pitchFamily="34" charset="-120"/>
              </a:rPr>
              <a:t>One step further down the hierarchy.</a:t>
            </a:r>
            <a:endParaRPr lang="en-US" sz="1450" dirty="0"/>
          </a:p>
        </p:txBody>
      </p:sp>
      <p:sp>
        <p:nvSpPr>
          <p:cNvPr id="6" name="Shape 4"/>
          <p:cNvSpPr/>
          <p:nvPr/>
        </p:nvSpPr>
        <p:spPr>
          <a:xfrm>
            <a:off x="640080" y="2606040"/>
            <a:ext cx="2011680" cy="822960"/>
          </a:xfrm>
          <a:prstGeom prst="roundRect">
            <a:avLst>
              <a:gd name="adj" fmla="val 6667"/>
            </a:avLst>
          </a:prstGeom>
          <a:solidFill>
            <a:srgbClr val="1C7293"/>
          </a:solidFill>
          <a:ln/>
        </p:spPr>
        <p:txBody>
          <a:bodyPr/>
          <a:lstStyle/>
          <a:p>
            <a:endParaRPr lang="en-US"/>
          </a:p>
        </p:txBody>
      </p:sp>
      <p:sp>
        <p:nvSpPr>
          <p:cNvPr id="7" name="Text 5"/>
          <p:cNvSpPr/>
          <p:nvPr/>
        </p:nvSpPr>
        <p:spPr>
          <a:xfrm>
            <a:off x="640080" y="2724912"/>
            <a:ext cx="201168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Your browser</a:t>
            </a:r>
            <a:endParaRPr lang="en-US" sz="1350" dirty="0"/>
          </a:p>
        </p:txBody>
      </p:sp>
      <p:sp>
        <p:nvSpPr>
          <p:cNvPr id="8" name="Text 6"/>
          <p:cNvSpPr/>
          <p:nvPr/>
        </p:nvSpPr>
        <p:spPr>
          <a:xfrm>
            <a:off x="640080" y="3026664"/>
            <a:ext cx="201168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wants an IP</a:t>
            </a:r>
            <a:endParaRPr lang="en-US" sz="950" dirty="0"/>
          </a:p>
        </p:txBody>
      </p:sp>
      <p:sp>
        <p:nvSpPr>
          <p:cNvPr id="9" name="Shape 7"/>
          <p:cNvSpPr/>
          <p:nvPr/>
        </p:nvSpPr>
        <p:spPr>
          <a:xfrm>
            <a:off x="3566160" y="2606040"/>
            <a:ext cx="2377440" cy="822960"/>
          </a:xfrm>
          <a:prstGeom prst="roundRect">
            <a:avLst>
              <a:gd name="adj" fmla="val 6667"/>
            </a:avLst>
          </a:prstGeom>
          <a:solidFill>
            <a:srgbClr val="065A82"/>
          </a:solidFill>
          <a:ln/>
        </p:spPr>
        <p:txBody>
          <a:bodyPr/>
          <a:lstStyle/>
          <a:p>
            <a:endParaRPr lang="en-US"/>
          </a:p>
        </p:txBody>
      </p:sp>
      <p:sp>
        <p:nvSpPr>
          <p:cNvPr id="10" name="Text 8"/>
          <p:cNvSpPr/>
          <p:nvPr/>
        </p:nvSpPr>
        <p:spPr>
          <a:xfrm>
            <a:off x="3566160" y="2724912"/>
            <a:ext cx="237744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ISP resolver</a:t>
            </a:r>
            <a:endParaRPr lang="en-US" sz="1350" dirty="0"/>
          </a:p>
        </p:txBody>
      </p:sp>
      <p:sp>
        <p:nvSpPr>
          <p:cNvPr id="11" name="Text 9"/>
          <p:cNvSpPr/>
          <p:nvPr/>
        </p:nvSpPr>
        <p:spPr>
          <a:xfrm>
            <a:off x="3566160" y="3026664"/>
            <a:ext cx="237744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does the legwork</a:t>
            </a:r>
            <a:endParaRPr lang="en-US" sz="950" dirty="0"/>
          </a:p>
        </p:txBody>
      </p:sp>
      <p:sp>
        <p:nvSpPr>
          <p:cNvPr id="12" name="Shape 10"/>
          <p:cNvSpPr/>
          <p:nvPr/>
        </p:nvSpPr>
        <p:spPr>
          <a:xfrm>
            <a:off x="7589520" y="1371600"/>
            <a:ext cx="2743200" cy="822960"/>
          </a:xfrm>
          <a:prstGeom prst="roundRect">
            <a:avLst>
              <a:gd name="adj" fmla="val 6667"/>
            </a:avLst>
          </a:prstGeom>
          <a:solidFill>
            <a:srgbClr val="6B4E71"/>
          </a:solidFill>
          <a:ln/>
        </p:spPr>
        <p:txBody>
          <a:bodyPr/>
          <a:lstStyle/>
          <a:p>
            <a:endParaRPr lang="en-US"/>
          </a:p>
        </p:txBody>
      </p:sp>
      <p:sp>
        <p:nvSpPr>
          <p:cNvPr id="13" name="Text 11"/>
          <p:cNvSpPr/>
          <p:nvPr/>
        </p:nvSpPr>
        <p:spPr>
          <a:xfrm>
            <a:off x="7589520" y="149047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Root nameserver</a:t>
            </a:r>
            <a:endParaRPr lang="en-US" sz="1350" dirty="0"/>
          </a:p>
        </p:txBody>
      </p:sp>
      <p:sp>
        <p:nvSpPr>
          <p:cNvPr id="14" name="Text 12"/>
          <p:cNvSpPr/>
          <p:nvPr/>
        </p:nvSpPr>
        <p:spPr>
          <a:xfrm>
            <a:off x="7589520" y="179222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TLD</a:t>
            </a:r>
            <a:endParaRPr lang="en-US" sz="950" dirty="0"/>
          </a:p>
        </p:txBody>
      </p:sp>
      <p:sp>
        <p:nvSpPr>
          <p:cNvPr id="15" name="Shape 13"/>
          <p:cNvSpPr/>
          <p:nvPr/>
        </p:nvSpPr>
        <p:spPr>
          <a:xfrm>
            <a:off x="7589520" y="2606040"/>
            <a:ext cx="2743200" cy="822960"/>
          </a:xfrm>
          <a:prstGeom prst="roundRect">
            <a:avLst>
              <a:gd name="adj" fmla="val 6667"/>
            </a:avLst>
          </a:prstGeom>
          <a:solidFill>
            <a:srgbClr val="2B4257"/>
          </a:solidFill>
          <a:ln/>
        </p:spPr>
        <p:txBody>
          <a:bodyPr/>
          <a:lstStyle/>
          <a:p>
            <a:endParaRPr lang="en-US"/>
          </a:p>
        </p:txBody>
      </p:sp>
      <p:sp>
        <p:nvSpPr>
          <p:cNvPr id="16" name="Text 14"/>
          <p:cNvSpPr/>
          <p:nvPr/>
        </p:nvSpPr>
        <p:spPr>
          <a:xfrm>
            <a:off x="7589520" y="272491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.in nameserver</a:t>
            </a:r>
            <a:endParaRPr lang="en-US" sz="1350" dirty="0"/>
          </a:p>
        </p:txBody>
      </p:sp>
      <p:sp>
        <p:nvSpPr>
          <p:cNvPr id="17" name="Text 15"/>
          <p:cNvSpPr/>
          <p:nvPr/>
        </p:nvSpPr>
        <p:spPr>
          <a:xfrm>
            <a:off x="7589520" y="302666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.in domain</a:t>
            </a:r>
            <a:endParaRPr lang="en-US" sz="950" dirty="0"/>
          </a:p>
        </p:txBody>
      </p:sp>
      <p:sp>
        <p:nvSpPr>
          <p:cNvPr id="18" name="Shape 16"/>
          <p:cNvSpPr/>
          <p:nvPr/>
        </p:nvSpPr>
        <p:spPr>
          <a:xfrm>
            <a:off x="7589520" y="3840480"/>
            <a:ext cx="2743200" cy="822960"/>
          </a:xfrm>
          <a:prstGeom prst="roundRect">
            <a:avLst>
              <a:gd name="adj" fmla="val 6667"/>
            </a:avLst>
          </a:prstGeom>
          <a:solidFill>
            <a:srgbClr val="DFE7EB"/>
          </a:solidFill>
          <a:ln/>
        </p:spPr>
        <p:txBody>
          <a:bodyPr/>
          <a:lstStyle/>
          <a:p>
            <a:endParaRPr lang="en-US"/>
          </a:p>
        </p:txBody>
      </p:sp>
      <p:sp>
        <p:nvSpPr>
          <p:cNvPr id="19" name="Text 17"/>
          <p:cNvSpPr/>
          <p:nvPr/>
        </p:nvSpPr>
        <p:spPr>
          <a:xfrm>
            <a:off x="7589520" y="3959352"/>
            <a:ext cx="2743200" cy="310896"/>
          </a:xfrm>
          <a:prstGeom prst="rect">
            <a:avLst/>
          </a:prstGeom>
          <a:noFill/>
          <a:ln/>
        </p:spPr>
        <p:txBody>
          <a:bodyPr wrap="square" lIns="0" tIns="0" rIns="0" bIns="0" rtlCol="0" anchor="ctr"/>
          <a:lstStyle/>
          <a:p>
            <a:pPr marL="0" indent="0" algn="ctr">
              <a:buNone/>
            </a:pPr>
            <a:r>
              <a:rPr lang="en-US" sz="1350" b="1" dirty="0">
                <a:solidFill>
                  <a:srgbClr val="5A6B76"/>
                </a:solidFill>
                <a:latin typeface="Calibri" pitchFamily="34" charset="0"/>
                <a:ea typeface="Calibri" pitchFamily="34" charset="-122"/>
                <a:cs typeface="Calibri" pitchFamily="34" charset="-120"/>
              </a:rPr>
              <a:t>Amazon nameserver</a:t>
            </a:r>
            <a:endParaRPr lang="en-US" sz="1350" dirty="0"/>
          </a:p>
        </p:txBody>
      </p:sp>
      <p:sp>
        <p:nvSpPr>
          <p:cNvPr id="20" name="Text 18"/>
          <p:cNvSpPr/>
          <p:nvPr/>
        </p:nvSpPr>
        <p:spPr>
          <a:xfrm>
            <a:off x="7589520" y="4261104"/>
            <a:ext cx="2743200" cy="274320"/>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the authority</a:t>
            </a:r>
            <a:endParaRPr lang="en-US" sz="950" dirty="0"/>
          </a:p>
        </p:txBody>
      </p:sp>
      <p:sp>
        <p:nvSpPr>
          <p:cNvPr id="21" name="Shape 19"/>
          <p:cNvSpPr/>
          <p:nvPr/>
        </p:nvSpPr>
        <p:spPr>
          <a:xfrm>
            <a:off x="2697480" y="2926080"/>
            <a:ext cx="822960" cy="0"/>
          </a:xfrm>
          <a:prstGeom prst="line">
            <a:avLst/>
          </a:prstGeom>
          <a:noFill/>
          <a:ln w="22225">
            <a:solidFill>
              <a:srgbClr val="C2CDD4"/>
            </a:solidFill>
            <a:prstDash val="solid"/>
            <a:headEnd type="none"/>
            <a:tailEnd type="triangle"/>
          </a:ln>
        </p:spPr>
        <p:txBody>
          <a:bodyPr/>
          <a:lstStyle/>
          <a:p>
            <a:endParaRPr lang="en-US"/>
          </a:p>
        </p:txBody>
      </p:sp>
      <p:sp>
        <p:nvSpPr>
          <p:cNvPr id="22" name="Text 20"/>
          <p:cNvSpPr/>
          <p:nvPr/>
        </p:nvSpPr>
        <p:spPr>
          <a:xfrm>
            <a:off x="2057400" y="303580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"amazon.in?"</a:t>
            </a:r>
            <a:endParaRPr lang="en-US" sz="950" dirty="0"/>
          </a:p>
        </p:txBody>
      </p:sp>
      <p:sp>
        <p:nvSpPr>
          <p:cNvPr id="23" name="Shape 21"/>
          <p:cNvSpPr/>
          <p:nvPr/>
        </p:nvSpPr>
        <p:spPr>
          <a:xfrm flipV="1">
            <a:off x="5989320" y="1965960"/>
            <a:ext cx="1554480" cy="868680"/>
          </a:xfrm>
          <a:prstGeom prst="line">
            <a:avLst/>
          </a:prstGeom>
          <a:noFill/>
          <a:ln w="22225">
            <a:solidFill>
              <a:srgbClr val="C2CDD4"/>
            </a:solidFill>
            <a:prstDash val="solid"/>
            <a:headEnd type="none"/>
            <a:tailEnd type="triangle"/>
          </a:ln>
        </p:spPr>
        <p:txBody>
          <a:bodyPr/>
          <a:lstStyle/>
          <a:p>
            <a:endParaRPr lang="en-US"/>
          </a:p>
        </p:txBody>
      </p:sp>
      <p:sp>
        <p:nvSpPr>
          <p:cNvPr id="24" name="Text 22"/>
          <p:cNvSpPr/>
          <p:nvPr/>
        </p:nvSpPr>
        <p:spPr>
          <a:xfrm>
            <a:off x="5029200" y="239572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"where is .in?"</a:t>
            </a:r>
            <a:endParaRPr lang="en-US" sz="950" dirty="0"/>
          </a:p>
        </p:txBody>
      </p:sp>
      <p:sp>
        <p:nvSpPr>
          <p:cNvPr id="25" name="Shape 23"/>
          <p:cNvSpPr/>
          <p:nvPr/>
        </p:nvSpPr>
        <p:spPr>
          <a:xfrm flipV="1">
            <a:off x="5989320" y="2212848"/>
            <a:ext cx="1554480" cy="749808"/>
          </a:xfrm>
          <a:prstGeom prst="line">
            <a:avLst/>
          </a:prstGeom>
          <a:noFill/>
          <a:ln w="22225">
            <a:solidFill>
              <a:srgbClr val="C2CDD4"/>
            </a:solidFill>
            <a:prstDash val="solid"/>
            <a:headEnd type="triangle"/>
            <a:tailEnd type="none"/>
          </a:ln>
        </p:spPr>
        <p:txBody>
          <a:bodyPr/>
          <a:lstStyle/>
          <a:p>
            <a:endParaRPr lang="en-US"/>
          </a:p>
        </p:txBody>
      </p:sp>
      <p:sp>
        <p:nvSpPr>
          <p:cNvPr id="26" name="Text 24"/>
          <p:cNvSpPr/>
          <p:nvPr/>
        </p:nvSpPr>
        <p:spPr>
          <a:xfrm>
            <a:off x="5623560" y="1664208"/>
            <a:ext cx="228600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"ask the .in server"</a:t>
            </a:r>
            <a:endParaRPr lang="en-US" sz="950" dirty="0"/>
          </a:p>
        </p:txBody>
      </p:sp>
      <p:sp>
        <p:nvSpPr>
          <p:cNvPr id="27" name="Shape 25"/>
          <p:cNvSpPr/>
          <p:nvPr/>
        </p:nvSpPr>
        <p:spPr>
          <a:xfrm>
            <a:off x="6035040" y="2889504"/>
            <a:ext cx="1463040" cy="18288"/>
          </a:xfrm>
          <a:prstGeom prst="line">
            <a:avLst/>
          </a:prstGeom>
          <a:noFill/>
          <a:ln w="38100">
            <a:solidFill>
              <a:srgbClr val="E8A33D"/>
            </a:solidFill>
            <a:prstDash val="solid"/>
            <a:headEnd type="none"/>
            <a:tailEnd type="triangle"/>
          </a:ln>
        </p:spPr>
        <p:txBody>
          <a:bodyPr/>
          <a:lstStyle/>
          <a:p>
            <a:endParaRPr lang="en-US"/>
          </a:p>
        </p:txBody>
      </p:sp>
      <p:sp>
        <p:nvSpPr>
          <p:cNvPr id="28" name="Text 26"/>
          <p:cNvSpPr/>
          <p:nvPr/>
        </p:nvSpPr>
        <p:spPr>
          <a:xfrm>
            <a:off x="5440680" y="2542032"/>
            <a:ext cx="265176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"where is amazon.in?"</a:t>
            </a:r>
            <a:endParaRPr lang="en-US" sz="950" dirty="0"/>
          </a:p>
        </p:txBody>
      </p:sp>
      <p:sp>
        <p:nvSpPr>
          <p:cNvPr id="29" name="Shape 27"/>
          <p:cNvSpPr/>
          <p:nvPr/>
        </p:nvSpPr>
        <p:spPr>
          <a:xfrm>
            <a:off x="6620256" y="2962656"/>
            <a:ext cx="292608" cy="292608"/>
          </a:xfrm>
          <a:prstGeom prst="ellipse">
            <a:avLst/>
          </a:prstGeom>
          <a:solidFill>
            <a:srgbClr val="E8A33D"/>
          </a:solidFill>
          <a:ln/>
        </p:spPr>
        <p:txBody>
          <a:bodyPr/>
          <a:lstStyle/>
          <a:p>
            <a:endParaRPr lang="en-US"/>
          </a:p>
        </p:txBody>
      </p:sp>
      <p:sp>
        <p:nvSpPr>
          <p:cNvPr id="30" name="Text 28"/>
          <p:cNvSpPr/>
          <p:nvPr/>
        </p:nvSpPr>
        <p:spPr>
          <a:xfrm>
            <a:off x="6620256" y="2962656"/>
            <a:ext cx="292608" cy="292608"/>
          </a:xfrm>
          <a:prstGeom prst="rect">
            <a:avLst/>
          </a:prstGeom>
          <a:noFill/>
          <a:ln/>
        </p:spPr>
        <p:txBody>
          <a:bodyPr wrap="square" rtlCol="0" anchor="ctr"/>
          <a:lstStyle/>
          <a:p>
            <a:pPr marL="0" indent="0" algn="ctr">
              <a:buNone/>
            </a:pPr>
            <a:r>
              <a:rPr lang="en-US" sz="1050" b="1" dirty="0">
                <a:solidFill>
                  <a:srgbClr val="13293D"/>
                </a:solidFill>
                <a:latin typeface="Calibri" pitchFamily="34" charset="0"/>
                <a:ea typeface="Calibri" pitchFamily="34" charset="-122"/>
                <a:cs typeface="Calibri" pitchFamily="34" charset="-120"/>
              </a:rPr>
              <a:t>3</a:t>
            </a:r>
            <a:endParaRPr lang="en-US" sz="1050" dirty="0"/>
          </a:p>
        </p:txBody>
      </p:sp>
      <p:sp>
        <p:nvSpPr>
          <p:cNvPr id="31" name="Shape 29"/>
          <p:cNvSpPr/>
          <p:nvPr/>
        </p:nvSpPr>
        <p:spPr>
          <a:xfrm>
            <a:off x="6035040" y="3310128"/>
            <a:ext cx="1463040" cy="18288"/>
          </a:xfrm>
          <a:prstGeom prst="line">
            <a:avLst/>
          </a:prstGeom>
          <a:noFill/>
          <a:ln w="38100">
            <a:solidFill>
              <a:srgbClr val="E8A33D"/>
            </a:solidFill>
            <a:prstDash val="solid"/>
            <a:headEnd type="triangle"/>
            <a:tailEnd type="none"/>
          </a:ln>
        </p:spPr>
        <p:txBody>
          <a:bodyPr/>
          <a:lstStyle/>
          <a:p>
            <a:endParaRPr lang="en-US"/>
          </a:p>
        </p:txBody>
      </p:sp>
      <p:sp>
        <p:nvSpPr>
          <p:cNvPr id="32" name="Text 30"/>
          <p:cNvSpPr/>
          <p:nvPr/>
        </p:nvSpPr>
        <p:spPr>
          <a:xfrm>
            <a:off x="5394960" y="3419856"/>
            <a:ext cx="274320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"ask Amazon's own server"</a:t>
            </a:r>
            <a:endParaRPr lang="en-US" sz="950" dirty="0"/>
          </a:p>
        </p:txBody>
      </p:sp>
      <p:sp>
        <p:nvSpPr>
          <p:cNvPr id="33" name="Shape 31"/>
          <p:cNvSpPr/>
          <p:nvPr/>
        </p:nvSpPr>
        <p:spPr>
          <a:xfrm>
            <a:off x="640080" y="5120640"/>
            <a:ext cx="10698480" cy="914400"/>
          </a:xfrm>
          <a:prstGeom prst="roundRect">
            <a:avLst>
              <a:gd name="adj" fmla="val 6000"/>
            </a:avLst>
          </a:prstGeom>
          <a:solidFill>
            <a:srgbClr val="F4F7F9"/>
          </a:solidFill>
          <a:ln w="15240">
            <a:solidFill>
              <a:srgbClr val="E1E8ED"/>
            </a:solidFill>
            <a:prstDash val="solid"/>
          </a:ln>
        </p:spPr>
        <p:txBody>
          <a:bodyPr/>
          <a:lstStyle/>
          <a:p>
            <a:endParaRPr lang="en-US"/>
          </a:p>
        </p:txBody>
      </p:sp>
      <p:sp>
        <p:nvSpPr>
          <p:cNvPr id="34" name="Text 32"/>
          <p:cNvSpPr/>
          <p:nvPr/>
        </p:nvSpPr>
        <p:spPr>
          <a:xfrm>
            <a:off x="960120" y="512064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.in registry knows every domain ending in .in and who is authoritative for each. It too replies with a referral: go ask Amazon’s own nameservers.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503920" cy="548640"/>
          </a:xfrm>
          <a:prstGeom prst="rect">
            <a:avLst/>
          </a:prstGeom>
          <a:noFill/>
          <a:ln/>
        </p:spPr>
        <p:txBody>
          <a:bodyPr wrap="square" lIns="0" tIns="0" rIns="0" bIns="0" rtlCol="0" anchor="ctr"/>
          <a:lstStyle/>
          <a:p>
            <a:pPr marL="0" indent="0">
              <a:buNone/>
            </a:pPr>
            <a:r>
              <a:rPr lang="en-US" sz="2700" b="1" dirty="0">
                <a:solidFill>
                  <a:srgbClr val="13293D"/>
                </a:solidFill>
                <a:latin typeface="Cambria" pitchFamily="34" charset="0"/>
                <a:ea typeface="Cambria" pitchFamily="34" charset="-122"/>
                <a:cs typeface="Cambria" pitchFamily="34" charset="-120"/>
              </a:rPr>
              <a:t>The resolver asks Amazon’s nameserver</a:t>
            </a:r>
            <a:endParaRPr lang="en-US" sz="2700" dirty="0"/>
          </a:p>
        </p:txBody>
      </p:sp>
      <p:sp>
        <p:nvSpPr>
          <p:cNvPr id="3" name="Shape 1"/>
          <p:cNvSpPr/>
          <p:nvPr/>
        </p:nvSpPr>
        <p:spPr>
          <a:xfrm>
            <a:off x="9509760" y="365760"/>
            <a:ext cx="1874520" cy="457200"/>
          </a:xfrm>
          <a:prstGeom prst="roundRect">
            <a:avLst>
              <a:gd name="adj" fmla="val 40000"/>
            </a:avLst>
          </a:prstGeom>
          <a:solidFill>
            <a:srgbClr val="13293D"/>
          </a:solidFill>
          <a:ln/>
        </p:spPr>
        <p:txBody>
          <a:bodyPr/>
          <a:lstStyle/>
          <a:p>
            <a:endParaRPr lang="en-US"/>
          </a:p>
        </p:txBody>
      </p:sp>
      <p:sp>
        <p:nvSpPr>
          <p:cNvPr id="4" name="Text 2"/>
          <p:cNvSpPr/>
          <p:nvPr/>
        </p:nvSpPr>
        <p:spPr>
          <a:xfrm>
            <a:off x="9509760" y="365760"/>
            <a:ext cx="1874520" cy="457200"/>
          </a:xfrm>
          <a:prstGeom prst="rect">
            <a:avLst/>
          </a:prstGeom>
          <a:noFill/>
          <a:ln/>
        </p:spPr>
        <p:txBody>
          <a:bodyPr wrap="square" rtlCol="0" anchor="ctr"/>
          <a:lstStyle/>
          <a:p>
            <a:pPr marL="0" indent="0" algn="ctr">
              <a:buNone/>
            </a:pPr>
            <a:r>
              <a:rPr lang="en-US" sz="1200" b="1" dirty="0">
                <a:solidFill>
                  <a:srgbClr val="E8A33D"/>
                </a:solidFill>
                <a:latin typeface="Calibri" pitchFamily="34" charset="0"/>
                <a:ea typeface="Calibri" pitchFamily="34" charset="-122"/>
                <a:cs typeface="Calibri" pitchFamily="34" charset="-120"/>
              </a:rPr>
              <a:t>Step 4 of 5</a:t>
            </a:r>
            <a:endParaRPr lang="en-US" sz="1200" dirty="0"/>
          </a:p>
        </p:txBody>
      </p:sp>
      <p:sp>
        <p:nvSpPr>
          <p:cNvPr id="5" name="Text 3"/>
          <p:cNvSpPr/>
          <p:nvPr/>
        </p:nvSpPr>
        <p:spPr>
          <a:xfrm>
            <a:off x="658368" y="896112"/>
            <a:ext cx="10607040" cy="365760"/>
          </a:xfrm>
          <a:prstGeom prst="rect">
            <a:avLst/>
          </a:prstGeom>
          <a:noFill/>
          <a:ln/>
        </p:spPr>
        <p:txBody>
          <a:bodyPr wrap="square" lIns="0" tIns="0" rIns="0" bIns="0" rtlCol="0" anchor="ctr"/>
          <a:lstStyle/>
          <a:p>
            <a:pPr marL="0" indent="0">
              <a:buNone/>
            </a:pPr>
            <a:r>
              <a:rPr lang="en-US" sz="1450" i="1" dirty="0">
                <a:solidFill>
                  <a:srgbClr val="5A6B76"/>
                </a:solidFill>
                <a:latin typeface="Calibri" pitchFamily="34" charset="0"/>
                <a:ea typeface="Calibri" pitchFamily="34" charset="-122"/>
                <a:cs typeface="Calibri" pitchFamily="34" charset="-120"/>
              </a:rPr>
              <a:t>This one actually knows the answer.</a:t>
            </a:r>
            <a:endParaRPr lang="en-US" sz="1450" dirty="0"/>
          </a:p>
        </p:txBody>
      </p:sp>
      <p:sp>
        <p:nvSpPr>
          <p:cNvPr id="6" name="Shape 4"/>
          <p:cNvSpPr/>
          <p:nvPr/>
        </p:nvSpPr>
        <p:spPr>
          <a:xfrm>
            <a:off x="640080" y="2606040"/>
            <a:ext cx="2011680" cy="822960"/>
          </a:xfrm>
          <a:prstGeom prst="roundRect">
            <a:avLst>
              <a:gd name="adj" fmla="val 6667"/>
            </a:avLst>
          </a:prstGeom>
          <a:solidFill>
            <a:srgbClr val="1C7293"/>
          </a:solidFill>
          <a:ln/>
        </p:spPr>
        <p:txBody>
          <a:bodyPr/>
          <a:lstStyle/>
          <a:p>
            <a:endParaRPr lang="en-US"/>
          </a:p>
        </p:txBody>
      </p:sp>
      <p:sp>
        <p:nvSpPr>
          <p:cNvPr id="7" name="Text 5"/>
          <p:cNvSpPr/>
          <p:nvPr/>
        </p:nvSpPr>
        <p:spPr>
          <a:xfrm>
            <a:off x="640080" y="2724912"/>
            <a:ext cx="201168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Your browser</a:t>
            </a:r>
            <a:endParaRPr lang="en-US" sz="1350" dirty="0"/>
          </a:p>
        </p:txBody>
      </p:sp>
      <p:sp>
        <p:nvSpPr>
          <p:cNvPr id="8" name="Text 6"/>
          <p:cNvSpPr/>
          <p:nvPr/>
        </p:nvSpPr>
        <p:spPr>
          <a:xfrm>
            <a:off x="640080" y="3026664"/>
            <a:ext cx="201168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wants an IP</a:t>
            </a:r>
            <a:endParaRPr lang="en-US" sz="950" dirty="0"/>
          </a:p>
        </p:txBody>
      </p:sp>
      <p:sp>
        <p:nvSpPr>
          <p:cNvPr id="9" name="Shape 7"/>
          <p:cNvSpPr/>
          <p:nvPr/>
        </p:nvSpPr>
        <p:spPr>
          <a:xfrm>
            <a:off x="3566160" y="2606040"/>
            <a:ext cx="2377440" cy="822960"/>
          </a:xfrm>
          <a:prstGeom prst="roundRect">
            <a:avLst>
              <a:gd name="adj" fmla="val 6667"/>
            </a:avLst>
          </a:prstGeom>
          <a:solidFill>
            <a:srgbClr val="065A82"/>
          </a:solidFill>
          <a:ln/>
        </p:spPr>
        <p:txBody>
          <a:bodyPr/>
          <a:lstStyle/>
          <a:p>
            <a:endParaRPr lang="en-US"/>
          </a:p>
        </p:txBody>
      </p:sp>
      <p:sp>
        <p:nvSpPr>
          <p:cNvPr id="10" name="Text 8"/>
          <p:cNvSpPr/>
          <p:nvPr/>
        </p:nvSpPr>
        <p:spPr>
          <a:xfrm>
            <a:off x="3566160" y="2724912"/>
            <a:ext cx="237744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ISP resolver</a:t>
            </a:r>
            <a:endParaRPr lang="en-US" sz="1350" dirty="0"/>
          </a:p>
        </p:txBody>
      </p:sp>
      <p:sp>
        <p:nvSpPr>
          <p:cNvPr id="11" name="Text 9"/>
          <p:cNvSpPr/>
          <p:nvPr/>
        </p:nvSpPr>
        <p:spPr>
          <a:xfrm>
            <a:off x="3566160" y="3026664"/>
            <a:ext cx="237744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does the legwork</a:t>
            </a:r>
            <a:endParaRPr lang="en-US" sz="950" dirty="0"/>
          </a:p>
        </p:txBody>
      </p:sp>
      <p:sp>
        <p:nvSpPr>
          <p:cNvPr id="12" name="Shape 10"/>
          <p:cNvSpPr/>
          <p:nvPr/>
        </p:nvSpPr>
        <p:spPr>
          <a:xfrm>
            <a:off x="7589520" y="1371600"/>
            <a:ext cx="2743200" cy="822960"/>
          </a:xfrm>
          <a:prstGeom prst="roundRect">
            <a:avLst>
              <a:gd name="adj" fmla="val 6667"/>
            </a:avLst>
          </a:prstGeom>
          <a:solidFill>
            <a:srgbClr val="6B4E71"/>
          </a:solidFill>
          <a:ln/>
        </p:spPr>
        <p:txBody>
          <a:bodyPr/>
          <a:lstStyle/>
          <a:p>
            <a:endParaRPr lang="en-US"/>
          </a:p>
        </p:txBody>
      </p:sp>
      <p:sp>
        <p:nvSpPr>
          <p:cNvPr id="13" name="Text 11"/>
          <p:cNvSpPr/>
          <p:nvPr/>
        </p:nvSpPr>
        <p:spPr>
          <a:xfrm>
            <a:off x="7589520" y="149047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Root nameserver</a:t>
            </a:r>
            <a:endParaRPr lang="en-US" sz="1350" dirty="0"/>
          </a:p>
        </p:txBody>
      </p:sp>
      <p:sp>
        <p:nvSpPr>
          <p:cNvPr id="14" name="Text 12"/>
          <p:cNvSpPr/>
          <p:nvPr/>
        </p:nvSpPr>
        <p:spPr>
          <a:xfrm>
            <a:off x="7589520" y="179222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TLD</a:t>
            </a:r>
            <a:endParaRPr lang="en-US" sz="950" dirty="0"/>
          </a:p>
        </p:txBody>
      </p:sp>
      <p:sp>
        <p:nvSpPr>
          <p:cNvPr id="15" name="Shape 13"/>
          <p:cNvSpPr/>
          <p:nvPr/>
        </p:nvSpPr>
        <p:spPr>
          <a:xfrm>
            <a:off x="7589520" y="2606040"/>
            <a:ext cx="2743200" cy="822960"/>
          </a:xfrm>
          <a:prstGeom prst="roundRect">
            <a:avLst>
              <a:gd name="adj" fmla="val 6667"/>
            </a:avLst>
          </a:prstGeom>
          <a:solidFill>
            <a:srgbClr val="2B4257"/>
          </a:solidFill>
          <a:ln/>
        </p:spPr>
        <p:txBody>
          <a:bodyPr/>
          <a:lstStyle/>
          <a:p>
            <a:endParaRPr lang="en-US"/>
          </a:p>
        </p:txBody>
      </p:sp>
      <p:sp>
        <p:nvSpPr>
          <p:cNvPr id="16" name="Text 14"/>
          <p:cNvSpPr/>
          <p:nvPr/>
        </p:nvSpPr>
        <p:spPr>
          <a:xfrm>
            <a:off x="7589520" y="272491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.in nameserver</a:t>
            </a:r>
            <a:endParaRPr lang="en-US" sz="1350" dirty="0"/>
          </a:p>
        </p:txBody>
      </p:sp>
      <p:sp>
        <p:nvSpPr>
          <p:cNvPr id="17" name="Text 15"/>
          <p:cNvSpPr/>
          <p:nvPr/>
        </p:nvSpPr>
        <p:spPr>
          <a:xfrm>
            <a:off x="7589520" y="302666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.in domain</a:t>
            </a:r>
            <a:endParaRPr lang="en-US" sz="950" dirty="0"/>
          </a:p>
        </p:txBody>
      </p:sp>
      <p:sp>
        <p:nvSpPr>
          <p:cNvPr id="18" name="Shape 16"/>
          <p:cNvSpPr/>
          <p:nvPr/>
        </p:nvSpPr>
        <p:spPr>
          <a:xfrm>
            <a:off x="7589520" y="3840480"/>
            <a:ext cx="2743200" cy="822960"/>
          </a:xfrm>
          <a:prstGeom prst="roundRect">
            <a:avLst>
              <a:gd name="adj" fmla="val 6667"/>
            </a:avLst>
          </a:prstGeom>
          <a:solidFill>
            <a:srgbClr val="2E7D5B"/>
          </a:solidFill>
          <a:ln/>
        </p:spPr>
        <p:txBody>
          <a:bodyPr/>
          <a:lstStyle/>
          <a:p>
            <a:endParaRPr lang="en-US"/>
          </a:p>
        </p:txBody>
      </p:sp>
      <p:sp>
        <p:nvSpPr>
          <p:cNvPr id="19" name="Text 17"/>
          <p:cNvSpPr/>
          <p:nvPr/>
        </p:nvSpPr>
        <p:spPr>
          <a:xfrm>
            <a:off x="7589520" y="395935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Amazon nameserver</a:t>
            </a:r>
            <a:endParaRPr lang="en-US" sz="1350" dirty="0"/>
          </a:p>
        </p:txBody>
      </p:sp>
      <p:sp>
        <p:nvSpPr>
          <p:cNvPr id="20" name="Text 18"/>
          <p:cNvSpPr/>
          <p:nvPr/>
        </p:nvSpPr>
        <p:spPr>
          <a:xfrm>
            <a:off x="7589520" y="426110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the authority</a:t>
            </a:r>
            <a:endParaRPr lang="en-US" sz="950" dirty="0"/>
          </a:p>
        </p:txBody>
      </p:sp>
      <p:sp>
        <p:nvSpPr>
          <p:cNvPr id="21" name="Shape 19"/>
          <p:cNvSpPr/>
          <p:nvPr/>
        </p:nvSpPr>
        <p:spPr>
          <a:xfrm>
            <a:off x="2697480" y="2926080"/>
            <a:ext cx="822960" cy="0"/>
          </a:xfrm>
          <a:prstGeom prst="line">
            <a:avLst/>
          </a:prstGeom>
          <a:noFill/>
          <a:ln w="22225">
            <a:solidFill>
              <a:srgbClr val="C2CDD4"/>
            </a:solidFill>
            <a:prstDash val="solid"/>
            <a:headEnd type="none"/>
            <a:tailEnd type="triangle"/>
          </a:ln>
        </p:spPr>
        <p:txBody>
          <a:bodyPr/>
          <a:lstStyle/>
          <a:p>
            <a:endParaRPr lang="en-US"/>
          </a:p>
        </p:txBody>
      </p:sp>
      <p:sp>
        <p:nvSpPr>
          <p:cNvPr id="22" name="Text 20"/>
          <p:cNvSpPr/>
          <p:nvPr/>
        </p:nvSpPr>
        <p:spPr>
          <a:xfrm>
            <a:off x="2057400" y="303580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"amazon.in?"</a:t>
            </a:r>
            <a:endParaRPr lang="en-US" sz="950" dirty="0"/>
          </a:p>
        </p:txBody>
      </p:sp>
      <p:sp>
        <p:nvSpPr>
          <p:cNvPr id="23" name="Shape 21"/>
          <p:cNvSpPr/>
          <p:nvPr/>
        </p:nvSpPr>
        <p:spPr>
          <a:xfrm flipV="1">
            <a:off x="5989320" y="1965960"/>
            <a:ext cx="1554480" cy="868680"/>
          </a:xfrm>
          <a:prstGeom prst="line">
            <a:avLst/>
          </a:prstGeom>
          <a:noFill/>
          <a:ln w="22225">
            <a:solidFill>
              <a:srgbClr val="C2CDD4"/>
            </a:solidFill>
            <a:prstDash val="solid"/>
            <a:headEnd type="none"/>
            <a:tailEnd type="triangle"/>
          </a:ln>
        </p:spPr>
        <p:txBody>
          <a:bodyPr/>
          <a:lstStyle/>
          <a:p>
            <a:endParaRPr lang="en-US"/>
          </a:p>
        </p:txBody>
      </p:sp>
      <p:sp>
        <p:nvSpPr>
          <p:cNvPr id="24" name="Text 22"/>
          <p:cNvSpPr/>
          <p:nvPr/>
        </p:nvSpPr>
        <p:spPr>
          <a:xfrm>
            <a:off x="5029200" y="239572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"where is .in?"</a:t>
            </a:r>
            <a:endParaRPr lang="en-US" sz="950" dirty="0"/>
          </a:p>
        </p:txBody>
      </p:sp>
      <p:sp>
        <p:nvSpPr>
          <p:cNvPr id="25" name="Shape 23"/>
          <p:cNvSpPr/>
          <p:nvPr/>
        </p:nvSpPr>
        <p:spPr>
          <a:xfrm flipV="1">
            <a:off x="5989320" y="2212848"/>
            <a:ext cx="1554480" cy="749808"/>
          </a:xfrm>
          <a:prstGeom prst="line">
            <a:avLst/>
          </a:prstGeom>
          <a:noFill/>
          <a:ln w="22225">
            <a:solidFill>
              <a:srgbClr val="C2CDD4"/>
            </a:solidFill>
            <a:prstDash val="solid"/>
            <a:headEnd type="triangle"/>
            <a:tailEnd type="none"/>
          </a:ln>
        </p:spPr>
        <p:txBody>
          <a:bodyPr/>
          <a:lstStyle/>
          <a:p>
            <a:endParaRPr lang="en-US"/>
          </a:p>
        </p:txBody>
      </p:sp>
      <p:sp>
        <p:nvSpPr>
          <p:cNvPr id="26" name="Text 24"/>
          <p:cNvSpPr/>
          <p:nvPr/>
        </p:nvSpPr>
        <p:spPr>
          <a:xfrm>
            <a:off x="5623560" y="1664208"/>
            <a:ext cx="228600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"ask the .in server"</a:t>
            </a:r>
            <a:endParaRPr lang="en-US" sz="950" dirty="0"/>
          </a:p>
        </p:txBody>
      </p:sp>
      <p:sp>
        <p:nvSpPr>
          <p:cNvPr id="27" name="Shape 25"/>
          <p:cNvSpPr/>
          <p:nvPr/>
        </p:nvSpPr>
        <p:spPr>
          <a:xfrm>
            <a:off x="6035040" y="2889504"/>
            <a:ext cx="1463040" cy="18288"/>
          </a:xfrm>
          <a:prstGeom prst="line">
            <a:avLst/>
          </a:prstGeom>
          <a:noFill/>
          <a:ln w="22225">
            <a:solidFill>
              <a:srgbClr val="C2CDD4"/>
            </a:solidFill>
            <a:prstDash val="solid"/>
            <a:headEnd type="none"/>
            <a:tailEnd type="triangle"/>
          </a:ln>
        </p:spPr>
        <p:txBody>
          <a:bodyPr/>
          <a:lstStyle/>
          <a:p>
            <a:endParaRPr lang="en-US"/>
          </a:p>
        </p:txBody>
      </p:sp>
      <p:sp>
        <p:nvSpPr>
          <p:cNvPr id="28" name="Text 26"/>
          <p:cNvSpPr/>
          <p:nvPr/>
        </p:nvSpPr>
        <p:spPr>
          <a:xfrm>
            <a:off x="5440680" y="2542032"/>
            <a:ext cx="265176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"where is amazon.in?"</a:t>
            </a:r>
            <a:endParaRPr lang="en-US" sz="950" dirty="0"/>
          </a:p>
        </p:txBody>
      </p:sp>
      <p:sp>
        <p:nvSpPr>
          <p:cNvPr id="29" name="Shape 27"/>
          <p:cNvSpPr/>
          <p:nvPr/>
        </p:nvSpPr>
        <p:spPr>
          <a:xfrm>
            <a:off x="6035040" y="3310128"/>
            <a:ext cx="1463040" cy="18288"/>
          </a:xfrm>
          <a:prstGeom prst="line">
            <a:avLst/>
          </a:prstGeom>
          <a:noFill/>
          <a:ln w="22225">
            <a:solidFill>
              <a:srgbClr val="C2CDD4"/>
            </a:solidFill>
            <a:prstDash val="solid"/>
            <a:headEnd type="triangle"/>
            <a:tailEnd type="none"/>
          </a:ln>
        </p:spPr>
        <p:txBody>
          <a:bodyPr/>
          <a:lstStyle/>
          <a:p>
            <a:endParaRPr lang="en-US"/>
          </a:p>
        </p:txBody>
      </p:sp>
      <p:sp>
        <p:nvSpPr>
          <p:cNvPr id="30" name="Text 28"/>
          <p:cNvSpPr/>
          <p:nvPr/>
        </p:nvSpPr>
        <p:spPr>
          <a:xfrm>
            <a:off x="5394960" y="3419856"/>
            <a:ext cx="274320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"ask Amazon's own server"</a:t>
            </a:r>
            <a:endParaRPr lang="en-US" sz="950" dirty="0"/>
          </a:p>
        </p:txBody>
      </p:sp>
      <p:sp>
        <p:nvSpPr>
          <p:cNvPr id="31" name="Shape 29"/>
          <p:cNvSpPr/>
          <p:nvPr/>
        </p:nvSpPr>
        <p:spPr>
          <a:xfrm>
            <a:off x="5989320" y="3246120"/>
            <a:ext cx="1554480" cy="914400"/>
          </a:xfrm>
          <a:prstGeom prst="line">
            <a:avLst/>
          </a:prstGeom>
          <a:noFill/>
          <a:ln w="38100">
            <a:solidFill>
              <a:srgbClr val="E8A33D"/>
            </a:solidFill>
            <a:prstDash val="solid"/>
            <a:headEnd type="none"/>
            <a:tailEnd type="triangle"/>
          </a:ln>
        </p:spPr>
        <p:txBody>
          <a:bodyPr/>
          <a:lstStyle/>
          <a:p>
            <a:endParaRPr lang="en-US"/>
          </a:p>
        </p:txBody>
      </p:sp>
      <p:sp>
        <p:nvSpPr>
          <p:cNvPr id="32" name="Text 30"/>
          <p:cNvSpPr/>
          <p:nvPr/>
        </p:nvSpPr>
        <p:spPr>
          <a:xfrm>
            <a:off x="5029200" y="4041648"/>
            <a:ext cx="210312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"the IP, please"</a:t>
            </a:r>
            <a:endParaRPr lang="en-US" sz="950" dirty="0"/>
          </a:p>
        </p:txBody>
      </p:sp>
      <p:sp>
        <p:nvSpPr>
          <p:cNvPr id="33" name="Shape 31"/>
          <p:cNvSpPr/>
          <p:nvPr/>
        </p:nvSpPr>
        <p:spPr>
          <a:xfrm>
            <a:off x="6766560" y="3639312"/>
            <a:ext cx="292608" cy="292608"/>
          </a:xfrm>
          <a:prstGeom prst="ellipse">
            <a:avLst/>
          </a:prstGeom>
          <a:solidFill>
            <a:srgbClr val="E8A33D"/>
          </a:solidFill>
          <a:ln/>
        </p:spPr>
        <p:txBody>
          <a:bodyPr/>
          <a:lstStyle/>
          <a:p>
            <a:endParaRPr lang="en-US"/>
          </a:p>
        </p:txBody>
      </p:sp>
      <p:sp>
        <p:nvSpPr>
          <p:cNvPr id="34" name="Text 32"/>
          <p:cNvSpPr/>
          <p:nvPr/>
        </p:nvSpPr>
        <p:spPr>
          <a:xfrm>
            <a:off x="6766560" y="3639312"/>
            <a:ext cx="292608" cy="292608"/>
          </a:xfrm>
          <a:prstGeom prst="rect">
            <a:avLst/>
          </a:prstGeom>
          <a:noFill/>
          <a:ln/>
        </p:spPr>
        <p:txBody>
          <a:bodyPr wrap="square" rtlCol="0" anchor="ctr"/>
          <a:lstStyle/>
          <a:p>
            <a:pPr marL="0" indent="0" algn="ctr">
              <a:buNone/>
            </a:pPr>
            <a:r>
              <a:rPr lang="en-US" sz="1050" b="1" dirty="0">
                <a:solidFill>
                  <a:srgbClr val="13293D"/>
                </a:solidFill>
                <a:latin typeface="Calibri" pitchFamily="34" charset="0"/>
                <a:ea typeface="Calibri" pitchFamily="34" charset="-122"/>
                <a:cs typeface="Calibri" pitchFamily="34" charset="-120"/>
              </a:rPr>
              <a:t>4</a:t>
            </a:r>
            <a:endParaRPr lang="en-US" sz="1050" dirty="0"/>
          </a:p>
        </p:txBody>
      </p:sp>
      <p:sp>
        <p:nvSpPr>
          <p:cNvPr id="35" name="Shape 33"/>
          <p:cNvSpPr/>
          <p:nvPr/>
        </p:nvSpPr>
        <p:spPr>
          <a:xfrm>
            <a:off x="5989320" y="3429000"/>
            <a:ext cx="1554480" cy="914400"/>
          </a:xfrm>
          <a:prstGeom prst="line">
            <a:avLst/>
          </a:prstGeom>
          <a:noFill/>
          <a:ln w="38100">
            <a:solidFill>
              <a:srgbClr val="E8A33D"/>
            </a:solidFill>
            <a:prstDash val="solid"/>
            <a:headEnd type="triangle"/>
            <a:tailEnd type="none"/>
          </a:ln>
        </p:spPr>
        <p:txBody>
          <a:bodyPr/>
          <a:lstStyle/>
          <a:p>
            <a:endParaRPr lang="en-US"/>
          </a:p>
        </p:txBody>
      </p:sp>
      <p:sp>
        <p:nvSpPr>
          <p:cNvPr id="36" name="Text 34"/>
          <p:cNvSpPr/>
          <p:nvPr/>
        </p:nvSpPr>
        <p:spPr>
          <a:xfrm>
            <a:off x="5669280" y="4480560"/>
            <a:ext cx="210312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"52.94.236.248"</a:t>
            </a:r>
            <a:endParaRPr lang="en-US" sz="950" dirty="0"/>
          </a:p>
        </p:txBody>
      </p:sp>
      <p:sp>
        <p:nvSpPr>
          <p:cNvPr id="37" name="Shape 35"/>
          <p:cNvSpPr/>
          <p:nvPr/>
        </p:nvSpPr>
        <p:spPr>
          <a:xfrm>
            <a:off x="640080" y="5120640"/>
            <a:ext cx="10698480" cy="914400"/>
          </a:xfrm>
          <a:prstGeom prst="roundRect">
            <a:avLst>
              <a:gd name="adj" fmla="val 6000"/>
            </a:avLst>
          </a:prstGeom>
          <a:solidFill>
            <a:srgbClr val="F4F7F9"/>
          </a:solidFill>
          <a:ln w="15240">
            <a:solidFill>
              <a:srgbClr val="E1E8ED"/>
            </a:solidFill>
            <a:prstDash val="solid"/>
          </a:ln>
        </p:spPr>
        <p:txBody>
          <a:bodyPr/>
          <a:lstStyle/>
          <a:p>
            <a:endParaRPr lang="en-US"/>
          </a:p>
        </p:txBody>
      </p:sp>
      <p:sp>
        <p:nvSpPr>
          <p:cNvPr id="38" name="Text 36"/>
          <p:cNvSpPr/>
          <p:nvPr/>
        </p:nvSpPr>
        <p:spPr>
          <a:xfrm>
            <a:off x="960120" y="512064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Amazon runs its own authoritative nameservers. This is where a company controls what its domain points to — and where it can hand out different IPs to different users.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503920" cy="548640"/>
          </a:xfrm>
          <a:prstGeom prst="rect">
            <a:avLst/>
          </a:prstGeom>
          <a:noFill/>
          <a:ln/>
        </p:spPr>
        <p:txBody>
          <a:bodyPr wrap="square" lIns="0" tIns="0" rIns="0" bIns="0" rtlCol="0" anchor="ctr"/>
          <a:lstStyle/>
          <a:p>
            <a:pPr marL="0" indent="0">
              <a:buNone/>
            </a:pPr>
            <a:r>
              <a:rPr lang="en-US" sz="2700" b="1" dirty="0">
                <a:solidFill>
                  <a:srgbClr val="13293D"/>
                </a:solidFill>
                <a:latin typeface="Cambria" pitchFamily="34" charset="0"/>
                <a:ea typeface="Cambria" pitchFamily="34" charset="-122"/>
                <a:cs typeface="Cambria" pitchFamily="34" charset="-120"/>
              </a:rPr>
              <a:t>The answer comes back, and gets cached</a:t>
            </a:r>
            <a:endParaRPr lang="en-US" sz="2700" dirty="0"/>
          </a:p>
        </p:txBody>
      </p:sp>
      <p:sp>
        <p:nvSpPr>
          <p:cNvPr id="3" name="Shape 1"/>
          <p:cNvSpPr/>
          <p:nvPr/>
        </p:nvSpPr>
        <p:spPr>
          <a:xfrm>
            <a:off x="9509760" y="365760"/>
            <a:ext cx="1874520" cy="457200"/>
          </a:xfrm>
          <a:prstGeom prst="roundRect">
            <a:avLst>
              <a:gd name="adj" fmla="val 40000"/>
            </a:avLst>
          </a:prstGeom>
          <a:solidFill>
            <a:srgbClr val="13293D"/>
          </a:solidFill>
          <a:ln/>
        </p:spPr>
        <p:txBody>
          <a:bodyPr/>
          <a:lstStyle/>
          <a:p>
            <a:endParaRPr lang="en-US"/>
          </a:p>
        </p:txBody>
      </p:sp>
      <p:sp>
        <p:nvSpPr>
          <p:cNvPr id="4" name="Text 2"/>
          <p:cNvSpPr/>
          <p:nvPr/>
        </p:nvSpPr>
        <p:spPr>
          <a:xfrm>
            <a:off x="9509760" y="365760"/>
            <a:ext cx="1874520" cy="457200"/>
          </a:xfrm>
          <a:prstGeom prst="rect">
            <a:avLst/>
          </a:prstGeom>
          <a:noFill/>
          <a:ln/>
        </p:spPr>
        <p:txBody>
          <a:bodyPr wrap="square" rtlCol="0" anchor="ctr"/>
          <a:lstStyle/>
          <a:p>
            <a:pPr marL="0" indent="0" algn="ctr">
              <a:buNone/>
            </a:pPr>
            <a:r>
              <a:rPr lang="en-US" sz="1200" b="1" dirty="0">
                <a:solidFill>
                  <a:srgbClr val="E8A33D"/>
                </a:solidFill>
                <a:latin typeface="Calibri" pitchFamily="34" charset="0"/>
                <a:ea typeface="Calibri" pitchFamily="34" charset="-122"/>
                <a:cs typeface="Calibri" pitchFamily="34" charset="-120"/>
              </a:rPr>
              <a:t>Step 5 of 5</a:t>
            </a:r>
            <a:endParaRPr lang="en-US" sz="1200" dirty="0"/>
          </a:p>
        </p:txBody>
      </p:sp>
      <p:sp>
        <p:nvSpPr>
          <p:cNvPr id="5" name="Text 3"/>
          <p:cNvSpPr/>
          <p:nvPr/>
        </p:nvSpPr>
        <p:spPr>
          <a:xfrm>
            <a:off x="658368" y="896112"/>
            <a:ext cx="10607040" cy="365760"/>
          </a:xfrm>
          <a:prstGeom prst="rect">
            <a:avLst/>
          </a:prstGeom>
          <a:noFill/>
          <a:ln/>
        </p:spPr>
        <p:txBody>
          <a:bodyPr wrap="square" lIns="0" tIns="0" rIns="0" bIns="0" rtlCol="0" anchor="ctr"/>
          <a:lstStyle/>
          <a:p>
            <a:pPr marL="0" indent="0">
              <a:buNone/>
            </a:pPr>
            <a:r>
              <a:rPr lang="en-US" sz="1450" i="1" dirty="0">
                <a:solidFill>
                  <a:srgbClr val="5A6B76"/>
                </a:solidFill>
                <a:latin typeface="Calibri" pitchFamily="34" charset="0"/>
                <a:ea typeface="Calibri" pitchFamily="34" charset="-122"/>
                <a:cs typeface="Calibri" pitchFamily="34" charset="-120"/>
              </a:rPr>
              <a:t>Everyone along the way remembers it for a while.</a:t>
            </a:r>
            <a:endParaRPr lang="en-US" sz="1450" dirty="0"/>
          </a:p>
        </p:txBody>
      </p:sp>
      <p:sp>
        <p:nvSpPr>
          <p:cNvPr id="6" name="Shape 4"/>
          <p:cNvSpPr/>
          <p:nvPr/>
        </p:nvSpPr>
        <p:spPr>
          <a:xfrm>
            <a:off x="640080" y="2606040"/>
            <a:ext cx="2011680" cy="822960"/>
          </a:xfrm>
          <a:prstGeom prst="roundRect">
            <a:avLst>
              <a:gd name="adj" fmla="val 6667"/>
            </a:avLst>
          </a:prstGeom>
          <a:solidFill>
            <a:srgbClr val="1C7293"/>
          </a:solidFill>
          <a:ln/>
        </p:spPr>
        <p:txBody>
          <a:bodyPr/>
          <a:lstStyle/>
          <a:p>
            <a:endParaRPr lang="en-US"/>
          </a:p>
        </p:txBody>
      </p:sp>
      <p:sp>
        <p:nvSpPr>
          <p:cNvPr id="7" name="Text 5"/>
          <p:cNvSpPr/>
          <p:nvPr/>
        </p:nvSpPr>
        <p:spPr>
          <a:xfrm>
            <a:off x="640080" y="2724912"/>
            <a:ext cx="201168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Your browser</a:t>
            </a:r>
            <a:endParaRPr lang="en-US" sz="1350" dirty="0"/>
          </a:p>
        </p:txBody>
      </p:sp>
      <p:sp>
        <p:nvSpPr>
          <p:cNvPr id="8" name="Text 6"/>
          <p:cNvSpPr/>
          <p:nvPr/>
        </p:nvSpPr>
        <p:spPr>
          <a:xfrm>
            <a:off x="640080" y="3026664"/>
            <a:ext cx="201168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wants an IP</a:t>
            </a:r>
            <a:endParaRPr lang="en-US" sz="950" dirty="0"/>
          </a:p>
        </p:txBody>
      </p:sp>
      <p:sp>
        <p:nvSpPr>
          <p:cNvPr id="9" name="Shape 7"/>
          <p:cNvSpPr/>
          <p:nvPr/>
        </p:nvSpPr>
        <p:spPr>
          <a:xfrm>
            <a:off x="3566160" y="2606040"/>
            <a:ext cx="2377440" cy="822960"/>
          </a:xfrm>
          <a:prstGeom prst="roundRect">
            <a:avLst>
              <a:gd name="adj" fmla="val 6667"/>
            </a:avLst>
          </a:prstGeom>
          <a:solidFill>
            <a:srgbClr val="065A82"/>
          </a:solidFill>
          <a:ln/>
        </p:spPr>
        <p:txBody>
          <a:bodyPr/>
          <a:lstStyle/>
          <a:p>
            <a:endParaRPr lang="en-US"/>
          </a:p>
        </p:txBody>
      </p:sp>
      <p:sp>
        <p:nvSpPr>
          <p:cNvPr id="10" name="Text 8"/>
          <p:cNvSpPr/>
          <p:nvPr/>
        </p:nvSpPr>
        <p:spPr>
          <a:xfrm>
            <a:off x="3566160" y="2724912"/>
            <a:ext cx="237744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ISP resolver</a:t>
            </a:r>
            <a:endParaRPr lang="en-US" sz="1350" dirty="0"/>
          </a:p>
        </p:txBody>
      </p:sp>
      <p:sp>
        <p:nvSpPr>
          <p:cNvPr id="11" name="Text 9"/>
          <p:cNvSpPr/>
          <p:nvPr/>
        </p:nvSpPr>
        <p:spPr>
          <a:xfrm>
            <a:off x="3566160" y="3026664"/>
            <a:ext cx="237744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does the legwork</a:t>
            </a:r>
            <a:endParaRPr lang="en-US" sz="950" dirty="0"/>
          </a:p>
        </p:txBody>
      </p:sp>
      <p:sp>
        <p:nvSpPr>
          <p:cNvPr id="12" name="Shape 10"/>
          <p:cNvSpPr/>
          <p:nvPr/>
        </p:nvSpPr>
        <p:spPr>
          <a:xfrm>
            <a:off x="7589520" y="1371600"/>
            <a:ext cx="2743200" cy="822960"/>
          </a:xfrm>
          <a:prstGeom prst="roundRect">
            <a:avLst>
              <a:gd name="adj" fmla="val 6667"/>
            </a:avLst>
          </a:prstGeom>
          <a:solidFill>
            <a:srgbClr val="6B4E71"/>
          </a:solidFill>
          <a:ln/>
        </p:spPr>
        <p:txBody>
          <a:bodyPr/>
          <a:lstStyle/>
          <a:p>
            <a:endParaRPr lang="en-US"/>
          </a:p>
        </p:txBody>
      </p:sp>
      <p:sp>
        <p:nvSpPr>
          <p:cNvPr id="13" name="Text 11"/>
          <p:cNvSpPr/>
          <p:nvPr/>
        </p:nvSpPr>
        <p:spPr>
          <a:xfrm>
            <a:off x="7589520" y="149047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Root nameserver</a:t>
            </a:r>
            <a:endParaRPr lang="en-US" sz="1350" dirty="0"/>
          </a:p>
        </p:txBody>
      </p:sp>
      <p:sp>
        <p:nvSpPr>
          <p:cNvPr id="14" name="Text 12"/>
          <p:cNvSpPr/>
          <p:nvPr/>
        </p:nvSpPr>
        <p:spPr>
          <a:xfrm>
            <a:off x="7589520" y="179222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TLD</a:t>
            </a:r>
            <a:endParaRPr lang="en-US" sz="950" dirty="0"/>
          </a:p>
        </p:txBody>
      </p:sp>
      <p:sp>
        <p:nvSpPr>
          <p:cNvPr id="15" name="Shape 13"/>
          <p:cNvSpPr/>
          <p:nvPr/>
        </p:nvSpPr>
        <p:spPr>
          <a:xfrm>
            <a:off x="7589520" y="2606040"/>
            <a:ext cx="2743200" cy="822960"/>
          </a:xfrm>
          <a:prstGeom prst="roundRect">
            <a:avLst>
              <a:gd name="adj" fmla="val 6667"/>
            </a:avLst>
          </a:prstGeom>
          <a:solidFill>
            <a:srgbClr val="2B4257"/>
          </a:solidFill>
          <a:ln/>
        </p:spPr>
        <p:txBody>
          <a:bodyPr/>
          <a:lstStyle/>
          <a:p>
            <a:endParaRPr lang="en-US"/>
          </a:p>
        </p:txBody>
      </p:sp>
      <p:sp>
        <p:nvSpPr>
          <p:cNvPr id="16" name="Text 14"/>
          <p:cNvSpPr/>
          <p:nvPr/>
        </p:nvSpPr>
        <p:spPr>
          <a:xfrm>
            <a:off x="7589520" y="272491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.in nameserver</a:t>
            </a:r>
            <a:endParaRPr lang="en-US" sz="1350" dirty="0"/>
          </a:p>
        </p:txBody>
      </p:sp>
      <p:sp>
        <p:nvSpPr>
          <p:cNvPr id="17" name="Text 15"/>
          <p:cNvSpPr/>
          <p:nvPr/>
        </p:nvSpPr>
        <p:spPr>
          <a:xfrm>
            <a:off x="7589520" y="302666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knows every .in domain</a:t>
            </a:r>
            <a:endParaRPr lang="en-US" sz="950" dirty="0"/>
          </a:p>
        </p:txBody>
      </p:sp>
      <p:sp>
        <p:nvSpPr>
          <p:cNvPr id="18" name="Shape 16"/>
          <p:cNvSpPr/>
          <p:nvPr/>
        </p:nvSpPr>
        <p:spPr>
          <a:xfrm>
            <a:off x="7589520" y="3840480"/>
            <a:ext cx="2743200" cy="822960"/>
          </a:xfrm>
          <a:prstGeom prst="roundRect">
            <a:avLst>
              <a:gd name="adj" fmla="val 6667"/>
            </a:avLst>
          </a:prstGeom>
          <a:solidFill>
            <a:srgbClr val="2E7D5B"/>
          </a:solidFill>
          <a:ln/>
        </p:spPr>
        <p:txBody>
          <a:bodyPr/>
          <a:lstStyle/>
          <a:p>
            <a:endParaRPr lang="en-US"/>
          </a:p>
        </p:txBody>
      </p:sp>
      <p:sp>
        <p:nvSpPr>
          <p:cNvPr id="19" name="Text 17"/>
          <p:cNvSpPr/>
          <p:nvPr/>
        </p:nvSpPr>
        <p:spPr>
          <a:xfrm>
            <a:off x="7589520" y="3959352"/>
            <a:ext cx="2743200"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Amazon nameserver</a:t>
            </a:r>
            <a:endParaRPr lang="en-US" sz="1350" dirty="0"/>
          </a:p>
        </p:txBody>
      </p:sp>
      <p:sp>
        <p:nvSpPr>
          <p:cNvPr id="20" name="Text 18"/>
          <p:cNvSpPr/>
          <p:nvPr/>
        </p:nvSpPr>
        <p:spPr>
          <a:xfrm>
            <a:off x="7589520" y="4261104"/>
            <a:ext cx="2743200" cy="274320"/>
          </a:xfrm>
          <a:prstGeom prst="rect">
            <a:avLst/>
          </a:prstGeom>
          <a:noFill/>
          <a:ln/>
        </p:spPr>
        <p:txBody>
          <a:bodyPr wrap="square" lIns="0" tIns="0" rIns="0" bIns="0" rtlCol="0" anchor="ctr"/>
          <a:lstStyle/>
          <a:p>
            <a:pPr marL="0" indent="0" algn="ctr">
              <a:buNone/>
            </a:pPr>
            <a:r>
              <a:rPr lang="en-US" sz="950" dirty="0">
                <a:solidFill>
                  <a:srgbClr val="9AD1D4"/>
                </a:solidFill>
                <a:latin typeface="Calibri" pitchFamily="34" charset="0"/>
                <a:ea typeface="Calibri" pitchFamily="34" charset="-122"/>
                <a:cs typeface="Calibri" pitchFamily="34" charset="-120"/>
              </a:rPr>
              <a:t>the authority</a:t>
            </a:r>
            <a:endParaRPr lang="en-US" sz="950" dirty="0"/>
          </a:p>
        </p:txBody>
      </p:sp>
      <p:sp>
        <p:nvSpPr>
          <p:cNvPr id="21" name="Shape 19"/>
          <p:cNvSpPr/>
          <p:nvPr/>
        </p:nvSpPr>
        <p:spPr>
          <a:xfrm>
            <a:off x="2697480" y="2926080"/>
            <a:ext cx="822960" cy="0"/>
          </a:xfrm>
          <a:prstGeom prst="line">
            <a:avLst/>
          </a:prstGeom>
          <a:noFill/>
          <a:ln w="22225">
            <a:solidFill>
              <a:srgbClr val="C2CDD4"/>
            </a:solidFill>
            <a:prstDash val="solid"/>
            <a:headEnd type="none"/>
            <a:tailEnd type="triangle"/>
          </a:ln>
        </p:spPr>
        <p:txBody>
          <a:bodyPr/>
          <a:lstStyle/>
          <a:p>
            <a:endParaRPr lang="en-US"/>
          </a:p>
        </p:txBody>
      </p:sp>
      <p:sp>
        <p:nvSpPr>
          <p:cNvPr id="22" name="Text 20"/>
          <p:cNvSpPr/>
          <p:nvPr/>
        </p:nvSpPr>
        <p:spPr>
          <a:xfrm>
            <a:off x="2057400" y="303580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"amazon.in?"</a:t>
            </a:r>
            <a:endParaRPr lang="en-US" sz="950" dirty="0"/>
          </a:p>
        </p:txBody>
      </p:sp>
      <p:sp>
        <p:nvSpPr>
          <p:cNvPr id="23" name="Shape 21"/>
          <p:cNvSpPr/>
          <p:nvPr/>
        </p:nvSpPr>
        <p:spPr>
          <a:xfrm flipV="1">
            <a:off x="5989320" y="1965960"/>
            <a:ext cx="1554480" cy="868680"/>
          </a:xfrm>
          <a:prstGeom prst="line">
            <a:avLst/>
          </a:prstGeom>
          <a:noFill/>
          <a:ln w="22225">
            <a:solidFill>
              <a:srgbClr val="C2CDD4"/>
            </a:solidFill>
            <a:prstDash val="solid"/>
            <a:headEnd type="none"/>
            <a:tailEnd type="triangle"/>
          </a:ln>
        </p:spPr>
        <p:txBody>
          <a:bodyPr/>
          <a:lstStyle/>
          <a:p>
            <a:endParaRPr lang="en-US"/>
          </a:p>
        </p:txBody>
      </p:sp>
      <p:sp>
        <p:nvSpPr>
          <p:cNvPr id="24" name="Text 22"/>
          <p:cNvSpPr/>
          <p:nvPr/>
        </p:nvSpPr>
        <p:spPr>
          <a:xfrm>
            <a:off x="5029200" y="239572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"where is .in?"</a:t>
            </a:r>
            <a:endParaRPr lang="en-US" sz="950" dirty="0"/>
          </a:p>
        </p:txBody>
      </p:sp>
      <p:sp>
        <p:nvSpPr>
          <p:cNvPr id="25" name="Shape 23"/>
          <p:cNvSpPr/>
          <p:nvPr/>
        </p:nvSpPr>
        <p:spPr>
          <a:xfrm flipV="1">
            <a:off x="5989320" y="2212848"/>
            <a:ext cx="1554480" cy="749808"/>
          </a:xfrm>
          <a:prstGeom prst="line">
            <a:avLst/>
          </a:prstGeom>
          <a:noFill/>
          <a:ln w="22225">
            <a:solidFill>
              <a:srgbClr val="C2CDD4"/>
            </a:solidFill>
            <a:prstDash val="solid"/>
            <a:headEnd type="triangle"/>
            <a:tailEnd type="none"/>
          </a:ln>
        </p:spPr>
        <p:txBody>
          <a:bodyPr/>
          <a:lstStyle/>
          <a:p>
            <a:endParaRPr lang="en-US"/>
          </a:p>
        </p:txBody>
      </p:sp>
      <p:sp>
        <p:nvSpPr>
          <p:cNvPr id="26" name="Text 24"/>
          <p:cNvSpPr/>
          <p:nvPr/>
        </p:nvSpPr>
        <p:spPr>
          <a:xfrm>
            <a:off x="5623560" y="1664208"/>
            <a:ext cx="228600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"ask the .in server"</a:t>
            </a:r>
            <a:endParaRPr lang="en-US" sz="950" dirty="0"/>
          </a:p>
        </p:txBody>
      </p:sp>
      <p:sp>
        <p:nvSpPr>
          <p:cNvPr id="27" name="Shape 25"/>
          <p:cNvSpPr/>
          <p:nvPr/>
        </p:nvSpPr>
        <p:spPr>
          <a:xfrm>
            <a:off x="6035040" y="2889504"/>
            <a:ext cx="1463040" cy="18288"/>
          </a:xfrm>
          <a:prstGeom prst="line">
            <a:avLst/>
          </a:prstGeom>
          <a:noFill/>
          <a:ln w="22225">
            <a:solidFill>
              <a:srgbClr val="C2CDD4"/>
            </a:solidFill>
            <a:prstDash val="solid"/>
            <a:headEnd type="none"/>
            <a:tailEnd type="triangle"/>
          </a:ln>
        </p:spPr>
        <p:txBody>
          <a:bodyPr/>
          <a:lstStyle/>
          <a:p>
            <a:endParaRPr lang="en-US"/>
          </a:p>
        </p:txBody>
      </p:sp>
      <p:sp>
        <p:nvSpPr>
          <p:cNvPr id="28" name="Text 26"/>
          <p:cNvSpPr/>
          <p:nvPr/>
        </p:nvSpPr>
        <p:spPr>
          <a:xfrm>
            <a:off x="5440680" y="2542032"/>
            <a:ext cx="265176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"where is amazon.in?"</a:t>
            </a:r>
            <a:endParaRPr lang="en-US" sz="950" dirty="0"/>
          </a:p>
        </p:txBody>
      </p:sp>
      <p:sp>
        <p:nvSpPr>
          <p:cNvPr id="29" name="Shape 27"/>
          <p:cNvSpPr/>
          <p:nvPr/>
        </p:nvSpPr>
        <p:spPr>
          <a:xfrm>
            <a:off x="6035040" y="3310128"/>
            <a:ext cx="1463040" cy="18288"/>
          </a:xfrm>
          <a:prstGeom prst="line">
            <a:avLst/>
          </a:prstGeom>
          <a:noFill/>
          <a:ln w="22225">
            <a:solidFill>
              <a:srgbClr val="C2CDD4"/>
            </a:solidFill>
            <a:prstDash val="solid"/>
            <a:headEnd type="triangle"/>
            <a:tailEnd type="none"/>
          </a:ln>
        </p:spPr>
        <p:txBody>
          <a:bodyPr/>
          <a:lstStyle/>
          <a:p>
            <a:endParaRPr lang="en-US"/>
          </a:p>
        </p:txBody>
      </p:sp>
      <p:sp>
        <p:nvSpPr>
          <p:cNvPr id="30" name="Text 28"/>
          <p:cNvSpPr/>
          <p:nvPr/>
        </p:nvSpPr>
        <p:spPr>
          <a:xfrm>
            <a:off x="5394960" y="3419856"/>
            <a:ext cx="274320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"ask Amazon's own server"</a:t>
            </a:r>
            <a:endParaRPr lang="en-US" sz="950" dirty="0"/>
          </a:p>
        </p:txBody>
      </p:sp>
      <p:sp>
        <p:nvSpPr>
          <p:cNvPr id="31" name="Shape 29"/>
          <p:cNvSpPr/>
          <p:nvPr/>
        </p:nvSpPr>
        <p:spPr>
          <a:xfrm>
            <a:off x="5989320" y="3246120"/>
            <a:ext cx="1554480" cy="914400"/>
          </a:xfrm>
          <a:prstGeom prst="line">
            <a:avLst/>
          </a:prstGeom>
          <a:noFill/>
          <a:ln w="22225">
            <a:solidFill>
              <a:srgbClr val="C2CDD4"/>
            </a:solidFill>
            <a:prstDash val="solid"/>
            <a:headEnd type="none"/>
            <a:tailEnd type="triangle"/>
          </a:ln>
        </p:spPr>
        <p:txBody>
          <a:bodyPr/>
          <a:lstStyle/>
          <a:p>
            <a:endParaRPr lang="en-US"/>
          </a:p>
        </p:txBody>
      </p:sp>
      <p:sp>
        <p:nvSpPr>
          <p:cNvPr id="32" name="Text 30"/>
          <p:cNvSpPr/>
          <p:nvPr/>
        </p:nvSpPr>
        <p:spPr>
          <a:xfrm>
            <a:off x="5029200" y="4041648"/>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"the IP, please"</a:t>
            </a:r>
            <a:endParaRPr lang="en-US" sz="950" dirty="0"/>
          </a:p>
        </p:txBody>
      </p:sp>
      <p:sp>
        <p:nvSpPr>
          <p:cNvPr id="33" name="Shape 31"/>
          <p:cNvSpPr/>
          <p:nvPr/>
        </p:nvSpPr>
        <p:spPr>
          <a:xfrm>
            <a:off x="5989320" y="3429000"/>
            <a:ext cx="1554480" cy="914400"/>
          </a:xfrm>
          <a:prstGeom prst="line">
            <a:avLst/>
          </a:prstGeom>
          <a:noFill/>
          <a:ln w="22225">
            <a:solidFill>
              <a:srgbClr val="C2CDD4"/>
            </a:solidFill>
            <a:prstDash val="solid"/>
            <a:headEnd type="triangle"/>
            <a:tailEnd type="none"/>
          </a:ln>
        </p:spPr>
        <p:txBody>
          <a:bodyPr/>
          <a:lstStyle/>
          <a:p>
            <a:endParaRPr lang="en-US"/>
          </a:p>
        </p:txBody>
      </p:sp>
      <p:sp>
        <p:nvSpPr>
          <p:cNvPr id="34" name="Text 32"/>
          <p:cNvSpPr/>
          <p:nvPr/>
        </p:nvSpPr>
        <p:spPr>
          <a:xfrm>
            <a:off x="5669280" y="4480560"/>
            <a:ext cx="2103120" cy="256032"/>
          </a:xfrm>
          <a:prstGeom prst="rect">
            <a:avLst/>
          </a:prstGeom>
          <a:noFill/>
          <a:ln/>
        </p:spPr>
        <p:txBody>
          <a:bodyPr wrap="square" lIns="0" tIns="0" rIns="0" bIns="0" rtlCol="0" anchor="ctr"/>
          <a:lstStyle/>
          <a:p>
            <a:pPr marL="0" indent="0" algn="ctr">
              <a:buNone/>
            </a:pPr>
            <a:r>
              <a:rPr lang="en-US" sz="950" dirty="0">
                <a:solidFill>
                  <a:srgbClr val="C2CDD4"/>
                </a:solidFill>
                <a:latin typeface="Calibri" pitchFamily="34" charset="0"/>
                <a:ea typeface="Calibri" pitchFamily="34" charset="-122"/>
                <a:cs typeface="Calibri" pitchFamily="34" charset="-120"/>
              </a:rPr>
              <a:t>"52.94.236.248"</a:t>
            </a:r>
            <a:endParaRPr lang="en-US" sz="950" dirty="0"/>
          </a:p>
        </p:txBody>
      </p:sp>
      <p:sp>
        <p:nvSpPr>
          <p:cNvPr id="35" name="Shape 33"/>
          <p:cNvSpPr/>
          <p:nvPr/>
        </p:nvSpPr>
        <p:spPr>
          <a:xfrm>
            <a:off x="2697480" y="3154680"/>
            <a:ext cx="822960" cy="0"/>
          </a:xfrm>
          <a:prstGeom prst="line">
            <a:avLst/>
          </a:prstGeom>
          <a:noFill/>
          <a:ln w="38100">
            <a:solidFill>
              <a:srgbClr val="E8A33D"/>
            </a:solidFill>
            <a:prstDash val="solid"/>
            <a:headEnd type="triangle"/>
            <a:tailEnd type="none"/>
          </a:ln>
        </p:spPr>
        <p:txBody>
          <a:bodyPr/>
          <a:lstStyle/>
          <a:p>
            <a:endParaRPr lang="en-US"/>
          </a:p>
        </p:txBody>
      </p:sp>
      <p:sp>
        <p:nvSpPr>
          <p:cNvPr id="36" name="Text 34"/>
          <p:cNvSpPr/>
          <p:nvPr/>
        </p:nvSpPr>
        <p:spPr>
          <a:xfrm>
            <a:off x="2057400" y="3273552"/>
            <a:ext cx="2103120" cy="256032"/>
          </a:xfrm>
          <a:prstGeom prst="rect">
            <a:avLst/>
          </a:prstGeom>
          <a:noFill/>
          <a:ln/>
        </p:spPr>
        <p:txBody>
          <a:bodyPr wrap="square" lIns="0" tIns="0" rIns="0" bIns="0" rtlCol="0" anchor="ctr"/>
          <a:lstStyle/>
          <a:p>
            <a:pPr marL="0" indent="0" algn="ctr">
              <a:buNone/>
            </a:pPr>
            <a:r>
              <a:rPr lang="en-US" sz="950" b="1" dirty="0">
                <a:solidFill>
                  <a:srgbClr val="8A5A12"/>
                </a:solidFill>
                <a:latin typeface="Calibri" pitchFamily="34" charset="0"/>
                <a:ea typeface="Calibri" pitchFamily="34" charset="-122"/>
                <a:cs typeface="Calibri" pitchFamily="34" charset="-120"/>
              </a:rPr>
              <a:t>IP + cache it</a:t>
            </a:r>
            <a:endParaRPr lang="en-US" sz="950" dirty="0"/>
          </a:p>
        </p:txBody>
      </p:sp>
      <p:sp>
        <p:nvSpPr>
          <p:cNvPr id="37" name="Shape 35"/>
          <p:cNvSpPr/>
          <p:nvPr/>
        </p:nvSpPr>
        <p:spPr>
          <a:xfrm>
            <a:off x="2971800" y="3401568"/>
            <a:ext cx="292608" cy="292608"/>
          </a:xfrm>
          <a:prstGeom prst="ellipse">
            <a:avLst/>
          </a:prstGeom>
          <a:solidFill>
            <a:srgbClr val="E8A33D"/>
          </a:solidFill>
          <a:ln/>
        </p:spPr>
        <p:txBody>
          <a:bodyPr/>
          <a:lstStyle/>
          <a:p>
            <a:endParaRPr lang="en-US"/>
          </a:p>
        </p:txBody>
      </p:sp>
      <p:sp>
        <p:nvSpPr>
          <p:cNvPr id="38" name="Text 36"/>
          <p:cNvSpPr/>
          <p:nvPr/>
        </p:nvSpPr>
        <p:spPr>
          <a:xfrm>
            <a:off x="2971800" y="3401568"/>
            <a:ext cx="292608" cy="292608"/>
          </a:xfrm>
          <a:prstGeom prst="rect">
            <a:avLst/>
          </a:prstGeom>
          <a:noFill/>
          <a:ln/>
        </p:spPr>
        <p:txBody>
          <a:bodyPr wrap="square" rtlCol="0" anchor="ctr"/>
          <a:lstStyle/>
          <a:p>
            <a:pPr marL="0" indent="0" algn="ctr">
              <a:buNone/>
            </a:pPr>
            <a:r>
              <a:rPr lang="en-US" sz="1050" b="1" dirty="0">
                <a:solidFill>
                  <a:srgbClr val="13293D"/>
                </a:solidFill>
                <a:latin typeface="Calibri" pitchFamily="34" charset="0"/>
                <a:ea typeface="Calibri" pitchFamily="34" charset="-122"/>
                <a:cs typeface="Calibri" pitchFamily="34" charset="-120"/>
              </a:rPr>
              <a:t>5</a:t>
            </a:r>
            <a:endParaRPr lang="en-US" sz="1050" dirty="0"/>
          </a:p>
        </p:txBody>
      </p:sp>
      <p:sp>
        <p:nvSpPr>
          <p:cNvPr id="39" name="Shape 37"/>
          <p:cNvSpPr/>
          <p:nvPr/>
        </p:nvSpPr>
        <p:spPr>
          <a:xfrm>
            <a:off x="640080" y="5120640"/>
            <a:ext cx="10698480" cy="914400"/>
          </a:xfrm>
          <a:prstGeom prst="roundRect">
            <a:avLst>
              <a:gd name="adj" fmla="val 6000"/>
            </a:avLst>
          </a:prstGeom>
          <a:solidFill>
            <a:srgbClr val="FDF3E3"/>
          </a:solidFill>
          <a:ln w="15240">
            <a:solidFill>
              <a:srgbClr val="E8A33D"/>
            </a:solidFill>
            <a:prstDash val="solid"/>
          </a:ln>
        </p:spPr>
        <p:txBody>
          <a:bodyPr/>
          <a:lstStyle/>
          <a:p>
            <a:endParaRPr lang="en-US"/>
          </a:p>
        </p:txBody>
      </p:sp>
      <p:sp>
        <p:nvSpPr>
          <p:cNvPr id="40" name="Text 38"/>
          <p:cNvSpPr/>
          <p:nvPr/>
        </p:nvSpPr>
        <p:spPr>
          <a:xfrm>
            <a:off x="960120" y="512064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resolver caches it, your OS caches it, your browser caches it — each for the record’s TTL. The next student in this room searching amazon.in may skip all four steps entirely.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Two Consequences Worth Knowing</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DNS is not just a phone book — it is a control point</a:t>
            </a:r>
            <a:endParaRPr lang="en-US" sz="1500" dirty="0"/>
          </a:p>
        </p:txBody>
      </p:sp>
      <p:sp>
        <p:nvSpPr>
          <p:cNvPr id="4" name="Shape 2"/>
          <p:cNvSpPr/>
          <p:nvPr/>
        </p:nvSpPr>
        <p:spPr>
          <a:xfrm>
            <a:off x="777240" y="1600200"/>
            <a:ext cx="5212080" cy="2103120"/>
          </a:xfrm>
          <a:prstGeom prst="roundRect">
            <a:avLst>
              <a:gd name="adj" fmla="val 2609"/>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8308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TTL: how long the answer is trusted</a:t>
            </a:r>
            <a:endParaRPr lang="en-US" sz="1550" dirty="0"/>
          </a:p>
        </p:txBody>
      </p:sp>
      <p:sp>
        <p:nvSpPr>
          <p:cNvPr id="6" name="Text 4"/>
          <p:cNvSpPr/>
          <p:nvPr/>
        </p:nvSpPr>
        <p:spPr>
          <a:xfrm>
            <a:off x="1033272" y="2176272"/>
            <a:ext cx="475488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Each record carries a Time To Live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Typical values: 60 seconds to 24 hours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Short TTL = fast changes, more lookups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This is why DNS changes "take time to propagate"</a:t>
            </a:r>
            <a:endParaRPr lang="en-US" sz="1250" dirty="0"/>
          </a:p>
        </p:txBody>
      </p:sp>
      <p:sp>
        <p:nvSpPr>
          <p:cNvPr id="7" name="Shape 5"/>
          <p:cNvSpPr/>
          <p:nvPr/>
        </p:nvSpPr>
        <p:spPr>
          <a:xfrm>
            <a:off x="6172200" y="1600200"/>
            <a:ext cx="5212080" cy="2103120"/>
          </a:xfrm>
          <a:prstGeom prst="roundRect">
            <a:avLst>
              <a:gd name="adj" fmla="val 2609"/>
            </a:avLst>
          </a:prstGeom>
          <a:solidFill>
            <a:srgbClr val="EEF6F7"/>
          </a:solidFill>
          <a:ln w="12700">
            <a:solidFill>
              <a:srgbClr val="E1E8ED"/>
            </a:solidFill>
            <a:prstDash val="solid"/>
          </a:ln>
        </p:spPr>
        <p:txBody>
          <a:bodyPr/>
          <a:lstStyle/>
          <a:p>
            <a:endParaRPr lang="en-US"/>
          </a:p>
        </p:txBody>
      </p:sp>
      <p:sp>
        <p:nvSpPr>
          <p:cNvPr id="8" name="Text 6"/>
          <p:cNvSpPr/>
          <p:nvPr/>
        </p:nvSpPr>
        <p:spPr>
          <a:xfrm>
            <a:off x="6428232" y="1783080"/>
            <a:ext cx="4754880" cy="365760"/>
          </a:xfrm>
          <a:prstGeom prst="rect">
            <a:avLst/>
          </a:prstGeom>
          <a:noFill/>
          <a:ln/>
        </p:spPr>
        <p:txBody>
          <a:bodyPr wrap="square" lIns="0" tIns="0" rIns="0" bIns="0" rtlCol="0" anchor="ctr"/>
          <a:lstStyle/>
          <a:p>
            <a:pPr marL="0" indent="0">
              <a:buNone/>
            </a:pPr>
            <a:r>
              <a:rPr lang="en-US" sz="1550" b="1" dirty="0">
                <a:solidFill>
                  <a:srgbClr val="1C7293"/>
                </a:solidFill>
                <a:latin typeface="Calibri" pitchFamily="34" charset="0"/>
                <a:ea typeface="Calibri" pitchFamily="34" charset="-122"/>
                <a:cs typeface="Calibri" pitchFamily="34" charset="-120"/>
              </a:rPr>
              <a:t>One name, many possible answers</a:t>
            </a:r>
            <a:endParaRPr lang="en-US" sz="1550" dirty="0"/>
          </a:p>
        </p:txBody>
      </p:sp>
      <p:sp>
        <p:nvSpPr>
          <p:cNvPr id="9" name="Text 7"/>
          <p:cNvSpPr/>
          <p:nvPr/>
        </p:nvSpPr>
        <p:spPr>
          <a:xfrm>
            <a:off x="6428232" y="2176272"/>
            <a:ext cx="475488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authoritative server can reply differently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Different IP per region — GeoDNS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Rotate through several IPs — round robin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Return the address of a load balancer</a:t>
            </a:r>
            <a:endParaRPr lang="en-US" sz="1250" dirty="0"/>
          </a:p>
        </p:txBody>
      </p:sp>
      <p:sp>
        <p:nvSpPr>
          <p:cNvPr id="10" name="Shape 8"/>
          <p:cNvSpPr/>
          <p:nvPr/>
        </p:nvSpPr>
        <p:spPr>
          <a:xfrm>
            <a:off x="777240" y="3931920"/>
            <a:ext cx="10607040" cy="1737360"/>
          </a:xfrm>
          <a:prstGeom prst="roundRect">
            <a:avLst>
              <a:gd name="adj" fmla="val 3158"/>
            </a:avLst>
          </a:prstGeom>
          <a:solidFill>
            <a:srgbClr val="FDF3E3"/>
          </a:solidFill>
          <a:ln w="17780">
            <a:solidFill>
              <a:srgbClr val="E8A33D"/>
            </a:solidFill>
            <a:prstDash val="solid"/>
          </a:ln>
        </p:spPr>
        <p:txBody>
          <a:bodyPr/>
          <a:lstStyle/>
          <a:p>
            <a:endParaRPr lang="en-US"/>
          </a:p>
        </p:txBody>
      </p:sp>
      <p:sp>
        <p:nvSpPr>
          <p:cNvPr id="11" name="Text 9"/>
          <p:cNvSpPr/>
          <p:nvPr/>
        </p:nvSpPr>
        <p:spPr>
          <a:xfrm>
            <a:off x="1097280" y="4096512"/>
            <a:ext cx="10058400" cy="365760"/>
          </a:xfrm>
          <a:prstGeom prst="rect">
            <a:avLst/>
          </a:prstGeom>
          <a:noFill/>
          <a:ln/>
        </p:spPr>
        <p:txBody>
          <a:bodyPr wrap="square" lIns="0" tIns="0" rIns="0" bIns="0" rtlCol="0" anchor="ctr"/>
          <a:lstStyle/>
          <a:p>
            <a:pPr marL="0" indent="0">
              <a:buNone/>
            </a:pPr>
            <a:r>
              <a:rPr lang="en-US" sz="1550" b="1" dirty="0">
                <a:solidFill>
                  <a:srgbClr val="8A5A12"/>
                </a:solidFill>
                <a:latin typeface="Calibri" pitchFamily="34" charset="0"/>
                <a:ea typeface="Calibri" pitchFamily="34" charset="-122"/>
                <a:cs typeface="Calibri" pitchFamily="34" charset="-120"/>
              </a:rPr>
              <a:t>The promise from Lecture 1, now kept</a:t>
            </a:r>
            <a:endParaRPr lang="en-US" sz="1550" dirty="0"/>
          </a:p>
        </p:txBody>
      </p:sp>
      <p:sp>
        <p:nvSpPr>
          <p:cNvPr id="12" name="Text 10"/>
          <p:cNvSpPr/>
          <p:nvPr/>
        </p:nvSpPr>
        <p:spPr>
          <a:xfrm>
            <a:off x="1097280" y="4480560"/>
            <a:ext cx="9966960" cy="1097280"/>
          </a:xfrm>
          <a:prstGeom prst="rect">
            <a:avLst/>
          </a:prstGeom>
          <a:noFill/>
          <a:ln/>
        </p:spPr>
        <p:txBody>
          <a:bodyPr wrap="square" lIns="0" tIns="0" rIns="0" bIns="0" rtlCol="0" anchor="ctr"/>
          <a:lstStyle/>
          <a:p>
            <a:pPr marL="0" indent="0">
              <a:lnSpc>
                <a:spcPts val="2000"/>
              </a:lnSpc>
              <a:buNone/>
            </a:pPr>
            <a:r>
              <a:rPr lang="en-US" sz="1400" dirty="0">
                <a:solidFill>
                  <a:srgbClr val="1B2A33"/>
                </a:solidFill>
                <a:latin typeface="Calibri" pitchFamily="34" charset="0"/>
                <a:ea typeface="Calibri" pitchFamily="34" charset="-122"/>
                <a:cs typeface="Calibri" pitchFamily="34" charset="-120"/>
              </a:rPr>
              <a:t>We said a load balancer has one address but many servers behind it. Here is how: amazon.in resolves to the load balancer’s IP, not to any application server. The servers behind it have private addresses the outside world never sees, and can be added or removed without any DNS change at all.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3</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 now have the IP: 52.94.236.248. Your machine and Amazon’s server have never spoken before.</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Can you just fire off the request,</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or is something needed first?</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Think about a phone call. What happens before either person says anything useful?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First, a Handshake</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Three messages before a single byte of your request is sent</a:t>
            </a:r>
            <a:endParaRPr lang="en-US" sz="1500" dirty="0"/>
          </a:p>
        </p:txBody>
      </p:sp>
      <p:sp>
        <p:nvSpPr>
          <p:cNvPr id="4" name="Shape 2"/>
          <p:cNvSpPr/>
          <p:nvPr/>
        </p:nvSpPr>
        <p:spPr>
          <a:xfrm>
            <a:off x="777240" y="1691640"/>
            <a:ext cx="3337560" cy="2011680"/>
          </a:xfrm>
          <a:prstGeom prst="roundRect">
            <a:avLst>
              <a:gd name="adj" fmla="val 3182"/>
            </a:avLst>
          </a:prstGeom>
          <a:solidFill>
            <a:srgbClr val="1C7293"/>
          </a:solidFill>
          <a:ln/>
        </p:spPr>
        <p:txBody>
          <a:bodyPr/>
          <a:lstStyle/>
          <a:p>
            <a:endParaRPr lang="en-US"/>
          </a:p>
        </p:txBody>
      </p:sp>
      <p:sp>
        <p:nvSpPr>
          <p:cNvPr id="5" name="Text 3"/>
          <p:cNvSpPr/>
          <p:nvPr/>
        </p:nvSpPr>
        <p:spPr>
          <a:xfrm>
            <a:off x="1005840" y="1920240"/>
            <a:ext cx="2880360" cy="502920"/>
          </a:xfrm>
          <a:prstGeom prst="rect">
            <a:avLst/>
          </a:prstGeom>
          <a:noFill/>
          <a:ln/>
        </p:spPr>
        <p:txBody>
          <a:bodyPr wrap="square" lIns="0" tIns="0" rIns="0" bIns="0"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SYN</a:t>
            </a:r>
            <a:endParaRPr lang="en-US" sz="2400" dirty="0"/>
          </a:p>
        </p:txBody>
      </p:sp>
      <p:sp>
        <p:nvSpPr>
          <p:cNvPr id="6" name="Text 4"/>
          <p:cNvSpPr/>
          <p:nvPr/>
        </p:nvSpPr>
        <p:spPr>
          <a:xfrm>
            <a:off x="1005840" y="2450592"/>
            <a:ext cx="2880360" cy="320040"/>
          </a:xfrm>
          <a:prstGeom prst="rect">
            <a:avLst/>
          </a:prstGeom>
          <a:noFill/>
          <a:ln/>
        </p:spPr>
        <p:txBody>
          <a:bodyPr wrap="square" lIns="0" tIns="0" rIns="0" bIns="0" rtlCol="0" anchor="ctr"/>
          <a:lstStyle/>
          <a:p>
            <a:pPr marL="0" indent="0">
              <a:buNone/>
            </a:pPr>
            <a:r>
              <a:rPr lang="en-US" sz="1200" dirty="0">
                <a:solidFill>
                  <a:srgbClr val="9AD1D4"/>
                </a:solidFill>
                <a:latin typeface="Calibri" pitchFamily="34" charset="0"/>
                <a:ea typeface="Calibri" pitchFamily="34" charset="-122"/>
                <a:cs typeface="Calibri" pitchFamily="34" charset="-120"/>
              </a:rPr>
              <a:t>Client → Server</a:t>
            </a:r>
            <a:endParaRPr lang="en-US" sz="1200" dirty="0"/>
          </a:p>
        </p:txBody>
      </p:sp>
      <p:sp>
        <p:nvSpPr>
          <p:cNvPr id="7" name="Text 5"/>
          <p:cNvSpPr/>
          <p:nvPr/>
        </p:nvSpPr>
        <p:spPr>
          <a:xfrm>
            <a:off x="1005840" y="2816352"/>
            <a:ext cx="2880360" cy="7315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"I would like to talk. Here is my starting number."</a:t>
            </a:r>
            <a:endParaRPr lang="en-US" sz="1250" dirty="0"/>
          </a:p>
        </p:txBody>
      </p:sp>
      <p:sp>
        <p:nvSpPr>
          <p:cNvPr id="8" name="Text 6"/>
          <p:cNvSpPr/>
          <p:nvPr/>
        </p:nvSpPr>
        <p:spPr>
          <a:xfrm>
            <a:off x="4087368" y="2514600"/>
            <a:ext cx="274320" cy="365760"/>
          </a:xfrm>
          <a:prstGeom prst="rect">
            <a:avLst/>
          </a:prstGeom>
          <a:noFill/>
          <a:ln/>
        </p:spPr>
        <p:txBody>
          <a:bodyPr wrap="square" lIns="0" tIns="0" rIns="0" bIns="0" rtlCol="0" anchor="ctr"/>
          <a:lstStyle/>
          <a:p>
            <a:pPr marL="0" indent="0" algn="ctr">
              <a:buNone/>
            </a:pPr>
            <a:r>
              <a:rPr lang="en-US" sz="1300" dirty="0">
                <a:solidFill>
                  <a:srgbClr val="E8A33D"/>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4389120" y="1691640"/>
            <a:ext cx="3337560" cy="2011680"/>
          </a:xfrm>
          <a:prstGeom prst="roundRect">
            <a:avLst>
              <a:gd name="adj" fmla="val 3182"/>
            </a:avLst>
          </a:prstGeom>
          <a:solidFill>
            <a:srgbClr val="065A82"/>
          </a:solidFill>
          <a:ln/>
        </p:spPr>
        <p:txBody>
          <a:bodyPr/>
          <a:lstStyle/>
          <a:p>
            <a:endParaRPr lang="en-US"/>
          </a:p>
        </p:txBody>
      </p:sp>
      <p:sp>
        <p:nvSpPr>
          <p:cNvPr id="10" name="Text 8"/>
          <p:cNvSpPr/>
          <p:nvPr/>
        </p:nvSpPr>
        <p:spPr>
          <a:xfrm>
            <a:off x="4617720" y="1920240"/>
            <a:ext cx="2880360" cy="502920"/>
          </a:xfrm>
          <a:prstGeom prst="rect">
            <a:avLst/>
          </a:prstGeom>
          <a:noFill/>
          <a:ln/>
        </p:spPr>
        <p:txBody>
          <a:bodyPr wrap="square" lIns="0" tIns="0" rIns="0" bIns="0"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SYN-ACK</a:t>
            </a:r>
            <a:endParaRPr lang="en-US" sz="2400" dirty="0"/>
          </a:p>
        </p:txBody>
      </p:sp>
      <p:sp>
        <p:nvSpPr>
          <p:cNvPr id="11" name="Text 9"/>
          <p:cNvSpPr/>
          <p:nvPr/>
        </p:nvSpPr>
        <p:spPr>
          <a:xfrm>
            <a:off x="4617720" y="2450592"/>
            <a:ext cx="2880360" cy="320040"/>
          </a:xfrm>
          <a:prstGeom prst="rect">
            <a:avLst/>
          </a:prstGeom>
          <a:noFill/>
          <a:ln/>
        </p:spPr>
        <p:txBody>
          <a:bodyPr wrap="square" lIns="0" tIns="0" rIns="0" bIns="0" rtlCol="0" anchor="ctr"/>
          <a:lstStyle/>
          <a:p>
            <a:pPr marL="0" indent="0">
              <a:buNone/>
            </a:pPr>
            <a:r>
              <a:rPr lang="en-US" sz="1200" dirty="0">
                <a:solidFill>
                  <a:srgbClr val="9AD1D4"/>
                </a:solidFill>
                <a:latin typeface="Calibri" pitchFamily="34" charset="0"/>
                <a:ea typeface="Calibri" pitchFamily="34" charset="-122"/>
                <a:cs typeface="Calibri" pitchFamily="34" charset="-120"/>
              </a:rPr>
              <a:t>Server → Client</a:t>
            </a:r>
            <a:endParaRPr lang="en-US" sz="1200" dirty="0"/>
          </a:p>
        </p:txBody>
      </p:sp>
      <p:sp>
        <p:nvSpPr>
          <p:cNvPr id="12" name="Text 10"/>
          <p:cNvSpPr/>
          <p:nvPr/>
        </p:nvSpPr>
        <p:spPr>
          <a:xfrm>
            <a:off x="4617720" y="2816352"/>
            <a:ext cx="2880360" cy="7315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"Heard you. I am willing. Here is mine."</a:t>
            </a:r>
            <a:endParaRPr lang="en-US" sz="1250" dirty="0"/>
          </a:p>
        </p:txBody>
      </p:sp>
      <p:sp>
        <p:nvSpPr>
          <p:cNvPr id="13" name="Text 11"/>
          <p:cNvSpPr/>
          <p:nvPr/>
        </p:nvSpPr>
        <p:spPr>
          <a:xfrm>
            <a:off x="7699248" y="2514600"/>
            <a:ext cx="274320" cy="365760"/>
          </a:xfrm>
          <a:prstGeom prst="rect">
            <a:avLst/>
          </a:prstGeom>
          <a:noFill/>
          <a:ln/>
        </p:spPr>
        <p:txBody>
          <a:bodyPr wrap="square" lIns="0" tIns="0" rIns="0" bIns="0" rtlCol="0" anchor="ctr"/>
          <a:lstStyle/>
          <a:p>
            <a:pPr marL="0" indent="0" algn="ctr">
              <a:buNone/>
            </a:pPr>
            <a:r>
              <a:rPr lang="en-US" sz="1300" dirty="0">
                <a:solidFill>
                  <a:srgbClr val="E8A33D"/>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8001000" y="1691640"/>
            <a:ext cx="3337560" cy="2011680"/>
          </a:xfrm>
          <a:prstGeom prst="roundRect">
            <a:avLst>
              <a:gd name="adj" fmla="val 3182"/>
            </a:avLst>
          </a:prstGeom>
          <a:solidFill>
            <a:srgbClr val="13293D"/>
          </a:solidFill>
          <a:ln/>
        </p:spPr>
        <p:txBody>
          <a:bodyPr/>
          <a:lstStyle/>
          <a:p>
            <a:endParaRPr lang="en-US"/>
          </a:p>
        </p:txBody>
      </p:sp>
      <p:sp>
        <p:nvSpPr>
          <p:cNvPr id="15" name="Text 13"/>
          <p:cNvSpPr/>
          <p:nvPr/>
        </p:nvSpPr>
        <p:spPr>
          <a:xfrm>
            <a:off x="8229600" y="1920240"/>
            <a:ext cx="2880360" cy="502920"/>
          </a:xfrm>
          <a:prstGeom prst="rect">
            <a:avLst/>
          </a:prstGeom>
          <a:noFill/>
          <a:ln/>
        </p:spPr>
        <p:txBody>
          <a:bodyPr wrap="square" lIns="0" tIns="0" rIns="0" bIns="0"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ACK</a:t>
            </a:r>
            <a:endParaRPr lang="en-US" sz="2400" dirty="0"/>
          </a:p>
        </p:txBody>
      </p:sp>
      <p:sp>
        <p:nvSpPr>
          <p:cNvPr id="16" name="Text 14"/>
          <p:cNvSpPr/>
          <p:nvPr/>
        </p:nvSpPr>
        <p:spPr>
          <a:xfrm>
            <a:off x="8229600" y="2450592"/>
            <a:ext cx="2880360" cy="320040"/>
          </a:xfrm>
          <a:prstGeom prst="rect">
            <a:avLst/>
          </a:prstGeom>
          <a:noFill/>
          <a:ln/>
        </p:spPr>
        <p:txBody>
          <a:bodyPr wrap="square" lIns="0" tIns="0" rIns="0" bIns="0" rtlCol="0" anchor="ctr"/>
          <a:lstStyle/>
          <a:p>
            <a:pPr marL="0" indent="0">
              <a:buNone/>
            </a:pPr>
            <a:r>
              <a:rPr lang="en-US" sz="1200" dirty="0">
                <a:solidFill>
                  <a:srgbClr val="9AD1D4"/>
                </a:solidFill>
                <a:latin typeface="Calibri" pitchFamily="34" charset="0"/>
                <a:ea typeface="Calibri" pitchFamily="34" charset="-122"/>
                <a:cs typeface="Calibri" pitchFamily="34" charset="-120"/>
              </a:rPr>
              <a:t>Client → Server</a:t>
            </a:r>
            <a:endParaRPr lang="en-US" sz="1200" dirty="0"/>
          </a:p>
        </p:txBody>
      </p:sp>
      <p:sp>
        <p:nvSpPr>
          <p:cNvPr id="17" name="Text 15"/>
          <p:cNvSpPr/>
          <p:nvPr/>
        </p:nvSpPr>
        <p:spPr>
          <a:xfrm>
            <a:off x="8229600" y="2816352"/>
            <a:ext cx="2880360" cy="7315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"Heard you too. We are connected."</a:t>
            </a:r>
            <a:endParaRPr lang="en-US" sz="1250" dirty="0"/>
          </a:p>
        </p:txBody>
      </p:sp>
      <p:sp>
        <p:nvSpPr>
          <p:cNvPr id="18" name="Shape 16"/>
          <p:cNvSpPr/>
          <p:nvPr/>
        </p:nvSpPr>
        <p:spPr>
          <a:xfrm>
            <a:off x="777240" y="3931920"/>
            <a:ext cx="5212080" cy="1828800"/>
          </a:xfrm>
          <a:prstGeom prst="roundRect">
            <a:avLst>
              <a:gd name="adj" fmla="val 3000"/>
            </a:avLst>
          </a:prstGeom>
          <a:solidFill>
            <a:srgbClr val="F4F7F9"/>
          </a:solidFill>
          <a:ln w="12700">
            <a:solidFill>
              <a:srgbClr val="E1E8ED"/>
            </a:solidFill>
            <a:prstDash val="solid"/>
          </a:ln>
        </p:spPr>
        <p:txBody>
          <a:bodyPr/>
          <a:lstStyle/>
          <a:p>
            <a:endParaRPr lang="en-US"/>
          </a:p>
        </p:txBody>
      </p:sp>
      <p:sp>
        <p:nvSpPr>
          <p:cNvPr id="19" name="Text 17"/>
          <p:cNvSpPr/>
          <p:nvPr/>
        </p:nvSpPr>
        <p:spPr>
          <a:xfrm>
            <a:off x="1033272" y="411480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What TCP guarantees you</a:t>
            </a:r>
            <a:endParaRPr lang="en-US" sz="1550" dirty="0"/>
          </a:p>
        </p:txBody>
      </p:sp>
      <p:sp>
        <p:nvSpPr>
          <p:cNvPr id="20" name="Text 18"/>
          <p:cNvSpPr/>
          <p:nvPr/>
        </p:nvSpPr>
        <p:spPr>
          <a:xfrm>
            <a:off x="1033272" y="4507992"/>
            <a:ext cx="4754880" cy="10515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Every byte arrives, or is resent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Bytes arrive in the order sent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Both sides agree the connection exists</a:t>
            </a:r>
            <a:endParaRPr lang="en-US" sz="1250" dirty="0"/>
          </a:p>
        </p:txBody>
      </p:sp>
      <p:sp>
        <p:nvSpPr>
          <p:cNvPr id="21" name="Shape 19"/>
          <p:cNvSpPr/>
          <p:nvPr/>
        </p:nvSpPr>
        <p:spPr>
          <a:xfrm>
            <a:off x="6172200" y="3931920"/>
            <a:ext cx="5212080" cy="1828800"/>
          </a:xfrm>
          <a:prstGeom prst="roundRect">
            <a:avLst>
              <a:gd name="adj" fmla="val 3000"/>
            </a:avLst>
          </a:prstGeom>
          <a:solidFill>
            <a:srgbClr val="FDF0EE"/>
          </a:solidFill>
          <a:ln w="12700">
            <a:solidFill>
              <a:srgbClr val="E1E8ED"/>
            </a:solidFill>
            <a:prstDash val="solid"/>
          </a:ln>
        </p:spPr>
        <p:txBody>
          <a:bodyPr/>
          <a:lstStyle/>
          <a:p>
            <a:endParaRPr lang="en-US"/>
          </a:p>
        </p:txBody>
      </p:sp>
      <p:sp>
        <p:nvSpPr>
          <p:cNvPr id="22" name="Text 20"/>
          <p:cNvSpPr/>
          <p:nvPr/>
        </p:nvSpPr>
        <p:spPr>
          <a:xfrm>
            <a:off x="6428232" y="411480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What it costs you</a:t>
            </a:r>
            <a:endParaRPr lang="en-US" sz="1550" dirty="0"/>
          </a:p>
        </p:txBody>
      </p:sp>
      <p:sp>
        <p:nvSpPr>
          <p:cNvPr id="23" name="Text 21"/>
          <p:cNvSpPr/>
          <p:nvPr/>
        </p:nvSpPr>
        <p:spPr>
          <a:xfrm>
            <a:off x="6428232" y="4507992"/>
            <a:ext cx="4754880" cy="10515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One full round trip before any data</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Jaipur to Mumbai: roughly 30–40 ms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Jaipur to Virginia: roughly 250 ms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4</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 are on the college wifi. Your request is about to travel through the campus router, your ISP, and perhaps a dozen machines you have never heard of.</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What stops any of them from reading</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your password on the way?</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And a harder one: how do you know the server replying is really Amazon?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A Second Handshake, for Trust</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This is the S in HTTPS</a:t>
            </a:r>
            <a:endParaRPr lang="en-US" sz="1500" dirty="0"/>
          </a:p>
        </p:txBody>
      </p:sp>
      <p:sp>
        <p:nvSpPr>
          <p:cNvPr id="4" name="Shape 2"/>
          <p:cNvSpPr/>
          <p:nvPr/>
        </p:nvSpPr>
        <p:spPr>
          <a:xfrm>
            <a:off x="777240" y="1508760"/>
            <a:ext cx="10607040" cy="822960"/>
          </a:xfrm>
          <a:prstGeom prst="roundRect">
            <a:avLst>
              <a:gd name="adj" fmla="val 6667"/>
            </a:avLst>
          </a:prstGeom>
          <a:solidFill>
            <a:srgbClr val="13293D"/>
          </a:solidFill>
          <a:ln/>
        </p:spPr>
        <p:txBody>
          <a:bodyPr/>
          <a:lstStyle/>
          <a:p>
            <a:endParaRPr lang="en-US"/>
          </a:p>
        </p:txBody>
      </p:sp>
      <p:sp>
        <p:nvSpPr>
          <p:cNvPr id="5" name="Text 3"/>
          <p:cNvSpPr/>
          <p:nvPr/>
        </p:nvSpPr>
        <p:spPr>
          <a:xfrm>
            <a:off x="1097280" y="1508760"/>
            <a:ext cx="10058400" cy="82296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TLS does two jobs at once. It proves the server really is Amazon, and it agrees a secret key so that everything after this point is unreadable to anyone in between.</a:t>
            </a:r>
            <a:endParaRPr lang="en-US" sz="1550" dirty="0"/>
          </a:p>
        </p:txBody>
      </p:sp>
      <p:sp>
        <p:nvSpPr>
          <p:cNvPr id="6" name="Shape 4"/>
          <p:cNvSpPr/>
          <p:nvPr/>
        </p:nvSpPr>
        <p:spPr>
          <a:xfrm>
            <a:off x="777240" y="2606040"/>
            <a:ext cx="10607040" cy="566928"/>
          </a:xfrm>
          <a:prstGeom prst="roundRect">
            <a:avLst>
              <a:gd name="adj" fmla="val 8065"/>
            </a:avLst>
          </a:prstGeom>
          <a:solidFill>
            <a:srgbClr val="FFFFFF"/>
          </a:solidFill>
          <a:ln w="12700">
            <a:solidFill>
              <a:srgbClr val="E1E8ED"/>
            </a:solidFill>
            <a:prstDash val="solid"/>
          </a:ln>
        </p:spPr>
        <p:txBody>
          <a:bodyPr/>
          <a:lstStyle/>
          <a:p>
            <a:endParaRPr lang="en-US"/>
          </a:p>
        </p:txBody>
      </p:sp>
      <p:sp>
        <p:nvSpPr>
          <p:cNvPr id="7" name="Shape 5"/>
          <p:cNvSpPr/>
          <p:nvPr/>
        </p:nvSpPr>
        <p:spPr>
          <a:xfrm>
            <a:off x="1005840" y="2706624"/>
            <a:ext cx="365760" cy="365760"/>
          </a:xfrm>
          <a:prstGeom prst="ellipse">
            <a:avLst/>
          </a:prstGeom>
          <a:solidFill>
            <a:srgbClr val="065A82"/>
          </a:solidFill>
          <a:ln/>
        </p:spPr>
        <p:txBody>
          <a:bodyPr/>
          <a:lstStyle/>
          <a:p>
            <a:endParaRPr lang="en-US"/>
          </a:p>
        </p:txBody>
      </p:sp>
      <p:sp>
        <p:nvSpPr>
          <p:cNvPr id="8" name="Text 6"/>
          <p:cNvSpPr/>
          <p:nvPr/>
        </p:nvSpPr>
        <p:spPr>
          <a:xfrm>
            <a:off x="1005840" y="270662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554480" y="2606040"/>
            <a:ext cx="1828800" cy="566928"/>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Hello</a:t>
            </a:r>
            <a:endParaRPr lang="en-US" sz="1400" dirty="0"/>
          </a:p>
        </p:txBody>
      </p:sp>
      <p:sp>
        <p:nvSpPr>
          <p:cNvPr id="10" name="Text 8"/>
          <p:cNvSpPr/>
          <p:nvPr/>
        </p:nvSpPr>
        <p:spPr>
          <a:xfrm>
            <a:off x="3429000" y="2606040"/>
            <a:ext cx="7680960" cy="566928"/>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Client offers the encryption methods it supports; server picks one.</a:t>
            </a:r>
            <a:endParaRPr lang="en-US" sz="1250" dirty="0"/>
          </a:p>
        </p:txBody>
      </p:sp>
      <p:sp>
        <p:nvSpPr>
          <p:cNvPr id="11" name="Shape 9"/>
          <p:cNvSpPr/>
          <p:nvPr/>
        </p:nvSpPr>
        <p:spPr>
          <a:xfrm>
            <a:off x="777240" y="3264408"/>
            <a:ext cx="10607040" cy="566928"/>
          </a:xfrm>
          <a:prstGeom prst="roundRect">
            <a:avLst>
              <a:gd name="adj" fmla="val 8065"/>
            </a:avLst>
          </a:prstGeom>
          <a:solidFill>
            <a:srgbClr val="F4F7F9"/>
          </a:solidFill>
          <a:ln w="12700">
            <a:solidFill>
              <a:srgbClr val="E1E8ED"/>
            </a:solidFill>
            <a:prstDash val="solid"/>
          </a:ln>
        </p:spPr>
        <p:txBody>
          <a:bodyPr/>
          <a:lstStyle/>
          <a:p>
            <a:endParaRPr lang="en-US"/>
          </a:p>
        </p:txBody>
      </p:sp>
      <p:sp>
        <p:nvSpPr>
          <p:cNvPr id="12" name="Shape 10"/>
          <p:cNvSpPr/>
          <p:nvPr/>
        </p:nvSpPr>
        <p:spPr>
          <a:xfrm>
            <a:off x="1005840" y="3364992"/>
            <a:ext cx="365760" cy="365760"/>
          </a:xfrm>
          <a:prstGeom prst="ellipse">
            <a:avLst/>
          </a:prstGeom>
          <a:solidFill>
            <a:srgbClr val="065A82"/>
          </a:solidFill>
          <a:ln/>
        </p:spPr>
        <p:txBody>
          <a:bodyPr/>
          <a:lstStyle/>
          <a:p>
            <a:endParaRPr lang="en-US"/>
          </a:p>
        </p:txBody>
      </p:sp>
      <p:sp>
        <p:nvSpPr>
          <p:cNvPr id="13" name="Text 11"/>
          <p:cNvSpPr/>
          <p:nvPr/>
        </p:nvSpPr>
        <p:spPr>
          <a:xfrm>
            <a:off x="1005840" y="336499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554480" y="3264408"/>
            <a:ext cx="1828800" cy="566928"/>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Certificate</a:t>
            </a:r>
            <a:endParaRPr lang="en-US" sz="1400" dirty="0"/>
          </a:p>
        </p:txBody>
      </p:sp>
      <p:sp>
        <p:nvSpPr>
          <p:cNvPr id="15" name="Text 13"/>
          <p:cNvSpPr/>
          <p:nvPr/>
        </p:nvSpPr>
        <p:spPr>
          <a:xfrm>
            <a:off x="3429000" y="3264408"/>
            <a:ext cx="7680960" cy="566928"/>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Server sends a certificate signed by a Certificate Authority your browser already trusts.</a:t>
            </a:r>
            <a:endParaRPr lang="en-US" sz="1250" dirty="0"/>
          </a:p>
        </p:txBody>
      </p:sp>
      <p:sp>
        <p:nvSpPr>
          <p:cNvPr id="16" name="Shape 14"/>
          <p:cNvSpPr/>
          <p:nvPr/>
        </p:nvSpPr>
        <p:spPr>
          <a:xfrm>
            <a:off x="777240" y="3922776"/>
            <a:ext cx="10607040" cy="566928"/>
          </a:xfrm>
          <a:prstGeom prst="roundRect">
            <a:avLst>
              <a:gd name="adj" fmla="val 8065"/>
            </a:avLst>
          </a:prstGeom>
          <a:solidFill>
            <a:srgbClr val="FFFFFF"/>
          </a:solidFill>
          <a:ln w="12700">
            <a:solidFill>
              <a:srgbClr val="E1E8ED"/>
            </a:solidFill>
            <a:prstDash val="solid"/>
          </a:ln>
        </p:spPr>
        <p:txBody>
          <a:bodyPr/>
          <a:lstStyle/>
          <a:p>
            <a:endParaRPr lang="en-US"/>
          </a:p>
        </p:txBody>
      </p:sp>
      <p:sp>
        <p:nvSpPr>
          <p:cNvPr id="17" name="Shape 15"/>
          <p:cNvSpPr/>
          <p:nvPr/>
        </p:nvSpPr>
        <p:spPr>
          <a:xfrm>
            <a:off x="1005840" y="4023360"/>
            <a:ext cx="365760" cy="365760"/>
          </a:xfrm>
          <a:prstGeom prst="ellipse">
            <a:avLst/>
          </a:prstGeom>
          <a:solidFill>
            <a:srgbClr val="065A82"/>
          </a:solidFill>
          <a:ln/>
        </p:spPr>
        <p:txBody>
          <a:bodyPr/>
          <a:lstStyle/>
          <a:p>
            <a:endParaRPr lang="en-US"/>
          </a:p>
        </p:txBody>
      </p:sp>
      <p:sp>
        <p:nvSpPr>
          <p:cNvPr id="18" name="Text 16"/>
          <p:cNvSpPr/>
          <p:nvPr/>
        </p:nvSpPr>
        <p:spPr>
          <a:xfrm>
            <a:off x="1005840" y="402336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554480" y="3922776"/>
            <a:ext cx="1828800" cy="566928"/>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Verify</a:t>
            </a:r>
            <a:endParaRPr lang="en-US" sz="1400" dirty="0"/>
          </a:p>
        </p:txBody>
      </p:sp>
      <p:sp>
        <p:nvSpPr>
          <p:cNvPr id="20" name="Text 18"/>
          <p:cNvSpPr/>
          <p:nvPr/>
        </p:nvSpPr>
        <p:spPr>
          <a:xfrm>
            <a:off x="3429000" y="3922776"/>
            <a:ext cx="7680960" cy="566928"/>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Browser checks the signature, the domain name and the expiry date.</a:t>
            </a:r>
            <a:endParaRPr lang="en-US" sz="1250" dirty="0"/>
          </a:p>
        </p:txBody>
      </p:sp>
      <p:sp>
        <p:nvSpPr>
          <p:cNvPr id="21" name="Shape 19"/>
          <p:cNvSpPr/>
          <p:nvPr/>
        </p:nvSpPr>
        <p:spPr>
          <a:xfrm>
            <a:off x="777240" y="4581144"/>
            <a:ext cx="10607040" cy="566928"/>
          </a:xfrm>
          <a:prstGeom prst="roundRect">
            <a:avLst>
              <a:gd name="adj" fmla="val 8065"/>
            </a:avLst>
          </a:prstGeom>
          <a:solidFill>
            <a:srgbClr val="F4F7F9"/>
          </a:solidFill>
          <a:ln w="12700">
            <a:solidFill>
              <a:srgbClr val="E1E8ED"/>
            </a:solidFill>
            <a:prstDash val="solid"/>
          </a:ln>
        </p:spPr>
        <p:txBody>
          <a:bodyPr/>
          <a:lstStyle/>
          <a:p>
            <a:endParaRPr lang="en-US"/>
          </a:p>
        </p:txBody>
      </p:sp>
      <p:sp>
        <p:nvSpPr>
          <p:cNvPr id="22" name="Shape 20"/>
          <p:cNvSpPr/>
          <p:nvPr/>
        </p:nvSpPr>
        <p:spPr>
          <a:xfrm>
            <a:off x="1005840" y="4681728"/>
            <a:ext cx="365760" cy="365760"/>
          </a:xfrm>
          <a:prstGeom prst="ellipse">
            <a:avLst/>
          </a:prstGeom>
          <a:solidFill>
            <a:srgbClr val="065A82"/>
          </a:solidFill>
          <a:ln/>
        </p:spPr>
        <p:txBody>
          <a:bodyPr/>
          <a:lstStyle/>
          <a:p>
            <a:endParaRPr lang="en-US"/>
          </a:p>
        </p:txBody>
      </p:sp>
      <p:sp>
        <p:nvSpPr>
          <p:cNvPr id="23" name="Text 21"/>
          <p:cNvSpPr/>
          <p:nvPr/>
        </p:nvSpPr>
        <p:spPr>
          <a:xfrm>
            <a:off x="1005840" y="468172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554480" y="4581144"/>
            <a:ext cx="1828800" cy="566928"/>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Key exchange</a:t>
            </a:r>
            <a:endParaRPr lang="en-US" sz="1400" dirty="0"/>
          </a:p>
        </p:txBody>
      </p:sp>
      <p:sp>
        <p:nvSpPr>
          <p:cNvPr id="25" name="Text 23"/>
          <p:cNvSpPr/>
          <p:nvPr/>
        </p:nvSpPr>
        <p:spPr>
          <a:xfrm>
            <a:off x="3429000" y="4581144"/>
            <a:ext cx="7680960" cy="566928"/>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Both sides derive a shared secret key without ever sending it across the wire.</a:t>
            </a:r>
            <a:endParaRPr lang="en-US" sz="1250" dirty="0"/>
          </a:p>
        </p:txBody>
      </p:sp>
      <p:sp>
        <p:nvSpPr>
          <p:cNvPr id="26" name="Shape 24"/>
          <p:cNvSpPr/>
          <p:nvPr/>
        </p:nvSpPr>
        <p:spPr>
          <a:xfrm>
            <a:off x="777240" y="5239512"/>
            <a:ext cx="10607040" cy="566928"/>
          </a:xfrm>
          <a:prstGeom prst="roundRect">
            <a:avLst>
              <a:gd name="adj" fmla="val 8065"/>
            </a:avLst>
          </a:prstGeom>
          <a:solidFill>
            <a:srgbClr val="FFFFFF"/>
          </a:solidFill>
          <a:ln w="12700">
            <a:solidFill>
              <a:srgbClr val="E1E8ED"/>
            </a:solidFill>
            <a:prstDash val="solid"/>
          </a:ln>
        </p:spPr>
        <p:txBody>
          <a:bodyPr/>
          <a:lstStyle/>
          <a:p>
            <a:endParaRPr lang="en-US"/>
          </a:p>
        </p:txBody>
      </p:sp>
      <p:sp>
        <p:nvSpPr>
          <p:cNvPr id="27" name="Shape 25"/>
          <p:cNvSpPr/>
          <p:nvPr/>
        </p:nvSpPr>
        <p:spPr>
          <a:xfrm>
            <a:off x="1005840" y="5340096"/>
            <a:ext cx="365760" cy="365760"/>
          </a:xfrm>
          <a:prstGeom prst="ellipse">
            <a:avLst/>
          </a:prstGeom>
          <a:solidFill>
            <a:srgbClr val="065A82"/>
          </a:solidFill>
          <a:ln/>
        </p:spPr>
        <p:txBody>
          <a:bodyPr/>
          <a:lstStyle/>
          <a:p>
            <a:endParaRPr lang="en-US"/>
          </a:p>
        </p:txBody>
      </p:sp>
      <p:sp>
        <p:nvSpPr>
          <p:cNvPr id="28" name="Text 26"/>
          <p:cNvSpPr/>
          <p:nvPr/>
        </p:nvSpPr>
        <p:spPr>
          <a:xfrm>
            <a:off x="1005840" y="534009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1554480" y="5239512"/>
            <a:ext cx="1828800" cy="566928"/>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Encrypted</a:t>
            </a:r>
            <a:endParaRPr lang="en-US" sz="1400" dirty="0"/>
          </a:p>
        </p:txBody>
      </p:sp>
      <p:sp>
        <p:nvSpPr>
          <p:cNvPr id="30" name="Text 28"/>
          <p:cNvSpPr/>
          <p:nvPr/>
        </p:nvSpPr>
        <p:spPr>
          <a:xfrm>
            <a:off x="3429000" y="5239512"/>
            <a:ext cx="7680960" cy="566928"/>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Everything from here on is ciphertext. The padlock appears.</a:t>
            </a:r>
            <a:endParaRPr lang="en-US" sz="1250" dirty="0"/>
          </a:p>
        </p:txBody>
      </p:sp>
      <p:sp>
        <p:nvSpPr>
          <p:cNvPr id="31" name="Text 29"/>
          <p:cNvSpPr/>
          <p:nvPr/>
        </p:nvSpPr>
        <p:spPr>
          <a:xfrm>
            <a:off x="777240" y="5943600"/>
            <a:ext cx="10607040" cy="41148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Certificates answer the second question: anyone can encrypt, but only Amazon holds a certificate a CA has signed for amazon.in.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731520" y="502920"/>
            <a:ext cx="1078992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Count the Round Trips</a:t>
            </a:r>
            <a:endParaRPr lang="en-US" sz="3200" dirty="0"/>
          </a:p>
        </p:txBody>
      </p:sp>
      <p:sp>
        <p:nvSpPr>
          <p:cNvPr id="3" name="Text 1"/>
          <p:cNvSpPr/>
          <p:nvPr/>
        </p:nvSpPr>
        <p:spPr>
          <a:xfrm>
            <a:off x="749808" y="1143000"/>
            <a:ext cx="10789920" cy="365760"/>
          </a:xfrm>
          <a:prstGeom prst="rect">
            <a:avLst/>
          </a:prstGeom>
          <a:noFill/>
          <a:ln/>
        </p:spPr>
        <p:txBody>
          <a:bodyPr wrap="square" lIns="0" tIns="0" rIns="0" bIns="0" rtlCol="0" anchor="ctr"/>
          <a:lstStyle/>
          <a:p>
            <a:pPr marL="0" indent="0">
              <a:buNone/>
            </a:pPr>
            <a:r>
              <a:rPr lang="en-US" sz="1500" i="1" dirty="0">
                <a:solidFill>
                  <a:srgbClr val="9AD1D4"/>
                </a:solidFill>
                <a:latin typeface="Calibri" pitchFamily="34" charset="0"/>
                <a:ea typeface="Calibri" pitchFamily="34" charset="-122"/>
                <a:cs typeface="Calibri" pitchFamily="34" charset="-120"/>
              </a:rPr>
              <a:t>Before one byte of Amazon’s HTML arrives, this much has already happened.</a:t>
            </a:r>
            <a:endParaRPr lang="en-US" sz="1500" dirty="0"/>
          </a:p>
        </p:txBody>
      </p:sp>
      <p:sp>
        <p:nvSpPr>
          <p:cNvPr id="4" name="Shape 2"/>
          <p:cNvSpPr/>
          <p:nvPr/>
        </p:nvSpPr>
        <p:spPr>
          <a:xfrm>
            <a:off x="777240" y="1783080"/>
            <a:ext cx="10607040" cy="658368"/>
          </a:xfrm>
          <a:prstGeom prst="roundRect">
            <a:avLst>
              <a:gd name="adj" fmla="val 6944"/>
            </a:avLst>
          </a:prstGeom>
          <a:solidFill>
            <a:srgbClr val="1D3D52"/>
          </a:solidFill>
          <a:ln/>
        </p:spPr>
        <p:txBody>
          <a:bodyPr/>
          <a:lstStyle/>
          <a:p>
            <a:endParaRPr lang="en-US"/>
          </a:p>
        </p:txBody>
      </p:sp>
      <p:sp>
        <p:nvSpPr>
          <p:cNvPr id="5" name="Text 3"/>
          <p:cNvSpPr/>
          <p:nvPr/>
        </p:nvSpPr>
        <p:spPr>
          <a:xfrm>
            <a:off x="1097280" y="1783080"/>
            <a:ext cx="402336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DNS lookup</a:t>
            </a:r>
            <a:endParaRPr lang="en-US" sz="1500" dirty="0"/>
          </a:p>
        </p:txBody>
      </p:sp>
      <p:sp>
        <p:nvSpPr>
          <p:cNvPr id="6" name="Text 4"/>
          <p:cNvSpPr/>
          <p:nvPr/>
        </p:nvSpPr>
        <p:spPr>
          <a:xfrm>
            <a:off x="5212080" y="1783080"/>
            <a:ext cx="4023360" cy="658368"/>
          </a:xfrm>
          <a:prstGeom prst="rect">
            <a:avLst/>
          </a:prstGeom>
          <a:noFill/>
          <a:ln/>
        </p:spPr>
        <p:txBody>
          <a:bodyPr wrap="square" lIns="0" tIns="0" rIns="0" bIns="0" rtlCol="0" anchor="ctr"/>
          <a:lstStyle/>
          <a:p>
            <a:pPr marL="0" indent="0">
              <a:buNone/>
            </a:pPr>
            <a:r>
              <a:rPr lang="en-US" sz="1300" dirty="0">
                <a:solidFill>
                  <a:srgbClr val="9AD1D4"/>
                </a:solidFill>
                <a:latin typeface="Calibri" pitchFamily="34" charset="0"/>
                <a:ea typeface="Calibri" pitchFamily="34" charset="-122"/>
                <a:cs typeface="Calibri" pitchFamily="34" charset="-120"/>
              </a:rPr>
              <a:t>if not cached</a:t>
            </a:r>
            <a:endParaRPr lang="en-US" sz="1300" dirty="0"/>
          </a:p>
        </p:txBody>
      </p:sp>
      <p:sp>
        <p:nvSpPr>
          <p:cNvPr id="7" name="Text 5"/>
          <p:cNvSpPr/>
          <p:nvPr/>
        </p:nvSpPr>
        <p:spPr>
          <a:xfrm>
            <a:off x="9326880" y="1783080"/>
            <a:ext cx="1828800" cy="658368"/>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~50 ms</a:t>
            </a:r>
            <a:endParaRPr lang="en-US" sz="1500" dirty="0"/>
          </a:p>
        </p:txBody>
      </p:sp>
      <p:sp>
        <p:nvSpPr>
          <p:cNvPr id="8" name="Shape 6"/>
          <p:cNvSpPr/>
          <p:nvPr/>
        </p:nvSpPr>
        <p:spPr>
          <a:xfrm>
            <a:off x="777240" y="2560320"/>
            <a:ext cx="10607040" cy="658368"/>
          </a:xfrm>
          <a:prstGeom prst="roundRect">
            <a:avLst>
              <a:gd name="adj" fmla="val 6944"/>
            </a:avLst>
          </a:prstGeom>
          <a:solidFill>
            <a:srgbClr val="1D3D52"/>
          </a:solidFill>
          <a:ln/>
        </p:spPr>
        <p:txBody>
          <a:bodyPr/>
          <a:lstStyle/>
          <a:p>
            <a:endParaRPr lang="en-US"/>
          </a:p>
        </p:txBody>
      </p:sp>
      <p:sp>
        <p:nvSpPr>
          <p:cNvPr id="9" name="Text 7"/>
          <p:cNvSpPr/>
          <p:nvPr/>
        </p:nvSpPr>
        <p:spPr>
          <a:xfrm>
            <a:off x="1097280" y="2560320"/>
            <a:ext cx="402336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TCP handshake</a:t>
            </a:r>
            <a:endParaRPr lang="en-US" sz="1500" dirty="0"/>
          </a:p>
        </p:txBody>
      </p:sp>
      <p:sp>
        <p:nvSpPr>
          <p:cNvPr id="10" name="Text 8"/>
          <p:cNvSpPr/>
          <p:nvPr/>
        </p:nvSpPr>
        <p:spPr>
          <a:xfrm>
            <a:off x="5212080" y="2560320"/>
            <a:ext cx="4023360" cy="658368"/>
          </a:xfrm>
          <a:prstGeom prst="rect">
            <a:avLst/>
          </a:prstGeom>
          <a:noFill/>
          <a:ln/>
        </p:spPr>
        <p:txBody>
          <a:bodyPr wrap="square" lIns="0" tIns="0" rIns="0" bIns="0" rtlCol="0" anchor="ctr"/>
          <a:lstStyle/>
          <a:p>
            <a:pPr marL="0" indent="0">
              <a:buNone/>
            </a:pPr>
            <a:r>
              <a:rPr lang="en-US" sz="1300" dirty="0">
                <a:solidFill>
                  <a:srgbClr val="9AD1D4"/>
                </a:solidFill>
                <a:latin typeface="Calibri" pitchFamily="34" charset="0"/>
                <a:ea typeface="Calibri" pitchFamily="34" charset="-122"/>
                <a:cs typeface="Calibri" pitchFamily="34" charset="-120"/>
              </a:rPr>
              <a:t>1 round trip</a:t>
            </a:r>
            <a:endParaRPr lang="en-US" sz="1300" dirty="0"/>
          </a:p>
        </p:txBody>
      </p:sp>
      <p:sp>
        <p:nvSpPr>
          <p:cNvPr id="11" name="Text 9"/>
          <p:cNvSpPr/>
          <p:nvPr/>
        </p:nvSpPr>
        <p:spPr>
          <a:xfrm>
            <a:off x="9326880" y="2560320"/>
            <a:ext cx="1828800" cy="658368"/>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~40 ms</a:t>
            </a:r>
            <a:endParaRPr lang="en-US" sz="1500" dirty="0"/>
          </a:p>
        </p:txBody>
      </p:sp>
      <p:sp>
        <p:nvSpPr>
          <p:cNvPr id="12" name="Shape 10"/>
          <p:cNvSpPr/>
          <p:nvPr/>
        </p:nvSpPr>
        <p:spPr>
          <a:xfrm>
            <a:off x="777240" y="3337560"/>
            <a:ext cx="10607040" cy="658368"/>
          </a:xfrm>
          <a:prstGeom prst="roundRect">
            <a:avLst>
              <a:gd name="adj" fmla="val 6944"/>
            </a:avLst>
          </a:prstGeom>
          <a:solidFill>
            <a:srgbClr val="1D3D52"/>
          </a:solidFill>
          <a:ln/>
        </p:spPr>
        <p:txBody>
          <a:bodyPr/>
          <a:lstStyle/>
          <a:p>
            <a:endParaRPr lang="en-US"/>
          </a:p>
        </p:txBody>
      </p:sp>
      <p:sp>
        <p:nvSpPr>
          <p:cNvPr id="13" name="Text 11"/>
          <p:cNvSpPr/>
          <p:nvPr/>
        </p:nvSpPr>
        <p:spPr>
          <a:xfrm>
            <a:off x="1097280" y="3337560"/>
            <a:ext cx="402336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TLS handshake</a:t>
            </a:r>
            <a:endParaRPr lang="en-US" sz="1500" dirty="0"/>
          </a:p>
        </p:txBody>
      </p:sp>
      <p:sp>
        <p:nvSpPr>
          <p:cNvPr id="14" name="Text 12"/>
          <p:cNvSpPr/>
          <p:nvPr/>
        </p:nvSpPr>
        <p:spPr>
          <a:xfrm>
            <a:off x="5212080" y="3337560"/>
            <a:ext cx="4023360" cy="658368"/>
          </a:xfrm>
          <a:prstGeom prst="rect">
            <a:avLst/>
          </a:prstGeom>
          <a:noFill/>
          <a:ln/>
        </p:spPr>
        <p:txBody>
          <a:bodyPr wrap="square" lIns="0" tIns="0" rIns="0" bIns="0" rtlCol="0" anchor="ctr"/>
          <a:lstStyle/>
          <a:p>
            <a:pPr marL="0" indent="0">
              <a:buNone/>
            </a:pPr>
            <a:r>
              <a:rPr lang="en-US" sz="1300" dirty="0">
                <a:solidFill>
                  <a:srgbClr val="9AD1D4"/>
                </a:solidFill>
                <a:latin typeface="Calibri" pitchFamily="34" charset="0"/>
                <a:ea typeface="Calibri" pitchFamily="34" charset="-122"/>
                <a:cs typeface="Calibri" pitchFamily="34" charset="-120"/>
              </a:rPr>
              <a:t>1–2 round trips</a:t>
            </a:r>
            <a:endParaRPr lang="en-US" sz="1300" dirty="0"/>
          </a:p>
        </p:txBody>
      </p:sp>
      <p:sp>
        <p:nvSpPr>
          <p:cNvPr id="15" name="Text 13"/>
          <p:cNvSpPr/>
          <p:nvPr/>
        </p:nvSpPr>
        <p:spPr>
          <a:xfrm>
            <a:off x="9326880" y="3337560"/>
            <a:ext cx="1828800" cy="658368"/>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~60 ms</a:t>
            </a:r>
            <a:endParaRPr lang="en-US" sz="1500" dirty="0"/>
          </a:p>
        </p:txBody>
      </p:sp>
      <p:sp>
        <p:nvSpPr>
          <p:cNvPr id="16" name="Shape 14"/>
          <p:cNvSpPr/>
          <p:nvPr/>
        </p:nvSpPr>
        <p:spPr>
          <a:xfrm>
            <a:off x="777240" y="4114800"/>
            <a:ext cx="10607040" cy="658368"/>
          </a:xfrm>
          <a:prstGeom prst="roundRect">
            <a:avLst>
              <a:gd name="adj" fmla="val 6944"/>
            </a:avLst>
          </a:prstGeom>
          <a:solidFill>
            <a:srgbClr val="1D3D52"/>
          </a:solidFill>
          <a:ln/>
        </p:spPr>
        <p:txBody>
          <a:bodyPr/>
          <a:lstStyle/>
          <a:p>
            <a:endParaRPr lang="en-US"/>
          </a:p>
        </p:txBody>
      </p:sp>
      <p:sp>
        <p:nvSpPr>
          <p:cNvPr id="17" name="Text 15"/>
          <p:cNvSpPr/>
          <p:nvPr/>
        </p:nvSpPr>
        <p:spPr>
          <a:xfrm>
            <a:off x="1097280" y="4114800"/>
            <a:ext cx="402336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HTTP request and response</a:t>
            </a:r>
            <a:endParaRPr lang="en-US" sz="1500" dirty="0"/>
          </a:p>
        </p:txBody>
      </p:sp>
      <p:sp>
        <p:nvSpPr>
          <p:cNvPr id="18" name="Text 16"/>
          <p:cNvSpPr/>
          <p:nvPr/>
        </p:nvSpPr>
        <p:spPr>
          <a:xfrm>
            <a:off x="5212080" y="4114800"/>
            <a:ext cx="4023360" cy="658368"/>
          </a:xfrm>
          <a:prstGeom prst="rect">
            <a:avLst/>
          </a:prstGeom>
          <a:noFill/>
          <a:ln/>
        </p:spPr>
        <p:txBody>
          <a:bodyPr wrap="square" lIns="0" tIns="0" rIns="0" bIns="0" rtlCol="0" anchor="ctr"/>
          <a:lstStyle/>
          <a:p>
            <a:pPr marL="0" indent="0">
              <a:buNone/>
            </a:pPr>
            <a:r>
              <a:rPr lang="en-US" sz="1300" dirty="0">
                <a:solidFill>
                  <a:srgbClr val="9AD1D4"/>
                </a:solidFill>
                <a:latin typeface="Calibri" pitchFamily="34" charset="0"/>
                <a:ea typeface="Calibri" pitchFamily="34" charset="-122"/>
                <a:cs typeface="Calibri" pitchFamily="34" charset="-120"/>
              </a:rPr>
              <a:t>1 round trip + server work</a:t>
            </a:r>
            <a:endParaRPr lang="en-US" sz="1300" dirty="0"/>
          </a:p>
        </p:txBody>
      </p:sp>
      <p:sp>
        <p:nvSpPr>
          <p:cNvPr id="19" name="Text 17"/>
          <p:cNvSpPr/>
          <p:nvPr/>
        </p:nvSpPr>
        <p:spPr>
          <a:xfrm>
            <a:off x="9326880" y="4114800"/>
            <a:ext cx="1828800" cy="658368"/>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~150 ms</a:t>
            </a:r>
            <a:endParaRPr lang="en-US" sz="1500" dirty="0"/>
          </a:p>
        </p:txBody>
      </p:sp>
      <p:sp>
        <p:nvSpPr>
          <p:cNvPr id="20" name="Shape 18"/>
          <p:cNvSpPr/>
          <p:nvPr/>
        </p:nvSpPr>
        <p:spPr>
          <a:xfrm>
            <a:off x="777240" y="5029200"/>
            <a:ext cx="10607040" cy="914400"/>
          </a:xfrm>
          <a:prstGeom prst="roundRect">
            <a:avLst>
              <a:gd name="adj" fmla="val 6000"/>
            </a:avLst>
          </a:prstGeom>
          <a:solidFill>
            <a:srgbClr val="E8A33D"/>
          </a:solidFill>
          <a:ln/>
        </p:spPr>
        <p:txBody>
          <a:bodyPr/>
          <a:lstStyle/>
          <a:p>
            <a:endParaRPr lang="en-US"/>
          </a:p>
        </p:txBody>
      </p:sp>
      <p:sp>
        <p:nvSpPr>
          <p:cNvPr id="21" name="Text 19"/>
          <p:cNvSpPr/>
          <p:nvPr/>
        </p:nvSpPr>
        <p:spPr>
          <a:xfrm>
            <a:off x="1097280" y="5029200"/>
            <a:ext cx="10058400" cy="91440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Roughly 300 ms — and the server did real work for only about a third of it. The rest was the network saying hello.</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The Request and the Response</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Both are just text with a strict shape</a:t>
            </a:r>
            <a:endParaRPr lang="en-US" sz="1500" dirty="0"/>
          </a:p>
        </p:txBody>
      </p:sp>
      <p:sp>
        <p:nvSpPr>
          <p:cNvPr id="4" name="Shape 2"/>
          <p:cNvSpPr/>
          <p:nvPr/>
        </p:nvSpPr>
        <p:spPr>
          <a:xfrm>
            <a:off x="777240" y="1554480"/>
            <a:ext cx="5212080" cy="2377440"/>
          </a:xfrm>
          <a:prstGeom prst="roundRect">
            <a:avLst>
              <a:gd name="adj" fmla="val 2308"/>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51560" y="1691640"/>
            <a:ext cx="46634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request</a:t>
            </a:r>
            <a:endParaRPr lang="en-US" sz="1500" dirty="0"/>
          </a:p>
        </p:txBody>
      </p:sp>
      <p:sp>
        <p:nvSpPr>
          <p:cNvPr id="6" name="Text 4"/>
          <p:cNvSpPr/>
          <p:nvPr/>
        </p:nvSpPr>
        <p:spPr>
          <a:xfrm>
            <a:off x="1097280" y="2084832"/>
            <a:ext cx="4663440" cy="292608"/>
          </a:xfrm>
          <a:prstGeom prst="rect">
            <a:avLst/>
          </a:prstGeom>
          <a:noFill/>
          <a:ln/>
        </p:spPr>
        <p:txBody>
          <a:bodyPr wrap="square" lIns="0" tIns="0" rIns="0" bIns="0" rtlCol="0" anchor="ctr"/>
          <a:lstStyle/>
          <a:p>
            <a:pPr marL="0" indent="0">
              <a:buNone/>
            </a:pPr>
            <a:r>
              <a:rPr lang="en-US" sz="1150" b="1" dirty="0">
                <a:solidFill>
                  <a:srgbClr val="065A82"/>
                </a:solidFill>
                <a:latin typeface="Consolas" pitchFamily="34" charset="0"/>
                <a:ea typeface="Consolas" pitchFamily="34" charset="-122"/>
                <a:cs typeface="Consolas" pitchFamily="34" charset="-120"/>
              </a:rPr>
              <a:t>GET /s?k=men%27s+shirt HTTP/1.1</a:t>
            </a:r>
            <a:endParaRPr lang="en-US" sz="1150" dirty="0"/>
          </a:p>
        </p:txBody>
      </p:sp>
      <p:sp>
        <p:nvSpPr>
          <p:cNvPr id="7" name="Text 5"/>
          <p:cNvSpPr/>
          <p:nvPr/>
        </p:nvSpPr>
        <p:spPr>
          <a:xfrm>
            <a:off x="1097280" y="2414016"/>
            <a:ext cx="4663440" cy="292608"/>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Host: amazon.in</a:t>
            </a:r>
            <a:endParaRPr lang="en-US" sz="1150" dirty="0"/>
          </a:p>
        </p:txBody>
      </p:sp>
      <p:sp>
        <p:nvSpPr>
          <p:cNvPr id="8" name="Text 6"/>
          <p:cNvSpPr/>
          <p:nvPr/>
        </p:nvSpPr>
        <p:spPr>
          <a:xfrm>
            <a:off x="1097280" y="2743200"/>
            <a:ext cx="4663440" cy="292608"/>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Accept: text/html</a:t>
            </a:r>
            <a:endParaRPr lang="en-US" sz="1150" dirty="0"/>
          </a:p>
        </p:txBody>
      </p:sp>
      <p:sp>
        <p:nvSpPr>
          <p:cNvPr id="9" name="Text 7"/>
          <p:cNvSpPr/>
          <p:nvPr/>
        </p:nvSpPr>
        <p:spPr>
          <a:xfrm>
            <a:off x="1097280" y="3072384"/>
            <a:ext cx="4663440" cy="292608"/>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Cookie: session=a1b2c3</a:t>
            </a:r>
            <a:endParaRPr lang="en-US" sz="1150" dirty="0"/>
          </a:p>
        </p:txBody>
      </p:sp>
      <p:sp>
        <p:nvSpPr>
          <p:cNvPr id="10" name="Text 8"/>
          <p:cNvSpPr/>
          <p:nvPr/>
        </p:nvSpPr>
        <p:spPr>
          <a:xfrm>
            <a:off x="1097280" y="3401568"/>
            <a:ext cx="4663440" cy="292608"/>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User-Agent: Chrome/125</a:t>
            </a:r>
            <a:endParaRPr lang="en-US" sz="1150" dirty="0"/>
          </a:p>
        </p:txBody>
      </p:sp>
      <p:sp>
        <p:nvSpPr>
          <p:cNvPr id="11" name="Shape 9"/>
          <p:cNvSpPr/>
          <p:nvPr/>
        </p:nvSpPr>
        <p:spPr>
          <a:xfrm>
            <a:off x="6172200" y="1554480"/>
            <a:ext cx="5212080" cy="2377440"/>
          </a:xfrm>
          <a:prstGeom prst="roundRect">
            <a:avLst>
              <a:gd name="adj" fmla="val 2308"/>
            </a:avLst>
          </a:prstGeom>
          <a:solidFill>
            <a:srgbClr val="EEF6F7"/>
          </a:solidFill>
          <a:ln w="12700">
            <a:solidFill>
              <a:srgbClr val="E1E8ED"/>
            </a:solidFill>
            <a:prstDash val="solid"/>
          </a:ln>
        </p:spPr>
        <p:txBody>
          <a:bodyPr/>
          <a:lstStyle/>
          <a:p>
            <a:endParaRPr lang="en-US"/>
          </a:p>
        </p:txBody>
      </p:sp>
      <p:sp>
        <p:nvSpPr>
          <p:cNvPr id="12" name="Text 10"/>
          <p:cNvSpPr/>
          <p:nvPr/>
        </p:nvSpPr>
        <p:spPr>
          <a:xfrm>
            <a:off x="6446520" y="1691640"/>
            <a:ext cx="4663440" cy="32004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The response</a:t>
            </a:r>
            <a:endParaRPr lang="en-US" sz="1500" dirty="0"/>
          </a:p>
        </p:txBody>
      </p:sp>
      <p:sp>
        <p:nvSpPr>
          <p:cNvPr id="13" name="Text 11"/>
          <p:cNvSpPr/>
          <p:nvPr/>
        </p:nvSpPr>
        <p:spPr>
          <a:xfrm>
            <a:off x="6492240" y="2084832"/>
            <a:ext cx="4663440" cy="274320"/>
          </a:xfrm>
          <a:prstGeom prst="rect">
            <a:avLst/>
          </a:prstGeom>
          <a:noFill/>
          <a:ln/>
        </p:spPr>
        <p:txBody>
          <a:bodyPr wrap="square" lIns="0" tIns="0" rIns="0" bIns="0" rtlCol="0" anchor="ctr"/>
          <a:lstStyle/>
          <a:p>
            <a:pPr marL="0" indent="0">
              <a:buNone/>
            </a:pPr>
            <a:r>
              <a:rPr lang="en-US" sz="1150" b="1" dirty="0">
                <a:solidFill>
                  <a:srgbClr val="1C7293"/>
                </a:solidFill>
                <a:latin typeface="Consolas" pitchFamily="34" charset="0"/>
                <a:ea typeface="Consolas" pitchFamily="34" charset="-122"/>
                <a:cs typeface="Consolas" pitchFamily="34" charset="-120"/>
              </a:rPr>
              <a:t>HTTP/1.1 200 OK</a:t>
            </a:r>
            <a:endParaRPr lang="en-US" sz="1150" dirty="0"/>
          </a:p>
        </p:txBody>
      </p:sp>
      <p:sp>
        <p:nvSpPr>
          <p:cNvPr id="14" name="Text 12"/>
          <p:cNvSpPr/>
          <p:nvPr/>
        </p:nvSpPr>
        <p:spPr>
          <a:xfrm>
            <a:off x="6492240" y="2386584"/>
            <a:ext cx="4663440" cy="274320"/>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Content-Type: application/json</a:t>
            </a:r>
            <a:endParaRPr lang="en-US" sz="1150" dirty="0"/>
          </a:p>
        </p:txBody>
      </p:sp>
      <p:sp>
        <p:nvSpPr>
          <p:cNvPr id="15" name="Text 13"/>
          <p:cNvSpPr/>
          <p:nvPr/>
        </p:nvSpPr>
        <p:spPr>
          <a:xfrm>
            <a:off x="6492240" y="2688336"/>
            <a:ext cx="4663440" cy="274320"/>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Content-Length: 51204</a:t>
            </a:r>
            <a:endParaRPr lang="en-US" sz="1150" dirty="0"/>
          </a:p>
        </p:txBody>
      </p:sp>
      <p:sp>
        <p:nvSpPr>
          <p:cNvPr id="16" name="Text 14"/>
          <p:cNvSpPr/>
          <p:nvPr/>
        </p:nvSpPr>
        <p:spPr>
          <a:xfrm>
            <a:off x="6492240" y="2990088"/>
            <a:ext cx="4663440" cy="274320"/>
          </a:xfrm>
          <a:prstGeom prst="rect">
            <a:avLst/>
          </a:prstGeom>
          <a:noFill/>
          <a:ln/>
        </p:spPr>
        <p:txBody>
          <a:bodyPr wrap="square" lIns="0" tIns="0" rIns="0" bIns="0" rtlCol="0" anchor="ctr"/>
          <a:lstStyle/>
          <a:p>
            <a:pPr marL="0" indent="0">
              <a:buNone/>
            </a:pPr>
            <a:r>
              <a:rPr lang="en-US" sz="1150" dirty="0">
                <a:solidFill>
                  <a:srgbClr val="1B2A33"/>
                </a:solidFill>
                <a:latin typeface="Consolas" pitchFamily="34" charset="0"/>
                <a:ea typeface="Consolas" pitchFamily="34" charset="-122"/>
                <a:cs typeface="Consolas" pitchFamily="34" charset="-120"/>
              </a:rPr>
              <a:t>Cache-Control: max-age=60</a:t>
            </a:r>
            <a:endParaRPr lang="en-US" sz="1150" dirty="0"/>
          </a:p>
        </p:txBody>
      </p:sp>
      <p:sp>
        <p:nvSpPr>
          <p:cNvPr id="17" name="Text 15"/>
          <p:cNvSpPr/>
          <p:nvPr/>
        </p:nvSpPr>
        <p:spPr>
          <a:xfrm>
            <a:off x="6492240" y="3291840"/>
            <a:ext cx="4663440" cy="274320"/>
          </a:xfrm>
          <a:prstGeom prst="rect">
            <a:avLst/>
          </a:prstGeom>
          <a:noFill/>
          <a:ln/>
        </p:spPr>
        <p:txBody>
          <a:bodyPr wrap="square" lIns="0" tIns="0" rIns="0" bIns="0" rtlCol="0" anchor="ctr"/>
          <a:lstStyle/>
          <a:p>
            <a:pPr marL="0" indent="0">
              <a:buNone/>
            </a:pPr>
            <a:endParaRPr lang="en-US" sz="1150" dirty="0"/>
          </a:p>
        </p:txBody>
      </p:sp>
      <p:sp>
        <p:nvSpPr>
          <p:cNvPr id="18" name="Text 16"/>
          <p:cNvSpPr/>
          <p:nvPr/>
        </p:nvSpPr>
        <p:spPr>
          <a:xfrm>
            <a:off x="6492240" y="3593592"/>
            <a:ext cx="4663440" cy="274320"/>
          </a:xfrm>
          <a:prstGeom prst="rect">
            <a:avLst/>
          </a:prstGeom>
          <a:noFill/>
          <a:ln/>
        </p:spPr>
        <p:txBody>
          <a:bodyPr wrap="square" lIns="0" tIns="0" rIns="0" bIns="0" rtlCol="0" anchor="ctr"/>
          <a:lstStyle/>
          <a:p>
            <a:pPr marL="0" indent="0">
              <a:buNone/>
            </a:pPr>
            <a:r>
              <a:rPr lang="en-US" sz="1150" b="1" dirty="0">
                <a:solidFill>
                  <a:srgbClr val="E8A33D"/>
                </a:solidFill>
                <a:latin typeface="Consolas" pitchFamily="34" charset="0"/>
                <a:ea typeface="Consolas" pitchFamily="34" charset="-122"/>
                <a:cs typeface="Consolas" pitchFamily="34" charset="-120"/>
              </a:rPr>
              <a:t>{ "results": [ ... 40 items ... ] }</a:t>
            </a:r>
            <a:endParaRPr lang="en-US" sz="1150" dirty="0"/>
          </a:p>
        </p:txBody>
      </p:sp>
      <p:sp>
        <p:nvSpPr>
          <p:cNvPr id="19" name="Shape 17"/>
          <p:cNvSpPr/>
          <p:nvPr/>
        </p:nvSpPr>
        <p:spPr>
          <a:xfrm>
            <a:off x="777240" y="4206240"/>
            <a:ext cx="2468880" cy="1234440"/>
          </a:xfrm>
          <a:prstGeom prst="roundRect">
            <a:avLst>
              <a:gd name="adj" fmla="val 4444"/>
            </a:avLst>
          </a:prstGeom>
          <a:solidFill>
            <a:srgbClr val="F4F7F9"/>
          </a:solidFill>
          <a:ln w="12700">
            <a:solidFill>
              <a:srgbClr val="E1E8ED"/>
            </a:solidFill>
            <a:prstDash val="solid"/>
          </a:ln>
        </p:spPr>
        <p:txBody>
          <a:bodyPr/>
          <a:lstStyle/>
          <a:p>
            <a:endParaRPr lang="en-US"/>
          </a:p>
        </p:txBody>
      </p:sp>
      <p:sp>
        <p:nvSpPr>
          <p:cNvPr id="20" name="Text 18"/>
          <p:cNvSpPr/>
          <p:nvPr/>
        </p:nvSpPr>
        <p:spPr>
          <a:xfrm>
            <a:off x="960120" y="4343400"/>
            <a:ext cx="2103120" cy="365760"/>
          </a:xfrm>
          <a:prstGeom prst="rect">
            <a:avLst/>
          </a:prstGeom>
          <a:noFill/>
          <a:ln/>
        </p:spPr>
        <p:txBody>
          <a:bodyPr wrap="square" lIns="0" tIns="0" rIns="0" bIns="0" rtlCol="0" anchor="ctr"/>
          <a:lstStyle/>
          <a:p>
            <a:pPr marL="0" indent="0">
              <a:buNone/>
            </a:pPr>
            <a:r>
              <a:rPr lang="en-US" sz="1600" b="1" dirty="0">
                <a:solidFill>
                  <a:srgbClr val="2E7D5B"/>
                </a:solidFill>
                <a:latin typeface="Consolas" pitchFamily="34" charset="0"/>
                <a:ea typeface="Consolas" pitchFamily="34" charset="-122"/>
                <a:cs typeface="Consolas" pitchFamily="34" charset="-120"/>
              </a:rPr>
              <a:t>GET</a:t>
            </a:r>
            <a:endParaRPr lang="en-US" sz="1600" dirty="0"/>
          </a:p>
        </p:txBody>
      </p:sp>
      <p:sp>
        <p:nvSpPr>
          <p:cNvPr id="21" name="Text 19"/>
          <p:cNvSpPr/>
          <p:nvPr/>
        </p:nvSpPr>
        <p:spPr>
          <a:xfrm>
            <a:off x="960120" y="4736592"/>
            <a:ext cx="2103120" cy="59436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Fetch something. Safe to repeat.</a:t>
            </a:r>
            <a:endParaRPr lang="en-US" sz="1150" dirty="0"/>
          </a:p>
        </p:txBody>
      </p:sp>
      <p:sp>
        <p:nvSpPr>
          <p:cNvPr id="22" name="Shape 20"/>
          <p:cNvSpPr/>
          <p:nvPr/>
        </p:nvSpPr>
        <p:spPr>
          <a:xfrm>
            <a:off x="3474720" y="4206240"/>
            <a:ext cx="2468880" cy="1234440"/>
          </a:xfrm>
          <a:prstGeom prst="roundRect">
            <a:avLst>
              <a:gd name="adj" fmla="val 4444"/>
            </a:avLst>
          </a:prstGeom>
          <a:solidFill>
            <a:srgbClr val="F4F7F9"/>
          </a:solidFill>
          <a:ln w="12700">
            <a:solidFill>
              <a:srgbClr val="E1E8ED"/>
            </a:solidFill>
            <a:prstDash val="solid"/>
          </a:ln>
        </p:spPr>
        <p:txBody>
          <a:bodyPr/>
          <a:lstStyle/>
          <a:p>
            <a:endParaRPr lang="en-US"/>
          </a:p>
        </p:txBody>
      </p:sp>
      <p:sp>
        <p:nvSpPr>
          <p:cNvPr id="23" name="Text 21"/>
          <p:cNvSpPr/>
          <p:nvPr/>
        </p:nvSpPr>
        <p:spPr>
          <a:xfrm>
            <a:off x="3657600" y="4343400"/>
            <a:ext cx="2103120" cy="365760"/>
          </a:xfrm>
          <a:prstGeom prst="rect">
            <a:avLst/>
          </a:prstGeom>
          <a:noFill/>
          <a:ln/>
        </p:spPr>
        <p:txBody>
          <a:bodyPr wrap="square" lIns="0" tIns="0" rIns="0" bIns="0" rtlCol="0" anchor="ctr"/>
          <a:lstStyle/>
          <a:p>
            <a:pPr marL="0" indent="0">
              <a:buNone/>
            </a:pPr>
            <a:r>
              <a:rPr lang="en-US" sz="1600" b="1" dirty="0">
                <a:solidFill>
                  <a:srgbClr val="E8A33D"/>
                </a:solidFill>
                <a:latin typeface="Consolas" pitchFamily="34" charset="0"/>
                <a:ea typeface="Consolas" pitchFamily="34" charset="-122"/>
                <a:cs typeface="Consolas" pitchFamily="34" charset="-120"/>
              </a:rPr>
              <a:t>POST</a:t>
            </a:r>
            <a:endParaRPr lang="en-US" sz="1600" dirty="0"/>
          </a:p>
        </p:txBody>
      </p:sp>
      <p:sp>
        <p:nvSpPr>
          <p:cNvPr id="24" name="Text 22"/>
          <p:cNvSpPr/>
          <p:nvPr/>
        </p:nvSpPr>
        <p:spPr>
          <a:xfrm>
            <a:off x="3657600" y="4736592"/>
            <a:ext cx="2103120" cy="59436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Create something. Not safe to repeat.</a:t>
            </a:r>
            <a:endParaRPr lang="en-US" sz="1150" dirty="0"/>
          </a:p>
        </p:txBody>
      </p:sp>
      <p:sp>
        <p:nvSpPr>
          <p:cNvPr id="25" name="Shape 23"/>
          <p:cNvSpPr/>
          <p:nvPr/>
        </p:nvSpPr>
        <p:spPr>
          <a:xfrm>
            <a:off x="6172200" y="4206240"/>
            <a:ext cx="2468880" cy="1234440"/>
          </a:xfrm>
          <a:prstGeom prst="roundRect">
            <a:avLst>
              <a:gd name="adj" fmla="val 4444"/>
            </a:avLst>
          </a:prstGeom>
          <a:solidFill>
            <a:srgbClr val="F4F7F9"/>
          </a:solidFill>
          <a:ln w="12700">
            <a:solidFill>
              <a:srgbClr val="E1E8ED"/>
            </a:solidFill>
            <a:prstDash val="solid"/>
          </a:ln>
        </p:spPr>
        <p:txBody>
          <a:bodyPr/>
          <a:lstStyle/>
          <a:p>
            <a:endParaRPr lang="en-US"/>
          </a:p>
        </p:txBody>
      </p:sp>
      <p:sp>
        <p:nvSpPr>
          <p:cNvPr id="26" name="Text 24"/>
          <p:cNvSpPr/>
          <p:nvPr/>
        </p:nvSpPr>
        <p:spPr>
          <a:xfrm>
            <a:off x="6355080" y="4343400"/>
            <a:ext cx="2103120" cy="365760"/>
          </a:xfrm>
          <a:prstGeom prst="rect">
            <a:avLst/>
          </a:prstGeom>
          <a:noFill/>
          <a:ln/>
        </p:spPr>
        <p:txBody>
          <a:bodyPr wrap="square" lIns="0" tIns="0" rIns="0" bIns="0" rtlCol="0" anchor="ctr"/>
          <a:lstStyle/>
          <a:p>
            <a:pPr marL="0" indent="0">
              <a:buNone/>
            </a:pPr>
            <a:r>
              <a:rPr lang="en-US" sz="1600" b="1" dirty="0">
                <a:solidFill>
                  <a:srgbClr val="1C7293"/>
                </a:solidFill>
                <a:latin typeface="Consolas" pitchFamily="34" charset="0"/>
                <a:ea typeface="Consolas" pitchFamily="34" charset="-122"/>
                <a:cs typeface="Consolas" pitchFamily="34" charset="-120"/>
              </a:rPr>
              <a:t>PUT</a:t>
            </a:r>
            <a:endParaRPr lang="en-US" sz="1600" dirty="0"/>
          </a:p>
        </p:txBody>
      </p:sp>
      <p:sp>
        <p:nvSpPr>
          <p:cNvPr id="27" name="Text 25"/>
          <p:cNvSpPr/>
          <p:nvPr/>
        </p:nvSpPr>
        <p:spPr>
          <a:xfrm>
            <a:off x="6355080" y="4736592"/>
            <a:ext cx="2103120" cy="59436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Replace something entirely.</a:t>
            </a:r>
            <a:endParaRPr lang="en-US" sz="1150" dirty="0"/>
          </a:p>
        </p:txBody>
      </p:sp>
      <p:sp>
        <p:nvSpPr>
          <p:cNvPr id="28" name="Shape 26"/>
          <p:cNvSpPr/>
          <p:nvPr/>
        </p:nvSpPr>
        <p:spPr>
          <a:xfrm>
            <a:off x="8869680" y="4206240"/>
            <a:ext cx="2468880" cy="1234440"/>
          </a:xfrm>
          <a:prstGeom prst="roundRect">
            <a:avLst>
              <a:gd name="adj" fmla="val 4444"/>
            </a:avLst>
          </a:prstGeom>
          <a:solidFill>
            <a:srgbClr val="F4F7F9"/>
          </a:solidFill>
          <a:ln w="12700">
            <a:solidFill>
              <a:srgbClr val="E1E8ED"/>
            </a:solidFill>
            <a:prstDash val="solid"/>
          </a:ln>
        </p:spPr>
        <p:txBody>
          <a:bodyPr/>
          <a:lstStyle/>
          <a:p>
            <a:endParaRPr lang="en-US"/>
          </a:p>
        </p:txBody>
      </p:sp>
      <p:sp>
        <p:nvSpPr>
          <p:cNvPr id="29" name="Text 27"/>
          <p:cNvSpPr/>
          <p:nvPr/>
        </p:nvSpPr>
        <p:spPr>
          <a:xfrm>
            <a:off x="9052560" y="4343400"/>
            <a:ext cx="2103120" cy="365760"/>
          </a:xfrm>
          <a:prstGeom prst="rect">
            <a:avLst/>
          </a:prstGeom>
          <a:noFill/>
          <a:ln/>
        </p:spPr>
        <p:txBody>
          <a:bodyPr wrap="square" lIns="0" tIns="0" rIns="0" bIns="0" rtlCol="0" anchor="ctr"/>
          <a:lstStyle/>
          <a:p>
            <a:pPr marL="0" indent="0">
              <a:buNone/>
            </a:pPr>
            <a:r>
              <a:rPr lang="en-US" sz="1600" b="1" dirty="0">
                <a:solidFill>
                  <a:srgbClr val="A03A3A"/>
                </a:solidFill>
                <a:latin typeface="Consolas" pitchFamily="34" charset="0"/>
                <a:ea typeface="Consolas" pitchFamily="34" charset="-122"/>
                <a:cs typeface="Consolas" pitchFamily="34" charset="-120"/>
              </a:rPr>
              <a:t>DELETE</a:t>
            </a:r>
            <a:endParaRPr lang="en-US" sz="1600" dirty="0"/>
          </a:p>
        </p:txBody>
      </p:sp>
      <p:sp>
        <p:nvSpPr>
          <p:cNvPr id="30" name="Text 28"/>
          <p:cNvSpPr/>
          <p:nvPr/>
        </p:nvSpPr>
        <p:spPr>
          <a:xfrm>
            <a:off x="9052560" y="4736592"/>
            <a:ext cx="2103120" cy="59436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Remove something.</a:t>
            </a:r>
            <a:endParaRPr lang="en-US" sz="1150" dirty="0"/>
          </a:p>
        </p:txBody>
      </p:sp>
      <p:sp>
        <p:nvSpPr>
          <p:cNvPr id="31" name="Text 29"/>
          <p:cNvSpPr/>
          <p:nvPr/>
        </p:nvSpPr>
        <p:spPr>
          <a:xfrm>
            <a:off x="777240" y="5577840"/>
            <a:ext cx="10607040" cy="4114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"Safe to repeat" matters more than it sounds — it is why a refresh after payment can charge you twice.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Status Codes, and What They Really Mean</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first digit tells you who is to blame</a:t>
            </a:r>
            <a:endParaRPr lang="en-US" sz="1500" dirty="0"/>
          </a:p>
        </p:txBody>
      </p:sp>
      <p:sp>
        <p:nvSpPr>
          <p:cNvPr id="4" name="Shape 2"/>
          <p:cNvSpPr/>
          <p:nvPr/>
        </p:nvSpPr>
        <p:spPr>
          <a:xfrm>
            <a:off x="777240" y="1645920"/>
            <a:ext cx="10607040" cy="914400"/>
          </a:xfrm>
          <a:prstGeom prst="roundRect">
            <a:avLst>
              <a:gd name="adj" fmla="val 6000"/>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1005840" y="1828800"/>
            <a:ext cx="1097280" cy="548640"/>
          </a:xfrm>
          <a:prstGeom prst="roundRect">
            <a:avLst>
              <a:gd name="adj" fmla="val 25000"/>
            </a:avLst>
          </a:prstGeom>
          <a:solidFill>
            <a:srgbClr val="2E7D5B"/>
          </a:solidFill>
          <a:ln/>
        </p:spPr>
        <p:txBody>
          <a:bodyPr/>
          <a:lstStyle/>
          <a:p>
            <a:endParaRPr lang="en-US"/>
          </a:p>
        </p:txBody>
      </p:sp>
      <p:sp>
        <p:nvSpPr>
          <p:cNvPr id="6" name="Text 4"/>
          <p:cNvSpPr/>
          <p:nvPr/>
        </p:nvSpPr>
        <p:spPr>
          <a:xfrm>
            <a:off x="1005840" y="1828800"/>
            <a:ext cx="1097280" cy="548640"/>
          </a:xfrm>
          <a:prstGeom prst="rect">
            <a:avLst/>
          </a:prstGeom>
          <a:noFill/>
          <a:ln/>
        </p:spPr>
        <p:txBody>
          <a:bodyPr wrap="square" rtlCol="0" anchor="ctr"/>
          <a:lstStyle/>
          <a:p>
            <a:pPr marL="0" indent="0" algn="ctr">
              <a:buNone/>
            </a:pPr>
            <a:r>
              <a:rPr lang="en-US" sz="1500" b="1" dirty="0">
                <a:solidFill>
                  <a:srgbClr val="FFFFFF"/>
                </a:solidFill>
                <a:latin typeface="Consolas" pitchFamily="34" charset="0"/>
                <a:ea typeface="Consolas" pitchFamily="34" charset="-122"/>
                <a:cs typeface="Consolas" pitchFamily="34" charset="-120"/>
              </a:rPr>
              <a:t>2xx</a:t>
            </a:r>
            <a:endParaRPr lang="en-US" sz="1500" dirty="0"/>
          </a:p>
        </p:txBody>
      </p:sp>
      <p:sp>
        <p:nvSpPr>
          <p:cNvPr id="7" name="Text 5"/>
          <p:cNvSpPr/>
          <p:nvPr/>
        </p:nvSpPr>
        <p:spPr>
          <a:xfrm>
            <a:off x="2377440" y="1755648"/>
            <a:ext cx="3291840" cy="36576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It worked</a:t>
            </a:r>
            <a:endParaRPr lang="en-US" sz="1550" dirty="0"/>
          </a:p>
        </p:txBody>
      </p:sp>
      <p:sp>
        <p:nvSpPr>
          <p:cNvPr id="8" name="Text 6"/>
          <p:cNvSpPr/>
          <p:nvPr/>
        </p:nvSpPr>
        <p:spPr>
          <a:xfrm>
            <a:off x="2377440" y="2121408"/>
            <a:ext cx="8503920" cy="36576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200 OK  ·  201 Created  ·  204 No Content</a:t>
            </a:r>
            <a:endParaRPr lang="en-US" sz="1250" dirty="0"/>
          </a:p>
        </p:txBody>
      </p:sp>
      <p:sp>
        <p:nvSpPr>
          <p:cNvPr id="9" name="Shape 7"/>
          <p:cNvSpPr/>
          <p:nvPr/>
        </p:nvSpPr>
        <p:spPr>
          <a:xfrm>
            <a:off x="777240" y="2697480"/>
            <a:ext cx="10607040" cy="914400"/>
          </a:xfrm>
          <a:prstGeom prst="roundRect">
            <a:avLst>
              <a:gd name="adj" fmla="val 6000"/>
            </a:avLst>
          </a:prstGeom>
          <a:solidFill>
            <a:srgbClr val="F4F7F9"/>
          </a:solidFill>
          <a:ln w="12700">
            <a:solidFill>
              <a:srgbClr val="E1E8ED"/>
            </a:solidFill>
            <a:prstDash val="solid"/>
          </a:ln>
        </p:spPr>
        <p:txBody>
          <a:bodyPr/>
          <a:lstStyle/>
          <a:p>
            <a:endParaRPr lang="en-US"/>
          </a:p>
        </p:txBody>
      </p:sp>
      <p:sp>
        <p:nvSpPr>
          <p:cNvPr id="10" name="Shape 8"/>
          <p:cNvSpPr/>
          <p:nvPr/>
        </p:nvSpPr>
        <p:spPr>
          <a:xfrm>
            <a:off x="1005840" y="2880360"/>
            <a:ext cx="1097280" cy="548640"/>
          </a:xfrm>
          <a:prstGeom prst="roundRect">
            <a:avLst>
              <a:gd name="adj" fmla="val 25000"/>
            </a:avLst>
          </a:prstGeom>
          <a:solidFill>
            <a:srgbClr val="1C7293"/>
          </a:solidFill>
          <a:ln/>
        </p:spPr>
        <p:txBody>
          <a:bodyPr/>
          <a:lstStyle/>
          <a:p>
            <a:endParaRPr lang="en-US"/>
          </a:p>
        </p:txBody>
      </p:sp>
      <p:sp>
        <p:nvSpPr>
          <p:cNvPr id="11" name="Text 9"/>
          <p:cNvSpPr/>
          <p:nvPr/>
        </p:nvSpPr>
        <p:spPr>
          <a:xfrm>
            <a:off x="1005840" y="2880360"/>
            <a:ext cx="1097280" cy="548640"/>
          </a:xfrm>
          <a:prstGeom prst="rect">
            <a:avLst/>
          </a:prstGeom>
          <a:noFill/>
          <a:ln/>
        </p:spPr>
        <p:txBody>
          <a:bodyPr wrap="square" rtlCol="0" anchor="ctr"/>
          <a:lstStyle/>
          <a:p>
            <a:pPr marL="0" indent="0" algn="ctr">
              <a:buNone/>
            </a:pPr>
            <a:r>
              <a:rPr lang="en-US" sz="1500" b="1" dirty="0">
                <a:solidFill>
                  <a:srgbClr val="FFFFFF"/>
                </a:solidFill>
                <a:latin typeface="Consolas" pitchFamily="34" charset="0"/>
                <a:ea typeface="Consolas" pitchFamily="34" charset="-122"/>
                <a:cs typeface="Consolas" pitchFamily="34" charset="-120"/>
              </a:rPr>
              <a:t>3xx</a:t>
            </a:r>
            <a:endParaRPr lang="en-US" sz="1500" dirty="0"/>
          </a:p>
        </p:txBody>
      </p:sp>
      <p:sp>
        <p:nvSpPr>
          <p:cNvPr id="12" name="Text 10"/>
          <p:cNvSpPr/>
          <p:nvPr/>
        </p:nvSpPr>
        <p:spPr>
          <a:xfrm>
            <a:off x="2377440" y="2807208"/>
            <a:ext cx="3291840" cy="36576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Look elsewhere</a:t>
            </a:r>
            <a:endParaRPr lang="en-US" sz="1550" dirty="0"/>
          </a:p>
        </p:txBody>
      </p:sp>
      <p:sp>
        <p:nvSpPr>
          <p:cNvPr id="13" name="Text 11"/>
          <p:cNvSpPr/>
          <p:nvPr/>
        </p:nvSpPr>
        <p:spPr>
          <a:xfrm>
            <a:off x="2377440" y="3172968"/>
            <a:ext cx="8503920" cy="36576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301 Moved Permanently  ·  304 Not Modified</a:t>
            </a:r>
            <a:endParaRPr lang="en-US" sz="1250" dirty="0"/>
          </a:p>
        </p:txBody>
      </p:sp>
      <p:sp>
        <p:nvSpPr>
          <p:cNvPr id="14" name="Shape 12"/>
          <p:cNvSpPr/>
          <p:nvPr/>
        </p:nvSpPr>
        <p:spPr>
          <a:xfrm>
            <a:off x="777240" y="3749040"/>
            <a:ext cx="10607040" cy="914400"/>
          </a:xfrm>
          <a:prstGeom prst="roundRect">
            <a:avLst>
              <a:gd name="adj" fmla="val 6000"/>
            </a:avLst>
          </a:prstGeom>
          <a:solidFill>
            <a:srgbClr val="FFFFFF"/>
          </a:solidFill>
          <a:ln w="12700">
            <a:solidFill>
              <a:srgbClr val="E1E8ED"/>
            </a:solidFill>
            <a:prstDash val="solid"/>
          </a:ln>
        </p:spPr>
        <p:txBody>
          <a:bodyPr/>
          <a:lstStyle/>
          <a:p>
            <a:endParaRPr lang="en-US"/>
          </a:p>
        </p:txBody>
      </p:sp>
      <p:sp>
        <p:nvSpPr>
          <p:cNvPr id="15" name="Shape 13"/>
          <p:cNvSpPr/>
          <p:nvPr/>
        </p:nvSpPr>
        <p:spPr>
          <a:xfrm>
            <a:off x="1005840" y="3931920"/>
            <a:ext cx="1097280" cy="548640"/>
          </a:xfrm>
          <a:prstGeom prst="roundRect">
            <a:avLst>
              <a:gd name="adj" fmla="val 25000"/>
            </a:avLst>
          </a:prstGeom>
          <a:solidFill>
            <a:srgbClr val="E8A33D"/>
          </a:solidFill>
          <a:ln/>
        </p:spPr>
        <p:txBody>
          <a:bodyPr/>
          <a:lstStyle/>
          <a:p>
            <a:endParaRPr lang="en-US"/>
          </a:p>
        </p:txBody>
      </p:sp>
      <p:sp>
        <p:nvSpPr>
          <p:cNvPr id="16" name="Text 14"/>
          <p:cNvSpPr/>
          <p:nvPr/>
        </p:nvSpPr>
        <p:spPr>
          <a:xfrm>
            <a:off x="1005840" y="3931920"/>
            <a:ext cx="1097280" cy="548640"/>
          </a:xfrm>
          <a:prstGeom prst="rect">
            <a:avLst/>
          </a:prstGeom>
          <a:noFill/>
          <a:ln/>
        </p:spPr>
        <p:txBody>
          <a:bodyPr wrap="square" rtlCol="0" anchor="ctr"/>
          <a:lstStyle/>
          <a:p>
            <a:pPr marL="0" indent="0" algn="ctr">
              <a:buNone/>
            </a:pPr>
            <a:r>
              <a:rPr lang="en-US" sz="1500" b="1" dirty="0">
                <a:solidFill>
                  <a:srgbClr val="FFFFFF"/>
                </a:solidFill>
                <a:latin typeface="Consolas" pitchFamily="34" charset="0"/>
                <a:ea typeface="Consolas" pitchFamily="34" charset="-122"/>
                <a:cs typeface="Consolas" pitchFamily="34" charset="-120"/>
              </a:rPr>
              <a:t>4xx</a:t>
            </a:r>
            <a:endParaRPr lang="en-US" sz="1500" dirty="0"/>
          </a:p>
        </p:txBody>
      </p:sp>
      <p:sp>
        <p:nvSpPr>
          <p:cNvPr id="17" name="Text 15"/>
          <p:cNvSpPr/>
          <p:nvPr/>
        </p:nvSpPr>
        <p:spPr>
          <a:xfrm>
            <a:off x="2377440" y="3858768"/>
            <a:ext cx="3291840" cy="36576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You made a mistake</a:t>
            </a:r>
            <a:endParaRPr lang="en-US" sz="1550" dirty="0"/>
          </a:p>
        </p:txBody>
      </p:sp>
      <p:sp>
        <p:nvSpPr>
          <p:cNvPr id="18" name="Text 16"/>
          <p:cNvSpPr/>
          <p:nvPr/>
        </p:nvSpPr>
        <p:spPr>
          <a:xfrm>
            <a:off x="2377440" y="4224528"/>
            <a:ext cx="8503920" cy="36576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400 Bad Request  ·  401 Unauthorized  ·  404 Not Found  ·  429 Too Many Requests</a:t>
            </a:r>
            <a:endParaRPr lang="en-US" sz="1250" dirty="0"/>
          </a:p>
        </p:txBody>
      </p:sp>
      <p:sp>
        <p:nvSpPr>
          <p:cNvPr id="19" name="Shape 17"/>
          <p:cNvSpPr/>
          <p:nvPr/>
        </p:nvSpPr>
        <p:spPr>
          <a:xfrm>
            <a:off x="777240" y="4800600"/>
            <a:ext cx="10607040" cy="914400"/>
          </a:xfrm>
          <a:prstGeom prst="roundRect">
            <a:avLst>
              <a:gd name="adj" fmla="val 6000"/>
            </a:avLst>
          </a:prstGeom>
          <a:solidFill>
            <a:srgbClr val="F4F7F9"/>
          </a:solidFill>
          <a:ln w="12700">
            <a:solidFill>
              <a:srgbClr val="E1E8ED"/>
            </a:solidFill>
            <a:prstDash val="solid"/>
          </a:ln>
        </p:spPr>
        <p:txBody>
          <a:bodyPr/>
          <a:lstStyle/>
          <a:p>
            <a:endParaRPr lang="en-US"/>
          </a:p>
        </p:txBody>
      </p:sp>
      <p:sp>
        <p:nvSpPr>
          <p:cNvPr id="20" name="Shape 18"/>
          <p:cNvSpPr/>
          <p:nvPr/>
        </p:nvSpPr>
        <p:spPr>
          <a:xfrm>
            <a:off x="1005840" y="4983480"/>
            <a:ext cx="1097280" cy="548640"/>
          </a:xfrm>
          <a:prstGeom prst="roundRect">
            <a:avLst>
              <a:gd name="adj" fmla="val 25000"/>
            </a:avLst>
          </a:prstGeom>
          <a:solidFill>
            <a:srgbClr val="A03A3A"/>
          </a:solidFill>
          <a:ln/>
        </p:spPr>
        <p:txBody>
          <a:bodyPr/>
          <a:lstStyle/>
          <a:p>
            <a:endParaRPr lang="en-US"/>
          </a:p>
        </p:txBody>
      </p:sp>
      <p:sp>
        <p:nvSpPr>
          <p:cNvPr id="21" name="Text 19"/>
          <p:cNvSpPr/>
          <p:nvPr/>
        </p:nvSpPr>
        <p:spPr>
          <a:xfrm>
            <a:off x="1005840" y="4983480"/>
            <a:ext cx="1097280" cy="548640"/>
          </a:xfrm>
          <a:prstGeom prst="rect">
            <a:avLst/>
          </a:prstGeom>
          <a:noFill/>
          <a:ln/>
        </p:spPr>
        <p:txBody>
          <a:bodyPr wrap="square" rtlCol="0" anchor="ctr"/>
          <a:lstStyle/>
          <a:p>
            <a:pPr marL="0" indent="0" algn="ctr">
              <a:buNone/>
            </a:pPr>
            <a:r>
              <a:rPr lang="en-US" sz="1500" b="1" dirty="0">
                <a:solidFill>
                  <a:srgbClr val="FFFFFF"/>
                </a:solidFill>
                <a:latin typeface="Consolas" pitchFamily="34" charset="0"/>
                <a:ea typeface="Consolas" pitchFamily="34" charset="-122"/>
                <a:cs typeface="Consolas" pitchFamily="34" charset="-120"/>
              </a:rPr>
              <a:t>5xx</a:t>
            </a:r>
            <a:endParaRPr lang="en-US" sz="1500" dirty="0"/>
          </a:p>
        </p:txBody>
      </p:sp>
      <p:sp>
        <p:nvSpPr>
          <p:cNvPr id="22" name="Text 20"/>
          <p:cNvSpPr/>
          <p:nvPr/>
        </p:nvSpPr>
        <p:spPr>
          <a:xfrm>
            <a:off x="2377440" y="4910328"/>
            <a:ext cx="3291840" cy="36576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We made a mistake</a:t>
            </a:r>
            <a:endParaRPr lang="en-US" sz="1550" dirty="0"/>
          </a:p>
        </p:txBody>
      </p:sp>
      <p:sp>
        <p:nvSpPr>
          <p:cNvPr id="23" name="Text 21"/>
          <p:cNvSpPr/>
          <p:nvPr/>
        </p:nvSpPr>
        <p:spPr>
          <a:xfrm>
            <a:off x="2377440" y="5276088"/>
            <a:ext cx="8503920" cy="365760"/>
          </a:xfrm>
          <a:prstGeom prst="rect">
            <a:avLst/>
          </a:prstGeom>
          <a:noFill/>
          <a:ln/>
        </p:spPr>
        <p:txBody>
          <a:bodyPr wrap="square" lIns="0" tIns="0" rIns="0" bIns="0" rtlCol="0" anchor="ctr"/>
          <a:lstStyle/>
          <a:p>
            <a:pPr marL="0" indent="0">
              <a:buNone/>
            </a:pPr>
            <a:r>
              <a:rPr lang="en-US" sz="1250" dirty="0">
                <a:solidFill>
                  <a:srgbClr val="5A6B76"/>
                </a:solidFill>
                <a:latin typeface="Calibri" pitchFamily="34" charset="0"/>
                <a:ea typeface="Calibri" pitchFamily="34" charset="-122"/>
                <a:cs typeface="Calibri" pitchFamily="34" charset="-120"/>
              </a:rPr>
              <a:t>500 Internal Error  ·  502 Bad Gateway  ·  503 Unavailable  ·  504 Timeout</a:t>
            </a:r>
            <a:endParaRPr lang="en-US" sz="1250" dirty="0"/>
          </a:p>
        </p:txBody>
      </p:sp>
      <p:sp>
        <p:nvSpPr>
          <p:cNvPr id="24" name="Text 22"/>
          <p:cNvSpPr/>
          <p:nvPr/>
        </p:nvSpPr>
        <p:spPr>
          <a:xfrm>
            <a:off x="777240" y="5897880"/>
            <a:ext cx="10607040" cy="4114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304 Not Modified is the quiet hero: the server says "you already have it", and sends no body at all.</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HTTP/1.1, HTTP/2 and HTTP/3</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Why the same page loads faster on a modern browser</a:t>
            </a:r>
            <a:endParaRPr lang="en-US" sz="1500" dirty="0"/>
          </a:p>
        </p:txBody>
      </p:sp>
      <p:sp>
        <p:nvSpPr>
          <p:cNvPr id="4" name="Shape 2"/>
          <p:cNvSpPr/>
          <p:nvPr/>
        </p:nvSpPr>
        <p:spPr>
          <a:xfrm>
            <a:off x="777240" y="1645920"/>
            <a:ext cx="3337560" cy="3566160"/>
          </a:xfrm>
          <a:prstGeom prst="roundRect">
            <a:avLst>
              <a:gd name="adj" fmla="val 1918"/>
            </a:avLst>
          </a:prstGeom>
          <a:solidFill>
            <a:srgbClr val="1C7293"/>
          </a:solidFill>
          <a:ln/>
        </p:spPr>
        <p:txBody>
          <a:bodyPr/>
          <a:lstStyle/>
          <a:p>
            <a:endParaRPr lang="en-US"/>
          </a:p>
        </p:txBody>
      </p:sp>
      <p:sp>
        <p:nvSpPr>
          <p:cNvPr id="5" name="Text 3"/>
          <p:cNvSpPr/>
          <p:nvPr/>
        </p:nvSpPr>
        <p:spPr>
          <a:xfrm>
            <a:off x="1005840" y="1828800"/>
            <a:ext cx="28803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HTTP/1.1</a:t>
            </a:r>
            <a:endParaRPr lang="en-US" sz="2200" dirty="0"/>
          </a:p>
        </p:txBody>
      </p:sp>
      <p:sp>
        <p:nvSpPr>
          <p:cNvPr id="6" name="Text 4"/>
          <p:cNvSpPr/>
          <p:nvPr/>
        </p:nvSpPr>
        <p:spPr>
          <a:xfrm>
            <a:off x="1005840" y="2304288"/>
            <a:ext cx="2880360" cy="274320"/>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1997</a:t>
            </a:r>
            <a:endParaRPr lang="en-US" sz="1200" dirty="0"/>
          </a:p>
        </p:txBody>
      </p:sp>
      <p:sp>
        <p:nvSpPr>
          <p:cNvPr id="7" name="Text 5"/>
          <p:cNvSpPr/>
          <p:nvPr/>
        </p:nvSpPr>
        <p:spPr>
          <a:xfrm>
            <a:off x="1005840" y="2697480"/>
            <a:ext cx="2880360" cy="11887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One request at a time per connection. Browsers opened six connections to work around it.</a:t>
            </a:r>
            <a:endParaRPr lang="en-US" sz="1250" dirty="0"/>
          </a:p>
        </p:txBody>
      </p:sp>
      <p:sp>
        <p:nvSpPr>
          <p:cNvPr id="8" name="Text 6"/>
          <p:cNvSpPr/>
          <p:nvPr/>
        </p:nvSpPr>
        <p:spPr>
          <a:xfrm>
            <a:off x="1005840" y="3977640"/>
            <a:ext cx="2880360" cy="1051560"/>
          </a:xfrm>
          <a:prstGeom prst="rect">
            <a:avLst/>
          </a:prstGeom>
          <a:noFill/>
          <a:ln/>
        </p:spPr>
        <p:txBody>
          <a:bodyPr wrap="square" lIns="0" tIns="0" rIns="0" bIns="0" rtlCol="0" anchor="ctr"/>
          <a:lstStyle/>
          <a:p>
            <a:pPr marL="0" indent="0">
              <a:lnSpc>
                <a:spcPts val="1600"/>
              </a:lnSpc>
              <a:buNone/>
            </a:pPr>
            <a:r>
              <a:rPr lang="en-US" sz="1150" i="1" dirty="0">
                <a:solidFill>
                  <a:srgbClr val="DCEAEF"/>
                </a:solidFill>
                <a:latin typeface="Calibri" pitchFamily="34" charset="0"/>
                <a:ea typeface="Calibri" pitchFamily="34" charset="-122"/>
                <a:cs typeface="Calibri" pitchFamily="34" charset="-120"/>
              </a:rPr>
              <a:t>Head-of-line blocking: one slow image stalls the queue behind it.</a:t>
            </a:r>
            <a:endParaRPr lang="en-US" sz="1150" dirty="0"/>
          </a:p>
        </p:txBody>
      </p:sp>
      <p:sp>
        <p:nvSpPr>
          <p:cNvPr id="9" name="Shape 7"/>
          <p:cNvSpPr/>
          <p:nvPr/>
        </p:nvSpPr>
        <p:spPr>
          <a:xfrm>
            <a:off x="4389120" y="1645920"/>
            <a:ext cx="3337560" cy="3566160"/>
          </a:xfrm>
          <a:prstGeom prst="roundRect">
            <a:avLst>
              <a:gd name="adj" fmla="val 1918"/>
            </a:avLst>
          </a:prstGeom>
          <a:solidFill>
            <a:srgbClr val="065A82"/>
          </a:solidFill>
          <a:ln/>
        </p:spPr>
        <p:txBody>
          <a:bodyPr/>
          <a:lstStyle/>
          <a:p>
            <a:endParaRPr lang="en-US"/>
          </a:p>
        </p:txBody>
      </p:sp>
      <p:sp>
        <p:nvSpPr>
          <p:cNvPr id="10" name="Text 8"/>
          <p:cNvSpPr/>
          <p:nvPr/>
        </p:nvSpPr>
        <p:spPr>
          <a:xfrm>
            <a:off x="4617720" y="1828800"/>
            <a:ext cx="28803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HTTP/2</a:t>
            </a:r>
            <a:endParaRPr lang="en-US" sz="2200" dirty="0"/>
          </a:p>
        </p:txBody>
      </p:sp>
      <p:sp>
        <p:nvSpPr>
          <p:cNvPr id="11" name="Text 9"/>
          <p:cNvSpPr/>
          <p:nvPr/>
        </p:nvSpPr>
        <p:spPr>
          <a:xfrm>
            <a:off x="4617720" y="2304288"/>
            <a:ext cx="2880360" cy="274320"/>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2015</a:t>
            </a:r>
            <a:endParaRPr lang="en-US" sz="1200" dirty="0"/>
          </a:p>
        </p:txBody>
      </p:sp>
      <p:sp>
        <p:nvSpPr>
          <p:cNvPr id="12" name="Text 10"/>
          <p:cNvSpPr/>
          <p:nvPr/>
        </p:nvSpPr>
        <p:spPr>
          <a:xfrm>
            <a:off x="4617720" y="2697480"/>
            <a:ext cx="2880360" cy="11887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Many requests share one connection, interleaved. Headers are compressed.</a:t>
            </a:r>
            <a:endParaRPr lang="en-US" sz="1250" dirty="0"/>
          </a:p>
        </p:txBody>
      </p:sp>
      <p:sp>
        <p:nvSpPr>
          <p:cNvPr id="13" name="Text 11"/>
          <p:cNvSpPr/>
          <p:nvPr/>
        </p:nvSpPr>
        <p:spPr>
          <a:xfrm>
            <a:off x="4617720" y="3977640"/>
            <a:ext cx="2880360" cy="1051560"/>
          </a:xfrm>
          <a:prstGeom prst="rect">
            <a:avLst/>
          </a:prstGeom>
          <a:noFill/>
          <a:ln/>
        </p:spPr>
        <p:txBody>
          <a:bodyPr wrap="square" lIns="0" tIns="0" rIns="0" bIns="0" rtlCol="0" anchor="ctr"/>
          <a:lstStyle/>
          <a:p>
            <a:pPr marL="0" indent="0">
              <a:lnSpc>
                <a:spcPts val="1600"/>
              </a:lnSpc>
              <a:buNone/>
            </a:pPr>
            <a:r>
              <a:rPr lang="en-US" sz="1150" i="1" dirty="0">
                <a:solidFill>
                  <a:srgbClr val="DCEAEF"/>
                </a:solidFill>
                <a:latin typeface="Calibri" pitchFamily="34" charset="0"/>
                <a:ea typeface="Calibri" pitchFamily="34" charset="-122"/>
                <a:cs typeface="Calibri" pitchFamily="34" charset="-120"/>
              </a:rPr>
              <a:t>Still built on TCP, so one lost packet stalls everything.</a:t>
            </a:r>
            <a:endParaRPr lang="en-US" sz="1150" dirty="0"/>
          </a:p>
        </p:txBody>
      </p:sp>
      <p:sp>
        <p:nvSpPr>
          <p:cNvPr id="14" name="Shape 12"/>
          <p:cNvSpPr/>
          <p:nvPr/>
        </p:nvSpPr>
        <p:spPr>
          <a:xfrm>
            <a:off x="8012430" y="1657350"/>
            <a:ext cx="3337560" cy="3566160"/>
          </a:xfrm>
          <a:prstGeom prst="roundRect">
            <a:avLst>
              <a:gd name="adj" fmla="val 1918"/>
            </a:avLst>
          </a:prstGeom>
          <a:solidFill>
            <a:srgbClr val="6B4E71"/>
          </a:solidFill>
          <a:ln/>
        </p:spPr>
        <p:txBody>
          <a:bodyPr/>
          <a:lstStyle/>
          <a:p>
            <a:endParaRPr lang="en-US"/>
          </a:p>
        </p:txBody>
      </p:sp>
      <p:sp>
        <p:nvSpPr>
          <p:cNvPr id="15" name="Text 13"/>
          <p:cNvSpPr/>
          <p:nvPr/>
        </p:nvSpPr>
        <p:spPr>
          <a:xfrm>
            <a:off x="8229600" y="1828800"/>
            <a:ext cx="28803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HTTP/3</a:t>
            </a:r>
            <a:endParaRPr lang="en-US" sz="2200" dirty="0"/>
          </a:p>
        </p:txBody>
      </p:sp>
      <p:sp>
        <p:nvSpPr>
          <p:cNvPr id="16" name="Text 14"/>
          <p:cNvSpPr/>
          <p:nvPr/>
        </p:nvSpPr>
        <p:spPr>
          <a:xfrm>
            <a:off x="8229600" y="2304288"/>
            <a:ext cx="2880360" cy="274320"/>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2022</a:t>
            </a:r>
            <a:endParaRPr lang="en-US" sz="1200" dirty="0"/>
          </a:p>
        </p:txBody>
      </p:sp>
      <p:sp>
        <p:nvSpPr>
          <p:cNvPr id="17" name="Text 15"/>
          <p:cNvSpPr/>
          <p:nvPr/>
        </p:nvSpPr>
        <p:spPr>
          <a:xfrm>
            <a:off x="8229600" y="2697480"/>
            <a:ext cx="2880360" cy="118872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Runs on QUIC over UDP. Streams are truly independent.</a:t>
            </a:r>
            <a:endParaRPr lang="en-US" sz="1250" dirty="0"/>
          </a:p>
        </p:txBody>
      </p:sp>
      <p:sp>
        <p:nvSpPr>
          <p:cNvPr id="18" name="Text 16"/>
          <p:cNvSpPr/>
          <p:nvPr/>
        </p:nvSpPr>
        <p:spPr>
          <a:xfrm>
            <a:off x="8229600" y="3977640"/>
            <a:ext cx="2880360" cy="1051560"/>
          </a:xfrm>
          <a:prstGeom prst="rect">
            <a:avLst/>
          </a:prstGeom>
          <a:noFill/>
          <a:ln/>
        </p:spPr>
        <p:txBody>
          <a:bodyPr wrap="square" lIns="0" tIns="0" rIns="0" bIns="0" rtlCol="0" anchor="ctr"/>
          <a:lstStyle/>
          <a:p>
            <a:pPr marL="0" indent="0">
              <a:lnSpc>
                <a:spcPts val="1600"/>
              </a:lnSpc>
              <a:buNone/>
            </a:pPr>
            <a:r>
              <a:rPr lang="en-US" sz="1150" i="1" dirty="0">
                <a:solidFill>
                  <a:srgbClr val="DCEAEF"/>
                </a:solidFill>
                <a:latin typeface="Calibri" pitchFamily="34" charset="0"/>
                <a:ea typeface="Calibri" pitchFamily="34" charset="-122"/>
                <a:cs typeface="Calibri" pitchFamily="34" charset="-120"/>
              </a:rPr>
              <a:t>A lost packet affects only its own stream. Better on mobile networks.</a:t>
            </a:r>
            <a:endParaRPr lang="en-US" sz="1150" dirty="0"/>
          </a:p>
        </p:txBody>
      </p:sp>
      <p:sp>
        <p:nvSpPr>
          <p:cNvPr id="19" name="Text 17"/>
          <p:cNvSpPr/>
          <p:nvPr/>
        </p:nvSpPr>
        <p:spPr>
          <a:xfrm>
            <a:off x="777240" y="5440680"/>
            <a:ext cx="10607040" cy="45720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You do not choose this in code. You get it by using a modern server or CDN — which is one more reason to put a CDN in front.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The Complete Picture</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Everything before last lecture’s diagram even began</a:t>
            </a:r>
            <a:endParaRPr lang="en-US" sz="1500" dirty="0"/>
          </a:p>
        </p:txBody>
      </p:sp>
      <p:sp>
        <p:nvSpPr>
          <p:cNvPr id="4" name="Shape 2"/>
          <p:cNvSpPr/>
          <p:nvPr/>
        </p:nvSpPr>
        <p:spPr>
          <a:xfrm>
            <a:off x="731520" y="1691640"/>
            <a:ext cx="2514600" cy="1691640"/>
          </a:xfrm>
          <a:prstGeom prst="roundRect">
            <a:avLst>
              <a:gd name="adj" fmla="val 3784"/>
            </a:avLst>
          </a:prstGeom>
          <a:solidFill>
            <a:srgbClr val="F4F7F9"/>
          </a:solidFill>
          <a:ln w="12700">
            <a:solidFill>
              <a:srgbClr val="E1E8ED"/>
            </a:solidFill>
            <a:prstDash val="solid"/>
          </a:ln>
        </p:spPr>
        <p:txBody>
          <a:bodyPr/>
          <a:lstStyle/>
          <a:p>
            <a:endParaRPr lang="en-US"/>
          </a:p>
        </p:txBody>
      </p:sp>
      <p:sp>
        <p:nvSpPr>
          <p:cNvPr id="5" name="Shape 3"/>
          <p:cNvSpPr/>
          <p:nvPr/>
        </p:nvSpPr>
        <p:spPr>
          <a:xfrm>
            <a:off x="932688" y="1892808"/>
            <a:ext cx="411480" cy="411480"/>
          </a:xfrm>
          <a:prstGeom prst="ellipse">
            <a:avLst/>
          </a:prstGeom>
          <a:solidFill>
            <a:srgbClr val="065A82"/>
          </a:solidFill>
          <a:ln/>
        </p:spPr>
        <p:txBody>
          <a:bodyPr/>
          <a:lstStyle/>
          <a:p>
            <a:endParaRPr lang="en-US"/>
          </a:p>
        </p:txBody>
      </p:sp>
      <p:sp>
        <p:nvSpPr>
          <p:cNvPr id="6" name="Text 4"/>
          <p:cNvSpPr/>
          <p:nvPr/>
        </p:nvSpPr>
        <p:spPr>
          <a:xfrm>
            <a:off x="932688" y="189280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32688" y="240487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Check caches</a:t>
            </a:r>
            <a:endParaRPr lang="en-US" sz="1500" dirty="0"/>
          </a:p>
        </p:txBody>
      </p:sp>
      <p:sp>
        <p:nvSpPr>
          <p:cNvPr id="8" name="Text 6"/>
          <p:cNvSpPr/>
          <p:nvPr/>
        </p:nvSpPr>
        <p:spPr>
          <a:xfrm>
            <a:off x="932688" y="278892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browser, OS, router, resolver</a:t>
            </a:r>
            <a:endParaRPr lang="en-US" sz="1150" dirty="0"/>
          </a:p>
        </p:txBody>
      </p:sp>
      <p:sp>
        <p:nvSpPr>
          <p:cNvPr id="9" name="Shape 7"/>
          <p:cNvSpPr/>
          <p:nvPr/>
        </p:nvSpPr>
        <p:spPr>
          <a:xfrm>
            <a:off x="3474720" y="1691640"/>
            <a:ext cx="2514600" cy="1691640"/>
          </a:xfrm>
          <a:prstGeom prst="roundRect">
            <a:avLst>
              <a:gd name="adj" fmla="val 3784"/>
            </a:avLst>
          </a:prstGeom>
          <a:solidFill>
            <a:srgbClr val="F4F7F9"/>
          </a:solidFill>
          <a:ln w="12700">
            <a:solidFill>
              <a:srgbClr val="E1E8ED"/>
            </a:solidFill>
            <a:prstDash val="solid"/>
          </a:ln>
        </p:spPr>
        <p:txBody>
          <a:bodyPr/>
          <a:lstStyle/>
          <a:p>
            <a:endParaRPr lang="en-US"/>
          </a:p>
        </p:txBody>
      </p:sp>
      <p:sp>
        <p:nvSpPr>
          <p:cNvPr id="10" name="Shape 8"/>
          <p:cNvSpPr/>
          <p:nvPr/>
        </p:nvSpPr>
        <p:spPr>
          <a:xfrm>
            <a:off x="3675888" y="1892808"/>
            <a:ext cx="411480" cy="411480"/>
          </a:xfrm>
          <a:prstGeom prst="ellipse">
            <a:avLst/>
          </a:prstGeom>
          <a:solidFill>
            <a:srgbClr val="065A82"/>
          </a:solidFill>
          <a:ln/>
        </p:spPr>
        <p:txBody>
          <a:bodyPr/>
          <a:lstStyle/>
          <a:p>
            <a:endParaRPr lang="en-US"/>
          </a:p>
        </p:txBody>
      </p:sp>
      <p:sp>
        <p:nvSpPr>
          <p:cNvPr id="11" name="Text 9"/>
          <p:cNvSpPr/>
          <p:nvPr/>
        </p:nvSpPr>
        <p:spPr>
          <a:xfrm>
            <a:off x="3675888" y="189280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675888" y="240487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DNS lookup</a:t>
            </a:r>
            <a:endParaRPr lang="en-US" sz="1500" dirty="0"/>
          </a:p>
        </p:txBody>
      </p:sp>
      <p:sp>
        <p:nvSpPr>
          <p:cNvPr id="13" name="Text 11"/>
          <p:cNvSpPr/>
          <p:nvPr/>
        </p:nvSpPr>
        <p:spPr>
          <a:xfrm>
            <a:off x="3675888" y="278892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root → .in → Amazon</a:t>
            </a:r>
            <a:endParaRPr lang="en-US" sz="1150" dirty="0"/>
          </a:p>
        </p:txBody>
      </p:sp>
      <p:sp>
        <p:nvSpPr>
          <p:cNvPr id="14" name="Shape 12"/>
          <p:cNvSpPr/>
          <p:nvPr/>
        </p:nvSpPr>
        <p:spPr>
          <a:xfrm>
            <a:off x="6217920" y="1691640"/>
            <a:ext cx="2514600" cy="1691640"/>
          </a:xfrm>
          <a:prstGeom prst="roundRect">
            <a:avLst>
              <a:gd name="adj" fmla="val 3784"/>
            </a:avLst>
          </a:prstGeom>
          <a:solidFill>
            <a:srgbClr val="F4F7F9"/>
          </a:solidFill>
          <a:ln w="12700">
            <a:solidFill>
              <a:srgbClr val="E1E8ED"/>
            </a:solidFill>
            <a:prstDash val="solid"/>
          </a:ln>
        </p:spPr>
        <p:txBody>
          <a:bodyPr/>
          <a:lstStyle/>
          <a:p>
            <a:endParaRPr lang="en-US"/>
          </a:p>
        </p:txBody>
      </p:sp>
      <p:sp>
        <p:nvSpPr>
          <p:cNvPr id="15" name="Shape 13"/>
          <p:cNvSpPr/>
          <p:nvPr/>
        </p:nvSpPr>
        <p:spPr>
          <a:xfrm>
            <a:off x="6419088" y="1892808"/>
            <a:ext cx="411480" cy="411480"/>
          </a:xfrm>
          <a:prstGeom prst="ellipse">
            <a:avLst/>
          </a:prstGeom>
          <a:solidFill>
            <a:srgbClr val="065A82"/>
          </a:solidFill>
          <a:ln/>
        </p:spPr>
        <p:txBody>
          <a:bodyPr/>
          <a:lstStyle/>
          <a:p>
            <a:endParaRPr lang="en-US"/>
          </a:p>
        </p:txBody>
      </p:sp>
      <p:sp>
        <p:nvSpPr>
          <p:cNvPr id="16" name="Text 14"/>
          <p:cNvSpPr/>
          <p:nvPr/>
        </p:nvSpPr>
        <p:spPr>
          <a:xfrm>
            <a:off x="6419088" y="189280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419088" y="240487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TCP handshake</a:t>
            </a:r>
            <a:endParaRPr lang="en-US" sz="1500" dirty="0"/>
          </a:p>
        </p:txBody>
      </p:sp>
      <p:sp>
        <p:nvSpPr>
          <p:cNvPr id="18" name="Text 16"/>
          <p:cNvSpPr/>
          <p:nvPr/>
        </p:nvSpPr>
        <p:spPr>
          <a:xfrm>
            <a:off x="6419088" y="278892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SYN, SYN-ACK, ACK</a:t>
            </a:r>
            <a:endParaRPr lang="en-US" sz="1150" dirty="0"/>
          </a:p>
        </p:txBody>
      </p:sp>
      <p:sp>
        <p:nvSpPr>
          <p:cNvPr id="19" name="Shape 17"/>
          <p:cNvSpPr/>
          <p:nvPr/>
        </p:nvSpPr>
        <p:spPr>
          <a:xfrm>
            <a:off x="8961120" y="1691640"/>
            <a:ext cx="2514600" cy="1691640"/>
          </a:xfrm>
          <a:prstGeom prst="roundRect">
            <a:avLst>
              <a:gd name="adj" fmla="val 3784"/>
            </a:avLst>
          </a:prstGeom>
          <a:solidFill>
            <a:srgbClr val="F4F7F9"/>
          </a:solidFill>
          <a:ln w="12700">
            <a:solidFill>
              <a:srgbClr val="E1E8ED"/>
            </a:solidFill>
            <a:prstDash val="solid"/>
          </a:ln>
        </p:spPr>
        <p:txBody>
          <a:bodyPr/>
          <a:lstStyle/>
          <a:p>
            <a:endParaRPr lang="en-US"/>
          </a:p>
        </p:txBody>
      </p:sp>
      <p:sp>
        <p:nvSpPr>
          <p:cNvPr id="20" name="Shape 18"/>
          <p:cNvSpPr/>
          <p:nvPr/>
        </p:nvSpPr>
        <p:spPr>
          <a:xfrm>
            <a:off x="9162288" y="1892808"/>
            <a:ext cx="411480" cy="411480"/>
          </a:xfrm>
          <a:prstGeom prst="ellipse">
            <a:avLst/>
          </a:prstGeom>
          <a:solidFill>
            <a:srgbClr val="065A82"/>
          </a:solidFill>
          <a:ln/>
        </p:spPr>
        <p:txBody>
          <a:bodyPr/>
          <a:lstStyle/>
          <a:p>
            <a:endParaRPr lang="en-US"/>
          </a:p>
        </p:txBody>
      </p:sp>
      <p:sp>
        <p:nvSpPr>
          <p:cNvPr id="21" name="Text 19"/>
          <p:cNvSpPr/>
          <p:nvPr/>
        </p:nvSpPr>
        <p:spPr>
          <a:xfrm>
            <a:off x="9162288" y="189280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162288" y="240487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TLS handshake</a:t>
            </a:r>
            <a:endParaRPr lang="en-US" sz="1500" dirty="0"/>
          </a:p>
        </p:txBody>
      </p:sp>
      <p:sp>
        <p:nvSpPr>
          <p:cNvPr id="23" name="Text 21"/>
          <p:cNvSpPr/>
          <p:nvPr/>
        </p:nvSpPr>
        <p:spPr>
          <a:xfrm>
            <a:off x="9162288" y="278892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certificate, shared key</a:t>
            </a:r>
            <a:endParaRPr lang="en-US" sz="1150" dirty="0"/>
          </a:p>
        </p:txBody>
      </p:sp>
      <p:sp>
        <p:nvSpPr>
          <p:cNvPr id="24" name="Shape 22"/>
          <p:cNvSpPr/>
          <p:nvPr/>
        </p:nvSpPr>
        <p:spPr>
          <a:xfrm>
            <a:off x="731520" y="3703320"/>
            <a:ext cx="2514600" cy="1691640"/>
          </a:xfrm>
          <a:prstGeom prst="roundRect">
            <a:avLst>
              <a:gd name="adj" fmla="val 3784"/>
            </a:avLst>
          </a:prstGeom>
          <a:solidFill>
            <a:srgbClr val="F4F7F9"/>
          </a:solidFill>
          <a:ln w="12700">
            <a:solidFill>
              <a:srgbClr val="E1E8ED"/>
            </a:solidFill>
            <a:prstDash val="solid"/>
          </a:ln>
        </p:spPr>
        <p:txBody>
          <a:bodyPr/>
          <a:lstStyle/>
          <a:p>
            <a:endParaRPr lang="en-US"/>
          </a:p>
        </p:txBody>
      </p:sp>
      <p:sp>
        <p:nvSpPr>
          <p:cNvPr id="25" name="Shape 23"/>
          <p:cNvSpPr/>
          <p:nvPr/>
        </p:nvSpPr>
        <p:spPr>
          <a:xfrm>
            <a:off x="932688" y="3904488"/>
            <a:ext cx="411480" cy="411480"/>
          </a:xfrm>
          <a:prstGeom prst="ellipse">
            <a:avLst/>
          </a:prstGeom>
          <a:solidFill>
            <a:srgbClr val="065A82"/>
          </a:solidFill>
          <a:ln/>
        </p:spPr>
        <p:txBody>
          <a:bodyPr/>
          <a:lstStyle/>
          <a:p>
            <a:endParaRPr lang="en-US"/>
          </a:p>
        </p:txBody>
      </p:sp>
      <p:sp>
        <p:nvSpPr>
          <p:cNvPr id="26" name="Text 24"/>
          <p:cNvSpPr/>
          <p:nvPr/>
        </p:nvSpPr>
        <p:spPr>
          <a:xfrm>
            <a:off x="932688" y="390448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932688" y="441655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HTTP request</a:t>
            </a:r>
            <a:endParaRPr lang="en-US" sz="1500" dirty="0"/>
          </a:p>
        </p:txBody>
      </p:sp>
      <p:sp>
        <p:nvSpPr>
          <p:cNvPr id="28" name="Text 26"/>
          <p:cNvSpPr/>
          <p:nvPr/>
        </p:nvSpPr>
        <p:spPr>
          <a:xfrm>
            <a:off x="932688" y="480060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reaches the load balancer</a:t>
            </a:r>
            <a:endParaRPr lang="en-US" sz="1150" dirty="0"/>
          </a:p>
        </p:txBody>
      </p:sp>
      <p:sp>
        <p:nvSpPr>
          <p:cNvPr id="29" name="Shape 27"/>
          <p:cNvSpPr/>
          <p:nvPr/>
        </p:nvSpPr>
        <p:spPr>
          <a:xfrm>
            <a:off x="3474720" y="3703320"/>
            <a:ext cx="2514600" cy="1691640"/>
          </a:xfrm>
          <a:prstGeom prst="roundRect">
            <a:avLst>
              <a:gd name="adj" fmla="val 3784"/>
            </a:avLst>
          </a:prstGeom>
          <a:solidFill>
            <a:srgbClr val="EEF6F7"/>
          </a:solidFill>
          <a:ln w="17780">
            <a:solidFill>
              <a:srgbClr val="1C7293"/>
            </a:solidFill>
            <a:prstDash val="solid"/>
          </a:ln>
        </p:spPr>
        <p:txBody>
          <a:bodyPr/>
          <a:lstStyle/>
          <a:p>
            <a:endParaRPr lang="en-US"/>
          </a:p>
        </p:txBody>
      </p:sp>
      <p:sp>
        <p:nvSpPr>
          <p:cNvPr id="30" name="Shape 28"/>
          <p:cNvSpPr/>
          <p:nvPr/>
        </p:nvSpPr>
        <p:spPr>
          <a:xfrm>
            <a:off x="3675888" y="3904488"/>
            <a:ext cx="411480" cy="411480"/>
          </a:xfrm>
          <a:prstGeom prst="ellipse">
            <a:avLst/>
          </a:prstGeom>
          <a:solidFill>
            <a:srgbClr val="1C7293"/>
          </a:solidFill>
          <a:ln/>
        </p:spPr>
        <p:txBody>
          <a:bodyPr/>
          <a:lstStyle/>
          <a:p>
            <a:endParaRPr lang="en-US"/>
          </a:p>
        </p:txBody>
      </p:sp>
      <p:sp>
        <p:nvSpPr>
          <p:cNvPr id="31" name="Text 29"/>
          <p:cNvSpPr/>
          <p:nvPr/>
        </p:nvSpPr>
        <p:spPr>
          <a:xfrm>
            <a:off x="3675888" y="390448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3675888" y="441655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Backend work</a:t>
            </a:r>
            <a:endParaRPr lang="en-US" sz="1500" dirty="0"/>
          </a:p>
        </p:txBody>
      </p:sp>
      <p:sp>
        <p:nvSpPr>
          <p:cNvPr id="34" name="Shape 32"/>
          <p:cNvSpPr/>
          <p:nvPr/>
        </p:nvSpPr>
        <p:spPr>
          <a:xfrm>
            <a:off x="6217920" y="3703320"/>
            <a:ext cx="2514600" cy="1691640"/>
          </a:xfrm>
          <a:prstGeom prst="roundRect">
            <a:avLst>
              <a:gd name="adj" fmla="val 3784"/>
            </a:avLst>
          </a:prstGeom>
          <a:solidFill>
            <a:srgbClr val="EEF6F7"/>
          </a:solidFill>
          <a:ln w="17780">
            <a:solidFill>
              <a:srgbClr val="1C7293"/>
            </a:solidFill>
            <a:prstDash val="solid"/>
          </a:ln>
        </p:spPr>
        <p:txBody>
          <a:bodyPr/>
          <a:lstStyle/>
          <a:p>
            <a:endParaRPr lang="en-US"/>
          </a:p>
        </p:txBody>
      </p:sp>
      <p:sp>
        <p:nvSpPr>
          <p:cNvPr id="35" name="Shape 33"/>
          <p:cNvSpPr/>
          <p:nvPr/>
        </p:nvSpPr>
        <p:spPr>
          <a:xfrm>
            <a:off x="6419088" y="3904488"/>
            <a:ext cx="411480" cy="411480"/>
          </a:xfrm>
          <a:prstGeom prst="ellipse">
            <a:avLst/>
          </a:prstGeom>
          <a:solidFill>
            <a:srgbClr val="1C7293"/>
          </a:solidFill>
          <a:ln/>
        </p:spPr>
        <p:txBody>
          <a:bodyPr/>
          <a:lstStyle/>
          <a:p>
            <a:endParaRPr lang="en-US"/>
          </a:p>
        </p:txBody>
      </p:sp>
      <p:sp>
        <p:nvSpPr>
          <p:cNvPr id="36" name="Text 34"/>
          <p:cNvSpPr/>
          <p:nvPr/>
        </p:nvSpPr>
        <p:spPr>
          <a:xfrm>
            <a:off x="6419088" y="390448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6419088" y="441655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Response</a:t>
            </a:r>
            <a:endParaRPr lang="en-US" sz="1500" dirty="0"/>
          </a:p>
        </p:txBody>
      </p:sp>
      <p:sp>
        <p:nvSpPr>
          <p:cNvPr id="38" name="Text 36"/>
          <p:cNvSpPr/>
          <p:nvPr/>
        </p:nvSpPr>
        <p:spPr>
          <a:xfrm>
            <a:off x="6419088" y="480060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status, headers, JSON</a:t>
            </a:r>
            <a:endParaRPr lang="en-US" sz="1150" dirty="0"/>
          </a:p>
        </p:txBody>
      </p:sp>
      <p:sp>
        <p:nvSpPr>
          <p:cNvPr id="39" name="Shape 37"/>
          <p:cNvSpPr/>
          <p:nvPr/>
        </p:nvSpPr>
        <p:spPr>
          <a:xfrm>
            <a:off x="8961120" y="3703320"/>
            <a:ext cx="2514600" cy="1691640"/>
          </a:xfrm>
          <a:prstGeom prst="roundRect">
            <a:avLst>
              <a:gd name="adj" fmla="val 3784"/>
            </a:avLst>
          </a:prstGeom>
          <a:solidFill>
            <a:srgbClr val="EEF6F7"/>
          </a:solidFill>
          <a:ln w="17780">
            <a:solidFill>
              <a:srgbClr val="1C7293"/>
            </a:solidFill>
            <a:prstDash val="solid"/>
          </a:ln>
        </p:spPr>
        <p:txBody>
          <a:bodyPr/>
          <a:lstStyle/>
          <a:p>
            <a:endParaRPr lang="en-US"/>
          </a:p>
        </p:txBody>
      </p:sp>
      <p:sp>
        <p:nvSpPr>
          <p:cNvPr id="40" name="Shape 38"/>
          <p:cNvSpPr/>
          <p:nvPr/>
        </p:nvSpPr>
        <p:spPr>
          <a:xfrm>
            <a:off x="9162288" y="3904488"/>
            <a:ext cx="411480" cy="411480"/>
          </a:xfrm>
          <a:prstGeom prst="ellipse">
            <a:avLst/>
          </a:prstGeom>
          <a:solidFill>
            <a:srgbClr val="1C7293"/>
          </a:solidFill>
          <a:ln/>
        </p:spPr>
        <p:txBody>
          <a:bodyPr/>
          <a:lstStyle/>
          <a:p>
            <a:endParaRPr lang="en-US"/>
          </a:p>
        </p:txBody>
      </p:sp>
      <p:sp>
        <p:nvSpPr>
          <p:cNvPr id="41" name="Text 39"/>
          <p:cNvSpPr/>
          <p:nvPr/>
        </p:nvSpPr>
        <p:spPr>
          <a:xfrm>
            <a:off x="9162288" y="390448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9162288" y="4416552"/>
            <a:ext cx="2148840" cy="384048"/>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Render</a:t>
            </a:r>
            <a:endParaRPr lang="en-US" sz="1500" dirty="0"/>
          </a:p>
        </p:txBody>
      </p:sp>
      <p:sp>
        <p:nvSpPr>
          <p:cNvPr id="43" name="Text 41"/>
          <p:cNvSpPr/>
          <p:nvPr/>
        </p:nvSpPr>
        <p:spPr>
          <a:xfrm>
            <a:off x="9162288" y="4800600"/>
            <a:ext cx="2148840" cy="502920"/>
          </a:xfrm>
          <a:prstGeom prst="rect">
            <a:avLst/>
          </a:prstGeom>
          <a:noFill/>
          <a:ln/>
        </p:spPr>
        <p:txBody>
          <a:bodyPr wrap="square" lIns="0" tIns="0" rIns="0" bIns="0" rtlCol="0" anchor="ctr"/>
          <a:lstStyle/>
          <a:p>
            <a:pPr marL="0" indent="0">
              <a:lnSpc>
                <a:spcPts val="1500"/>
              </a:lnSpc>
              <a:buNone/>
            </a:pPr>
            <a:r>
              <a:rPr lang="en-US" sz="1150" dirty="0">
                <a:solidFill>
                  <a:srgbClr val="5A6B76"/>
                </a:solidFill>
                <a:latin typeface="Calibri" pitchFamily="34" charset="0"/>
                <a:ea typeface="Calibri" pitchFamily="34" charset="-122"/>
                <a:cs typeface="Calibri" pitchFamily="34" charset="-120"/>
              </a:rPr>
              <a:t>and image calls to the CDN</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2286000"/>
            <a:ext cx="1371600" cy="1371600"/>
          </a:xfrm>
          <a:prstGeom prst="ellipse">
            <a:avLst/>
          </a:prstGeom>
          <a:solidFill>
            <a:srgbClr val="E8A33D"/>
          </a:solidFill>
          <a:ln/>
        </p:spPr>
        <p:txBody>
          <a:bodyPr/>
          <a:lstStyle/>
          <a:p>
            <a:endParaRPr lang="en-US"/>
          </a:p>
        </p:txBody>
      </p:sp>
      <p:sp>
        <p:nvSpPr>
          <p:cNvPr id="3" name="Text 1"/>
          <p:cNvSpPr/>
          <p:nvPr/>
        </p:nvSpPr>
        <p:spPr>
          <a:xfrm>
            <a:off x="822960" y="2286000"/>
            <a:ext cx="1371600" cy="1371600"/>
          </a:xfrm>
          <a:prstGeom prst="rect">
            <a:avLst/>
          </a:prstGeom>
          <a:noFill/>
          <a:ln/>
        </p:spPr>
        <p:txBody>
          <a:bodyPr wrap="square" rtlCol="0" anchor="ctr"/>
          <a:lstStyle/>
          <a:p>
            <a:pPr marL="0" indent="0" algn="ctr">
              <a:buNone/>
            </a:pPr>
            <a:r>
              <a:rPr lang="en-US" sz="4400" b="1" dirty="0">
                <a:solidFill>
                  <a:srgbClr val="13293D"/>
                </a:solidFill>
                <a:latin typeface="Cambria" pitchFamily="34" charset="0"/>
                <a:ea typeface="Cambria" pitchFamily="34" charset="-122"/>
                <a:cs typeface="Cambria" pitchFamily="34" charset="-120"/>
              </a:rPr>
              <a:t>2</a:t>
            </a:r>
            <a:endParaRPr lang="en-US" sz="4400" dirty="0"/>
          </a:p>
        </p:txBody>
      </p:sp>
      <p:sp>
        <p:nvSpPr>
          <p:cNvPr id="4" name="Text 2"/>
          <p:cNvSpPr/>
          <p:nvPr/>
        </p:nvSpPr>
        <p:spPr>
          <a:xfrm>
            <a:off x="2651760" y="2286000"/>
            <a:ext cx="8595360" cy="8686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Numbers</a:t>
            </a:r>
            <a:endParaRPr lang="en-US" sz="3800" dirty="0"/>
          </a:p>
        </p:txBody>
      </p:sp>
      <p:sp>
        <p:nvSpPr>
          <p:cNvPr id="5" name="Text 3"/>
          <p:cNvSpPr/>
          <p:nvPr/>
        </p:nvSpPr>
        <p:spPr>
          <a:xfrm>
            <a:off x="2697480" y="3182112"/>
            <a:ext cx="8503920" cy="731520"/>
          </a:xfrm>
          <a:prstGeom prst="rect">
            <a:avLst/>
          </a:prstGeom>
          <a:noFill/>
          <a:ln/>
        </p:spPr>
        <p:txBody>
          <a:bodyPr wrap="square" rtlCol="0" anchor="ctr"/>
          <a:lstStyle/>
          <a:p>
            <a:pPr marL="0" indent="0">
              <a:lnSpc>
                <a:spcPts val="2400"/>
              </a:lnSpc>
              <a:buNone/>
            </a:pPr>
            <a:r>
              <a:rPr lang="en-US" sz="1650" dirty="0">
                <a:solidFill>
                  <a:srgbClr val="9AD1D4"/>
                </a:solidFill>
                <a:latin typeface="Calibri" pitchFamily="34" charset="0"/>
                <a:ea typeface="Calibri" pitchFamily="34" charset="-122"/>
                <a:cs typeface="Calibri" pitchFamily="34" charset="-120"/>
              </a:rPr>
              <a:t>Everything so far was qualitative. Now we measure it —</a:t>
            </a:r>
            <a:endParaRPr lang="en-US" sz="1650" dirty="0"/>
          </a:p>
          <a:p>
            <a:pPr marL="0" indent="0">
              <a:lnSpc>
                <a:spcPts val="2400"/>
              </a:lnSpc>
              <a:buNone/>
            </a:pPr>
            <a:r>
              <a:rPr lang="en-US" sz="1650" dirty="0">
                <a:solidFill>
                  <a:srgbClr val="9AD1D4"/>
                </a:solidFill>
                <a:latin typeface="Calibri" pitchFamily="34" charset="0"/>
                <a:ea typeface="Calibri" pitchFamily="34" charset="-122"/>
                <a:cs typeface="Calibri" pitchFamily="34" charset="-120"/>
              </a:rPr>
              <a:t>and find that the obvious measurement is the wrong one.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5</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Your team reports proudly: "Average response time is 200 milliseconds." Your manager seems satisfied. Meanwhile, complaints about the app being slow keep arriving.</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How can the average look healthy</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while users are genuinely suffering?</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Imagine ten requests: nine take 100 ms and one takes 1.1 seconds.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Averages Hide the Victims</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Measure percentiles, never means</a:t>
            </a:r>
            <a:endParaRPr lang="en-US" sz="1500" dirty="0"/>
          </a:p>
        </p:txBody>
      </p:sp>
      <p:sp>
        <p:nvSpPr>
          <p:cNvPr id="4" name="Shape 2"/>
          <p:cNvSpPr/>
          <p:nvPr/>
        </p:nvSpPr>
        <p:spPr>
          <a:xfrm>
            <a:off x="777240" y="1508760"/>
            <a:ext cx="10607040" cy="822960"/>
          </a:xfrm>
          <a:prstGeom prst="roundRect">
            <a:avLst>
              <a:gd name="adj" fmla="val 6667"/>
            </a:avLst>
          </a:prstGeom>
          <a:solidFill>
            <a:srgbClr val="13293D"/>
          </a:solidFill>
          <a:ln/>
        </p:spPr>
        <p:txBody>
          <a:bodyPr/>
          <a:lstStyle/>
          <a:p>
            <a:endParaRPr lang="en-US"/>
          </a:p>
        </p:txBody>
      </p:sp>
      <p:sp>
        <p:nvSpPr>
          <p:cNvPr id="5" name="Text 3"/>
          <p:cNvSpPr/>
          <p:nvPr/>
        </p:nvSpPr>
        <p:spPr>
          <a:xfrm>
            <a:off x="1097280" y="1508760"/>
            <a:ext cx="10058400" cy="82296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An average blends the lucky and the unlucky into one comfortable number. Percentiles refuse to do that: p99 = 1.1 s means one request in every hundred took at least 1.1 seconds.</a:t>
            </a:r>
            <a:endParaRPr lang="en-US" sz="1550" dirty="0"/>
          </a:p>
        </p:txBody>
      </p:sp>
      <p:sp>
        <p:nvSpPr>
          <p:cNvPr id="6" name="Shape 4"/>
          <p:cNvSpPr/>
          <p:nvPr/>
        </p:nvSpPr>
        <p:spPr>
          <a:xfrm>
            <a:off x="777240" y="2606040"/>
            <a:ext cx="10607040" cy="694944"/>
          </a:xfrm>
          <a:prstGeom prst="roundRect">
            <a:avLst>
              <a:gd name="adj" fmla="val 6579"/>
            </a:avLst>
          </a:prstGeom>
          <a:solidFill>
            <a:srgbClr val="FFFFFF"/>
          </a:solidFill>
          <a:ln w="12700">
            <a:solidFill>
              <a:srgbClr val="E1E8ED"/>
            </a:solidFill>
            <a:prstDash val="solid"/>
          </a:ln>
        </p:spPr>
        <p:txBody>
          <a:bodyPr/>
          <a:lstStyle/>
          <a:p>
            <a:endParaRPr lang="en-US"/>
          </a:p>
        </p:txBody>
      </p:sp>
      <p:sp>
        <p:nvSpPr>
          <p:cNvPr id="7" name="Shape 5"/>
          <p:cNvSpPr/>
          <p:nvPr/>
        </p:nvSpPr>
        <p:spPr>
          <a:xfrm>
            <a:off x="1005840" y="2724912"/>
            <a:ext cx="1051560" cy="457200"/>
          </a:xfrm>
          <a:prstGeom prst="roundRect">
            <a:avLst>
              <a:gd name="adj" fmla="val 30000"/>
            </a:avLst>
          </a:prstGeom>
          <a:solidFill>
            <a:srgbClr val="2E7D5B"/>
          </a:solidFill>
          <a:ln/>
        </p:spPr>
        <p:txBody>
          <a:bodyPr/>
          <a:lstStyle/>
          <a:p>
            <a:endParaRPr lang="en-US"/>
          </a:p>
        </p:txBody>
      </p:sp>
      <p:sp>
        <p:nvSpPr>
          <p:cNvPr id="8" name="Text 6"/>
          <p:cNvSpPr/>
          <p:nvPr/>
        </p:nvSpPr>
        <p:spPr>
          <a:xfrm>
            <a:off x="1005840" y="2724912"/>
            <a:ext cx="105156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p50</a:t>
            </a:r>
            <a:endParaRPr lang="en-US" sz="1350" dirty="0"/>
          </a:p>
        </p:txBody>
      </p:sp>
      <p:sp>
        <p:nvSpPr>
          <p:cNvPr id="9" name="Text 7"/>
          <p:cNvSpPr/>
          <p:nvPr/>
        </p:nvSpPr>
        <p:spPr>
          <a:xfrm>
            <a:off x="2331720" y="2606040"/>
            <a:ext cx="7040880" cy="694944"/>
          </a:xfrm>
          <a:prstGeom prst="rect">
            <a:avLst/>
          </a:prstGeom>
          <a:noFill/>
          <a:ln/>
        </p:spPr>
        <p:txBody>
          <a:bodyPr wrap="square" lIns="0" tIns="0" rIns="0" bIns="0" rtlCol="0" anchor="ctr"/>
          <a:lstStyle/>
          <a:p>
            <a:pPr marL="0" indent="0">
              <a:buNone/>
            </a:pPr>
            <a:r>
              <a:rPr lang="en-US" sz="1350" dirty="0">
                <a:solidFill>
                  <a:srgbClr val="1B2A33"/>
                </a:solidFill>
                <a:latin typeface="Calibri" pitchFamily="34" charset="0"/>
                <a:ea typeface="Calibri" pitchFamily="34" charset="-122"/>
                <a:cs typeface="Calibri" pitchFamily="34" charset="-120"/>
              </a:rPr>
              <a:t>Half of requests are faster than this. The typical experience.</a:t>
            </a:r>
            <a:endParaRPr lang="en-US" sz="1350" dirty="0"/>
          </a:p>
        </p:txBody>
      </p:sp>
      <p:sp>
        <p:nvSpPr>
          <p:cNvPr id="10" name="Text 8"/>
          <p:cNvSpPr/>
          <p:nvPr/>
        </p:nvSpPr>
        <p:spPr>
          <a:xfrm>
            <a:off x="9509760" y="2606040"/>
            <a:ext cx="1645920" cy="694944"/>
          </a:xfrm>
          <a:prstGeom prst="rect">
            <a:avLst/>
          </a:prstGeom>
          <a:noFill/>
          <a:ln/>
        </p:spPr>
        <p:txBody>
          <a:bodyPr wrap="square" lIns="0" tIns="0" rIns="0" bIns="0" rtlCol="0" anchor="ctr"/>
          <a:lstStyle/>
          <a:p>
            <a:pPr marL="0" indent="0" algn="r">
              <a:buNone/>
            </a:pPr>
            <a:r>
              <a:rPr lang="en-US" sz="1400" b="1" dirty="0">
                <a:solidFill>
                  <a:srgbClr val="2E7D5B"/>
                </a:solidFill>
                <a:latin typeface="Calibri" pitchFamily="34" charset="0"/>
                <a:ea typeface="Calibri" pitchFamily="34" charset="-122"/>
                <a:cs typeface="Calibri" pitchFamily="34" charset="-120"/>
              </a:rPr>
              <a:t>~120 ms</a:t>
            </a:r>
            <a:endParaRPr lang="en-US" sz="1400" dirty="0"/>
          </a:p>
        </p:txBody>
      </p:sp>
      <p:sp>
        <p:nvSpPr>
          <p:cNvPr id="11" name="Shape 9"/>
          <p:cNvSpPr/>
          <p:nvPr/>
        </p:nvSpPr>
        <p:spPr>
          <a:xfrm>
            <a:off x="777240" y="3410712"/>
            <a:ext cx="10607040" cy="694944"/>
          </a:xfrm>
          <a:prstGeom prst="roundRect">
            <a:avLst>
              <a:gd name="adj" fmla="val 6579"/>
            </a:avLst>
          </a:prstGeom>
          <a:solidFill>
            <a:srgbClr val="F4F7F9"/>
          </a:solidFill>
          <a:ln w="12700">
            <a:solidFill>
              <a:srgbClr val="E1E8ED"/>
            </a:solidFill>
            <a:prstDash val="solid"/>
          </a:ln>
        </p:spPr>
        <p:txBody>
          <a:bodyPr/>
          <a:lstStyle/>
          <a:p>
            <a:endParaRPr lang="en-US"/>
          </a:p>
        </p:txBody>
      </p:sp>
      <p:sp>
        <p:nvSpPr>
          <p:cNvPr id="12" name="Shape 10"/>
          <p:cNvSpPr/>
          <p:nvPr/>
        </p:nvSpPr>
        <p:spPr>
          <a:xfrm>
            <a:off x="1005840" y="3529584"/>
            <a:ext cx="1051560" cy="457200"/>
          </a:xfrm>
          <a:prstGeom prst="roundRect">
            <a:avLst>
              <a:gd name="adj" fmla="val 30000"/>
            </a:avLst>
          </a:prstGeom>
          <a:solidFill>
            <a:srgbClr val="E8A33D"/>
          </a:solidFill>
          <a:ln/>
        </p:spPr>
        <p:txBody>
          <a:bodyPr/>
          <a:lstStyle/>
          <a:p>
            <a:endParaRPr lang="en-US"/>
          </a:p>
        </p:txBody>
      </p:sp>
      <p:sp>
        <p:nvSpPr>
          <p:cNvPr id="13" name="Text 11"/>
          <p:cNvSpPr/>
          <p:nvPr/>
        </p:nvSpPr>
        <p:spPr>
          <a:xfrm>
            <a:off x="1005840" y="3529584"/>
            <a:ext cx="105156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p95</a:t>
            </a:r>
            <a:endParaRPr lang="en-US" sz="1350" dirty="0"/>
          </a:p>
        </p:txBody>
      </p:sp>
      <p:sp>
        <p:nvSpPr>
          <p:cNvPr id="14" name="Text 12"/>
          <p:cNvSpPr/>
          <p:nvPr/>
        </p:nvSpPr>
        <p:spPr>
          <a:xfrm>
            <a:off x="2331720" y="3410712"/>
            <a:ext cx="7040880" cy="694944"/>
          </a:xfrm>
          <a:prstGeom prst="rect">
            <a:avLst/>
          </a:prstGeom>
          <a:noFill/>
          <a:ln/>
        </p:spPr>
        <p:txBody>
          <a:bodyPr wrap="square" lIns="0" tIns="0" rIns="0" bIns="0" rtlCol="0" anchor="ctr"/>
          <a:lstStyle/>
          <a:p>
            <a:pPr marL="0" indent="0">
              <a:buNone/>
            </a:pPr>
            <a:r>
              <a:rPr lang="en-US" sz="1350" dirty="0">
                <a:solidFill>
                  <a:srgbClr val="1B2A33"/>
                </a:solidFill>
                <a:latin typeface="Calibri" pitchFamily="34" charset="0"/>
                <a:ea typeface="Calibri" pitchFamily="34" charset="-122"/>
                <a:cs typeface="Calibri" pitchFamily="34" charset="-120"/>
              </a:rPr>
              <a:t>Only 1 in 20 is slower. Where real problems start showing.</a:t>
            </a:r>
            <a:endParaRPr lang="en-US" sz="1350" dirty="0"/>
          </a:p>
        </p:txBody>
      </p:sp>
      <p:sp>
        <p:nvSpPr>
          <p:cNvPr id="15" name="Text 13"/>
          <p:cNvSpPr/>
          <p:nvPr/>
        </p:nvSpPr>
        <p:spPr>
          <a:xfrm>
            <a:off x="9509760" y="3410712"/>
            <a:ext cx="1645920" cy="694944"/>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~400 ms</a:t>
            </a:r>
            <a:endParaRPr lang="en-US" sz="1400" dirty="0"/>
          </a:p>
        </p:txBody>
      </p:sp>
      <p:sp>
        <p:nvSpPr>
          <p:cNvPr id="16" name="Shape 14"/>
          <p:cNvSpPr/>
          <p:nvPr/>
        </p:nvSpPr>
        <p:spPr>
          <a:xfrm>
            <a:off x="777240" y="4215384"/>
            <a:ext cx="10607040" cy="694944"/>
          </a:xfrm>
          <a:prstGeom prst="roundRect">
            <a:avLst>
              <a:gd name="adj" fmla="val 6579"/>
            </a:avLst>
          </a:prstGeom>
          <a:solidFill>
            <a:srgbClr val="FFFFFF"/>
          </a:solidFill>
          <a:ln w="12700">
            <a:solidFill>
              <a:srgbClr val="E1E8ED"/>
            </a:solidFill>
            <a:prstDash val="solid"/>
          </a:ln>
        </p:spPr>
        <p:txBody>
          <a:bodyPr/>
          <a:lstStyle/>
          <a:p>
            <a:endParaRPr lang="en-US"/>
          </a:p>
        </p:txBody>
      </p:sp>
      <p:sp>
        <p:nvSpPr>
          <p:cNvPr id="17" name="Shape 15"/>
          <p:cNvSpPr/>
          <p:nvPr/>
        </p:nvSpPr>
        <p:spPr>
          <a:xfrm>
            <a:off x="1005840" y="4334256"/>
            <a:ext cx="1051560" cy="457200"/>
          </a:xfrm>
          <a:prstGeom prst="roundRect">
            <a:avLst>
              <a:gd name="adj" fmla="val 30000"/>
            </a:avLst>
          </a:prstGeom>
          <a:solidFill>
            <a:srgbClr val="A03A3A"/>
          </a:solidFill>
          <a:ln/>
        </p:spPr>
        <p:txBody>
          <a:bodyPr/>
          <a:lstStyle/>
          <a:p>
            <a:endParaRPr lang="en-US"/>
          </a:p>
        </p:txBody>
      </p:sp>
      <p:sp>
        <p:nvSpPr>
          <p:cNvPr id="18" name="Text 16"/>
          <p:cNvSpPr/>
          <p:nvPr/>
        </p:nvSpPr>
        <p:spPr>
          <a:xfrm>
            <a:off x="1005840" y="4334256"/>
            <a:ext cx="105156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p99</a:t>
            </a:r>
            <a:endParaRPr lang="en-US" sz="1350" dirty="0"/>
          </a:p>
        </p:txBody>
      </p:sp>
      <p:sp>
        <p:nvSpPr>
          <p:cNvPr id="19" name="Text 17"/>
          <p:cNvSpPr/>
          <p:nvPr/>
        </p:nvSpPr>
        <p:spPr>
          <a:xfrm>
            <a:off x="2331720" y="4215384"/>
            <a:ext cx="7040880" cy="694944"/>
          </a:xfrm>
          <a:prstGeom prst="rect">
            <a:avLst/>
          </a:prstGeom>
          <a:noFill/>
          <a:ln/>
        </p:spPr>
        <p:txBody>
          <a:bodyPr wrap="square" lIns="0" tIns="0" rIns="0" bIns="0" rtlCol="0" anchor="ctr"/>
          <a:lstStyle/>
          <a:p>
            <a:pPr marL="0" indent="0">
              <a:buNone/>
            </a:pPr>
            <a:r>
              <a:rPr lang="en-US" sz="1350" dirty="0">
                <a:solidFill>
                  <a:srgbClr val="1B2A33"/>
                </a:solidFill>
                <a:latin typeface="Calibri" pitchFamily="34" charset="0"/>
                <a:ea typeface="Calibri" pitchFamily="34" charset="-122"/>
                <a:cs typeface="Calibri" pitchFamily="34" charset="-120"/>
              </a:rPr>
              <a:t>The worst 1 in 100. Your most loyal users live here.</a:t>
            </a:r>
            <a:endParaRPr lang="en-US" sz="1350" dirty="0"/>
          </a:p>
        </p:txBody>
      </p:sp>
      <p:sp>
        <p:nvSpPr>
          <p:cNvPr id="20" name="Text 18"/>
          <p:cNvSpPr/>
          <p:nvPr/>
        </p:nvSpPr>
        <p:spPr>
          <a:xfrm>
            <a:off x="9509760" y="4215384"/>
            <a:ext cx="1645920" cy="694944"/>
          </a:xfrm>
          <a:prstGeom prst="rect">
            <a:avLst/>
          </a:prstGeom>
          <a:noFill/>
          <a:ln/>
        </p:spPr>
        <p:txBody>
          <a:bodyPr wrap="square" lIns="0" tIns="0" rIns="0" bIns="0" rtlCol="0" anchor="ctr"/>
          <a:lstStyle/>
          <a:p>
            <a:pPr marL="0" indent="0" algn="r">
              <a:buNone/>
            </a:pPr>
            <a:r>
              <a:rPr lang="en-US" sz="1400" b="1" dirty="0">
                <a:solidFill>
                  <a:srgbClr val="A03A3A"/>
                </a:solidFill>
                <a:latin typeface="Calibri" pitchFamily="34" charset="0"/>
                <a:ea typeface="Calibri" pitchFamily="34" charset="-122"/>
                <a:cs typeface="Calibri" pitchFamily="34" charset="-120"/>
              </a:rPr>
              <a:t>~1.1 s</a:t>
            </a:r>
            <a:endParaRPr lang="en-US" sz="1400" dirty="0"/>
          </a:p>
        </p:txBody>
      </p:sp>
      <p:sp>
        <p:nvSpPr>
          <p:cNvPr id="21" name="Shape 19"/>
          <p:cNvSpPr/>
          <p:nvPr/>
        </p:nvSpPr>
        <p:spPr>
          <a:xfrm>
            <a:off x="777240" y="5020056"/>
            <a:ext cx="10607040" cy="694944"/>
          </a:xfrm>
          <a:prstGeom prst="roundRect">
            <a:avLst>
              <a:gd name="adj" fmla="val 6579"/>
            </a:avLst>
          </a:prstGeom>
          <a:solidFill>
            <a:srgbClr val="F4F7F9"/>
          </a:solidFill>
          <a:ln w="12700">
            <a:solidFill>
              <a:srgbClr val="E1E8ED"/>
            </a:solidFill>
            <a:prstDash val="solid"/>
          </a:ln>
        </p:spPr>
        <p:txBody>
          <a:bodyPr/>
          <a:lstStyle/>
          <a:p>
            <a:endParaRPr lang="en-US"/>
          </a:p>
        </p:txBody>
      </p:sp>
      <p:sp>
        <p:nvSpPr>
          <p:cNvPr id="22" name="Shape 20"/>
          <p:cNvSpPr/>
          <p:nvPr/>
        </p:nvSpPr>
        <p:spPr>
          <a:xfrm>
            <a:off x="1005840" y="5138928"/>
            <a:ext cx="1051560" cy="457200"/>
          </a:xfrm>
          <a:prstGeom prst="roundRect">
            <a:avLst>
              <a:gd name="adj" fmla="val 30000"/>
            </a:avLst>
          </a:prstGeom>
          <a:solidFill>
            <a:srgbClr val="7A2E2E"/>
          </a:solidFill>
          <a:ln/>
        </p:spPr>
        <p:txBody>
          <a:bodyPr/>
          <a:lstStyle/>
          <a:p>
            <a:endParaRPr lang="en-US"/>
          </a:p>
        </p:txBody>
      </p:sp>
      <p:sp>
        <p:nvSpPr>
          <p:cNvPr id="23" name="Text 21"/>
          <p:cNvSpPr/>
          <p:nvPr/>
        </p:nvSpPr>
        <p:spPr>
          <a:xfrm>
            <a:off x="1005840" y="5138928"/>
            <a:ext cx="105156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p99.9</a:t>
            </a:r>
            <a:endParaRPr lang="en-US" sz="1350" dirty="0"/>
          </a:p>
        </p:txBody>
      </p:sp>
      <p:sp>
        <p:nvSpPr>
          <p:cNvPr id="24" name="Text 22"/>
          <p:cNvSpPr/>
          <p:nvPr/>
        </p:nvSpPr>
        <p:spPr>
          <a:xfrm>
            <a:off x="2331720" y="5020056"/>
            <a:ext cx="7040880" cy="694944"/>
          </a:xfrm>
          <a:prstGeom prst="rect">
            <a:avLst/>
          </a:prstGeom>
          <a:noFill/>
          <a:ln/>
        </p:spPr>
        <p:txBody>
          <a:bodyPr wrap="square" lIns="0" tIns="0" rIns="0" bIns="0" rtlCol="0" anchor="ctr"/>
          <a:lstStyle/>
          <a:p>
            <a:pPr marL="0" indent="0">
              <a:buNone/>
            </a:pPr>
            <a:r>
              <a:rPr lang="en-US" sz="1350" dirty="0">
                <a:solidFill>
                  <a:srgbClr val="1B2A33"/>
                </a:solidFill>
                <a:latin typeface="Calibri" pitchFamily="34" charset="0"/>
                <a:ea typeface="Calibri" pitchFamily="34" charset="-122"/>
                <a:cs typeface="Calibri" pitchFamily="34" charset="-120"/>
              </a:rPr>
              <a:t>The worst 1 in 1000. Often your biggest customers.</a:t>
            </a:r>
            <a:endParaRPr lang="en-US" sz="1350" dirty="0"/>
          </a:p>
        </p:txBody>
      </p:sp>
      <p:sp>
        <p:nvSpPr>
          <p:cNvPr id="25" name="Text 23"/>
          <p:cNvSpPr/>
          <p:nvPr/>
        </p:nvSpPr>
        <p:spPr>
          <a:xfrm>
            <a:off x="9509760" y="5020056"/>
            <a:ext cx="1645920" cy="694944"/>
          </a:xfrm>
          <a:prstGeom prst="rect">
            <a:avLst/>
          </a:prstGeom>
          <a:noFill/>
          <a:ln/>
        </p:spPr>
        <p:txBody>
          <a:bodyPr wrap="square" lIns="0" tIns="0" rIns="0" bIns="0" rtlCol="0" anchor="ctr"/>
          <a:lstStyle/>
          <a:p>
            <a:pPr marL="0" indent="0" algn="r">
              <a:buNone/>
            </a:pPr>
            <a:r>
              <a:rPr lang="en-US" sz="1400" b="1" dirty="0">
                <a:solidFill>
                  <a:srgbClr val="7A2E2E"/>
                </a:solidFill>
                <a:latin typeface="Calibri" pitchFamily="34" charset="0"/>
                <a:ea typeface="Calibri" pitchFamily="34" charset="-122"/>
                <a:cs typeface="Calibri" pitchFamily="34" charset="-120"/>
              </a:rPr>
              <a:t>~3 s</a:t>
            </a:r>
            <a:endParaRPr lang="en-US" sz="1400" dirty="0"/>
          </a:p>
        </p:txBody>
      </p:sp>
      <p:sp>
        <p:nvSpPr>
          <p:cNvPr id="26" name="Text 24"/>
          <p:cNvSpPr/>
          <p:nvPr/>
        </p:nvSpPr>
        <p:spPr>
          <a:xfrm>
            <a:off x="777240" y="5897880"/>
            <a:ext cx="10607040" cy="4114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Why the worst users matter most: the person with 400 items in their cart is slow to serve, and is also your most valuable customer.</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Why p99 Is Worse Than It Looks</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One page is not one request</a:t>
            </a:r>
            <a:endParaRPr lang="en-US" sz="1500" dirty="0"/>
          </a:p>
        </p:txBody>
      </p:sp>
      <p:sp>
        <p:nvSpPr>
          <p:cNvPr id="4" name="Shape 2"/>
          <p:cNvSpPr/>
          <p:nvPr/>
        </p:nvSpPr>
        <p:spPr>
          <a:xfrm>
            <a:off x="777240" y="1508760"/>
            <a:ext cx="10607040" cy="822960"/>
          </a:xfrm>
          <a:prstGeom prst="roundRect">
            <a:avLst>
              <a:gd name="adj" fmla="val 6667"/>
            </a:avLst>
          </a:prstGeom>
          <a:solidFill>
            <a:srgbClr val="13293D"/>
          </a:solidFill>
          <a:ln/>
        </p:spPr>
        <p:txBody>
          <a:bodyPr/>
          <a:lstStyle/>
          <a:p>
            <a:endParaRPr lang="en-US"/>
          </a:p>
        </p:txBody>
      </p:sp>
      <p:sp>
        <p:nvSpPr>
          <p:cNvPr id="5" name="Text 3"/>
          <p:cNvSpPr/>
          <p:nvPr/>
        </p:nvSpPr>
        <p:spPr>
          <a:xfrm>
            <a:off x="1097280" y="1508760"/>
            <a:ext cx="10058400" cy="82296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Loading an Amazon page calls perhaps 20 backend services. The page is only as fast as its slowest call. So the chance of hitting at least one slow call is far higher than 1 in 100.</a:t>
            </a:r>
            <a:endParaRPr lang="en-US" sz="1550" dirty="0"/>
          </a:p>
        </p:txBody>
      </p:sp>
      <p:sp>
        <p:nvSpPr>
          <p:cNvPr id="6" name="Shape 4"/>
          <p:cNvSpPr/>
          <p:nvPr/>
        </p:nvSpPr>
        <p:spPr>
          <a:xfrm>
            <a:off x="777240" y="2651760"/>
            <a:ext cx="3337560" cy="2103120"/>
          </a:xfrm>
          <a:prstGeom prst="roundRect">
            <a:avLst>
              <a:gd name="adj" fmla="val 3043"/>
            </a:avLst>
          </a:prstGeom>
          <a:solidFill>
            <a:srgbClr val="2E7D5B"/>
          </a:solidFill>
          <a:ln/>
        </p:spPr>
        <p:txBody>
          <a:bodyPr/>
          <a:lstStyle/>
          <a:p>
            <a:endParaRPr lang="en-US"/>
          </a:p>
        </p:txBody>
      </p:sp>
      <p:sp>
        <p:nvSpPr>
          <p:cNvPr id="7" name="Text 5"/>
          <p:cNvSpPr/>
          <p:nvPr/>
        </p:nvSpPr>
        <p:spPr>
          <a:xfrm>
            <a:off x="1005840" y="2852928"/>
            <a:ext cx="288036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 call</a:t>
            </a:r>
            <a:endParaRPr lang="en-US" sz="2400" dirty="0"/>
          </a:p>
        </p:txBody>
      </p:sp>
      <p:sp>
        <p:nvSpPr>
          <p:cNvPr id="8" name="Text 6"/>
          <p:cNvSpPr/>
          <p:nvPr/>
        </p:nvSpPr>
        <p:spPr>
          <a:xfrm>
            <a:off x="1005840" y="3364992"/>
            <a:ext cx="2880360" cy="548640"/>
          </a:xfrm>
          <a:prstGeom prst="rect">
            <a:avLst/>
          </a:prstGeom>
          <a:noFill/>
          <a:ln/>
        </p:spPr>
        <p:txBody>
          <a:bodyPr wrap="square" lIns="0" tIns="0" rIns="0" bIns="0" rtlCol="0" anchor="ctr"/>
          <a:lstStyle/>
          <a:p>
            <a:pPr marL="0" indent="0">
              <a:lnSpc>
                <a:spcPts val="1700"/>
              </a:lnSpc>
              <a:buNone/>
            </a:pPr>
            <a:r>
              <a:rPr lang="en-US" sz="1300" dirty="0">
                <a:solidFill>
                  <a:srgbClr val="F0F6F8"/>
                </a:solidFill>
                <a:latin typeface="Calibri" pitchFamily="34" charset="0"/>
                <a:ea typeface="Calibri" pitchFamily="34" charset="-122"/>
                <a:cs typeface="Calibri" pitchFamily="34" charset="-120"/>
              </a:rPr>
              <a:t>99% chance all are fast</a:t>
            </a:r>
            <a:endParaRPr lang="en-US" sz="1300" dirty="0"/>
          </a:p>
        </p:txBody>
      </p:sp>
      <p:sp>
        <p:nvSpPr>
          <p:cNvPr id="9" name="Text 7"/>
          <p:cNvSpPr/>
          <p:nvPr/>
        </p:nvSpPr>
        <p:spPr>
          <a:xfrm>
            <a:off x="1005840" y="3977640"/>
            <a:ext cx="2880360" cy="640080"/>
          </a:xfrm>
          <a:prstGeom prst="rect">
            <a:avLst/>
          </a:prstGeom>
          <a:noFill/>
          <a:ln/>
        </p:spPr>
        <p:txBody>
          <a:bodyPr wrap="square" lIns="0" tIns="0" rIns="0" bIns="0"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1 user in 100 sees a slow page</a:t>
            </a:r>
            <a:endParaRPr lang="en-US" sz="1250" dirty="0"/>
          </a:p>
        </p:txBody>
      </p:sp>
      <p:sp>
        <p:nvSpPr>
          <p:cNvPr id="10" name="Shape 8"/>
          <p:cNvSpPr/>
          <p:nvPr/>
        </p:nvSpPr>
        <p:spPr>
          <a:xfrm>
            <a:off x="4389120" y="2651760"/>
            <a:ext cx="3337560" cy="2103120"/>
          </a:xfrm>
          <a:prstGeom prst="roundRect">
            <a:avLst>
              <a:gd name="adj" fmla="val 3043"/>
            </a:avLst>
          </a:prstGeom>
          <a:solidFill>
            <a:srgbClr val="E8A33D"/>
          </a:solidFill>
          <a:ln/>
        </p:spPr>
        <p:txBody>
          <a:bodyPr/>
          <a:lstStyle/>
          <a:p>
            <a:endParaRPr lang="en-US"/>
          </a:p>
        </p:txBody>
      </p:sp>
      <p:sp>
        <p:nvSpPr>
          <p:cNvPr id="11" name="Text 9"/>
          <p:cNvSpPr/>
          <p:nvPr/>
        </p:nvSpPr>
        <p:spPr>
          <a:xfrm>
            <a:off x="4617720" y="2852928"/>
            <a:ext cx="288036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 calls</a:t>
            </a:r>
            <a:endParaRPr lang="en-US" sz="2400" dirty="0"/>
          </a:p>
        </p:txBody>
      </p:sp>
      <p:sp>
        <p:nvSpPr>
          <p:cNvPr id="12" name="Text 10"/>
          <p:cNvSpPr/>
          <p:nvPr/>
        </p:nvSpPr>
        <p:spPr>
          <a:xfrm>
            <a:off x="4617720" y="3364992"/>
            <a:ext cx="2880360" cy="548640"/>
          </a:xfrm>
          <a:prstGeom prst="rect">
            <a:avLst/>
          </a:prstGeom>
          <a:noFill/>
          <a:ln/>
        </p:spPr>
        <p:txBody>
          <a:bodyPr wrap="square" lIns="0" tIns="0" rIns="0" bIns="0" rtlCol="0" anchor="ctr"/>
          <a:lstStyle/>
          <a:p>
            <a:pPr marL="0" indent="0">
              <a:lnSpc>
                <a:spcPts val="1700"/>
              </a:lnSpc>
              <a:buNone/>
            </a:pPr>
            <a:r>
              <a:rPr lang="en-US" sz="1300" dirty="0">
                <a:solidFill>
                  <a:srgbClr val="F0F6F8"/>
                </a:solidFill>
                <a:latin typeface="Calibri" pitchFamily="34" charset="0"/>
                <a:ea typeface="Calibri" pitchFamily="34" charset="-122"/>
                <a:cs typeface="Calibri" pitchFamily="34" charset="-120"/>
              </a:rPr>
              <a:t>0.99 × ten times ≈ 90%</a:t>
            </a:r>
            <a:endParaRPr lang="en-US" sz="1300" dirty="0"/>
          </a:p>
        </p:txBody>
      </p:sp>
      <p:sp>
        <p:nvSpPr>
          <p:cNvPr id="13" name="Text 11"/>
          <p:cNvSpPr/>
          <p:nvPr/>
        </p:nvSpPr>
        <p:spPr>
          <a:xfrm>
            <a:off x="4617720" y="3977640"/>
            <a:ext cx="2880360" cy="640080"/>
          </a:xfrm>
          <a:prstGeom prst="rect">
            <a:avLst/>
          </a:prstGeom>
          <a:noFill/>
          <a:ln/>
        </p:spPr>
        <p:txBody>
          <a:bodyPr wrap="square" lIns="0" tIns="0" rIns="0" bIns="0"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1 user in 10 sees a slow page</a:t>
            </a:r>
            <a:endParaRPr lang="en-US" sz="1250" dirty="0"/>
          </a:p>
        </p:txBody>
      </p:sp>
      <p:sp>
        <p:nvSpPr>
          <p:cNvPr id="14" name="Shape 12"/>
          <p:cNvSpPr/>
          <p:nvPr/>
        </p:nvSpPr>
        <p:spPr>
          <a:xfrm>
            <a:off x="8001000" y="2651760"/>
            <a:ext cx="3337560" cy="2103120"/>
          </a:xfrm>
          <a:prstGeom prst="roundRect">
            <a:avLst>
              <a:gd name="adj" fmla="val 3043"/>
            </a:avLst>
          </a:prstGeom>
          <a:solidFill>
            <a:srgbClr val="A03A3A"/>
          </a:solidFill>
          <a:ln/>
        </p:spPr>
        <p:txBody>
          <a:bodyPr/>
          <a:lstStyle/>
          <a:p>
            <a:endParaRPr lang="en-US"/>
          </a:p>
        </p:txBody>
      </p:sp>
      <p:sp>
        <p:nvSpPr>
          <p:cNvPr id="15" name="Text 13"/>
          <p:cNvSpPr/>
          <p:nvPr/>
        </p:nvSpPr>
        <p:spPr>
          <a:xfrm>
            <a:off x="8229600" y="2852928"/>
            <a:ext cx="288036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20 calls</a:t>
            </a:r>
            <a:endParaRPr lang="en-US" sz="2400" dirty="0"/>
          </a:p>
        </p:txBody>
      </p:sp>
      <p:sp>
        <p:nvSpPr>
          <p:cNvPr id="16" name="Text 14"/>
          <p:cNvSpPr/>
          <p:nvPr/>
        </p:nvSpPr>
        <p:spPr>
          <a:xfrm>
            <a:off x="8229600" y="3364992"/>
            <a:ext cx="2880360" cy="548640"/>
          </a:xfrm>
          <a:prstGeom prst="rect">
            <a:avLst/>
          </a:prstGeom>
          <a:noFill/>
          <a:ln/>
        </p:spPr>
        <p:txBody>
          <a:bodyPr wrap="square" lIns="0" tIns="0" rIns="0" bIns="0" rtlCol="0" anchor="ctr"/>
          <a:lstStyle/>
          <a:p>
            <a:pPr marL="0" indent="0">
              <a:lnSpc>
                <a:spcPts val="1700"/>
              </a:lnSpc>
              <a:buNone/>
            </a:pPr>
            <a:r>
              <a:rPr lang="en-US" sz="1300" dirty="0">
                <a:solidFill>
                  <a:srgbClr val="F0F6F8"/>
                </a:solidFill>
                <a:latin typeface="Calibri" pitchFamily="34" charset="0"/>
                <a:ea typeface="Calibri" pitchFamily="34" charset="-122"/>
                <a:cs typeface="Calibri" pitchFamily="34" charset="-120"/>
              </a:rPr>
              <a:t>0.99 × twenty times ≈ 82%</a:t>
            </a:r>
            <a:endParaRPr lang="en-US" sz="1300" dirty="0"/>
          </a:p>
        </p:txBody>
      </p:sp>
      <p:sp>
        <p:nvSpPr>
          <p:cNvPr id="17" name="Text 15"/>
          <p:cNvSpPr/>
          <p:nvPr/>
        </p:nvSpPr>
        <p:spPr>
          <a:xfrm>
            <a:off x="8229600" y="3977640"/>
            <a:ext cx="2880360" cy="640080"/>
          </a:xfrm>
          <a:prstGeom prst="rect">
            <a:avLst/>
          </a:prstGeom>
          <a:noFill/>
          <a:ln/>
        </p:spPr>
        <p:txBody>
          <a:bodyPr wrap="square" lIns="0" tIns="0" rIns="0" bIns="0"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Almost 1 user in 5 sees a slow page</a:t>
            </a:r>
            <a:endParaRPr lang="en-US" sz="1250" dirty="0"/>
          </a:p>
        </p:txBody>
      </p:sp>
      <p:sp>
        <p:nvSpPr>
          <p:cNvPr id="18" name="Text 16"/>
          <p:cNvSpPr/>
          <p:nvPr/>
        </p:nvSpPr>
        <p:spPr>
          <a:xfrm>
            <a:off x="777240" y="498348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This is called tail latency amplification. It is the strongest argument against splitting a system into more services than you need.</a:t>
            </a:r>
            <a:endParaRPr lang="en-US" sz="1500" dirty="0"/>
          </a:p>
        </p:txBody>
      </p:sp>
      <p:sp>
        <p:nvSpPr>
          <p:cNvPr id="19" name="Text 17"/>
          <p:cNvSpPr/>
          <p:nvPr/>
        </p:nvSpPr>
        <p:spPr>
          <a:xfrm>
            <a:off x="777240" y="5468112"/>
            <a:ext cx="10607040" cy="457200"/>
          </a:xfrm>
          <a:prstGeom prst="rect">
            <a:avLst/>
          </a:prstGeom>
          <a:noFill/>
          <a:ln/>
        </p:spPr>
        <p:txBody>
          <a:bodyPr wrap="square" lIns="0" tIns="0" rIns="0" bIns="0" rtlCol="0" anchor="ctr"/>
          <a:lstStyle/>
          <a:p>
            <a:pPr marL="0" indent="0">
              <a:buNone/>
            </a:pPr>
            <a:r>
              <a:rPr lang="en-US" sz="1350" i="1" dirty="0">
                <a:solidFill>
                  <a:srgbClr val="5A6B76"/>
                </a:solidFill>
                <a:latin typeface="Calibri" pitchFamily="34" charset="0"/>
                <a:ea typeface="Calibri" pitchFamily="34" charset="-122"/>
                <a:cs typeface="Calibri" pitchFamily="34" charset="-120"/>
              </a:rPr>
              <a:t>It also explains why big systems set aggressive timeouts and return partial pages rather than waiting for every service.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731520" y="457200"/>
            <a:ext cx="1078992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Numbers Worth Memorising</a:t>
            </a:r>
            <a:endParaRPr lang="en-US" sz="3200" dirty="0"/>
          </a:p>
        </p:txBody>
      </p:sp>
      <p:sp>
        <p:nvSpPr>
          <p:cNvPr id="3" name="Text 1"/>
          <p:cNvSpPr/>
          <p:nvPr/>
        </p:nvSpPr>
        <p:spPr>
          <a:xfrm>
            <a:off x="749808" y="1097280"/>
            <a:ext cx="10789920" cy="365760"/>
          </a:xfrm>
          <a:prstGeom prst="rect">
            <a:avLst/>
          </a:prstGeom>
          <a:noFill/>
          <a:ln/>
        </p:spPr>
        <p:txBody>
          <a:bodyPr wrap="square" lIns="0" tIns="0" rIns="0" bIns="0" rtlCol="0" anchor="ctr"/>
          <a:lstStyle/>
          <a:p>
            <a:pPr marL="0" indent="0">
              <a:buNone/>
            </a:pPr>
            <a:r>
              <a:rPr lang="en-US" sz="1500" i="1" dirty="0">
                <a:solidFill>
                  <a:srgbClr val="9AD1D4"/>
                </a:solidFill>
                <a:latin typeface="Calibri" pitchFamily="34" charset="0"/>
                <a:ea typeface="Calibri" pitchFamily="34" charset="-122"/>
                <a:cs typeface="Calibri" pitchFamily="34" charset="-120"/>
              </a:rPr>
              <a:t>You are not expected to be exact. You are expected to know the order of magnitude.</a:t>
            </a:r>
            <a:endParaRPr lang="en-US" sz="1500" dirty="0"/>
          </a:p>
        </p:txBody>
      </p:sp>
      <p:sp>
        <p:nvSpPr>
          <p:cNvPr id="4" name="Shape 2"/>
          <p:cNvSpPr/>
          <p:nvPr/>
        </p:nvSpPr>
        <p:spPr>
          <a:xfrm>
            <a:off x="777240" y="1691640"/>
            <a:ext cx="5120640" cy="960120"/>
          </a:xfrm>
          <a:prstGeom prst="roundRect">
            <a:avLst>
              <a:gd name="adj" fmla="val 4762"/>
            </a:avLst>
          </a:prstGeom>
          <a:solidFill>
            <a:srgbClr val="1D3D52"/>
          </a:solidFill>
          <a:ln/>
        </p:spPr>
        <p:txBody>
          <a:bodyPr/>
          <a:lstStyle/>
          <a:p>
            <a:endParaRPr lang="en-US"/>
          </a:p>
        </p:txBody>
      </p:sp>
      <p:sp>
        <p:nvSpPr>
          <p:cNvPr id="5" name="Text 3"/>
          <p:cNvSpPr/>
          <p:nvPr/>
        </p:nvSpPr>
        <p:spPr>
          <a:xfrm>
            <a:off x="1005840" y="180136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 from CPU cache</a:t>
            </a:r>
            <a:endParaRPr lang="en-US" sz="1350" dirty="0"/>
          </a:p>
        </p:txBody>
      </p:sp>
      <p:sp>
        <p:nvSpPr>
          <p:cNvPr id="6" name="Text 4"/>
          <p:cNvSpPr/>
          <p:nvPr/>
        </p:nvSpPr>
        <p:spPr>
          <a:xfrm>
            <a:off x="1005840" y="219456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the baseline</a:t>
            </a:r>
            <a:endParaRPr lang="en-US" sz="1150" dirty="0"/>
          </a:p>
        </p:txBody>
      </p:sp>
      <p:sp>
        <p:nvSpPr>
          <p:cNvPr id="7" name="Text 5"/>
          <p:cNvSpPr/>
          <p:nvPr/>
        </p:nvSpPr>
        <p:spPr>
          <a:xfrm>
            <a:off x="4434840" y="169164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1 ns</a:t>
            </a:r>
            <a:endParaRPr lang="en-US" sz="1500" dirty="0"/>
          </a:p>
        </p:txBody>
      </p:sp>
      <p:sp>
        <p:nvSpPr>
          <p:cNvPr id="8" name="Shape 6"/>
          <p:cNvSpPr/>
          <p:nvPr/>
        </p:nvSpPr>
        <p:spPr>
          <a:xfrm>
            <a:off x="6172200" y="1691640"/>
            <a:ext cx="5120640" cy="960120"/>
          </a:xfrm>
          <a:prstGeom prst="roundRect">
            <a:avLst>
              <a:gd name="adj" fmla="val 4762"/>
            </a:avLst>
          </a:prstGeom>
          <a:solidFill>
            <a:srgbClr val="1D3D52"/>
          </a:solidFill>
          <a:ln/>
        </p:spPr>
        <p:txBody>
          <a:bodyPr/>
          <a:lstStyle/>
          <a:p>
            <a:endParaRPr lang="en-US"/>
          </a:p>
        </p:txBody>
      </p:sp>
      <p:sp>
        <p:nvSpPr>
          <p:cNvPr id="9" name="Text 7"/>
          <p:cNvSpPr/>
          <p:nvPr/>
        </p:nvSpPr>
        <p:spPr>
          <a:xfrm>
            <a:off x="6400800" y="180136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 from main memory</a:t>
            </a:r>
            <a:endParaRPr lang="en-US" sz="1350" dirty="0"/>
          </a:p>
        </p:txBody>
      </p:sp>
      <p:sp>
        <p:nvSpPr>
          <p:cNvPr id="10" name="Text 8"/>
          <p:cNvSpPr/>
          <p:nvPr/>
        </p:nvSpPr>
        <p:spPr>
          <a:xfrm>
            <a:off x="6400800" y="219456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100× slower</a:t>
            </a:r>
            <a:endParaRPr lang="en-US" sz="1150" dirty="0"/>
          </a:p>
        </p:txBody>
      </p:sp>
      <p:sp>
        <p:nvSpPr>
          <p:cNvPr id="11" name="Text 9"/>
          <p:cNvSpPr/>
          <p:nvPr/>
        </p:nvSpPr>
        <p:spPr>
          <a:xfrm>
            <a:off x="9829800" y="169164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100 ns</a:t>
            </a:r>
            <a:endParaRPr lang="en-US" sz="1500" dirty="0"/>
          </a:p>
        </p:txBody>
      </p:sp>
      <p:sp>
        <p:nvSpPr>
          <p:cNvPr id="12" name="Shape 10"/>
          <p:cNvSpPr/>
          <p:nvPr/>
        </p:nvSpPr>
        <p:spPr>
          <a:xfrm>
            <a:off x="777240" y="2788920"/>
            <a:ext cx="5120640" cy="960120"/>
          </a:xfrm>
          <a:prstGeom prst="roundRect">
            <a:avLst>
              <a:gd name="adj" fmla="val 4762"/>
            </a:avLst>
          </a:prstGeom>
          <a:solidFill>
            <a:srgbClr val="1D3D52"/>
          </a:solidFill>
          <a:ln/>
        </p:spPr>
        <p:txBody>
          <a:bodyPr/>
          <a:lstStyle/>
          <a:p>
            <a:endParaRPr lang="en-US"/>
          </a:p>
        </p:txBody>
      </p:sp>
      <p:sp>
        <p:nvSpPr>
          <p:cNvPr id="13" name="Text 11"/>
          <p:cNvSpPr/>
          <p:nvPr/>
        </p:nvSpPr>
        <p:spPr>
          <a:xfrm>
            <a:off x="1005840" y="289864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 1 MB from memory</a:t>
            </a:r>
            <a:endParaRPr lang="en-US" sz="1350" dirty="0"/>
          </a:p>
        </p:txBody>
      </p:sp>
      <p:sp>
        <p:nvSpPr>
          <p:cNvPr id="14" name="Text 12"/>
          <p:cNvSpPr/>
          <p:nvPr/>
        </p:nvSpPr>
        <p:spPr>
          <a:xfrm>
            <a:off x="1005840" y="329184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why Redis is fast</a:t>
            </a:r>
            <a:endParaRPr lang="en-US" sz="1150" dirty="0"/>
          </a:p>
        </p:txBody>
      </p:sp>
      <p:sp>
        <p:nvSpPr>
          <p:cNvPr id="15" name="Text 13"/>
          <p:cNvSpPr/>
          <p:nvPr/>
        </p:nvSpPr>
        <p:spPr>
          <a:xfrm>
            <a:off x="4434840" y="278892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~250 µs</a:t>
            </a:r>
            <a:endParaRPr lang="en-US" sz="1500" dirty="0"/>
          </a:p>
        </p:txBody>
      </p:sp>
      <p:sp>
        <p:nvSpPr>
          <p:cNvPr id="16" name="Shape 14"/>
          <p:cNvSpPr/>
          <p:nvPr/>
        </p:nvSpPr>
        <p:spPr>
          <a:xfrm>
            <a:off x="6172200" y="2788920"/>
            <a:ext cx="5120640" cy="960120"/>
          </a:xfrm>
          <a:prstGeom prst="roundRect">
            <a:avLst>
              <a:gd name="adj" fmla="val 4762"/>
            </a:avLst>
          </a:prstGeom>
          <a:solidFill>
            <a:srgbClr val="1D3D52"/>
          </a:solidFill>
          <a:ln/>
        </p:spPr>
        <p:txBody>
          <a:bodyPr/>
          <a:lstStyle/>
          <a:p>
            <a:endParaRPr lang="en-US"/>
          </a:p>
        </p:txBody>
      </p:sp>
      <p:sp>
        <p:nvSpPr>
          <p:cNvPr id="17" name="Text 15"/>
          <p:cNvSpPr/>
          <p:nvPr/>
        </p:nvSpPr>
        <p:spPr>
          <a:xfrm>
            <a:off x="6400800" y="289864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Round trip inside a datacentre</a:t>
            </a:r>
            <a:endParaRPr lang="en-US" sz="1350" dirty="0"/>
          </a:p>
        </p:txBody>
      </p:sp>
      <p:sp>
        <p:nvSpPr>
          <p:cNvPr id="18" name="Text 16"/>
          <p:cNvSpPr/>
          <p:nvPr/>
        </p:nvSpPr>
        <p:spPr>
          <a:xfrm>
            <a:off x="6400800" y="329184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service to service</a:t>
            </a:r>
            <a:endParaRPr lang="en-US" sz="1150" dirty="0"/>
          </a:p>
        </p:txBody>
      </p:sp>
      <p:sp>
        <p:nvSpPr>
          <p:cNvPr id="19" name="Text 17"/>
          <p:cNvSpPr/>
          <p:nvPr/>
        </p:nvSpPr>
        <p:spPr>
          <a:xfrm>
            <a:off x="9829800" y="278892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~500 µs</a:t>
            </a:r>
            <a:endParaRPr lang="en-US" sz="1500" dirty="0"/>
          </a:p>
        </p:txBody>
      </p:sp>
      <p:sp>
        <p:nvSpPr>
          <p:cNvPr id="20" name="Shape 18"/>
          <p:cNvSpPr/>
          <p:nvPr/>
        </p:nvSpPr>
        <p:spPr>
          <a:xfrm>
            <a:off x="777240" y="3886200"/>
            <a:ext cx="5120640" cy="960120"/>
          </a:xfrm>
          <a:prstGeom prst="roundRect">
            <a:avLst>
              <a:gd name="adj" fmla="val 4762"/>
            </a:avLst>
          </a:prstGeom>
          <a:solidFill>
            <a:srgbClr val="1D3D52"/>
          </a:solidFill>
          <a:ln/>
        </p:spPr>
        <p:txBody>
          <a:bodyPr/>
          <a:lstStyle/>
          <a:p>
            <a:endParaRPr lang="en-US"/>
          </a:p>
        </p:txBody>
      </p:sp>
      <p:sp>
        <p:nvSpPr>
          <p:cNvPr id="21" name="Text 19"/>
          <p:cNvSpPr/>
          <p:nvPr/>
        </p:nvSpPr>
        <p:spPr>
          <a:xfrm>
            <a:off x="1005840" y="399592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 1 MB from SSD</a:t>
            </a:r>
            <a:endParaRPr lang="en-US" sz="1350" dirty="0"/>
          </a:p>
        </p:txBody>
      </p:sp>
      <p:sp>
        <p:nvSpPr>
          <p:cNvPr id="22" name="Text 20"/>
          <p:cNvSpPr/>
          <p:nvPr/>
        </p:nvSpPr>
        <p:spPr>
          <a:xfrm>
            <a:off x="1005840" y="438912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a good database read</a:t>
            </a:r>
            <a:endParaRPr lang="en-US" sz="1150" dirty="0"/>
          </a:p>
        </p:txBody>
      </p:sp>
      <p:sp>
        <p:nvSpPr>
          <p:cNvPr id="23" name="Text 21"/>
          <p:cNvSpPr/>
          <p:nvPr/>
        </p:nvSpPr>
        <p:spPr>
          <a:xfrm>
            <a:off x="4434840" y="388620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~1 ms</a:t>
            </a:r>
            <a:endParaRPr lang="en-US" sz="1500" dirty="0"/>
          </a:p>
        </p:txBody>
      </p:sp>
      <p:sp>
        <p:nvSpPr>
          <p:cNvPr id="24" name="Shape 22"/>
          <p:cNvSpPr/>
          <p:nvPr/>
        </p:nvSpPr>
        <p:spPr>
          <a:xfrm>
            <a:off x="6172200" y="3886200"/>
            <a:ext cx="5120640" cy="960120"/>
          </a:xfrm>
          <a:prstGeom prst="roundRect">
            <a:avLst>
              <a:gd name="adj" fmla="val 4762"/>
            </a:avLst>
          </a:prstGeom>
          <a:solidFill>
            <a:srgbClr val="1D3D52"/>
          </a:solidFill>
          <a:ln/>
        </p:spPr>
        <p:txBody>
          <a:bodyPr/>
          <a:lstStyle/>
          <a:p>
            <a:endParaRPr lang="en-US"/>
          </a:p>
        </p:txBody>
      </p:sp>
      <p:sp>
        <p:nvSpPr>
          <p:cNvPr id="25" name="Text 23"/>
          <p:cNvSpPr/>
          <p:nvPr/>
        </p:nvSpPr>
        <p:spPr>
          <a:xfrm>
            <a:off x="6400800" y="399592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Disk seek on a spinning disk</a:t>
            </a:r>
            <a:endParaRPr lang="en-US" sz="1350" dirty="0"/>
          </a:p>
        </p:txBody>
      </p:sp>
      <p:sp>
        <p:nvSpPr>
          <p:cNvPr id="26" name="Text 24"/>
          <p:cNvSpPr/>
          <p:nvPr/>
        </p:nvSpPr>
        <p:spPr>
          <a:xfrm>
            <a:off x="6400800" y="438912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avoid entirely</a:t>
            </a:r>
            <a:endParaRPr lang="en-US" sz="1150" dirty="0"/>
          </a:p>
        </p:txBody>
      </p:sp>
      <p:sp>
        <p:nvSpPr>
          <p:cNvPr id="27" name="Text 25"/>
          <p:cNvSpPr/>
          <p:nvPr/>
        </p:nvSpPr>
        <p:spPr>
          <a:xfrm>
            <a:off x="9829800" y="388620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~10 ms</a:t>
            </a:r>
            <a:endParaRPr lang="en-US" sz="1500" dirty="0"/>
          </a:p>
        </p:txBody>
      </p:sp>
      <p:sp>
        <p:nvSpPr>
          <p:cNvPr id="28" name="Shape 26"/>
          <p:cNvSpPr/>
          <p:nvPr/>
        </p:nvSpPr>
        <p:spPr>
          <a:xfrm>
            <a:off x="777240" y="4983480"/>
            <a:ext cx="5120640" cy="960120"/>
          </a:xfrm>
          <a:prstGeom prst="roundRect">
            <a:avLst>
              <a:gd name="adj" fmla="val 4762"/>
            </a:avLst>
          </a:prstGeom>
          <a:solidFill>
            <a:srgbClr val="1D3D52"/>
          </a:solidFill>
          <a:ln/>
        </p:spPr>
        <p:txBody>
          <a:bodyPr/>
          <a:lstStyle/>
          <a:p>
            <a:endParaRPr lang="en-US"/>
          </a:p>
        </p:txBody>
      </p:sp>
      <p:sp>
        <p:nvSpPr>
          <p:cNvPr id="29" name="Text 27"/>
          <p:cNvSpPr/>
          <p:nvPr/>
        </p:nvSpPr>
        <p:spPr>
          <a:xfrm>
            <a:off x="1005840" y="509320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Jaipur to Mumbai and back</a:t>
            </a:r>
            <a:endParaRPr lang="en-US" sz="1350" dirty="0"/>
          </a:p>
        </p:txBody>
      </p:sp>
      <p:sp>
        <p:nvSpPr>
          <p:cNvPr id="30" name="Text 28"/>
          <p:cNvSpPr/>
          <p:nvPr/>
        </p:nvSpPr>
        <p:spPr>
          <a:xfrm>
            <a:off x="1005840" y="548640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physics, not code</a:t>
            </a:r>
            <a:endParaRPr lang="en-US" sz="1150" dirty="0"/>
          </a:p>
        </p:txBody>
      </p:sp>
      <p:sp>
        <p:nvSpPr>
          <p:cNvPr id="31" name="Text 29"/>
          <p:cNvSpPr/>
          <p:nvPr/>
        </p:nvSpPr>
        <p:spPr>
          <a:xfrm>
            <a:off x="4434840" y="498348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~40 ms</a:t>
            </a:r>
            <a:endParaRPr lang="en-US" sz="1500" dirty="0"/>
          </a:p>
        </p:txBody>
      </p:sp>
      <p:sp>
        <p:nvSpPr>
          <p:cNvPr id="32" name="Shape 30"/>
          <p:cNvSpPr/>
          <p:nvPr/>
        </p:nvSpPr>
        <p:spPr>
          <a:xfrm>
            <a:off x="6172200" y="4983480"/>
            <a:ext cx="5120640" cy="960120"/>
          </a:xfrm>
          <a:prstGeom prst="roundRect">
            <a:avLst>
              <a:gd name="adj" fmla="val 4762"/>
            </a:avLst>
          </a:prstGeom>
          <a:solidFill>
            <a:srgbClr val="1D3D52"/>
          </a:solidFill>
          <a:ln/>
        </p:spPr>
        <p:txBody>
          <a:bodyPr/>
          <a:lstStyle/>
          <a:p>
            <a:endParaRPr lang="en-US"/>
          </a:p>
        </p:txBody>
      </p:sp>
      <p:sp>
        <p:nvSpPr>
          <p:cNvPr id="33" name="Text 31"/>
          <p:cNvSpPr/>
          <p:nvPr/>
        </p:nvSpPr>
        <p:spPr>
          <a:xfrm>
            <a:off x="6400800" y="5093208"/>
            <a:ext cx="35661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India to US east coast and back</a:t>
            </a:r>
            <a:endParaRPr lang="en-US" sz="1350" dirty="0"/>
          </a:p>
        </p:txBody>
      </p:sp>
      <p:sp>
        <p:nvSpPr>
          <p:cNvPr id="34" name="Text 32"/>
          <p:cNvSpPr/>
          <p:nvPr/>
        </p:nvSpPr>
        <p:spPr>
          <a:xfrm>
            <a:off x="6400800" y="5486400"/>
            <a:ext cx="3566160" cy="320040"/>
          </a:xfrm>
          <a:prstGeom prst="rect">
            <a:avLst/>
          </a:prstGeom>
          <a:noFill/>
          <a:ln/>
        </p:spPr>
        <p:txBody>
          <a:bodyPr wrap="square" lIns="0" tIns="0" rIns="0" bIns="0" rtlCol="0" anchor="ctr"/>
          <a:lstStyle/>
          <a:p>
            <a:pPr marL="0" indent="0">
              <a:buNone/>
            </a:pPr>
            <a:r>
              <a:rPr lang="en-US" sz="1150" i="1" dirty="0">
                <a:solidFill>
                  <a:srgbClr val="9AD1D4"/>
                </a:solidFill>
                <a:latin typeface="Calibri" pitchFamily="34" charset="0"/>
                <a:ea typeface="Calibri" pitchFamily="34" charset="-122"/>
                <a:cs typeface="Calibri" pitchFamily="34" charset="-120"/>
              </a:rPr>
              <a:t>why CDNs exist</a:t>
            </a:r>
            <a:endParaRPr lang="en-US" sz="1150" dirty="0"/>
          </a:p>
        </p:txBody>
      </p:sp>
      <p:sp>
        <p:nvSpPr>
          <p:cNvPr id="35" name="Text 33"/>
          <p:cNvSpPr/>
          <p:nvPr/>
        </p:nvSpPr>
        <p:spPr>
          <a:xfrm>
            <a:off x="9829800" y="4983480"/>
            <a:ext cx="1234440" cy="960120"/>
          </a:xfrm>
          <a:prstGeom prst="rect">
            <a:avLst/>
          </a:prstGeom>
          <a:noFill/>
          <a:ln/>
        </p:spPr>
        <p:txBody>
          <a:bodyPr wrap="square" lIns="0" tIns="0" rIns="0" bIns="0" rtlCol="0" anchor="ctr"/>
          <a:lstStyle/>
          <a:p>
            <a:pPr marL="0" indent="0" algn="r">
              <a:buNone/>
            </a:pPr>
            <a:r>
              <a:rPr lang="en-US" sz="1500" b="1" dirty="0">
                <a:solidFill>
                  <a:srgbClr val="E8A33D"/>
                </a:solidFill>
                <a:latin typeface="Calibri" pitchFamily="34" charset="0"/>
                <a:ea typeface="Calibri" pitchFamily="34" charset="-122"/>
                <a:cs typeface="Calibri" pitchFamily="34" charset="-120"/>
              </a:rPr>
              <a:t>~250 ms</a:t>
            </a:r>
            <a:endParaRPr lang="en-US" sz="1500" dirty="0"/>
          </a:p>
        </p:txBody>
      </p:sp>
      <p:sp>
        <p:nvSpPr>
          <p:cNvPr id="36" name="Text 34"/>
          <p:cNvSpPr/>
          <p:nvPr/>
        </p:nvSpPr>
        <p:spPr>
          <a:xfrm>
            <a:off x="777240" y="6126480"/>
            <a:ext cx="10607040" cy="365760"/>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The single most useful fact here: memory is roughly a hundred thousand times faster than a network trip across the world.</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Availability Arithmetic</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Two rules that surprise people</a:t>
            </a:r>
            <a:endParaRPr lang="en-US" sz="1500" dirty="0"/>
          </a:p>
        </p:txBody>
      </p:sp>
      <p:sp>
        <p:nvSpPr>
          <p:cNvPr id="4" name="Shape 2"/>
          <p:cNvSpPr/>
          <p:nvPr/>
        </p:nvSpPr>
        <p:spPr>
          <a:xfrm>
            <a:off x="777240" y="1600200"/>
            <a:ext cx="5212080" cy="2194560"/>
          </a:xfrm>
          <a:prstGeom prst="roundRect">
            <a:avLst>
              <a:gd name="adj" fmla="val 2500"/>
            </a:avLst>
          </a:prstGeom>
          <a:solidFill>
            <a:srgbClr val="FDF0EE"/>
          </a:solidFill>
          <a:ln w="12700">
            <a:solidFill>
              <a:srgbClr val="E1E8ED"/>
            </a:solidFill>
            <a:prstDash val="solid"/>
          </a:ln>
        </p:spPr>
        <p:txBody>
          <a:bodyPr/>
          <a:lstStyle/>
          <a:p>
            <a:endParaRPr lang="en-US"/>
          </a:p>
        </p:txBody>
      </p:sp>
      <p:sp>
        <p:nvSpPr>
          <p:cNvPr id="5" name="Text 3"/>
          <p:cNvSpPr/>
          <p:nvPr/>
        </p:nvSpPr>
        <p:spPr>
          <a:xfrm>
            <a:off x="1033272" y="178308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Rule 1 — Dependencies multiply</a:t>
            </a:r>
            <a:endParaRPr lang="en-US" sz="1550" dirty="0"/>
          </a:p>
        </p:txBody>
      </p:sp>
      <p:sp>
        <p:nvSpPr>
          <p:cNvPr id="6" name="Text 4"/>
          <p:cNvSpPr/>
          <p:nvPr/>
        </p:nvSpPr>
        <p:spPr>
          <a:xfrm>
            <a:off x="1033272" y="2176272"/>
            <a:ext cx="4754880" cy="14173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Your service needs 5 others to reply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Each of them is 99.9% available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0.999 to the power 5 = 99.5%</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You are less reliable than every part you use</a:t>
            </a:r>
            <a:endParaRPr lang="en-US" sz="1250" dirty="0"/>
          </a:p>
        </p:txBody>
      </p:sp>
      <p:sp>
        <p:nvSpPr>
          <p:cNvPr id="7" name="Shape 5"/>
          <p:cNvSpPr/>
          <p:nvPr/>
        </p:nvSpPr>
        <p:spPr>
          <a:xfrm>
            <a:off x="6172200" y="1600200"/>
            <a:ext cx="5212080" cy="2194560"/>
          </a:xfrm>
          <a:prstGeom prst="roundRect">
            <a:avLst>
              <a:gd name="adj" fmla="val 2500"/>
            </a:avLst>
          </a:prstGeom>
          <a:solidFill>
            <a:srgbClr val="EAF5EF"/>
          </a:solidFill>
          <a:ln w="12700">
            <a:solidFill>
              <a:srgbClr val="E1E8ED"/>
            </a:solidFill>
            <a:prstDash val="solid"/>
          </a:ln>
        </p:spPr>
        <p:txBody>
          <a:bodyPr/>
          <a:lstStyle/>
          <a:p>
            <a:endParaRPr lang="en-US"/>
          </a:p>
        </p:txBody>
      </p:sp>
      <p:sp>
        <p:nvSpPr>
          <p:cNvPr id="8" name="Text 6"/>
          <p:cNvSpPr/>
          <p:nvPr/>
        </p:nvSpPr>
        <p:spPr>
          <a:xfrm>
            <a:off x="6428232" y="178308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Rule 2 — Redundancy adds nines</a:t>
            </a:r>
            <a:endParaRPr lang="en-US" sz="1550" dirty="0"/>
          </a:p>
        </p:txBody>
      </p:sp>
      <p:sp>
        <p:nvSpPr>
          <p:cNvPr id="9" name="Text 7"/>
          <p:cNvSpPr/>
          <p:nvPr/>
        </p:nvSpPr>
        <p:spPr>
          <a:xfrm>
            <a:off x="6428232" y="2176272"/>
            <a:ext cx="4754880" cy="14173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Two independent servers, each 99% up</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Both down at once: 1% × 1% = 0.01%</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So the pair is 99.99% available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This is exactly what a load balancer buys you</a:t>
            </a:r>
            <a:endParaRPr lang="en-US" sz="1250" dirty="0"/>
          </a:p>
        </p:txBody>
      </p:sp>
      <p:sp>
        <p:nvSpPr>
          <p:cNvPr id="10" name="Shape 8"/>
          <p:cNvSpPr/>
          <p:nvPr/>
        </p:nvSpPr>
        <p:spPr>
          <a:xfrm>
            <a:off x="777240" y="3977640"/>
            <a:ext cx="2468880" cy="1280160"/>
          </a:xfrm>
          <a:prstGeom prst="roundRect">
            <a:avLst>
              <a:gd name="adj" fmla="val 4286"/>
            </a:avLst>
          </a:prstGeom>
          <a:solidFill>
            <a:srgbClr val="5A6B76"/>
          </a:solidFill>
          <a:ln/>
        </p:spPr>
        <p:txBody>
          <a:bodyPr/>
          <a:lstStyle/>
          <a:p>
            <a:endParaRPr lang="en-US"/>
          </a:p>
        </p:txBody>
      </p:sp>
      <p:sp>
        <p:nvSpPr>
          <p:cNvPr id="11" name="Text 9"/>
          <p:cNvSpPr/>
          <p:nvPr/>
        </p:nvSpPr>
        <p:spPr>
          <a:xfrm>
            <a:off x="777240" y="4114800"/>
            <a:ext cx="24688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99%</a:t>
            </a:r>
            <a:endParaRPr lang="en-US" sz="2200" dirty="0"/>
          </a:p>
        </p:txBody>
      </p:sp>
      <p:sp>
        <p:nvSpPr>
          <p:cNvPr id="12" name="Text 10"/>
          <p:cNvSpPr/>
          <p:nvPr/>
        </p:nvSpPr>
        <p:spPr>
          <a:xfrm>
            <a:off x="777240" y="4645152"/>
            <a:ext cx="2468880" cy="365760"/>
          </a:xfrm>
          <a:prstGeom prst="rect">
            <a:avLst/>
          </a:prstGeom>
          <a:noFill/>
          <a:ln/>
        </p:spPr>
        <p:txBody>
          <a:bodyPr wrap="square" lIns="0" tIns="0" rIns="0" bIns="0" rtlCol="0" anchor="ctr"/>
          <a:lstStyle/>
          <a:p>
            <a:pPr marL="0" indent="0" algn="ctr">
              <a:buNone/>
            </a:pPr>
            <a:r>
              <a:rPr lang="en-US" sz="1250" dirty="0">
                <a:solidFill>
                  <a:srgbClr val="E8A33D"/>
                </a:solidFill>
                <a:latin typeface="Calibri" pitchFamily="34" charset="0"/>
                <a:ea typeface="Calibri" pitchFamily="34" charset="-122"/>
                <a:cs typeface="Calibri" pitchFamily="34" charset="-120"/>
              </a:rPr>
              <a:t>3.65 days/year</a:t>
            </a:r>
            <a:endParaRPr lang="en-US" sz="1250" dirty="0"/>
          </a:p>
        </p:txBody>
      </p:sp>
      <p:sp>
        <p:nvSpPr>
          <p:cNvPr id="13" name="Shape 11"/>
          <p:cNvSpPr/>
          <p:nvPr/>
        </p:nvSpPr>
        <p:spPr>
          <a:xfrm>
            <a:off x="3502152" y="3977640"/>
            <a:ext cx="2468880" cy="1280160"/>
          </a:xfrm>
          <a:prstGeom prst="roundRect">
            <a:avLst>
              <a:gd name="adj" fmla="val 4286"/>
            </a:avLst>
          </a:prstGeom>
          <a:solidFill>
            <a:srgbClr val="1C7293"/>
          </a:solidFill>
          <a:ln/>
        </p:spPr>
        <p:txBody>
          <a:bodyPr/>
          <a:lstStyle/>
          <a:p>
            <a:endParaRPr lang="en-US"/>
          </a:p>
        </p:txBody>
      </p:sp>
      <p:sp>
        <p:nvSpPr>
          <p:cNvPr id="14" name="Text 12"/>
          <p:cNvSpPr/>
          <p:nvPr/>
        </p:nvSpPr>
        <p:spPr>
          <a:xfrm>
            <a:off x="3502152" y="4114800"/>
            <a:ext cx="24688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99.9%</a:t>
            </a:r>
            <a:endParaRPr lang="en-US" sz="2200" dirty="0"/>
          </a:p>
        </p:txBody>
      </p:sp>
      <p:sp>
        <p:nvSpPr>
          <p:cNvPr id="15" name="Text 13"/>
          <p:cNvSpPr/>
          <p:nvPr/>
        </p:nvSpPr>
        <p:spPr>
          <a:xfrm>
            <a:off x="3502152" y="4645152"/>
            <a:ext cx="2468880" cy="365760"/>
          </a:xfrm>
          <a:prstGeom prst="rect">
            <a:avLst/>
          </a:prstGeom>
          <a:noFill/>
          <a:ln/>
        </p:spPr>
        <p:txBody>
          <a:bodyPr wrap="square" lIns="0" tIns="0" rIns="0" bIns="0" rtlCol="0" anchor="ctr"/>
          <a:lstStyle/>
          <a:p>
            <a:pPr marL="0" indent="0" algn="ctr">
              <a:buNone/>
            </a:pPr>
            <a:r>
              <a:rPr lang="en-US" sz="1250" dirty="0">
                <a:solidFill>
                  <a:srgbClr val="E8A33D"/>
                </a:solidFill>
                <a:latin typeface="Calibri" pitchFamily="34" charset="0"/>
                <a:ea typeface="Calibri" pitchFamily="34" charset="-122"/>
                <a:cs typeface="Calibri" pitchFamily="34" charset="-120"/>
              </a:rPr>
              <a:t>8.8 hours/year</a:t>
            </a:r>
            <a:endParaRPr lang="en-US" sz="1250" dirty="0"/>
          </a:p>
        </p:txBody>
      </p:sp>
      <p:sp>
        <p:nvSpPr>
          <p:cNvPr id="16" name="Shape 14"/>
          <p:cNvSpPr/>
          <p:nvPr/>
        </p:nvSpPr>
        <p:spPr>
          <a:xfrm>
            <a:off x="6227064" y="3977640"/>
            <a:ext cx="2468880" cy="1280160"/>
          </a:xfrm>
          <a:prstGeom prst="roundRect">
            <a:avLst>
              <a:gd name="adj" fmla="val 4286"/>
            </a:avLst>
          </a:prstGeom>
          <a:solidFill>
            <a:srgbClr val="065A82"/>
          </a:solidFill>
          <a:ln/>
        </p:spPr>
        <p:txBody>
          <a:bodyPr/>
          <a:lstStyle/>
          <a:p>
            <a:endParaRPr lang="en-US"/>
          </a:p>
        </p:txBody>
      </p:sp>
      <p:sp>
        <p:nvSpPr>
          <p:cNvPr id="17" name="Text 15"/>
          <p:cNvSpPr/>
          <p:nvPr/>
        </p:nvSpPr>
        <p:spPr>
          <a:xfrm>
            <a:off x="6227064" y="4114800"/>
            <a:ext cx="24688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99.99%</a:t>
            </a:r>
            <a:endParaRPr lang="en-US" sz="2200" dirty="0"/>
          </a:p>
        </p:txBody>
      </p:sp>
      <p:sp>
        <p:nvSpPr>
          <p:cNvPr id="18" name="Text 16"/>
          <p:cNvSpPr/>
          <p:nvPr/>
        </p:nvSpPr>
        <p:spPr>
          <a:xfrm>
            <a:off x="6227064" y="4645152"/>
            <a:ext cx="2468880" cy="365760"/>
          </a:xfrm>
          <a:prstGeom prst="rect">
            <a:avLst/>
          </a:prstGeom>
          <a:noFill/>
          <a:ln/>
        </p:spPr>
        <p:txBody>
          <a:bodyPr wrap="square" lIns="0" tIns="0" rIns="0" bIns="0" rtlCol="0" anchor="ctr"/>
          <a:lstStyle/>
          <a:p>
            <a:pPr marL="0" indent="0" algn="ctr">
              <a:buNone/>
            </a:pPr>
            <a:r>
              <a:rPr lang="en-US" sz="1250" dirty="0">
                <a:solidFill>
                  <a:srgbClr val="E8A33D"/>
                </a:solidFill>
                <a:latin typeface="Calibri" pitchFamily="34" charset="0"/>
                <a:ea typeface="Calibri" pitchFamily="34" charset="-122"/>
                <a:cs typeface="Calibri" pitchFamily="34" charset="-120"/>
              </a:rPr>
              <a:t>52 minutes/year</a:t>
            </a:r>
            <a:endParaRPr lang="en-US" sz="1250" dirty="0"/>
          </a:p>
        </p:txBody>
      </p:sp>
      <p:sp>
        <p:nvSpPr>
          <p:cNvPr id="19" name="Shape 17"/>
          <p:cNvSpPr/>
          <p:nvPr/>
        </p:nvSpPr>
        <p:spPr>
          <a:xfrm>
            <a:off x="8951976" y="3977640"/>
            <a:ext cx="2468880" cy="1280160"/>
          </a:xfrm>
          <a:prstGeom prst="roundRect">
            <a:avLst>
              <a:gd name="adj" fmla="val 4286"/>
            </a:avLst>
          </a:prstGeom>
          <a:solidFill>
            <a:srgbClr val="13293D"/>
          </a:solidFill>
          <a:ln/>
        </p:spPr>
        <p:txBody>
          <a:bodyPr/>
          <a:lstStyle/>
          <a:p>
            <a:endParaRPr lang="en-US"/>
          </a:p>
        </p:txBody>
      </p:sp>
      <p:sp>
        <p:nvSpPr>
          <p:cNvPr id="20" name="Text 18"/>
          <p:cNvSpPr/>
          <p:nvPr/>
        </p:nvSpPr>
        <p:spPr>
          <a:xfrm>
            <a:off x="8951976" y="4114800"/>
            <a:ext cx="24688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99.999%</a:t>
            </a:r>
            <a:endParaRPr lang="en-US" sz="2200" dirty="0"/>
          </a:p>
        </p:txBody>
      </p:sp>
      <p:sp>
        <p:nvSpPr>
          <p:cNvPr id="21" name="Text 19"/>
          <p:cNvSpPr/>
          <p:nvPr/>
        </p:nvSpPr>
        <p:spPr>
          <a:xfrm>
            <a:off x="8951976" y="4645152"/>
            <a:ext cx="2468880" cy="365760"/>
          </a:xfrm>
          <a:prstGeom prst="rect">
            <a:avLst/>
          </a:prstGeom>
          <a:noFill/>
          <a:ln/>
        </p:spPr>
        <p:txBody>
          <a:bodyPr wrap="square" lIns="0" tIns="0" rIns="0" bIns="0" rtlCol="0" anchor="ctr"/>
          <a:lstStyle/>
          <a:p>
            <a:pPr marL="0" indent="0" algn="ctr">
              <a:buNone/>
            </a:pPr>
            <a:r>
              <a:rPr lang="en-US" sz="1250" dirty="0">
                <a:solidFill>
                  <a:srgbClr val="E8A33D"/>
                </a:solidFill>
                <a:latin typeface="Calibri" pitchFamily="34" charset="0"/>
                <a:ea typeface="Calibri" pitchFamily="34" charset="-122"/>
                <a:cs typeface="Calibri" pitchFamily="34" charset="-120"/>
              </a:rPr>
              <a:t>5 minutes/year</a:t>
            </a:r>
            <a:endParaRPr lang="en-US" sz="1250" dirty="0"/>
          </a:p>
        </p:txBody>
      </p:sp>
      <p:sp>
        <p:nvSpPr>
          <p:cNvPr id="22" name="Text 20"/>
          <p:cNvSpPr/>
          <p:nvPr/>
        </p:nvSpPr>
        <p:spPr>
          <a:xfrm>
            <a:off x="777240" y="544068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Rule 1 is why fewer services can mean higher availability. Rule 2 is why one server is never enough.</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10896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10896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QUESTION 6</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An interviewer says: "Instagram receives about 100 million photo uploads per day. Design the storage." You have no laptop, no internet, and two minutes.</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How much storage per year?</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And how many uploads per second?</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You are not expected to be right. You are expected to be within about ten times.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Answer — Estimate in Rounded Powers</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Precision is the enemy here; speed and structure are the goal</a:t>
            </a:r>
            <a:endParaRPr lang="en-US" sz="1500" dirty="0"/>
          </a:p>
        </p:txBody>
      </p:sp>
      <p:sp>
        <p:nvSpPr>
          <p:cNvPr id="4" name="Shape 2"/>
          <p:cNvSpPr/>
          <p:nvPr/>
        </p:nvSpPr>
        <p:spPr>
          <a:xfrm>
            <a:off x="777240" y="1600200"/>
            <a:ext cx="5212080" cy="1920240"/>
          </a:xfrm>
          <a:prstGeom prst="roundRect">
            <a:avLst>
              <a:gd name="adj" fmla="val 2857"/>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8308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The three rounding tricks</a:t>
            </a:r>
            <a:endParaRPr lang="en-US" sz="1550" dirty="0"/>
          </a:p>
        </p:txBody>
      </p:sp>
      <p:sp>
        <p:nvSpPr>
          <p:cNvPr id="6" name="Text 4"/>
          <p:cNvSpPr/>
          <p:nvPr/>
        </p:nvSpPr>
        <p:spPr>
          <a:xfrm>
            <a:off x="1033272" y="2176272"/>
            <a:ext cx="4754880" cy="11430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day is 86,400 seconds — call it 100,000</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1 KB ≈ 10³, 1 MB ≈ 10⁶, 1 GB ≈ 10⁹, 1 TB ≈ 10¹²</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Round every input to one digit before multiplying</a:t>
            </a:r>
            <a:endParaRPr lang="en-US" sz="1250" dirty="0"/>
          </a:p>
        </p:txBody>
      </p:sp>
      <p:sp>
        <p:nvSpPr>
          <p:cNvPr id="7" name="Shape 5"/>
          <p:cNvSpPr/>
          <p:nvPr/>
        </p:nvSpPr>
        <p:spPr>
          <a:xfrm>
            <a:off x="6172200" y="1600200"/>
            <a:ext cx="5212080" cy="1920240"/>
          </a:xfrm>
          <a:prstGeom prst="roundRect">
            <a:avLst>
              <a:gd name="adj" fmla="val 2857"/>
            </a:avLst>
          </a:prstGeom>
          <a:solidFill>
            <a:srgbClr val="EEF6F7"/>
          </a:solidFill>
          <a:ln w="12700">
            <a:solidFill>
              <a:srgbClr val="E1E8ED"/>
            </a:solidFill>
            <a:prstDash val="solid"/>
          </a:ln>
        </p:spPr>
        <p:txBody>
          <a:bodyPr/>
          <a:lstStyle/>
          <a:p>
            <a:endParaRPr lang="en-US"/>
          </a:p>
        </p:txBody>
      </p:sp>
      <p:sp>
        <p:nvSpPr>
          <p:cNvPr id="8" name="Text 6"/>
          <p:cNvSpPr/>
          <p:nvPr/>
        </p:nvSpPr>
        <p:spPr>
          <a:xfrm>
            <a:off x="6428232" y="1783080"/>
            <a:ext cx="4754880" cy="365760"/>
          </a:xfrm>
          <a:prstGeom prst="rect">
            <a:avLst/>
          </a:prstGeom>
          <a:noFill/>
          <a:ln/>
        </p:spPr>
        <p:txBody>
          <a:bodyPr wrap="square" lIns="0" tIns="0" rIns="0" bIns="0" rtlCol="0" anchor="ctr"/>
          <a:lstStyle/>
          <a:p>
            <a:pPr marL="0" indent="0">
              <a:buNone/>
            </a:pPr>
            <a:r>
              <a:rPr lang="en-US" sz="1550" b="1" dirty="0">
                <a:solidFill>
                  <a:srgbClr val="1C7293"/>
                </a:solidFill>
                <a:latin typeface="Calibri" pitchFamily="34" charset="0"/>
                <a:ea typeface="Calibri" pitchFamily="34" charset="-122"/>
                <a:cs typeface="Calibri" pitchFamily="34" charset="-120"/>
              </a:rPr>
              <a:t>The four questions to answer</a:t>
            </a:r>
            <a:endParaRPr lang="en-US" sz="1550" dirty="0"/>
          </a:p>
        </p:txBody>
      </p:sp>
      <p:sp>
        <p:nvSpPr>
          <p:cNvPr id="9" name="Text 7"/>
          <p:cNvSpPr/>
          <p:nvPr/>
        </p:nvSpPr>
        <p:spPr>
          <a:xfrm>
            <a:off x="6428232" y="2176272"/>
            <a:ext cx="4754880" cy="11430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How many requests per second?</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How much storage per day and per year?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How much bandwidth?</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Does it fit in memory, or must it go to disk?</a:t>
            </a:r>
            <a:endParaRPr lang="en-US" sz="1250" dirty="0"/>
          </a:p>
        </p:txBody>
      </p:sp>
      <p:sp>
        <p:nvSpPr>
          <p:cNvPr id="10" name="Shape 8"/>
          <p:cNvSpPr/>
          <p:nvPr/>
        </p:nvSpPr>
        <p:spPr>
          <a:xfrm>
            <a:off x="777240" y="3657600"/>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11" name="Text 9"/>
          <p:cNvSpPr/>
          <p:nvPr/>
        </p:nvSpPr>
        <p:spPr>
          <a:xfrm>
            <a:off x="1051560" y="3657600"/>
            <a:ext cx="3657600" cy="438912"/>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Uploads per second</a:t>
            </a:r>
            <a:endParaRPr lang="en-US" sz="1300" dirty="0"/>
          </a:p>
        </p:txBody>
      </p:sp>
      <p:sp>
        <p:nvSpPr>
          <p:cNvPr id="12" name="Text 10"/>
          <p:cNvSpPr/>
          <p:nvPr/>
        </p:nvSpPr>
        <p:spPr>
          <a:xfrm>
            <a:off x="4846320" y="3657600"/>
            <a:ext cx="3108960" cy="438912"/>
          </a:xfrm>
          <a:prstGeom prst="rect">
            <a:avLst/>
          </a:prstGeom>
          <a:noFill/>
          <a:ln/>
        </p:spPr>
        <p:txBody>
          <a:bodyPr wrap="square" lIns="0" tIns="0" rIns="0" bIns="0" rtlCol="0" anchor="ctr"/>
          <a:lstStyle/>
          <a:p>
            <a:pPr marL="0" indent="0">
              <a:buNone/>
            </a:pPr>
            <a:r>
              <a:rPr lang="en-US" sz="1200" dirty="0">
                <a:solidFill>
                  <a:srgbClr val="5A6B76"/>
                </a:solidFill>
                <a:latin typeface="Consolas" pitchFamily="34" charset="0"/>
                <a:ea typeface="Consolas" pitchFamily="34" charset="-122"/>
                <a:cs typeface="Consolas" pitchFamily="34" charset="-120"/>
              </a:rPr>
              <a:t>100M ÷ 100,000 s</a:t>
            </a:r>
            <a:endParaRPr lang="en-US" sz="1200" dirty="0"/>
          </a:p>
        </p:txBody>
      </p:sp>
      <p:sp>
        <p:nvSpPr>
          <p:cNvPr id="13" name="Text 11"/>
          <p:cNvSpPr/>
          <p:nvPr/>
        </p:nvSpPr>
        <p:spPr>
          <a:xfrm>
            <a:off x="8138160" y="3657600"/>
            <a:ext cx="3017520" cy="438912"/>
          </a:xfrm>
          <a:prstGeom prst="rect">
            <a:avLst/>
          </a:prstGeom>
          <a:noFill/>
          <a:ln/>
        </p:spPr>
        <p:txBody>
          <a:bodyPr wrap="square" lIns="0" tIns="0" rIns="0" bIns="0" rtlCol="0" anchor="ctr"/>
          <a:lstStyle/>
          <a:p>
            <a:pPr marL="0" indent="0" algn="r">
              <a:buNone/>
            </a:pPr>
            <a:r>
              <a:rPr lang="en-US" sz="1300" b="1" dirty="0">
                <a:solidFill>
                  <a:srgbClr val="E8A33D"/>
                </a:solidFill>
                <a:latin typeface="Calibri" pitchFamily="34" charset="0"/>
                <a:ea typeface="Calibri" pitchFamily="34" charset="-122"/>
                <a:cs typeface="Calibri" pitchFamily="34" charset="-120"/>
              </a:rPr>
              <a:t>≈ 1,000 per second</a:t>
            </a:r>
            <a:endParaRPr lang="en-US" sz="1300" dirty="0"/>
          </a:p>
        </p:txBody>
      </p:sp>
      <p:sp>
        <p:nvSpPr>
          <p:cNvPr id="14" name="Shape 12"/>
          <p:cNvSpPr/>
          <p:nvPr/>
        </p:nvSpPr>
        <p:spPr>
          <a:xfrm>
            <a:off x="777240" y="4160520"/>
            <a:ext cx="10607040" cy="438912"/>
          </a:xfrm>
          <a:prstGeom prst="roundRect">
            <a:avLst>
              <a:gd name="adj" fmla="val 8333"/>
            </a:avLst>
          </a:prstGeom>
          <a:solidFill>
            <a:srgbClr val="F4F7F9"/>
          </a:solidFill>
          <a:ln w="12700">
            <a:solidFill>
              <a:srgbClr val="E1E8ED"/>
            </a:solidFill>
            <a:prstDash val="solid"/>
          </a:ln>
        </p:spPr>
        <p:txBody>
          <a:bodyPr/>
          <a:lstStyle/>
          <a:p>
            <a:endParaRPr lang="en-US"/>
          </a:p>
        </p:txBody>
      </p:sp>
      <p:sp>
        <p:nvSpPr>
          <p:cNvPr id="15" name="Text 13"/>
          <p:cNvSpPr/>
          <p:nvPr/>
        </p:nvSpPr>
        <p:spPr>
          <a:xfrm>
            <a:off x="1051560" y="4160520"/>
            <a:ext cx="3657600" cy="438912"/>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Peak (about 3× average)</a:t>
            </a:r>
            <a:endParaRPr lang="en-US" sz="1300" dirty="0"/>
          </a:p>
        </p:txBody>
      </p:sp>
      <p:sp>
        <p:nvSpPr>
          <p:cNvPr id="16" name="Text 14"/>
          <p:cNvSpPr/>
          <p:nvPr/>
        </p:nvSpPr>
        <p:spPr>
          <a:xfrm>
            <a:off x="4846320" y="4160520"/>
            <a:ext cx="3108960" cy="438912"/>
          </a:xfrm>
          <a:prstGeom prst="rect">
            <a:avLst/>
          </a:prstGeom>
          <a:noFill/>
          <a:ln/>
        </p:spPr>
        <p:txBody>
          <a:bodyPr wrap="square" lIns="0" tIns="0" rIns="0" bIns="0" rtlCol="0" anchor="ctr"/>
          <a:lstStyle/>
          <a:p>
            <a:pPr marL="0" indent="0">
              <a:buNone/>
            </a:pPr>
            <a:r>
              <a:rPr lang="en-US" sz="1200" dirty="0">
                <a:solidFill>
                  <a:srgbClr val="5A6B76"/>
                </a:solidFill>
                <a:latin typeface="Consolas" pitchFamily="34" charset="0"/>
                <a:ea typeface="Consolas" pitchFamily="34" charset="-122"/>
                <a:cs typeface="Consolas" pitchFamily="34" charset="-120"/>
              </a:rPr>
              <a:t>1,000 × 3</a:t>
            </a:r>
            <a:endParaRPr lang="en-US" sz="1200" dirty="0"/>
          </a:p>
        </p:txBody>
      </p:sp>
      <p:sp>
        <p:nvSpPr>
          <p:cNvPr id="17" name="Text 15"/>
          <p:cNvSpPr/>
          <p:nvPr/>
        </p:nvSpPr>
        <p:spPr>
          <a:xfrm>
            <a:off x="8138160" y="4160520"/>
            <a:ext cx="3017520" cy="438912"/>
          </a:xfrm>
          <a:prstGeom prst="rect">
            <a:avLst/>
          </a:prstGeom>
          <a:noFill/>
          <a:ln/>
        </p:spPr>
        <p:txBody>
          <a:bodyPr wrap="square" lIns="0" tIns="0" rIns="0" bIns="0" rtlCol="0" anchor="ctr"/>
          <a:lstStyle/>
          <a:p>
            <a:pPr marL="0" indent="0" algn="r">
              <a:buNone/>
            </a:pPr>
            <a:r>
              <a:rPr lang="en-US" sz="1300" b="1" dirty="0">
                <a:solidFill>
                  <a:srgbClr val="E8A33D"/>
                </a:solidFill>
                <a:latin typeface="Calibri" pitchFamily="34" charset="0"/>
                <a:ea typeface="Calibri" pitchFamily="34" charset="-122"/>
                <a:cs typeface="Calibri" pitchFamily="34" charset="-120"/>
              </a:rPr>
              <a:t>≈ 3,000 per second</a:t>
            </a:r>
            <a:endParaRPr lang="en-US" sz="1300" dirty="0"/>
          </a:p>
        </p:txBody>
      </p:sp>
      <p:sp>
        <p:nvSpPr>
          <p:cNvPr id="18" name="Shape 16"/>
          <p:cNvSpPr/>
          <p:nvPr/>
        </p:nvSpPr>
        <p:spPr>
          <a:xfrm>
            <a:off x="777240" y="4663440"/>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19" name="Text 17"/>
          <p:cNvSpPr/>
          <p:nvPr/>
        </p:nvSpPr>
        <p:spPr>
          <a:xfrm>
            <a:off x="1051560" y="4663440"/>
            <a:ext cx="3657600" cy="438912"/>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Storage per day</a:t>
            </a:r>
            <a:endParaRPr lang="en-US" sz="1300" dirty="0"/>
          </a:p>
        </p:txBody>
      </p:sp>
      <p:sp>
        <p:nvSpPr>
          <p:cNvPr id="20" name="Text 18"/>
          <p:cNvSpPr/>
          <p:nvPr/>
        </p:nvSpPr>
        <p:spPr>
          <a:xfrm>
            <a:off x="4846320" y="4663440"/>
            <a:ext cx="3108960" cy="438912"/>
          </a:xfrm>
          <a:prstGeom prst="rect">
            <a:avLst/>
          </a:prstGeom>
          <a:noFill/>
          <a:ln/>
        </p:spPr>
        <p:txBody>
          <a:bodyPr wrap="square" lIns="0" tIns="0" rIns="0" bIns="0" rtlCol="0" anchor="ctr"/>
          <a:lstStyle/>
          <a:p>
            <a:pPr marL="0" indent="0">
              <a:buNone/>
            </a:pPr>
            <a:r>
              <a:rPr lang="en-US" sz="1200" dirty="0">
                <a:solidFill>
                  <a:srgbClr val="5A6B76"/>
                </a:solidFill>
                <a:latin typeface="Consolas" pitchFamily="34" charset="0"/>
                <a:ea typeface="Consolas" pitchFamily="34" charset="-122"/>
                <a:cs typeface="Consolas" pitchFamily="34" charset="-120"/>
              </a:rPr>
              <a:t>100M × 2 MB</a:t>
            </a:r>
            <a:endParaRPr lang="en-US" sz="1200" dirty="0"/>
          </a:p>
        </p:txBody>
      </p:sp>
      <p:sp>
        <p:nvSpPr>
          <p:cNvPr id="21" name="Text 19"/>
          <p:cNvSpPr/>
          <p:nvPr/>
        </p:nvSpPr>
        <p:spPr>
          <a:xfrm>
            <a:off x="8138160" y="4663440"/>
            <a:ext cx="3017520" cy="438912"/>
          </a:xfrm>
          <a:prstGeom prst="rect">
            <a:avLst/>
          </a:prstGeom>
          <a:noFill/>
          <a:ln/>
        </p:spPr>
        <p:txBody>
          <a:bodyPr wrap="square" lIns="0" tIns="0" rIns="0" bIns="0" rtlCol="0" anchor="ctr"/>
          <a:lstStyle/>
          <a:p>
            <a:pPr marL="0" indent="0" algn="r">
              <a:buNone/>
            </a:pPr>
            <a:r>
              <a:rPr lang="en-US" sz="1300" b="1" dirty="0">
                <a:solidFill>
                  <a:srgbClr val="E8A33D"/>
                </a:solidFill>
                <a:latin typeface="Calibri" pitchFamily="34" charset="0"/>
                <a:ea typeface="Calibri" pitchFamily="34" charset="-122"/>
                <a:cs typeface="Calibri" pitchFamily="34" charset="-120"/>
              </a:rPr>
              <a:t>≈ 200 TB per day</a:t>
            </a:r>
            <a:endParaRPr lang="en-US" sz="1300" dirty="0"/>
          </a:p>
        </p:txBody>
      </p:sp>
      <p:sp>
        <p:nvSpPr>
          <p:cNvPr id="22" name="Shape 20"/>
          <p:cNvSpPr/>
          <p:nvPr/>
        </p:nvSpPr>
        <p:spPr>
          <a:xfrm>
            <a:off x="777240" y="5166360"/>
            <a:ext cx="10607040" cy="438912"/>
          </a:xfrm>
          <a:prstGeom prst="roundRect">
            <a:avLst>
              <a:gd name="adj" fmla="val 8333"/>
            </a:avLst>
          </a:prstGeom>
          <a:solidFill>
            <a:srgbClr val="F4F7F9"/>
          </a:solidFill>
          <a:ln w="12700">
            <a:solidFill>
              <a:srgbClr val="E1E8ED"/>
            </a:solidFill>
            <a:prstDash val="solid"/>
          </a:ln>
        </p:spPr>
        <p:txBody>
          <a:bodyPr/>
          <a:lstStyle/>
          <a:p>
            <a:endParaRPr lang="en-US"/>
          </a:p>
        </p:txBody>
      </p:sp>
      <p:sp>
        <p:nvSpPr>
          <p:cNvPr id="23" name="Text 21"/>
          <p:cNvSpPr/>
          <p:nvPr/>
        </p:nvSpPr>
        <p:spPr>
          <a:xfrm>
            <a:off x="1051560" y="5166360"/>
            <a:ext cx="3657600" cy="438912"/>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Storage per year</a:t>
            </a:r>
            <a:endParaRPr lang="en-US" sz="1300" dirty="0"/>
          </a:p>
        </p:txBody>
      </p:sp>
      <p:sp>
        <p:nvSpPr>
          <p:cNvPr id="24" name="Text 22"/>
          <p:cNvSpPr/>
          <p:nvPr/>
        </p:nvSpPr>
        <p:spPr>
          <a:xfrm>
            <a:off x="4846320" y="5166360"/>
            <a:ext cx="3108960" cy="438912"/>
          </a:xfrm>
          <a:prstGeom prst="rect">
            <a:avLst/>
          </a:prstGeom>
          <a:noFill/>
          <a:ln/>
        </p:spPr>
        <p:txBody>
          <a:bodyPr wrap="square" lIns="0" tIns="0" rIns="0" bIns="0" rtlCol="0" anchor="ctr"/>
          <a:lstStyle/>
          <a:p>
            <a:pPr marL="0" indent="0">
              <a:buNone/>
            </a:pPr>
            <a:r>
              <a:rPr lang="en-US" sz="1200" dirty="0">
                <a:solidFill>
                  <a:srgbClr val="5A6B76"/>
                </a:solidFill>
                <a:latin typeface="Consolas" pitchFamily="34" charset="0"/>
                <a:ea typeface="Consolas" pitchFamily="34" charset="-122"/>
                <a:cs typeface="Consolas" pitchFamily="34" charset="-120"/>
              </a:rPr>
              <a:t>200 TB × 365</a:t>
            </a:r>
            <a:endParaRPr lang="en-US" sz="1200" dirty="0"/>
          </a:p>
        </p:txBody>
      </p:sp>
      <p:sp>
        <p:nvSpPr>
          <p:cNvPr id="25" name="Text 23"/>
          <p:cNvSpPr/>
          <p:nvPr/>
        </p:nvSpPr>
        <p:spPr>
          <a:xfrm>
            <a:off x="8138160" y="5166360"/>
            <a:ext cx="3017520" cy="438912"/>
          </a:xfrm>
          <a:prstGeom prst="rect">
            <a:avLst/>
          </a:prstGeom>
          <a:noFill/>
          <a:ln/>
        </p:spPr>
        <p:txBody>
          <a:bodyPr wrap="square" lIns="0" tIns="0" rIns="0" bIns="0" rtlCol="0" anchor="ctr"/>
          <a:lstStyle/>
          <a:p>
            <a:pPr marL="0" indent="0" algn="r">
              <a:buNone/>
            </a:pPr>
            <a:r>
              <a:rPr lang="en-US" sz="1300" b="1" dirty="0">
                <a:solidFill>
                  <a:srgbClr val="E8A33D"/>
                </a:solidFill>
                <a:latin typeface="Calibri" pitchFamily="34" charset="0"/>
                <a:ea typeface="Calibri" pitchFamily="34" charset="-122"/>
                <a:cs typeface="Calibri" pitchFamily="34" charset="-120"/>
              </a:rPr>
              <a:t>≈ 73 PB per year</a:t>
            </a:r>
            <a:endParaRPr lang="en-US" sz="1300" dirty="0"/>
          </a:p>
        </p:txBody>
      </p:sp>
      <p:sp>
        <p:nvSpPr>
          <p:cNvPr id="26" name="Shape 24"/>
          <p:cNvSpPr/>
          <p:nvPr/>
        </p:nvSpPr>
        <p:spPr>
          <a:xfrm>
            <a:off x="777240" y="5669280"/>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27" name="Text 25"/>
          <p:cNvSpPr/>
          <p:nvPr/>
        </p:nvSpPr>
        <p:spPr>
          <a:xfrm>
            <a:off x="1051560" y="5669280"/>
            <a:ext cx="3657600" cy="438912"/>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With 3 copies for safety</a:t>
            </a:r>
            <a:endParaRPr lang="en-US" sz="1300" dirty="0"/>
          </a:p>
        </p:txBody>
      </p:sp>
      <p:sp>
        <p:nvSpPr>
          <p:cNvPr id="28" name="Text 26"/>
          <p:cNvSpPr/>
          <p:nvPr/>
        </p:nvSpPr>
        <p:spPr>
          <a:xfrm>
            <a:off x="4846320" y="5669280"/>
            <a:ext cx="3108960" cy="438912"/>
          </a:xfrm>
          <a:prstGeom prst="rect">
            <a:avLst/>
          </a:prstGeom>
          <a:noFill/>
          <a:ln/>
        </p:spPr>
        <p:txBody>
          <a:bodyPr wrap="square" lIns="0" tIns="0" rIns="0" bIns="0" rtlCol="0" anchor="ctr"/>
          <a:lstStyle/>
          <a:p>
            <a:pPr marL="0" indent="0">
              <a:buNone/>
            </a:pPr>
            <a:r>
              <a:rPr lang="en-US" sz="1200" dirty="0">
                <a:solidFill>
                  <a:srgbClr val="5A6B76"/>
                </a:solidFill>
                <a:latin typeface="Consolas" pitchFamily="34" charset="0"/>
                <a:ea typeface="Consolas" pitchFamily="34" charset="-122"/>
                <a:cs typeface="Consolas" pitchFamily="34" charset="-120"/>
              </a:rPr>
              <a:t>73 PB × 3</a:t>
            </a:r>
            <a:endParaRPr lang="en-US" sz="1200" dirty="0"/>
          </a:p>
        </p:txBody>
      </p:sp>
      <p:sp>
        <p:nvSpPr>
          <p:cNvPr id="29" name="Text 27"/>
          <p:cNvSpPr/>
          <p:nvPr/>
        </p:nvSpPr>
        <p:spPr>
          <a:xfrm>
            <a:off x="8138160" y="5669280"/>
            <a:ext cx="3017520" cy="438912"/>
          </a:xfrm>
          <a:prstGeom prst="rect">
            <a:avLst/>
          </a:prstGeom>
          <a:noFill/>
          <a:ln/>
        </p:spPr>
        <p:txBody>
          <a:bodyPr wrap="square" lIns="0" tIns="0" rIns="0" bIns="0" rtlCol="0" anchor="ctr"/>
          <a:lstStyle/>
          <a:p>
            <a:pPr marL="0" indent="0" algn="r">
              <a:buNone/>
            </a:pPr>
            <a:r>
              <a:rPr lang="en-US" sz="1300" b="1" dirty="0">
                <a:solidFill>
                  <a:srgbClr val="E8A33D"/>
                </a:solidFill>
                <a:latin typeface="Calibri" pitchFamily="34" charset="0"/>
                <a:ea typeface="Calibri" pitchFamily="34" charset="-122"/>
                <a:cs typeface="Calibri" pitchFamily="34" charset="-120"/>
              </a:rPr>
              <a:t>≈ 220 PB per year</a:t>
            </a:r>
            <a:endParaRPr lang="en-US" sz="1300" dirty="0"/>
          </a:p>
        </p:txBody>
      </p:sp>
      <p:sp>
        <p:nvSpPr>
          <p:cNvPr id="30" name="Text 28"/>
          <p:cNvSpPr/>
          <p:nvPr/>
        </p:nvSpPr>
        <p:spPr>
          <a:xfrm>
            <a:off x="777240" y="6263640"/>
            <a:ext cx="10607040" cy="365760"/>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220 petabytes a year is the answer that matters — it immediately tells you this cannot sit in one database, and needs object storage plus a CDN.</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58368"/>
          </a:xfrm>
          <a:prstGeom prst="rect">
            <a:avLst/>
          </a:prstGeom>
          <a:noFill/>
          <a:ln/>
        </p:spPr>
        <p:txBody>
          <a:bodyPr wrap="square" lIns="0" tIns="0" rIns="0" bIns="0"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Recap and Before Next Class</a:t>
            </a:r>
            <a:endParaRPr lang="en-US" sz="3200" dirty="0"/>
          </a:p>
        </p:txBody>
      </p:sp>
      <p:sp>
        <p:nvSpPr>
          <p:cNvPr id="3" name="Text 1"/>
          <p:cNvSpPr/>
          <p:nvPr/>
        </p:nvSpPr>
        <p:spPr>
          <a:xfrm>
            <a:off x="658368" y="1033272"/>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Lecture 4 takeaways</a:t>
            </a:r>
            <a:endParaRPr lang="en-US" sz="1500" dirty="0"/>
          </a:p>
        </p:txBody>
      </p:sp>
      <p:sp>
        <p:nvSpPr>
          <p:cNvPr id="4" name="Shape 2"/>
          <p:cNvSpPr/>
          <p:nvPr/>
        </p:nvSpPr>
        <p:spPr>
          <a:xfrm>
            <a:off x="777240" y="1600200"/>
            <a:ext cx="5212080" cy="3017520"/>
          </a:xfrm>
          <a:prstGeom prst="roundRect">
            <a:avLst>
              <a:gd name="adj" fmla="val 1818"/>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8308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Part 1 — the journey</a:t>
            </a:r>
            <a:endParaRPr lang="en-US" sz="1550" dirty="0"/>
          </a:p>
        </p:txBody>
      </p:sp>
      <p:sp>
        <p:nvSpPr>
          <p:cNvPr id="6" name="Text 4"/>
          <p:cNvSpPr/>
          <p:nvPr/>
        </p:nvSpPr>
        <p:spPr>
          <a:xfrm>
            <a:off x="1033272" y="217627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Caches are checked before any DNS lookup</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DNS is a hierarchy: root, TLD, authoritative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TCP and TLS each cost a round trip</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domain resolves to a load balancer, not a server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Status codes: 4xx is you, 5xx is them</a:t>
            </a:r>
            <a:endParaRPr lang="en-US" sz="1250" dirty="0"/>
          </a:p>
        </p:txBody>
      </p:sp>
      <p:sp>
        <p:nvSpPr>
          <p:cNvPr id="7" name="Shape 5"/>
          <p:cNvSpPr/>
          <p:nvPr/>
        </p:nvSpPr>
        <p:spPr>
          <a:xfrm>
            <a:off x="6172200" y="1600200"/>
            <a:ext cx="5212080" cy="3017520"/>
          </a:xfrm>
          <a:prstGeom prst="roundRect">
            <a:avLst>
              <a:gd name="adj" fmla="val 1818"/>
            </a:avLst>
          </a:prstGeom>
          <a:solidFill>
            <a:srgbClr val="F3EEF5"/>
          </a:solidFill>
          <a:ln w="12700">
            <a:solidFill>
              <a:srgbClr val="E1E8ED"/>
            </a:solidFill>
            <a:prstDash val="solid"/>
          </a:ln>
        </p:spPr>
        <p:txBody>
          <a:bodyPr/>
          <a:lstStyle/>
          <a:p>
            <a:endParaRPr lang="en-US"/>
          </a:p>
        </p:txBody>
      </p:sp>
      <p:sp>
        <p:nvSpPr>
          <p:cNvPr id="8" name="Text 6"/>
          <p:cNvSpPr/>
          <p:nvPr/>
        </p:nvSpPr>
        <p:spPr>
          <a:xfrm>
            <a:off x="6428232" y="178308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Part 2 — the numbers</a:t>
            </a:r>
            <a:endParaRPr lang="en-US" sz="1550" dirty="0"/>
          </a:p>
        </p:txBody>
      </p:sp>
      <p:sp>
        <p:nvSpPr>
          <p:cNvPr id="9" name="Text 7"/>
          <p:cNvSpPr/>
          <p:nvPr/>
        </p:nvSpPr>
        <p:spPr>
          <a:xfrm>
            <a:off x="6428232" y="217627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Averages hide victims; use p50, p95, p99</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More services means a worse tail</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Memory is vastly faster than any network trip</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Dependencies multiply, redundancy adds nines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Estimate in rounded powers of ten</a:t>
            </a:r>
            <a:endParaRPr lang="en-US" sz="1250" dirty="0"/>
          </a:p>
        </p:txBody>
      </p:sp>
      <p:sp>
        <p:nvSpPr>
          <p:cNvPr id="10" name="Shape 8"/>
          <p:cNvSpPr/>
          <p:nvPr/>
        </p:nvSpPr>
        <p:spPr>
          <a:xfrm>
            <a:off x="777240" y="4800600"/>
            <a:ext cx="10607040" cy="1371600"/>
          </a:xfrm>
          <a:prstGeom prst="roundRect">
            <a:avLst>
              <a:gd name="adj" fmla="val 4000"/>
            </a:avLst>
          </a:prstGeom>
          <a:solidFill>
            <a:srgbClr val="13293D"/>
          </a:solidFill>
          <a:ln/>
        </p:spPr>
        <p:txBody>
          <a:bodyPr/>
          <a:lstStyle/>
          <a:p>
            <a:endParaRPr lang="en-US"/>
          </a:p>
        </p:txBody>
      </p:sp>
      <p:sp>
        <p:nvSpPr>
          <p:cNvPr id="11" name="Text 9"/>
          <p:cNvSpPr/>
          <p:nvPr/>
        </p:nvSpPr>
        <p:spPr>
          <a:xfrm>
            <a:off x="1097280" y="4937760"/>
            <a:ext cx="457200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Practise before next class</a:t>
            </a:r>
            <a:endParaRPr lang="en-US" sz="1200" dirty="0"/>
          </a:p>
        </p:txBody>
      </p:sp>
      <p:sp>
        <p:nvSpPr>
          <p:cNvPr id="12" name="Text 10"/>
          <p:cNvSpPr/>
          <p:nvPr/>
        </p:nvSpPr>
        <p:spPr>
          <a:xfrm>
            <a:off x="1097280" y="5285232"/>
            <a:ext cx="9966960" cy="77724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Run  nslookup amazon.in  and then  ping amazon.in  — note whether the IP differs from your neighbour’s, and why it might. Then estimate: how much storage would WhatsApp need for one year of text messages?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3771</Words>
  <Application>Microsoft Macintosh PowerPoint</Application>
  <PresentationFormat>Widescreen</PresentationFormat>
  <Paragraphs>531</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Gaurav Raj</cp:lastModifiedBy>
  <cp:revision>2</cp:revision>
  <dcterms:created xsi:type="dcterms:W3CDTF">2026-08-19T17:40:47Z</dcterms:created>
  <dcterms:modified xsi:type="dcterms:W3CDTF">2026-08-19T18:10:35Z</dcterms:modified>
</cp:coreProperties>
</file>